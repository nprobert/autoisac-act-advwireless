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16"/>
  </p:notesMasterIdLst>
  <p:sldIdLst>
    <p:sldId id="301" r:id="rId6"/>
    <p:sldId id="302" r:id="rId7"/>
    <p:sldId id="307" r:id="rId8"/>
    <p:sldId id="308" r:id="rId9"/>
    <p:sldId id="309" r:id="rId10"/>
    <p:sldId id="794" r:id="rId11"/>
    <p:sldId id="806" r:id="rId12"/>
    <p:sldId id="798" r:id="rId13"/>
    <p:sldId id="805" r:id="rId14"/>
    <p:sldId id="804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5AD8DD2-C10E-4B42-B438-BAF6FFFC82C6}">
          <p14:sldIdLst>
            <p14:sldId id="301"/>
            <p14:sldId id="302"/>
            <p14:sldId id="307"/>
            <p14:sldId id="308"/>
            <p14:sldId id="309"/>
          </p14:sldIdLst>
        </p14:section>
        <p14:section name="Appendix" id="{6F0C17A1-C57F-4B9A-906F-16FB83E66D93}">
          <p14:sldIdLst>
            <p14:sldId id="794"/>
            <p14:sldId id="806"/>
            <p14:sldId id="798"/>
            <p14:sldId id="805"/>
            <p14:sldId id="8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676f7274c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676f7274c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56a0fba4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g156a0fba46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56a0fba46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7" name="Google Shape;477;g156a0fba46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Refs: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/>
              <a:t>https://www.linux.org/threads/usb-serial-device-does-not-appear-as-dev-ttyusb.23105/</a:t>
            </a:r>
            <a:endParaRPr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/>
              <a:t>https://www.kali.org/docs/general-use/updating-kali/</a:t>
            </a:r>
            <a:endParaRPr/>
          </a:p>
          <a:p>
            <a:pPr marL="17145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endParaRPr/>
          </a:p>
        </p:txBody>
      </p:sp>
      <p:sp>
        <p:nvSpPr>
          <p:cNvPr id="485" name="Google Shape;485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676f7274c6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676f7274c6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6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802952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7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000483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8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3697632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9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582343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fld id="{9DE42932-4F59-45AE-B54E-8D561FACD657}" type="slidenum">
              <a:rPr altLang="en-US" b="0"/>
              <a:pPr eaLnBrk="1" hangingPunct="1"/>
              <a:t>10</a:t>
            </a:fld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1713974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913560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ar-field_communicatio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nearfieldcommunication.org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76f7274c6_0_40"/>
          <p:cNvSpPr txBox="1">
            <a:spLocks noGrp="1"/>
          </p:cNvSpPr>
          <p:nvPr>
            <p:ph type="title" idx="4294967295"/>
          </p:nvPr>
        </p:nvSpPr>
        <p:spPr>
          <a:xfrm>
            <a:off x="1485900" y="1419225"/>
            <a:ext cx="8875713" cy="76358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ct val="72727"/>
            </a:pPr>
            <a:r>
              <a:rPr lang="en" sz="4400" dirty="0">
                <a:highlight>
                  <a:srgbClr val="B6D7A8"/>
                </a:highlight>
              </a:rPr>
              <a:t>Exercise - NFC Cabinet Lock </a:t>
            </a:r>
            <a:r>
              <a:rPr lang="en" sz="4400" u="sng" dirty="0">
                <a:highlight>
                  <a:srgbClr val="B6D7A8"/>
                </a:highlight>
              </a:rPr>
              <a:t>UID Cloning</a:t>
            </a:r>
            <a:r>
              <a:rPr lang="en" sz="4400" dirty="0">
                <a:highlight>
                  <a:srgbClr val="B6D7A8"/>
                </a:highlight>
              </a:rPr>
              <a:t> </a:t>
            </a:r>
            <a:endParaRPr sz="4400" dirty="0">
              <a:highlight>
                <a:srgbClr val="B6D7A8"/>
              </a:highlight>
            </a:endParaRPr>
          </a:p>
          <a:p>
            <a:pPr algn="ctr">
              <a:lnSpc>
                <a:spcPct val="115000"/>
              </a:lnSpc>
              <a:buClr>
                <a:schemeClr val="dk1"/>
              </a:buClr>
              <a:buSzPct val="45833"/>
            </a:pPr>
            <a:endParaRPr sz="3200" dirty="0">
              <a:solidFill>
                <a:schemeClr val="accent1"/>
              </a:solidFill>
              <a:highlight>
                <a:srgbClr val="93C47D"/>
              </a:highlight>
            </a:endParaRPr>
          </a:p>
          <a:p>
            <a:pPr algn="ctr"/>
            <a:endParaRPr dirty="0"/>
          </a:p>
        </p:txBody>
      </p:sp>
      <p:sp>
        <p:nvSpPr>
          <p:cNvPr id="303" name="Google Shape;303;g2676f7274c6_0_40"/>
          <p:cNvSpPr txBox="1">
            <a:spLocks noGrp="1"/>
          </p:cNvSpPr>
          <p:nvPr>
            <p:ph type="body" idx="4294967295"/>
          </p:nvPr>
        </p:nvSpPr>
        <p:spPr>
          <a:xfrm>
            <a:off x="1485900" y="2332038"/>
            <a:ext cx="9191625" cy="328453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indent="0">
              <a:buNone/>
            </a:pPr>
            <a:r>
              <a:rPr lang="en" sz="3333" dirty="0">
                <a:solidFill>
                  <a:schemeClr val="dk1"/>
                </a:solidFill>
              </a:rPr>
              <a:t>Prep: Giving out the instructions, NFC Lock+Key and</a:t>
            </a:r>
            <a:endParaRPr sz="3333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" sz="3333" dirty="0">
                <a:solidFill>
                  <a:schemeClr val="dk1"/>
                </a:solidFill>
              </a:rPr>
              <a:t>a Flipper Zero to each group.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Instructions    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NFC Cabinet Lock + Master Key</a:t>
            </a:r>
            <a:endParaRPr sz="3333" dirty="0">
              <a:solidFill>
                <a:schemeClr val="dk1"/>
              </a:solidFill>
            </a:endParaRPr>
          </a:p>
          <a:p>
            <a:pPr indent="-516454">
              <a:buClr>
                <a:schemeClr val="dk1"/>
              </a:buClr>
              <a:buSzPts val="2500"/>
            </a:pPr>
            <a:r>
              <a:rPr lang="en" sz="3333" dirty="0">
                <a:solidFill>
                  <a:schemeClr val="dk1"/>
                </a:solidFill>
              </a:rPr>
              <a:t>Flipper Zero</a:t>
            </a:r>
            <a:endParaRPr sz="3333" dirty="0">
              <a:solidFill>
                <a:schemeClr val="dk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156a0fba46b_0_0"/>
          <p:cNvSpPr txBox="1">
            <a:spLocks noGrp="1"/>
          </p:cNvSpPr>
          <p:nvPr>
            <p:ph type="title" idx="4294967295"/>
          </p:nvPr>
        </p:nvSpPr>
        <p:spPr>
          <a:xfrm>
            <a:off x="2266950" y="917575"/>
            <a:ext cx="6467475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buSzPct val="111111"/>
            </a:pPr>
            <a:r>
              <a:rPr lang="en" dirty="0"/>
              <a:t>NFC Authentication Types</a:t>
            </a:r>
            <a:endParaRPr dirty="0"/>
          </a:p>
        </p:txBody>
      </p:sp>
      <p:sp>
        <p:nvSpPr>
          <p:cNvPr id="310" name="Google Shape;310;g156a0fba46b_0_0"/>
          <p:cNvSpPr txBox="1">
            <a:spLocks noGrp="1"/>
          </p:cNvSpPr>
          <p:nvPr>
            <p:ph type="body" idx="4294967295"/>
          </p:nvPr>
        </p:nvSpPr>
        <p:spPr>
          <a:xfrm>
            <a:off x="2724150" y="1577975"/>
            <a:ext cx="9467850" cy="455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" dirty="0"/>
              <a:t>UID Authentication</a:t>
            </a:r>
            <a:endParaRPr dirty="0"/>
          </a:p>
          <a:p>
            <a:pPr lvl="1"/>
            <a:r>
              <a:rPr lang="en" dirty="0"/>
              <a:t>Insecure - relies on uniqueness of a NFC tag UID</a:t>
            </a:r>
            <a:endParaRPr dirty="0"/>
          </a:p>
          <a:p>
            <a:r>
              <a:rPr lang="en" dirty="0"/>
              <a:t>Data based authentication</a:t>
            </a:r>
            <a:endParaRPr dirty="0"/>
          </a:p>
          <a:p>
            <a:pPr lvl="1"/>
            <a:r>
              <a:rPr lang="en" dirty="0"/>
              <a:t>Key is stored in the sector or page data of the NFC tag</a:t>
            </a:r>
            <a:endParaRPr dirty="0"/>
          </a:p>
          <a:p>
            <a:r>
              <a:rPr lang="en" dirty="0"/>
              <a:t>Challenge–response authentication</a:t>
            </a:r>
            <a:endParaRPr dirty="0"/>
          </a:p>
          <a:p>
            <a:pPr lvl="1"/>
            <a:r>
              <a:rPr lang="en" dirty="0"/>
              <a:t>HMAC-SHA1 algorithm</a:t>
            </a:r>
            <a:endParaRPr dirty="0"/>
          </a:p>
          <a:p>
            <a:pPr lvl="1"/>
            <a:r>
              <a:rPr lang="en" dirty="0"/>
              <a:t>PAM Module - Pluggable Authentication Module</a:t>
            </a:r>
            <a:endParaRPr dirty="0"/>
          </a:p>
          <a:p>
            <a:pPr lvl="1"/>
            <a:r>
              <a:rPr lang="en" dirty="0"/>
              <a:t>Can be extremely difficult to clone/emulate</a:t>
            </a:r>
            <a:endParaRPr dirty="0"/>
          </a:p>
        </p:txBody>
      </p:sp>
      <p:pic>
        <p:nvPicPr>
          <p:cNvPr id="309" name="Google Shape;309;g156a0fba46b_0_0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4633" y="3855600"/>
            <a:ext cx="2699667" cy="269966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56a0fba46b_0_8"/>
          <p:cNvSpPr txBox="1">
            <a:spLocks noGrp="1"/>
          </p:cNvSpPr>
          <p:nvPr>
            <p:ph type="title" idx="4294967295"/>
          </p:nvPr>
        </p:nvSpPr>
        <p:spPr>
          <a:xfrm>
            <a:off x="792162" y="1344613"/>
            <a:ext cx="10607675" cy="76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27" dirty="0">
                <a:highlight>
                  <a:srgbClr val="B6D7A8"/>
                </a:highlight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Exercise</a:t>
            </a:r>
            <a:r>
              <a:rPr lang="en" sz="4027" dirty="0">
                <a:highlight>
                  <a:srgbClr val="B6D7A8"/>
                </a:highlight>
              </a:rPr>
              <a:t> - NFC Password Protection &amp; Brute Force</a:t>
            </a:r>
            <a:endParaRPr sz="4027" dirty="0">
              <a:highlight>
                <a:srgbClr val="B6D7A8"/>
              </a:highlight>
            </a:endParaRPr>
          </a:p>
        </p:txBody>
      </p:sp>
      <p:sp>
        <p:nvSpPr>
          <p:cNvPr id="480" name="Google Shape;480;g156a0fba46b_0_8"/>
          <p:cNvSpPr txBox="1">
            <a:spLocks noGrp="1"/>
          </p:cNvSpPr>
          <p:nvPr>
            <p:ph type="body" idx="4294967295"/>
          </p:nvPr>
        </p:nvSpPr>
        <p:spPr>
          <a:xfrm>
            <a:off x="1292225" y="2108200"/>
            <a:ext cx="10899775" cy="3643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indent="0">
              <a:buNone/>
            </a:pPr>
            <a:r>
              <a:rPr lang="en" sz="3333" dirty="0"/>
              <a:t>Prep: Giving out the instructions, NTAG215 tag to each student and a reader to each group. 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Instructions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VM from thumb drive</a:t>
            </a:r>
            <a:endParaRPr sz="3333" dirty="0"/>
          </a:p>
          <a:p>
            <a:pPr indent="-516454">
              <a:buSzPts val="2500"/>
            </a:pPr>
            <a:r>
              <a:rPr lang="en" sz="3333" dirty="0"/>
              <a:t>ACR122U Reader</a:t>
            </a:r>
            <a:endParaRPr sz="3333" dirty="0"/>
          </a:p>
          <a:p>
            <a:pPr indent="-516454">
              <a:buSzPts val="2500"/>
            </a:pPr>
            <a:r>
              <a:rPr lang="en" sz="3333" dirty="0">
                <a:solidFill>
                  <a:schemeClr val="dk1"/>
                </a:solidFill>
              </a:rPr>
              <a:t>NTAG215 Tag (Round white tag)</a:t>
            </a:r>
            <a:endParaRPr sz="3333" dirty="0">
              <a:solidFill>
                <a:schemeClr val="dk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5"/>
          <p:cNvSpPr txBox="1">
            <a:spLocks noGrp="1"/>
          </p:cNvSpPr>
          <p:nvPr>
            <p:ph type="title" idx="4294967295"/>
          </p:nvPr>
        </p:nvSpPr>
        <p:spPr>
          <a:xfrm>
            <a:off x="831850" y="695325"/>
            <a:ext cx="11360150" cy="763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>
              <a:buSzPct val="111111"/>
            </a:pPr>
            <a:r>
              <a:rPr lang="en"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Playing</a:t>
            </a:r>
            <a:r>
              <a:rPr lang="en"/>
              <a:t> with NFC – Reading/Writing: (with ACR122U)</a:t>
            </a:r>
            <a:endParaRPr/>
          </a:p>
        </p:txBody>
      </p:sp>
      <p:sp>
        <p:nvSpPr>
          <p:cNvPr id="488" name="Google Shape;488;p25"/>
          <p:cNvSpPr txBox="1">
            <a:spLocks noGrp="1"/>
          </p:cNvSpPr>
          <p:nvPr>
            <p:ph type="body" idx="4294967295"/>
          </p:nvPr>
        </p:nvSpPr>
        <p:spPr>
          <a:xfrm>
            <a:off x="990600" y="1622425"/>
            <a:ext cx="11201400" cy="457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r>
              <a:rPr lang="en"/>
              <a:t>You could also use an PN532  </a:t>
            </a:r>
            <a:endParaRPr/>
          </a:p>
          <a:p>
            <a:r>
              <a:rPr lang="en"/>
              <a:t>Make sure you do the following for both ACR122U &amp; PN532:</a:t>
            </a:r>
            <a:endParaRPr/>
          </a:p>
          <a:p>
            <a:pPr lvl="1"/>
            <a:r>
              <a:rPr lang="en"/>
              <a:t>Click on USB icon on top of the VM window 🡪 “USB &amp; Bluetooth Settings”</a:t>
            </a:r>
            <a:endParaRPr/>
          </a:p>
          <a:p>
            <a:pPr lvl="1" indent="-304792">
              <a:buNone/>
            </a:pPr>
            <a:endParaRPr/>
          </a:p>
          <a:p>
            <a:pPr lvl="1"/>
            <a:r>
              <a:rPr lang="en"/>
              <a:t>Make sure you have the following:</a:t>
            </a:r>
            <a:endParaRPr/>
          </a:p>
          <a:p>
            <a:pPr lvl="1" indent="-304792">
              <a:buNone/>
            </a:pPr>
            <a:endParaRPr/>
          </a:p>
        </p:txBody>
      </p:sp>
      <p:pic>
        <p:nvPicPr>
          <p:cNvPr id="489" name="Google Shape;48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19300" y="4023423"/>
            <a:ext cx="8882741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4100" y="5249798"/>
            <a:ext cx="8339352" cy="49377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g2676f7274c6_0_6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475" y="294500"/>
            <a:ext cx="4820132" cy="320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g2676f7274c6_0_60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6104" y="3281783"/>
            <a:ext cx="4979901" cy="326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g2676f7274c6_0_60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4100" y="3258816"/>
            <a:ext cx="3931232" cy="331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g2676f7274c6_0_6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17403" y="220900"/>
            <a:ext cx="4774600" cy="3060867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/>
          </a:bodyPr>
          <a:lstStyle/>
          <a:p>
            <a:r>
              <a:rPr lang="en-US" sz="2800" dirty="0" err="1"/>
              <a:t>IoT</a:t>
            </a:r>
            <a:r>
              <a:rPr lang="en-US" sz="2800" dirty="0"/>
              <a:t> Near Field Communication (NFC) Basics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Basics</a:t>
            </a:r>
          </a:p>
          <a:p>
            <a:pPr lvl="1"/>
            <a:r>
              <a:rPr lang="en-US" sz="1400" dirty="0">
                <a:hlinkClick r:id="rId3"/>
              </a:rPr>
              <a:t>https://en.wikipedia.org/wiki/Near-field_communication</a:t>
            </a:r>
            <a:endParaRPr lang="en-US" sz="1400" dirty="0"/>
          </a:p>
          <a:p>
            <a:pPr lvl="1"/>
            <a:r>
              <a:rPr lang="en-US" sz="1400" dirty="0">
                <a:hlinkClick r:id="rId4"/>
              </a:rPr>
              <a:t>http://nearfieldcommunication.org/</a:t>
            </a:r>
            <a:endParaRPr lang="en-US" sz="1400" dirty="0"/>
          </a:p>
          <a:p>
            <a:pPr lvl="1"/>
            <a:r>
              <a:rPr lang="en-US" sz="1400" dirty="0"/>
              <a:t>Usually 13.56Mhz</a:t>
            </a:r>
          </a:p>
          <a:p>
            <a:pPr lvl="1"/>
            <a:r>
              <a:rPr lang="en-US" sz="1400" dirty="0"/>
              <a:t>NFC builds on HF RFID</a:t>
            </a:r>
          </a:p>
          <a:p>
            <a:pPr lvl="2"/>
            <a:r>
              <a:rPr lang="en-US" sz="1200" dirty="0"/>
              <a:t>Use cases differ between NFC and RFID</a:t>
            </a:r>
          </a:p>
          <a:p>
            <a:pPr lvl="2"/>
            <a:r>
              <a:rPr lang="en-US" sz="1200" dirty="0"/>
              <a:t>Unauthenticated information sharing</a:t>
            </a:r>
          </a:p>
          <a:p>
            <a:pPr lvl="2"/>
            <a:r>
              <a:rPr lang="en-US" sz="1200" dirty="0"/>
              <a:t>Contactless payment systems</a:t>
            </a:r>
          </a:p>
          <a:p>
            <a:pPr lvl="2"/>
            <a:r>
              <a:rPr lang="en-US" sz="1200" dirty="0"/>
              <a:t>Used in mobile phones</a:t>
            </a:r>
          </a:p>
          <a:p>
            <a:pPr lvl="1"/>
            <a:r>
              <a:rPr lang="en-US" sz="1400" dirty="0"/>
              <a:t>Bidirectional communications</a:t>
            </a:r>
          </a:p>
          <a:p>
            <a:pPr lvl="1"/>
            <a:r>
              <a:rPr lang="en-US" sz="1400" dirty="0"/>
              <a:t>Actively powered</a:t>
            </a:r>
          </a:p>
          <a:p>
            <a:pPr lvl="1"/>
            <a:r>
              <a:rPr lang="en-US" sz="1400" dirty="0"/>
              <a:t>Dynamic data storage</a:t>
            </a:r>
          </a:p>
          <a:p>
            <a:pPr lvl="1"/>
            <a:r>
              <a:rPr lang="en-US" sz="1400" dirty="0"/>
              <a:t>NFC Data Exchange Format (NDEF)</a:t>
            </a:r>
          </a:p>
          <a:p>
            <a:pPr lvl="2"/>
            <a:r>
              <a:rPr lang="en-US" sz="1200" dirty="0"/>
              <a:t>NDEF structured data</a:t>
            </a:r>
          </a:p>
          <a:p>
            <a:pPr lvl="2"/>
            <a:r>
              <a:rPr lang="en-US" sz="1200" dirty="0"/>
              <a:t>Type Name Format (TNF)</a:t>
            </a:r>
          </a:p>
          <a:p>
            <a:pPr lvl="1"/>
            <a:r>
              <a:rPr lang="en-US" sz="1400" dirty="0"/>
              <a:t>Android Beam</a:t>
            </a:r>
          </a:p>
          <a:p>
            <a:pPr lvl="2"/>
            <a:r>
              <a:rPr lang="en-US" sz="1200" dirty="0"/>
              <a:t>“Tap to Beam”</a:t>
            </a:r>
          </a:p>
          <a:p>
            <a:pPr lvl="1"/>
            <a:r>
              <a:rPr lang="en-US" sz="1400" dirty="0"/>
              <a:t>Google Wallet</a:t>
            </a:r>
          </a:p>
          <a:p>
            <a:pPr lvl="2"/>
            <a:r>
              <a:rPr lang="en-US" sz="1200" dirty="0"/>
              <a:t>Host Card Emulation (HEC)</a:t>
            </a:r>
          </a:p>
          <a:p>
            <a:pPr lvl="2"/>
            <a:r>
              <a:rPr lang="en-US" sz="1200" dirty="0"/>
              <a:t>Cloud access needed</a:t>
            </a:r>
          </a:p>
          <a:p>
            <a:pPr lvl="1"/>
            <a:r>
              <a:rPr lang="en-US" sz="1400" dirty="0"/>
              <a:t>Apple Pay</a:t>
            </a:r>
          </a:p>
          <a:p>
            <a:pPr lvl="2"/>
            <a:r>
              <a:rPr lang="en-US" sz="1200" dirty="0"/>
              <a:t>Cloud based</a:t>
            </a:r>
          </a:p>
          <a:p>
            <a:pPr lvl="2"/>
            <a:r>
              <a:rPr lang="en-US" sz="1200" dirty="0"/>
              <a:t>Embedded secure element, stores EMV token</a:t>
            </a:r>
          </a:p>
          <a:p>
            <a:pPr lvl="2"/>
            <a:r>
              <a:rPr lang="en-US" sz="1200" dirty="0"/>
              <a:t>Requires pre-authorization</a:t>
            </a:r>
          </a:p>
        </p:txBody>
      </p:sp>
    </p:spTree>
    <p:extLst>
      <p:ext uri="{BB962C8B-B14F-4D97-AF65-F5344CB8AC3E}">
        <p14:creationId xmlns:p14="http://schemas.microsoft.com/office/powerpoint/2010/main" val="2171302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NFC Security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Same standard format across vendors</a:t>
            </a:r>
          </a:p>
          <a:p>
            <a:pPr lvl="1"/>
            <a:r>
              <a:rPr lang="en-US" sz="1400" dirty="0"/>
              <a:t>Attacks usually associated with malformed data</a:t>
            </a:r>
          </a:p>
          <a:p>
            <a:pPr lvl="1"/>
            <a:r>
              <a:rPr lang="en-US" sz="1400" dirty="0"/>
              <a:t>Targeted client devices</a:t>
            </a:r>
          </a:p>
          <a:p>
            <a:r>
              <a:rPr lang="en-US" sz="1800" dirty="0"/>
              <a:t>Vulnerabilities</a:t>
            </a:r>
          </a:p>
          <a:p>
            <a:pPr lvl="1"/>
            <a:r>
              <a:rPr lang="en-US" sz="1400" dirty="0"/>
              <a:t>Android “</a:t>
            </a:r>
            <a:r>
              <a:rPr lang="en-US" sz="1400" dirty="0" err="1"/>
              <a:t>Stagefright</a:t>
            </a:r>
            <a:r>
              <a:rPr lang="en-US" sz="1400" dirty="0"/>
              <a:t>” malformed MP4 file</a:t>
            </a:r>
          </a:p>
          <a:p>
            <a:pPr lvl="1"/>
            <a:r>
              <a:rPr lang="en-US" sz="1400" dirty="0" err="1"/>
              <a:t>Modifed</a:t>
            </a:r>
            <a:r>
              <a:rPr lang="en-US" sz="1400" dirty="0"/>
              <a:t> URI data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0465681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RFID/NFC Hardware Tools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Tools</a:t>
            </a:r>
          </a:p>
          <a:p>
            <a:pPr lvl="1"/>
            <a:r>
              <a:rPr lang="en-US" sz="1400" dirty="0"/>
              <a:t>ACG LAHF Reader/Writer $300</a:t>
            </a:r>
          </a:p>
          <a:p>
            <a:pPr lvl="1"/>
            <a:r>
              <a:rPr lang="en-US" sz="1400" dirty="0"/>
              <a:t>ACS ACR122 Reader/Writer $43</a:t>
            </a:r>
          </a:p>
          <a:p>
            <a:pPr lvl="2"/>
            <a:r>
              <a:rPr lang="en-US" sz="1200" dirty="0"/>
              <a:t>Part of SEC617 class SWAT toolkit</a:t>
            </a:r>
          </a:p>
          <a:p>
            <a:pPr lvl="1"/>
            <a:r>
              <a:rPr lang="en-US" sz="1400" dirty="0"/>
              <a:t>HID </a:t>
            </a:r>
            <a:r>
              <a:rPr lang="en-US" sz="1400" dirty="0" err="1"/>
              <a:t>Proxcard</a:t>
            </a:r>
            <a:r>
              <a:rPr lang="en-US" sz="1400" dirty="0"/>
              <a:t> II</a:t>
            </a:r>
          </a:p>
          <a:p>
            <a:pPr lvl="2"/>
            <a:r>
              <a:rPr lang="en-US" sz="1200" dirty="0"/>
              <a:t>Door access control systems</a:t>
            </a:r>
          </a:p>
          <a:p>
            <a:pPr lvl="2"/>
            <a:r>
              <a:rPr lang="en-US" sz="1200" dirty="0"/>
              <a:t>Wiegand Protocol</a:t>
            </a:r>
          </a:p>
          <a:p>
            <a:pPr lvl="1"/>
            <a:r>
              <a:rPr lang="en-US" sz="1400" dirty="0" err="1"/>
              <a:t>Proxmark</a:t>
            </a:r>
            <a:r>
              <a:rPr lang="en-US" sz="1400" dirty="0"/>
              <a:t> 3 RDV2/3 $220</a:t>
            </a:r>
          </a:p>
          <a:p>
            <a:pPr lvl="2"/>
            <a:r>
              <a:rPr lang="en-US" sz="1200" dirty="0"/>
              <a:t>Linux or Windows software</a:t>
            </a:r>
          </a:p>
          <a:p>
            <a:pPr lvl="1"/>
            <a:r>
              <a:rPr lang="en-US" sz="1400" dirty="0" err="1"/>
              <a:t>ProxBrute</a:t>
            </a:r>
            <a:endParaRPr lang="en-US" sz="1400" dirty="0"/>
          </a:p>
          <a:p>
            <a:pPr lvl="2"/>
            <a:r>
              <a:rPr lang="en-US" sz="1200" dirty="0"/>
              <a:t>Attempts to elevate access privileges</a:t>
            </a:r>
          </a:p>
          <a:p>
            <a:pPr lvl="1"/>
            <a:r>
              <a:rPr lang="en-US" sz="1400" dirty="0" err="1"/>
              <a:t>Tastic</a:t>
            </a:r>
            <a:r>
              <a:rPr lang="en-US" sz="1400" dirty="0"/>
              <a:t> RF Thief &lt; $400</a:t>
            </a:r>
          </a:p>
          <a:p>
            <a:pPr lvl="2"/>
            <a:r>
              <a:rPr lang="en-US" sz="1200" dirty="0"/>
              <a:t>HID </a:t>
            </a:r>
            <a:r>
              <a:rPr lang="en-US" sz="1200" dirty="0" err="1"/>
              <a:t>MaxiProx</a:t>
            </a:r>
            <a:r>
              <a:rPr lang="en-US" sz="1200" dirty="0"/>
              <a:t> long-range reader</a:t>
            </a:r>
          </a:p>
          <a:p>
            <a:pPr lvl="2"/>
            <a:r>
              <a:rPr lang="en-US" sz="1200" dirty="0"/>
              <a:t>Adafruit Feather Huzzah (ESP8266 SOC)</a:t>
            </a:r>
          </a:p>
          <a:p>
            <a:pPr lvl="2"/>
            <a:r>
              <a:rPr lang="en-US" sz="1200" dirty="0"/>
              <a:t>Saves codes to memory</a:t>
            </a:r>
          </a:p>
          <a:p>
            <a:pPr lvl="2"/>
            <a:r>
              <a:rPr lang="en-US" sz="1200" dirty="0"/>
              <a:t>Transmit over </a:t>
            </a:r>
            <a:r>
              <a:rPr lang="en-US" sz="1200" dirty="0" err="1"/>
              <a:t>WiFi</a:t>
            </a:r>
            <a:endParaRPr lang="en-US" sz="1200" dirty="0"/>
          </a:p>
          <a:p>
            <a:pPr lvl="1"/>
            <a:r>
              <a:rPr lang="en-US" sz="1400" dirty="0"/>
              <a:t>Linux </a:t>
            </a:r>
            <a:r>
              <a:rPr lang="en-US" sz="1400" dirty="0" err="1"/>
              <a:t>RFIDIOt</a:t>
            </a:r>
            <a:r>
              <a:rPr lang="en-US" sz="1400" dirty="0"/>
              <a:t> software</a:t>
            </a:r>
          </a:p>
          <a:p>
            <a:pPr lvl="2"/>
            <a:r>
              <a:rPr lang="en-US" sz="1200" dirty="0"/>
              <a:t>Read/write cards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6107797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NFC EMV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 err="1"/>
              <a:t>Europay</a:t>
            </a:r>
            <a:r>
              <a:rPr lang="en-US" sz="1800" dirty="0"/>
              <a:t>, MasterCard, Visa (EMV) Cards</a:t>
            </a:r>
          </a:p>
          <a:p>
            <a:pPr lvl="1"/>
            <a:r>
              <a:rPr lang="en-US" sz="1400" dirty="0"/>
              <a:t>ISO/IEC 14443 13.56Mhz</a:t>
            </a:r>
          </a:p>
          <a:p>
            <a:pPr lvl="1"/>
            <a:r>
              <a:rPr lang="en-US" sz="1400" dirty="0"/>
              <a:t>Chipped credit cards</a:t>
            </a:r>
          </a:p>
          <a:p>
            <a:pPr lvl="1"/>
            <a:r>
              <a:rPr lang="en-US" sz="1400" dirty="0"/>
              <a:t>RFID reads information similar to that of magnetic stripe</a:t>
            </a:r>
          </a:p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Card#, first and last name, expiration date, transaction counter</a:t>
            </a:r>
          </a:p>
          <a:p>
            <a:pPr lvl="2"/>
            <a:r>
              <a:rPr lang="en-US" sz="1200" dirty="0"/>
              <a:t>Confidentiality exposed</a:t>
            </a:r>
          </a:p>
          <a:p>
            <a:pPr lvl="1"/>
            <a:r>
              <a:rPr lang="en-US" sz="1400" dirty="0"/>
              <a:t>CVV2 not disclosed (Dynamic CVC)</a:t>
            </a:r>
          </a:p>
          <a:p>
            <a:r>
              <a:rPr lang="en-US" sz="1800" dirty="0"/>
              <a:t>Vulnerabilities</a:t>
            </a:r>
          </a:p>
          <a:p>
            <a:pPr lvl="1"/>
            <a:r>
              <a:rPr lang="en-US" sz="1400" dirty="0"/>
              <a:t>Vulnerable to NFC Proxy attack</a:t>
            </a:r>
          </a:p>
          <a:p>
            <a:r>
              <a:rPr lang="en-US" sz="1800" dirty="0"/>
              <a:t>Tools</a:t>
            </a:r>
          </a:p>
          <a:p>
            <a:pPr lvl="1"/>
            <a:r>
              <a:rPr lang="en-US" sz="1400" dirty="0"/>
              <a:t>EMV readers available</a:t>
            </a:r>
          </a:p>
          <a:p>
            <a:pPr lvl="2"/>
            <a:r>
              <a:rPr lang="en-US" sz="1200" dirty="0" err="1"/>
              <a:t>VIVOPay</a:t>
            </a:r>
            <a:endParaRPr lang="en-US" sz="1200" dirty="0"/>
          </a:p>
          <a:p>
            <a:pPr lvl="3"/>
            <a:r>
              <a:rPr lang="en-US" sz="1000" dirty="0" err="1"/>
              <a:t>Pwnpass</a:t>
            </a:r>
            <a:r>
              <a:rPr lang="en-US" sz="1000" dirty="0"/>
              <a:t> application (Python script) reads out data</a:t>
            </a:r>
          </a:p>
          <a:p>
            <a:pPr lvl="2"/>
            <a:r>
              <a:rPr lang="en-US" sz="1200" dirty="0"/>
              <a:t>Android EMV</a:t>
            </a:r>
          </a:p>
          <a:p>
            <a:pPr lvl="3"/>
            <a:r>
              <a:rPr lang="en-US" sz="1000" dirty="0"/>
              <a:t>NFC </a:t>
            </a:r>
            <a:r>
              <a:rPr lang="en-US" sz="1000" dirty="0" err="1"/>
              <a:t>SmartCard</a:t>
            </a:r>
            <a:r>
              <a:rPr lang="en-US" sz="1000" dirty="0"/>
              <a:t> Info</a:t>
            </a:r>
          </a:p>
          <a:p>
            <a:pPr lvl="2"/>
            <a:r>
              <a:rPr lang="en-US" sz="1200" dirty="0"/>
              <a:t>ACS ACR122U</a:t>
            </a:r>
          </a:p>
          <a:p>
            <a:pPr lvl="3"/>
            <a:r>
              <a:rPr lang="en-US" sz="1000" dirty="0"/>
              <a:t>HF RFID and NFC</a:t>
            </a:r>
          </a:p>
          <a:p>
            <a:pPr lvl="3"/>
            <a:r>
              <a:rPr lang="en-US" sz="1000" dirty="0"/>
              <a:t>Can emulate PICCs</a:t>
            </a:r>
          </a:p>
          <a:p>
            <a:pPr lvl="3"/>
            <a:r>
              <a:rPr lang="en-US" sz="1000" dirty="0"/>
              <a:t>USB reader supported by Linux</a:t>
            </a:r>
          </a:p>
          <a:p>
            <a:pPr lvl="1"/>
            <a:r>
              <a:rPr lang="en-US" sz="1400" dirty="0"/>
              <a:t>Linux: </a:t>
            </a:r>
            <a:r>
              <a:rPr lang="en-US" sz="1400" dirty="0" err="1"/>
              <a:t>pwnpass</a:t>
            </a:r>
            <a:r>
              <a:rPr lang="en-US" sz="1400" dirty="0"/>
              <a:t>, </a:t>
            </a:r>
            <a:r>
              <a:rPr lang="en-US" sz="1400" dirty="0" err="1"/>
              <a:t>nfcproxy</a:t>
            </a:r>
            <a:endParaRPr lang="en-US" sz="1400" dirty="0"/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7267707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5"/>
          </a:xfrm>
        </p:spPr>
        <p:txBody>
          <a:bodyPr>
            <a:normAutofit fontScale="90000"/>
          </a:bodyPr>
          <a:lstStyle/>
          <a:p>
            <a:r>
              <a:rPr lang="en-US" dirty="0"/>
              <a:t>IoT NFC MIFARE</a:t>
            </a:r>
          </a:p>
        </p:txBody>
      </p:sp>
      <p:sp>
        <p:nvSpPr>
          <p:cNvPr id="17411" name="Content Placeholder 10"/>
          <p:cNvSpPr>
            <a:spLocks noGrp="1"/>
          </p:cNvSpPr>
          <p:nvPr>
            <p:ph idx="1"/>
          </p:nvPr>
        </p:nvSpPr>
        <p:spPr>
          <a:xfrm>
            <a:off x="1792288" y="972943"/>
            <a:ext cx="8699500" cy="5451671"/>
          </a:xfrm>
        </p:spPr>
        <p:txBody>
          <a:bodyPr>
            <a:normAutofit/>
          </a:bodyPr>
          <a:lstStyle/>
          <a:p>
            <a:r>
              <a:rPr lang="en-US" sz="1800" dirty="0"/>
              <a:t>MIFARE</a:t>
            </a:r>
          </a:p>
          <a:p>
            <a:pPr lvl="1"/>
            <a:r>
              <a:rPr lang="en-US" sz="1400" dirty="0"/>
              <a:t>RFID chipset built into many products</a:t>
            </a:r>
          </a:p>
          <a:p>
            <a:r>
              <a:rPr lang="en-US" sz="1800" dirty="0"/>
              <a:t>Security</a:t>
            </a:r>
          </a:p>
          <a:p>
            <a:pPr lvl="1"/>
            <a:r>
              <a:rPr lang="en-US" sz="1400" dirty="0"/>
              <a:t>Proprietary steam cipher crypto “CRYPTO1” for authentication</a:t>
            </a:r>
          </a:p>
          <a:p>
            <a:pPr lvl="1"/>
            <a:r>
              <a:rPr lang="en-US" sz="1400" dirty="0"/>
              <a:t>Multiple flaws</a:t>
            </a:r>
          </a:p>
          <a:p>
            <a:pPr lvl="1"/>
            <a:r>
              <a:rPr lang="en-US" sz="1400" dirty="0"/>
              <a:t>Weak 48 bit key length</a:t>
            </a:r>
          </a:p>
          <a:p>
            <a:pPr lvl="2"/>
            <a:r>
              <a:rPr lang="en-US" sz="1200" dirty="0"/>
              <a:t>Default key often used</a:t>
            </a:r>
          </a:p>
          <a:p>
            <a:pPr lvl="1"/>
            <a:r>
              <a:rPr lang="en-US" sz="1400" dirty="0"/>
              <a:t>Predictable nonce values</a:t>
            </a:r>
          </a:p>
          <a:p>
            <a:pPr lvl="1"/>
            <a:r>
              <a:rPr lang="en-US" sz="1400" dirty="0"/>
              <a:t>Recover key by eavesdropping</a:t>
            </a:r>
          </a:p>
          <a:p>
            <a:pPr lvl="1"/>
            <a:r>
              <a:rPr lang="en-US" sz="1400" dirty="0"/>
              <a:t>Recover key from PICC, takes time under 30 minutes</a:t>
            </a:r>
          </a:p>
          <a:p>
            <a:pPr lvl="1"/>
            <a:r>
              <a:rPr lang="en-US" sz="1400" dirty="0"/>
              <a:t>With 1 key, attacker can recover all other keys on card</a:t>
            </a:r>
          </a:p>
          <a:p>
            <a:pPr lvl="1"/>
            <a:r>
              <a:rPr lang="en-US" sz="1400" dirty="0"/>
              <a:t>Attacker can dump card and clone</a:t>
            </a:r>
          </a:p>
          <a:p>
            <a:r>
              <a:rPr lang="en-US" sz="1800" dirty="0"/>
              <a:t>Vulnerabilities</a:t>
            </a:r>
          </a:p>
          <a:p>
            <a:pPr lvl="1"/>
            <a:r>
              <a:rPr lang="en-US" sz="1400" dirty="0"/>
              <a:t>Mix key and UID to authenticate</a:t>
            </a:r>
          </a:p>
          <a:p>
            <a:pPr lvl="1"/>
            <a:r>
              <a:rPr lang="en-US" sz="1400" dirty="0"/>
              <a:t>UID unique to card</a:t>
            </a:r>
          </a:p>
          <a:p>
            <a:pPr lvl="1"/>
            <a:r>
              <a:rPr lang="en-US" sz="1400" dirty="0"/>
              <a:t>Need writable card to clone it</a:t>
            </a:r>
          </a:p>
          <a:p>
            <a:r>
              <a:rPr lang="en-US" sz="1800" dirty="0"/>
              <a:t>Tools</a:t>
            </a:r>
          </a:p>
          <a:p>
            <a:pPr lvl="1"/>
            <a:r>
              <a:rPr lang="en-US" sz="1400" dirty="0"/>
              <a:t>Linux: </a:t>
            </a:r>
            <a:r>
              <a:rPr lang="en-US" sz="1400" dirty="0" err="1"/>
              <a:t>mfoc</a:t>
            </a:r>
            <a:r>
              <a:rPr lang="en-US" sz="1400" dirty="0"/>
              <a:t>, </a:t>
            </a:r>
            <a:r>
              <a:rPr lang="en-US" sz="1400" dirty="0" err="1"/>
              <a:t>mfcuk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2882206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2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1303</TotalTime>
  <Words>618</Words>
  <Application>Microsoft Office PowerPoint</Application>
  <PresentationFormat>Widescreen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Custom Design</vt:lpstr>
      <vt:lpstr>Exercise - NFC Cabinet Lock UID Cloning   </vt:lpstr>
      <vt:lpstr>NFC Authentication Types</vt:lpstr>
      <vt:lpstr>Exercise - NFC Password Protection &amp; Brute Force</vt:lpstr>
      <vt:lpstr>Playing with NFC – Reading/Writing: (with ACR122U)</vt:lpstr>
      <vt:lpstr>PowerPoint Presentation</vt:lpstr>
      <vt:lpstr>IoT Near Field Communication (NFC) Basics</vt:lpstr>
      <vt:lpstr>IoT NFC Security</vt:lpstr>
      <vt:lpstr>IoT RFID/NFC Hardware Tools</vt:lpstr>
      <vt:lpstr>IoT NFC EMV</vt:lpstr>
      <vt:lpstr>IoT NFC MIFARE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8</cp:revision>
  <dcterms:created xsi:type="dcterms:W3CDTF">2026-03-11T18:02:03Z</dcterms:created>
  <dcterms:modified xsi:type="dcterms:W3CDTF">2026-09-04T13:30:08Z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
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0"/>
  </p:notesMasterIdLst>
  <p:sldIdLst>
    <p:sldId id="775" r:id="rId6"/>
    <p:sldId id="760" r:id="rId7"/>
    <p:sldId id="771" r:id="rId8"/>
    <p:sldId id="764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40EEF03E-46C1-4B91-8015-EA960149133A}">
          <p14:sldIdLst>
            <p14:sldId id="775"/>
            <p14:sldId id="760"/>
            <p14:sldId id="771"/>
            <p14:sldId id="764"/>
          </p14:sldIdLst>
        </p14:section>
        <p14:section name="Syllabus" id="{A31229EC-853B-4205-8E31-6B44F371A12E}">
          <p14:sldIdLst/>
        </p14:section>
        <p14:section name="FCC ID" id="{996098ED-F625-41E8-8BD8-06E6CC46322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60518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351645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7239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498609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apple.com/en-us/HT20154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rl.org/radio-frequency-interference-rf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lectromagnetic_interferenc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ps.gov/news/2012/03/solarstor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/>
          <a:lstStyle/>
          <a:p>
            <a:pPr algn="ctr"/>
            <a:r>
              <a:rPr lang="en-US" b="1" dirty="0"/>
              <a:t>Wireless Interference</a:t>
            </a:r>
          </a:p>
        </p:txBody>
      </p:sp>
    </p:spTree>
    <p:extLst>
      <p:ext uri="{BB962C8B-B14F-4D97-AF65-F5344CB8AC3E}">
        <p14:creationId xmlns:p14="http://schemas.microsoft.com/office/powerpoint/2010/main" val="300915652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Wireless Interference Sources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00706"/>
            <a:ext cx="8699500" cy="5523908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Information</a:t>
            </a:r>
          </a:p>
          <a:p>
            <a:pPr lvl="1"/>
            <a:r>
              <a:rPr lang="en-US" altLang="ja-JP" sz="1300" dirty="0">
                <a:hlinkClick r:id="rId3"/>
              </a:rPr>
              <a:t>https://support.apple.com/en-us/HT201542</a:t>
            </a:r>
            <a:endParaRPr lang="en-US" altLang="ja-JP" sz="1300" dirty="0"/>
          </a:p>
          <a:p>
            <a:r>
              <a:rPr lang="en-US" altLang="ja-JP" sz="1600" dirty="0"/>
              <a:t>Unmanned Drones</a:t>
            </a:r>
          </a:p>
          <a:p>
            <a:pPr lvl="1"/>
            <a:r>
              <a:rPr lang="en-US" altLang="ja-JP" sz="1400" dirty="0"/>
              <a:t>Many drones, especially cheap ones</a:t>
            </a:r>
          </a:p>
          <a:p>
            <a:pPr lvl="1"/>
            <a:r>
              <a:rPr lang="en-US" altLang="ja-JP" sz="1400" dirty="0"/>
              <a:t>Poor transmitter band filtering, swamp signals on bands and adjacent bands</a:t>
            </a:r>
          </a:p>
          <a:p>
            <a:pPr lvl="1"/>
            <a:r>
              <a:rPr lang="en-US" altLang="ja-JP" sz="1400" dirty="0"/>
              <a:t>Many operate at 2.4Ghz (BT, Zigbee and WiFi) and 5.8Ghz (</a:t>
            </a:r>
            <a:r>
              <a:rPr lang="en-US" altLang="ja-JP" sz="1400" dirty="0" err="1"/>
              <a:t>WiFi</a:t>
            </a:r>
            <a:r>
              <a:rPr lang="en-US" altLang="ja-JP" sz="1400" dirty="0"/>
              <a:t>)</a:t>
            </a:r>
          </a:p>
          <a:p>
            <a:r>
              <a:rPr lang="en-US" altLang="ja-JP" sz="1600" dirty="0"/>
              <a:t>Wireless Sources</a:t>
            </a:r>
            <a:endParaRPr lang="en-US" altLang="ja-JP" sz="1800" dirty="0"/>
          </a:p>
          <a:p>
            <a:pPr lvl="1"/>
            <a:r>
              <a:rPr lang="en-US" altLang="ja-JP" sz="1400"/>
              <a:t>Microwaves</a:t>
            </a:r>
          </a:p>
          <a:p>
            <a:pPr lvl="1"/>
            <a:r>
              <a:rPr lang="en-US" altLang="ja-JP" sz="1400" dirty="0"/>
              <a:t>Malfunctioning/misconfigured equipment</a:t>
            </a:r>
          </a:p>
          <a:p>
            <a:pPr lvl="1"/>
            <a:r>
              <a:rPr lang="en-US" altLang="ja-JP" sz="1400" dirty="0"/>
              <a:t>Super-G </a:t>
            </a:r>
            <a:r>
              <a:rPr lang="en-US" altLang="ja-JP" sz="1400" dirty="0" err="1"/>
              <a:t>WiFi</a:t>
            </a:r>
            <a:endParaRPr lang="en-US" altLang="ja-JP" sz="1400" dirty="0"/>
          </a:p>
          <a:p>
            <a:pPr lvl="1"/>
            <a:r>
              <a:rPr lang="en-US" altLang="ja-JP" sz="1400" dirty="0"/>
              <a:t>Wireless Speakers</a:t>
            </a:r>
          </a:p>
          <a:p>
            <a:pPr lvl="1"/>
            <a:r>
              <a:rPr lang="en-US" altLang="ja-JP" sz="1400" dirty="0"/>
              <a:t>Wireless Video Cameras</a:t>
            </a:r>
          </a:p>
          <a:p>
            <a:pPr lvl="2"/>
            <a:r>
              <a:rPr lang="en-US" altLang="ja-JP" sz="1200" dirty="0"/>
              <a:t>Especially ones used on drones</a:t>
            </a:r>
          </a:p>
          <a:p>
            <a:pPr lvl="2"/>
            <a:r>
              <a:rPr lang="en-US" altLang="ja-JP" sz="1200" dirty="0"/>
              <a:t>Older security systems, some just above DSRC 5.9Ghz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19467390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RF Interference Sources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00706"/>
            <a:ext cx="8699500" cy="5523908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Electrical Noise</a:t>
            </a:r>
          </a:p>
          <a:p>
            <a:pPr lvl="1"/>
            <a:r>
              <a:rPr lang="en-US" altLang="ja-JP" sz="1400" dirty="0"/>
              <a:t>Lack of RF shielding</a:t>
            </a:r>
          </a:p>
          <a:p>
            <a:pPr lvl="1"/>
            <a:r>
              <a:rPr lang="en-US" altLang="ja-JP" sz="1400" dirty="0"/>
              <a:t>Poorly implemented or badly shielded switching power supplies</a:t>
            </a:r>
          </a:p>
          <a:p>
            <a:pPr lvl="2"/>
            <a:r>
              <a:rPr lang="en-US" altLang="ja-JP" sz="1200" dirty="0"/>
              <a:t>Particularly for neon lighting</a:t>
            </a:r>
          </a:p>
          <a:p>
            <a:pPr lvl="1"/>
            <a:r>
              <a:rPr lang="en-US" altLang="ja-JP" sz="1400" dirty="0"/>
              <a:t>Cabling and connections, if loose or damaged or unshielded</a:t>
            </a:r>
          </a:p>
          <a:p>
            <a:r>
              <a:rPr lang="en-US" altLang="ja-JP" sz="1600" dirty="0"/>
              <a:t>Radio Frequency</a:t>
            </a:r>
          </a:p>
          <a:p>
            <a:pPr lvl="1"/>
            <a:r>
              <a:rPr lang="en-US" altLang="ja-JP" sz="1400" dirty="0">
                <a:hlinkClick r:id="rId3"/>
              </a:rPr>
              <a:t>http://www.arrl.org/radio-frequency-interference-rfi</a:t>
            </a:r>
            <a:endParaRPr lang="en-US" altLang="ja-JP" sz="1400" dirty="0"/>
          </a:p>
          <a:p>
            <a:pPr lvl="1"/>
            <a:r>
              <a:rPr lang="en-US" altLang="ja-JP" sz="1400" dirty="0">
                <a:hlinkClick r:id="rId4"/>
              </a:rPr>
              <a:t>https://en.wikipedia.org/wiki/Electromagnetic_interference</a:t>
            </a:r>
            <a:endParaRPr lang="en-US" altLang="ja-JP" sz="1400" dirty="0"/>
          </a:p>
          <a:p>
            <a:pPr lvl="1"/>
            <a:r>
              <a:rPr lang="en-US" altLang="ja-JP" sz="1400" dirty="0"/>
              <a:t>Antennas</a:t>
            </a:r>
          </a:p>
          <a:p>
            <a:pPr lvl="2"/>
            <a:r>
              <a:rPr lang="en-US" altLang="ja-JP" sz="1200" dirty="0"/>
              <a:t>Close proximity</a:t>
            </a:r>
          </a:p>
          <a:p>
            <a:pPr lvl="2"/>
            <a:r>
              <a:rPr lang="en-US" altLang="ja-JP" sz="1200" dirty="0"/>
              <a:t>High power</a:t>
            </a:r>
          </a:p>
          <a:p>
            <a:pPr lvl="1"/>
            <a:r>
              <a:rPr lang="en-US" altLang="ja-JP" sz="1400" dirty="0"/>
              <a:t>Baby monitors</a:t>
            </a:r>
          </a:p>
          <a:p>
            <a:pPr lvl="1"/>
            <a:r>
              <a:rPr lang="en-US" altLang="ja-JP" sz="1400" dirty="0"/>
              <a:t>Cordless phones</a:t>
            </a:r>
          </a:p>
          <a:p>
            <a:pPr lvl="2"/>
            <a:r>
              <a:rPr lang="en-US" altLang="ja-JP" sz="1200" dirty="0"/>
              <a:t>The older analog models are the worst at 2.4Ghz</a:t>
            </a:r>
          </a:p>
          <a:p>
            <a:pPr lvl="1"/>
            <a:r>
              <a:rPr lang="en-US" altLang="ja-JP" sz="1400" dirty="0"/>
              <a:t>Jammers</a:t>
            </a:r>
          </a:p>
          <a:p>
            <a:pPr lvl="1"/>
            <a:r>
              <a:rPr lang="en-US" altLang="ja-JP" sz="1400" dirty="0"/>
              <a:t>Microwave Ovens</a:t>
            </a:r>
          </a:p>
          <a:p>
            <a:pPr lvl="1"/>
            <a:r>
              <a:rPr lang="en-US" altLang="ja-JP" sz="1400" dirty="0"/>
              <a:t>Military Radars</a:t>
            </a:r>
          </a:p>
          <a:p>
            <a:pPr lvl="1"/>
            <a:r>
              <a:rPr lang="en-US" altLang="ja-JP" sz="1400" dirty="0"/>
              <a:t>Power Sources</a:t>
            </a:r>
          </a:p>
          <a:p>
            <a:pPr lvl="2"/>
            <a:r>
              <a:rPr lang="en-US" altLang="ja-JP" sz="1200" dirty="0"/>
              <a:t>Close proximity</a:t>
            </a:r>
          </a:p>
          <a:p>
            <a:pPr lvl="2"/>
            <a:r>
              <a:rPr lang="en-US" altLang="ja-JP" sz="1200" dirty="0"/>
              <a:t>Large power sources</a:t>
            </a:r>
          </a:p>
          <a:p>
            <a:pPr lvl="2"/>
            <a:r>
              <a:rPr lang="en-US" altLang="ja-JP" sz="1200" dirty="0"/>
              <a:t>Switching power supplies</a:t>
            </a:r>
          </a:p>
        </p:txBody>
      </p:sp>
    </p:spTree>
    <p:extLst>
      <p:ext uri="{BB962C8B-B14F-4D97-AF65-F5344CB8AC3E}">
        <p14:creationId xmlns:p14="http://schemas.microsoft.com/office/powerpoint/2010/main" val="1977757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Environmental Interference Sources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00706"/>
            <a:ext cx="8699500" cy="5523908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Extreme Weather</a:t>
            </a:r>
          </a:p>
          <a:p>
            <a:pPr lvl="1"/>
            <a:r>
              <a:rPr lang="en-US" altLang="ja-JP" sz="1400" dirty="0"/>
              <a:t>Heavy rain/snow</a:t>
            </a:r>
          </a:p>
          <a:p>
            <a:pPr lvl="1"/>
            <a:r>
              <a:rPr lang="en-US" altLang="ja-JP" sz="1400" dirty="0"/>
              <a:t>Lightning storms</a:t>
            </a:r>
          </a:p>
          <a:p>
            <a:r>
              <a:rPr lang="en-US" altLang="ja-JP" sz="1600" dirty="0"/>
              <a:t>Space Weather</a:t>
            </a:r>
          </a:p>
          <a:p>
            <a:pPr lvl="1"/>
            <a:r>
              <a:rPr lang="en-US" altLang="ja-JP" sz="1400" dirty="0"/>
              <a:t>Solar storms and Coronal Mass Ejections (CMEs)</a:t>
            </a:r>
          </a:p>
          <a:p>
            <a:pPr lvl="1"/>
            <a:r>
              <a:rPr lang="en-US" altLang="ja-JP" sz="1400" dirty="0"/>
              <a:t>Affect Earth’s ionosphere and impacts long range radio communications and GPS</a:t>
            </a:r>
          </a:p>
          <a:p>
            <a:pPr lvl="1"/>
            <a:r>
              <a:rPr lang="en-US" altLang="ja-JP" sz="1400" dirty="0">
                <a:hlinkClick r:id="" action="ppaction://noaction"/>
              </a:rPr>
              <a:t>http://www.spaceweather.com/</a:t>
            </a:r>
          </a:p>
          <a:p>
            <a:pPr lvl="1"/>
            <a:r>
              <a:rPr lang="en-US" altLang="ja-JP" sz="1400" dirty="0">
                <a:hlinkClick r:id="" action="ppaction://noaction"/>
              </a:rPr>
              <a:t>http://www.solarham.net/</a:t>
            </a:r>
            <a:endParaRPr lang="en-US" altLang="ja-JP" sz="1400" dirty="0"/>
          </a:p>
          <a:p>
            <a:pPr lvl="1"/>
            <a:r>
              <a:rPr lang="en-US" altLang="ja-JP" sz="1400" dirty="0">
                <a:hlinkClick r:id="rId3"/>
              </a:rPr>
              <a:t>https://www.gps.gov/news/2012/03/solarstorm/</a:t>
            </a:r>
            <a:endParaRPr lang="en-US" altLang="ja-JP" sz="1400" dirty="0"/>
          </a:p>
          <a:p>
            <a:r>
              <a:rPr lang="en-US" altLang="ja-JP" sz="1600" dirty="0"/>
              <a:t>Structural Materials</a:t>
            </a:r>
          </a:p>
          <a:p>
            <a:pPr lvl="1"/>
            <a:r>
              <a:rPr lang="en-US" altLang="ja-JP" sz="1400" dirty="0"/>
              <a:t>Absorptive materials will dampen the signal</a:t>
            </a:r>
          </a:p>
          <a:p>
            <a:pPr lvl="1"/>
            <a:r>
              <a:rPr lang="en-US" altLang="ja-JP" sz="1400" dirty="0"/>
              <a:t>Reflective materials will create multipath interference</a:t>
            </a:r>
          </a:p>
          <a:p>
            <a:pPr lvl="1"/>
            <a:r>
              <a:rPr lang="en-US" altLang="ja-JP" sz="1400" dirty="0"/>
              <a:t>Medium</a:t>
            </a:r>
          </a:p>
          <a:p>
            <a:pPr lvl="2"/>
            <a:r>
              <a:rPr lang="en-US" altLang="ja-JP" sz="1200" dirty="0"/>
              <a:t>Water, bricks, marble</a:t>
            </a:r>
          </a:p>
          <a:p>
            <a:pPr lvl="1"/>
            <a:r>
              <a:rPr lang="en-US" altLang="ja-JP" sz="1400" dirty="0"/>
              <a:t>High</a:t>
            </a:r>
          </a:p>
          <a:p>
            <a:pPr lvl="2"/>
            <a:r>
              <a:rPr lang="en-US" altLang="ja-JP" sz="1200" dirty="0"/>
              <a:t>Concrete, bulletproof glass, metal</a:t>
            </a:r>
          </a:p>
        </p:txBody>
      </p:sp>
    </p:spTree>
    <p:extLst>
      <p:ext uri="{BB962C8B-B14F-4D97-AF65-F5344CB8AC3E}">
        <p14:creationId xmlns:p14="http://schemas.microsoft.com/office/powerpoint/2010/main" val="364193373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262</Words>
  <Application>Microsoft Office PowerPoint</Application>
  <PresentationFormat>Widescreen</PresentationFormat>
  <Paragraphs>58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Custom Design</vt:lpstr>
      <vt:lpstr>Wireless Interference</vt:lpstr>
      <vt:lpstr>Wireless Interference Sources</vt:lpstr>
      <vt:lpstr>RF Interference Sources</vt:lpstr>
      <vt:lpstr>Environmental Interference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24</cp:revision>
  <dcterms:created xsi:type="dcterms:W3CDTF">2026-03-11T18:02:03Z</dcterms:created>
  <dcterms:modified xsi:type="dcterms:W3CDTF">2026-10-15T14:15:33Z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
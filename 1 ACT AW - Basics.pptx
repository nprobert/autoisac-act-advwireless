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14"/>
  </p:notesMasterIdLst>
  <p:sldIdLst>
    <p:sldId id="507" r:id="rId6"/>
    <p:sldId id="778" r:id="rId7"/>
    <p:sldId id="780" r:id="rId8"/>
    <p:sldId id="312" r:id="rId9"/>
    <p:sldId id="310" r:id="rId10"/>
    <p:sldId id="311" r:id="rId11"/>
    <p:sldId id="781" r:id="rId12"/>
    <p:sldId id="779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yllabus" id="{A31229EC-853B-4205-8E31-6B44F371A12E}">
          <p14:sldIdLst>
            <p14:sldId id="507"/>
          </p14:sldIdLst>
        </p14:section>
        <p14:section name="US Laws" id="{40BC4D5D-0A57-4E8C-BB64-0F5BDF1B8E4A}">
          <p14:sldIdLst>
            <p14:sldId id="778"/>
          </p14:sldIdLst>
        </p14:section>
        <p14:section name="Radio Modulation" id="{785EFAC1-38B5-4EBD-9C39-E3D4D03853B7}">
          <p14:sldIdLst>
            <p14:sldId id="780"/>
          </p14:sldIdLst>
        </p14:section>
        <p14:section name="FCC ID" id="{996098ED-F625-41E8-8BD8-06E6CC46322C}">
          <p14:sldIdLst>
            <p14:sldId id="312"/>
            <p14:sldId id="310"/>
            <p14:sldId id="311"/>
          </p14:sldIdLst>
        </p14:section>
        <p14:section name="MAC ID" id="{FEDD5FBB-3FE3-4B83-A476-335840C7ACD6}">
          <p14:sldIdLst>
            <p14:sldId id="781"/>
          </p14:sldIdLst>
        </p14:section>
        <p14:section name="Appendix" id="{1A876553-7A3B-47A2-BDE9-1B0757EF4186}">
          <p14:sldIdLst>
            <p14:sldId id="7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263524" y="208032"/>
            <a:ext cx="11664951" cy="5635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Title, Verdana Bold 28pt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1" hasCustomPrompt="1"/>
          </p:nvPr>
        </p:nvSpPr>
        <p:spPr>
          <a:xfrm>
            <a:off x="270415" y="976343"/>
            <a:ext cx="11658059" cy="446057"/>
          </a:xfrm>
          <a:prstGeom prst="rect">
            <a:avLst/>
          </a:prstGeom>
        </p:spPr>
        <p:txBody>
          <a:bodyPr/>
          <a:lstStyle>
            <a:lvl1pPr marL="228600" indent="-228600">
              <a:buFont typeface="Wingdings" panose="05000000000000000000" pitchFamily="2" charset="2"/>
              <a:buChar char="n"/>
              <a:defRPr sz="2400" baseline="0">
                <a:latin typeface="+mn-lt"/>
              </a:defRPr>
            </a:lvl1pPr>
          </a:lstStyle>
          <a:p>
            <a:pPr lvl="0"/>
            <a:r>
              <a:rPr kumimoji="1" lang="en-US" altLang="ja-JP" dirty="0"/>
              <a:t>Body Title, Verdana 24pt</a:t>
            </a:r>
            <a:endParaRPr kumimoji="1" lang="ja-JP" altLang="en-US" dirty="0"/>
          </a:p>
        </p:txBody>
      </p:sp>
      <p:sp>
        <p:nvSpPr>
          <p:cNvPr id="9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270415" y="1422400"/>
            <a:ext cx="11658059" cy="4622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baseline="0">
                <a:latin typeface="+mn-lt"/>
              </a:defRPr>
            </a:lvl1pPr>
          </a:lstStyle>
          <a:p>
            <a:pPr lvl="0"/>
            <a:r>
              <a:rPr kumimoji="1" lang="en-US" altLang="ja-JP" dirty="0"/>
              <a:t>Body Text, Verdana 18pt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23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19">
          <p15:clr>
            <a:srgbClr val="FBAE40"/>
          </p15:clr>
        </p15:guide>
        <p15:guide id="5" orient="horz" pos="61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279451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cc.gov/engineering-technology/policy-and-rules-division/general/radio-spectrum-allocation" TargetMode="External"/><Relationship Id="rId7" Type="http://schemas.openxmlformats.org/officeDocument/2006/relationships/hyperlink" Target="https://fccid.io/" TargetMode="External"/><Relationship Id="rId2" Type="http://schemas.openxmlformats.org/officeDocument/2006/relationships/hyperlink" Target="https://www.fcc.gov/media/radio/low-power-radio-general-information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fcc.gov/oet/ea/fccid" TargetMode="External"/><Relationship Id="rId5" Type="http://schemas.openxmlformats.org/officeDocument/2006/relationships/hyperlink" Target="https://www.fcc.gov/general/jammer-enforcement" TargetMode="External"/><Relationship Id="rId4" Type="http://schemas.openxmlformats.org/officeDocument/2006/relationships/hyperlink" Target="https://www.fcc.gov/consumers/guides/unauthorized-radio-operatio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clookup.app/" TargetMode="External"/><Relationship Id="rId2" Type="http://schemas.openxmlformats.org/officeDocument/2006/relationships/hyperlink" Target="https://en.wikipedia.org/wiki/MAC_addre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nuradio.org/" TargetMode="External"/><Relationship Id="rId3" Type="http://schemas.openxmlformats.org/officeDocument/2006/relationships/hyperlink" Target="https://www.sans.org/cyber-security-courses/wireless-penetration-testing-ethical-hacking" TargetMode="External"/><Relationship Id="rId7" Type="http://schemas.openxmlformats.org/officeDocument/2006/relationships/hyperlink" Target="https://www.rtl-sdr.com/" TargetMode="External"/><Relationship Id="rId2" Type="http://schemas.openxmlformats.org/officeDocument/2006/relationships/hyperlink" Target="https://github.com/nprobert/AutoISAC-ACT-AdvWireles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reatscottgadgets.com/hackrf/" TargetMode="External"/><Relationship Id="rId5" Type="http://schemas.openxmlformats.org/officeDocument/2006/relationships/hyperlink" Target="https://freewili.com/" TargetMode="External"/><Relationship Id="rId4" Type="http://schemas.openxmlformats.org/officeDocument/2006/relationships/hyperlink" Target="https://flipper.net/" TargetMode="External"/><Relationship Id="rId9" Type="http://schemas.openxmlformats.org/officeDocument/2006/relationships/hyperlink" Target="https://www.gnuradio.org/news/2022-02-03-new-tutoria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8CC41A-92DC-4526-9165-E4D3020A5F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Auto-ISAC ACT Advanced Wireless Lab – 2026 Syllabus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F222F-449F-AEF7-61FD-D75CFCD9EC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0415" y="717259"/>
            <a:ext cx="11658059" cy="5848133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Intro</a:t>
            </a:r>
          </a:p>
          <a:p>
            <a:pPr marL="971550" lvl="1" indent="-285750"/>
            <a:r>
              <a:rPr lang="en-US" sz="1400" dirty="0"/>
              <a:t>US Laws &amp; Regulations</a:t>
            </a:r>
          </a:p>
          <a:p>
            <a:pPr marL="971550" lvl="1" indent="-285750"/>
            <a:r>
              <a:rPr lang="en-US" sz="1400" dirty="0"/>
              <a:t>Radio Modulation</a:t>
            </a:r>
          </a:p>
          <a:p>
            <a:pPr marL="971550" lvl="1" indent="-285750"/>
            <a:r>
              <a:rPr lang="en-US" sz="1400" dirty="0"/>
              <a:t>FCC ID Lookup</a:t>
            </a:r>
          </a:p>
          <a:p>
            <a:pPr marL="971550" lvl="1" indent="-285750"/>
            <a:r>
              <a:rPr lang="en-US" sz="1400" dirty="0"/>
              <a:t>MAC ID Lookup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Bluetooth</a:t>
            </a:r>
          </a:p>
          <a:p>
            <a:pPr marL="971550" lvl="1" indent="-285750"/>
            <a:r>
              <a:rPr lang="en-US" sz="1400" dirty="0"/>
              <a:t>Scanning</a:t>
            </a:r>
          </a:p>
          <a:p>
            <a:pPr marL="971550" lvl="1" indent="-285750"/>
            <a:r>
              <a:rPr lang="en-US" sz="1400" dirty="0"/>
              <a:t>Enumerating</a:t>
            </a:r>
          </a:p>
          <a:p>
            <a:pPr marL="971550" lvl="1" indent="-285750"/>
            <a:r>
              <a:rPr lang="en-US" sz="1400" dirty="0"/>
              <a:t>Identifying</a:t>
            </a:r>
          </a:p>
          <a:p>
            <a:pPr marL="971550" lvl="1" indent="-285750"/>
            <a:r>
              <a:rPr lang="en-US" sz="1400" dirty="0"/>
              <a:t>Analyzing</a:t>
            </a:r>
          </a:p>
          <a:p>
            <a:pPr marL="971550" lvl="1" indent="-285750"/>
            <a:r>
              <a:rPr lang="en-US" sz="1400" dirty="0"/>
              <a:t>Pairing</a:t>
            </a:r>
          </a:p>
          <a:p>
            <a:pPr marL="971550" lvl="1" indent="-285750"/>
            <a:r>
              <a:rPr lang="en-US" sz="1400" dirty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WiFi</a:t>
            </a:r>
            <a:endParaRPr lang="en-US" sz="1600" b="1" dirty="0"/>
          </a:p>
          <a:p>
            <a:pPr marL="971550" lvl="1" indent="-285750"/>
            <a:r>
              <a:rPr lang="en-US" sz="1400" dirty="0"/>
              <a:t>Analyzer</a:t>
            </a:r>
          </a:p>
          <a:p>
            <a:pPr marL="971550" lvl="1" indent="-285750"/>
            <a:r>
              <a:rPr lang="en-US" sz="1400" dirty="0" err="1"/>
              <a:t>WiFite</a:t>
            </a:r>
            <a:endParaRPr lang="en-US" sz="1400" dirty="0"/>
          </a:p>
          <a:p>
            <a:pPr marL="971550" lvl="1" indent="-285750"/>
            <a:r>
              <a:rPr lang="en-US" sz="1400" dirty="0" err="1"/>
              <a:t>HackISAC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GPS</a:t>
            </a:r>
          </a:p>
          <a:p>
            <a:pPr marL="971550" lvl="1" indent="-285750"/>
            <a:r>
              <a:rPr lang="en-US" sz="1400" dirty="0"/>
              <a:t>Viewing</a:t>
            </a:r>
            <a:endParaRPr lang="en-US" sz="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Cellular</a:t>
            </a:r>
          </a:p>
          <a:p>
            <a:pPr marL="971550" lvl="1" indent="-285750"/>
            <a:r>
              <a:rPr lang="en-US" sz="1400" dirty="0"/>
              <a:t>Overview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SDR</a:t>
            </a:r>
          </a:p>
          <a:p>
            <a:pPr marL="971550" lvl="1" indent="-285750"/>
            <a:r>
              <a:rPr lang="en-US" sz="1400" dirty="0"/>
              <a:t>FM Radio</a:t>
            </a:r>
          </a:p>
          <a:p>
            <a:pPr marL="971550" lvl="1" indent="-285750"/>
            <a:r>
              <a:rPr lang="en-US" sz="1400" dirty="0" err="1"/>
              <a:t>Keyfob</a:t>
            </a:r>
            <a:r>
              <a:rPr lang="en-US" sz="1400" dirty="0"/>
              <a:t> record</a:t>
            </a:r>
          </a:p>
          <a:p>
            <a:pPr marL="971550" lvl="1" indent="-285750"/>
            <a:r>
              <a:rPr lang="en-US" sz="1400" dirty="0" err="1"/>
              <a:t>Keyfob</a:t>
            </a:r>
            <a:r>
              <a:rPr lang="en-US" sz="1400" dirty="0"/>
              <a:t> replay</a:t>
            </a:r>
          </a:p>
          <a:p>
            <a:pPr marL="971550" lvl="1" indent="-285750"/>
            <a:r>
              <a:rPr lang="en-US" sz="1400" dirty="0" err="1"/>
              <a:t>Keyfob</a:t>
            </a:r>
            <a:r>
              <a:rPr lang="en-US" sz="1400" dirty="0"/>
              <a:t> decode</a:t>
            </a:r>
          </a:p>
          <a:p>
            <a:pPr marL="285750" indent="-285750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94985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69830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US Laws, Guidelines &amp;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900706"/>
            <a:ext cx="8229600" cy="55622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FCC</a:t>
            </a:r>
          </a:p>
          <a:p>
            <a:pPr lvl="1"/>
            <a:r>
              <a:rPr lang="en-US" dirty="0"/>
              <a:t>General Radio</a:t>
            </a:r>
          </a:p>
          <a:p>
            <a:pPr lvl="2"/>
            <a:r>
              <a:rPr lang="en-US" dirty="0">
                <a:hlinkClick r:id="rId2"/>
              </a:rPr>
              <a:t>https://www.fcc.gov/media/radio/low-power-radio-general-information</a:t>
            </a:r>
            <a:endParaRPr lang="en-US" dirty="0"/>
          </a:p>
          <a:p>
            <a:pPr lvl="1"/>
            <a:r>
              <a:rPr lang="en-US" dirty="0"/>
              <a:t>Spectrum Allocation</a:t>
            </a:r>
          </a:p>
          <a:p>
            <a:pPr lvl="2"/>
            <a:r>
              <a:rPr lang="en-US" dirty="0"/>
              <a:t>Many of the devices mentioned use unlicensed bands</a:t>
            </a:r>
          </a:p>
          <a:p>
            <a:pPr lvl="2"/>
            <a:r>
              <a:rPr lang="en-US" dirty="0">
                <a:hlinkClick r:id="rId3"/>
              </a:rPr>
              <a:t>https://www.fcc.gov/engineering-technology/policy-and-rules-division/general/radio-spectrum-allocation</a:t>
            </a:r>
            <a:endParaRPr lang="en-US" dirty="0"/>
          </a:p>
          <a:p>
            <a:pPr lvl="1"/>
            <a:r>
              <a:rPr lang="en-US" dirty="0"/>
              <a:t>Unauthorized Radio Operation</a:t>
            </a:r>
          </a:p>
          <a:p>
            <a:pPr lvl="2"/>
            <a:r>
              <a:rPr lang="en-US" dirty="0"/>
              <a:t>There are restrictions on band usage and power levels</a:t>
            </a:r>
          </a:p>
          <a:p>
            <a:pPr lvl="2"/>
            <a:r>
              <a:rPr lang="en-US" dirty="0"/>
              <a:t>Violation of these rules are against the law</a:t>
            </a:r>
          </a:p>
          <a:p>
            <a:pPr lvl="2"/>
            <a:r>
              <a:rPr lang="en-US" dirty="0">
                <a:hlinkClick r:id="rId4"/>
              </a:rPr>
              <a:t>https://www.fcc.gov/consumers/guides/unauthorized-radio-operation</a:t>
            </a:r>
            <a:endParaRPr lang="en-US" dirty="0"/>
          </a:p>
          <a:p>
            <a:pPr lvl="1"/>
            <a:r>
              <a:rPr lang="en-US" dirty="0"/>
              <a:t>Jammer Enforcement</a:t>
            </a:r>
          </a:p>
          <a:p>
            <a:pPr lvl="2"/>
            <a:r>
              <a:rPr lang="en-US" dirty="0"/>
              <a:t>Jammers are against the law</a:t>
            </a:r>
          </a:p>
          <a:p>
            <a:pPr lvl="2"/>
            <a:r>
              <a:rPr lang="en-US" dirty="0">
                <a:hlinkClick r:id="rId5"/>
              </a:rPr>
              <a:t>https://www.fcc.gov/general/jammer-enforcement</a:t>
            </a:r>
            <a:endParaRPr lang="en-US" dirty="0"/>
          </a:p>
          <a:p>
            <a:pPr lvl="1"/>
            <a:r>
              <a:rPr lang="en-US" dirty="0"/>
              <a:t>Device Lookup</a:t>
            </a:r>
          </a:p>
          <a:p>
            <a:pPr lvl="2"/>
            <a:r>
              <a:rPr lang="en-US" dirty="0"/>
              <a:t>Transmitting Devices in the US must be FCC certified and labeled</a:t>
            </a:r>
          </a:p>
          <a:p>
            <a:pPr lvl="2"/>
            <a:r>
              <a:rPr lang="en-US" dirty="0">
                <a:hlinkClick r:id="rId6"/>
              </a:rPr>
              <a:t>https://www.fcc.gov/oet/ea/fccid</a:t>
            </a:r>
            <a:endParaRPr lang="en-US" dirty="0"/>
          </a:p>
          <a:p>
            <a:pPr lvl="2"/>
            <a:r>
              <a:rPr lang="en-US" dirty="0">
                <a:hlinkClick r:id="rId7"/>
              </a:rPr>
              <a:t>https://fccid.io/</a:t>
            </a:r>
            <a:endParaRPr lang="en-US" dirty="0"/>
          </a:p>
          <a:p>
            <a:pPr lvl="2"/>
            <a:r>
              <a:rPr lang="en-US" dirty="0"/>
              <a:t>Useful for obtaining additional information on wireless devices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75678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adio Modulation Explained: Carrier Changes and Sidebands | Dahiru Ohida  posted on the topic | LinkedIn">
            <a:extLst>
              <a:ext uri="{FF2B5EF4-FFF2-40B4-BE49-F238E27FC236}">
                <a16:creationId xmlns:a16="http://schemas.microsoft.com/office/drawing/2014/main" id="{2DE009B5-8E18-E8D1-5552-5F4FAAEF0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4" y="96821"/>
            <a:ext cx="5305425" cy="6664358"/>
          </a:xfrm>
          <a:prstGeom prst="rect">
            <a:avLst/>
          </a:prstGeom>
        </p:spPr>
      </p:pic>
      <p:pic>
        <p:nvPicPr>
          <p:cNvPr id="5" name="Picture 4" descr="Waterfall Displays—What Information Do They Provide?">
            <a:extLst>
              <a:ext uri="{FF2B5EF4-FFF2-40B4-BE49-F238E27FC236}">
                <a16:creationId xmlns:a16="http://schemas.microsoft.com/office/drawing/2014/main" id="{F2929E58-5667-CD8A-B800-D0C6DDE7C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158" y="495667"/>
            <a:ext cx="4533333" cy="29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1013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398667" y="509412"/>
            <a:ext cx="5933440" cy="63265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FCCID</a:t>
            </a:r>
            <a:r>
              <a:rPr sz="4000" kern="0" spc="-8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595959"/>
                </a:solidFill>
                <a:latin typeface="Roboto"/>
                <a:cs typeface="Roboto"/>
              </a:rPr>
              <a:t>Lookup</a:t>
            </a:r>
            <a:r>
              <a:rPr sz="4000" kern="0" spc="-60" dirty="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sz="4000" kern="0" dirty="0">
                <a:solidFill>
                  <a:srgbClr val="2A3890"/>
                </a:solidFill>
                <a:latin typeface="Roboto"/>
                <a:cs typeface="Roboto"/>
              </a:rPr>
              <a:t>–</a:t>
            </a:r>
            <a:r>
              <a:rPr sz="4000" kern="0" spc="-80" dirty="0">
                <a:solidFill>
                  <a:srgbClr val="2A3890"/>
                </a:solidFill>
                <a:latin typeface="Roboto"/>
                <a:cs typeface="Roboto"/>
              </a:rPr>
              <a:t> </a:t>
            </a:r>
            <a:r>
              <a:rPr sz="4000" kern="0" spc="-13" dirty="0">
                <a:solidFill>
                  <a:srgbClr val="2A3890"/>
                </a:solidFill>
                <a:latin typeface="Roboto"/>
                <a:cs typeface="Roboto"/>
              </a:rPr>
              <a:t>Research</a:t>
            </a:r>
            <a:endParaRPr sz="40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1449" y="1292220"/>
            <a:ext cx="2337647" cy="4785360"/>
            <a:chOff x="593586" y="969165"/>
            <a:chExt cx="1753235" cy="3589020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5021" y="1049646"/>
              <a:ext cx="1490060" cy="33348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8348" y="973928"/>
              <a:ext cx="1743710" cy="3579495"/>
            </a:xfrm>
            <a:custGeom>
              <a:avLst/>
              <a:gdLst/>
              <a:ahLst/>
              <a:cxnLst/>
              <a:rect l="l" t="t" r="r" b="b"/>
              <a:pathLst>
                <a:path w="1743710" h="3579495">
                  <a:moveTo>
                    <a:pt x="0" y="0"/>
                  </a:moveTo>
                  <a:lnTo>
                    <a:pt x="1743493" y="0"/>
                  </a:lnTo>
                  <a:lnTo>
                    <a:pt x="1743493" y="3579460"/>
                  </a:lnTo>
                  <a:lnTo>
                    <a:pt x="0" y="357946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669344" y="1292220"/>
            <a:ext cx="2101427" cy="4785360"/>
            <a:chOff x="2752008" y="969165"/>
            <a:chExt cx="1576070" cy="3589020"/>
          </a:xfrm>
        </p:grpSpPr>
        <p:pic>
          <p:nvPicPr>
            <p:cNvPr id="7" name="object 7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32489" y="978690"/>
              <a:ext cx="1419104" cy="34768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56771" y="973928"/>
              <a:ext cx="1566545" cy="3579495"/>
            </a:xfrm>
            <a:custGeom>
              <a:avLst/>
              <a:gdLst/>
              <a:ahLst/>
              <a:cxnLst/>
              <a:rect l="l" t="t" r="r" b="b"/>
              <a:pathLst>
                <a:path w="1566545" h="3579495">
                  <a:moveTo>
                    <a:pt x="0" y="0"/>
                  </a:moveTo>
                  <a:lnTo>
                    <a:pt x="1566105" y="0"/>
                  </a:lnTo>
                  <a:lnTo>
                    <a:pt x="1566105" y="3579460"/>
                  </a:lnTo>
                  <a:lnTo>
                    <a:pt x="0" y="357946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158684" y="2116186"/>
            <a:ext cx="5779347" cy="2810933"/>
            <a:chOff x="4619013" y="1587139"/>
            <a:chExt cx="4334510" cy="2108200"/>
          </a:xfrm>
        </p:grpSpPr>
        <p:pic>
          <p:nvPicPr>
            <p:cNvPr id="10" name="object 10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28538" y="1596664"/>
              <a:ext cx="4315358" cy="20331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23775" y="1591901"/>
              <a:ext cx="4324985" cy="2098675"/>
            </a:xfrm>
            <a:custGeom>
              <a:avLst/>
              <a:gdLst/>
              <a:ahLst/>
              <a:cxnLst/>
              <a:rect l="l" t="t" r="r" b="b"/>
              <a:pathLst>
                <a:path w="4324984" h="2098675">
                  <a:moveTo>
                    <a:pt x="0" y="0"/>
                  </a:moveTo>
                  <a:lnTo>
                    <a:pt x="4324883" y="0"/>
                  </a:lnTo>
                  <a:lnTo>
                    <a:pt x="4324883" y="2098585"/>
                  </a:lnTo>
                  <a:lnTo>
                    <a:pt x="0" y="209858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12D7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243370" y="1756718"/>
            <a:ext cx="2613660" cy="30442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1867" b="1" kern="0" dirty="0">
                <a:solidFill>
                  <a:srgbClr val="2A3890"/>
                </a:solidFill>
                <a:latin typeface="Arial"/>
                <a:cs typeface="Arial"/>
              </a:rPr>
              <a:t>Operating</a:t>
            </a:r>
            <a:r>
              <a:rPr sz="1867" b="1" kern="0" spc="-60" dirty="0">
                <a:solidFill>
                  <a:srgbClr val="2A3890"/>
                </a:solidFill>
                <a:latin typeface="Arial"/>
                <a:cs typeface="Arial"/>
              </a:rPr>
              <a:t> </a:t>
            </a:r>
            <a:r>
              <a:rPr sz="1867" b="1" kern="0" spc="-13" dirty="0">
                <a:solidFill>
                  <a:srgbClr val="2A3890"/>
                </a:solidFill>
                <a:latin typeface="Arial"/>
                <a:cs typeface="Arial"/>
              </a:rPr>
              <a:t>Frequencies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4</a:t>
            </a:fld>
            <a:endParaRPr kern="0" spc="-33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0487" y="2636519"/>
            <a:ext cx="3136900" cy="359073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defTabSz="1219170">
              <a:lnSpc>
                <a:spcPts val="2787"/>
              </a:lnSpc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FCCID</a:t>
            </a:r>
            <a:r>
              <a:rPr sz="2400" kern="0" spc="-53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[ID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FOB]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6095" y="1875874"/>
            <a:ext cx="6189980" cy="149442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72331" indent="-555398" defTabSz="1219170">
              <a:spcBef>
                <a:spcPts val="133"/>
              </a:spcBef>
              <a:buFontTx/>
              <a:buAutoNum type="arabicPeriod"/>
              <a:tabLst>
                <a:tab pos="572331" algn="l"/>
              </a:tabLst>
            </a:pP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Take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a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/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Use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your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own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endParaRPr sz="24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2331" indent="-555398" defTabSz="1219170">
              <a:buFontTx/>
              <a:buAutoNum type="arabicPeriod"/>
              <a:tabLst>
                <a:tab pos="572331" algn="l"/>
              </a:tabLst>
            </a:pP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Find</a:t>
            </a:r>
            <a:r>
              <a:rPr sz="2400" kern="0" spc="-4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FCCID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the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key</a:t>
            </a:r>
            <a:r>
              <a:rPr sz="2400" kern="0" spc="-40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33" dirty="0">
                <a:solidFill>
                  <a:srgbClr val="434343"/>
                </a:solidFill>
                <a:latin typeface="Roboto"/>
                <a:cs typeface="Roboto"/>
              </a:rPr>
              <a:t>fob</a:t>
            </a:r>
            <a:endParaRPr sz="2400" kern="0" dirty="0">
              <a:solidFill>
                <a:sysClr val="windowText" lastClr="000000"/>
              </a:solidFill>
              <a:latin typeface="Roboto"/>
              <a:cs typeface="Roboto"/>
            </a:endParaRPr>
          </a:p>
          <a:p>
            <a:pPr marL="572331" indent="-555398" defTabSz="1219170">
              <a:buFontTx/>
              <a:buAutoNum type="arabicPeriod"/>
              <a:tabLst>
                <a:tab pos="572331" algn="l"/>
                <a:tab pos="4795400" algn="l"/>
              </a:tabLst>
            </a:pP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Search</a:t>
            </a:r>
            <a:r>
              <a:rPr lang="en-US" sz="2400" kern="0" dirty="0">
                <a:solidFill>
                  <a:srgbClr val="434343"/>
                </a:solidFill>
                <a:latin typeface="Roboto"/>
                <a:cs typeface="Roboto"/>
              </a:rPr>
              <a:t>	</a:t>
            </a:r>
            <a:r>
              <a:rPr sz="2400" kern="0" dirty="0">
                <a:solidFill>
                  <a:srgbClr val="434343"/>
                </a:solidFill>
                <a:latin typeface="Roboto"/>
                <a:cs typeface="Roboto"/>
              </a:rPr>
              <a:t>on</a:t>
            </a:r>
            <a:r>
              <a:rPr sz="2400" kern="0" spc="-27" dirty="0">
                <a:solidFill>
                  <a:srgbClr val="434343"/>
                </a:solidFill>
                <a:latin typeface="Roboto"/>
                <a:cs typeface="Roboto"/>
              </a:rPr>
              <a:t> </a:t>
            </a:r>
            <a:r>
              <a:rPr sz="2400" kern="0" spc="-13" dirty="0">
                <a:solidFill>
                  <a:srgbClr val="434343"/>
                </a:solidFill>
                <a:latin typeface="Roboto"/>
                <a:cs typeface="Roboto"/>
              </a:rPr>
              <a:t>Google</a:t>
            </a:r>
            <a:endParaRPr lang="en-US" sz="2400" kern="0" spc="-13" dirty="0">
              <a:solidFill>
                <a:srgbClr val="434343"/>
              </a:solidFill>
              <a:latin typeface="Roboto"/>
              <a:cs typeface="Roboto"/>
            </a:endParaRPr>
          </a:p>
          <a:p>
            <a:pPr marL="572331" indent="-555398" defTabSz="1219170">
              <a:buFontTx/>
              <a:buAutoNum type="arabicPeriod"/>
              <a:tabLst>
                <a:tab pos="572331" algn="l"/>
                <a:tab pos="4795400" algn="l"/>
              </a:tabLst>
            </a:pPr>
            <a:r>
              <a:rPr lang="en-US" sz="2400" kern="0" dirty="0">
                <a:solidFill>
                  <a:sysClr val="windowText" lastClr="000000"/>
                </a:solidFill>
                <a:latin typeface="Roboto"/>
                <a:cs typeface="Roboto"/>
              </a:rPr>
              <a:t>https://www.fcc.gov/oet/ea/fccid</a:t>
            </a:r>
            <a:endParaRPr sz="2400" kern="0" dirty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886" y="3743960"/>
            <a:ext cx="6833447" cy="42753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  <a:tabLst>
                <a:tab pos="613818" algn="l"/>
              </a:tabLst>
            </a:pPr>
            <a:r>
              <a:rPr sz="2667" b="1" kern="0" spc="-33" dirty="0">
                <a:solidFill>
                  <a:srgbClr val="D13368"/>
                </a:solidFill>
                <a:latin typeface="Roboto"/>
                <a:cs typeface="Roboto"/>
              </a:rPr>
              <a:t>4.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	What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frequency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does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the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key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fob</a:t>
            </a:r>
            <a:r>
              <a:rPr sz="2667" b="1" kern="0" spc="-47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dirty="0">
                <a:solidFill>
                  <a:srgbClr val="D13368"/>
                </a:solidFill>
                <a:latin typeface="Roboto"/>
                <a:cs typeface="Roboto"/>
              </a:rPr>
              <a:t>run</a:t>
            </a:r>
            <a:r>
              <a:rPr sz="2667" b="1" kern="0" spc="-53" dirty="0">
                <a:solidFill>
                  <a:srgbClr val="D13368"/>
                </a:solidFill>
                <a:latin typeface="Roboto"/>
                <a:cs typeface="Roboto"/>
              </a:rPr>
              <a:t> </a:t>
            </a:r>
            <a:r>
              <a:rPr sz="2667" b="1" kern="0" spc="-33" dirty="0">
                <a:solidFill>
                  <a:srgbClr val="D13368"/>
                </a:solidFill>
                <a:latin typeface="Roboto"/>
                <a:cs typeface="Roboto"/>
              </a:rPr>
              <a:t>on?</a:t>
            </a:r>
            <a:endParaRPr sz="2667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799" defTabSz="1219170">
              <a:lnSpc>
                <a:spcPts val="2193"/>
              </a:lnSpc>
            </a:pPr>
            <a:fld id="{81D60167-4931-47E6-BA6A-407CBD079E47}" type="slidenum">
              <a:rPr kern="0" spc="-33" dirty="0"/>
              <a:pPr marL="50799" defTabSz="1219170">
                <a:lnSpc>
                  <a:spcPts val="2193"/>
                </a:lnSpc>
              </a:pPr>
              <a:t>5</a:t>
            </a:fld>
            <a:endParaRPr kern="0" spc="-33" dirty="0"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557213"/>
            <a:ext cx="6330950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FCCID</a:t>
            </a:r>
            <a:r>
              <a:rPr spc="-80" dirty="0"/>
              <a:t> </a:t>
            </a:r>
            <a:r>
              <a:rPr dirty="0"/>
              <a:t>Lookup</a:t>
            </a:r>
            <a:r>
              <a:rPr spc="-60" dirty="0"/>
              <a:t> </a:t>
            </a:r>
            <a:r>
              <a:rPr dirty="0">
                <a:solidFill>
                  <a:srgbClr val="2A3890"/>
                </a:solidFill>
              </a:rPr>
              <a:t>–</a:t>
            </a:r>
            <a:r>
              <a:rPr spc="-80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Exercise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2132" y="814367"/>
            <a:ext cx="3368832" cy="569276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613363"/>
            <a:ext cx="8370771" cy="63182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dirty="0"/>
              <a:t>FCCID</a:t>
            </a:r>
            <a:r>
              <a:rPr spc="-73" dirty="0"/>
              <a:t> </a:t>
            </a:r>
            <a:r>
              <a:rPr dirty="0"/>
              <a:t>Lookup</a:t>
            </a:r>
            <a:r>
              <a:rPr spc="-47" dirty="0"/>
              <a:t> </a:t>
            </a:r>
            <a:r>
              <a:rPr dirty="0">
                <a:solidFill>
                  <a:srgbClr val="2A3890"/>
                </a:solidFill>
              </a:rPr>
              <a:t>–</a:t>
            </a:r>
            <a:r>
              <a:rPr spc="-67" dirty="0">
                <a:solidFill>
                  <a:srgbClr val="2A3890"/>
                </a:solidFill>
              </a:rPr>
              <a:t> </a:t>
            </a:r>
            <a:r>
              <a:rPr dirty="0">
                <a:solidFill>
                  <a:srgbClr val="2A3890"/>
                </a:solidFill>
              </a:rPr>
              <a:t>Other</a:t>
            </a:r>
            <a:r>
              <a:rPr spc="-67" dirty="0">
                <a:solidFill>
                  <a:srgbClr val="2A3890"/>
                </a:solidFill>
              </a:rPr>
              <a:t> </a:t>
            </a:r>
            <a:r>
              <a:rPr spc="-13" dirty="0">
                <a:solidFill>
                  <a:srgbClr val="2A3890"/>
                </a:solidFill>
              </a:rPr>
              <a:t>Examples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41934" y="1509400"/>
            <a:ext cx="3553460" cy="2198793"/>
            <a:chOff x="1006450" y="1132049"/>
            <a:chExt cx="2665095" cy="1649095"/>
          </a:xfrm>
        </p:grpSpPr>
        <p:pic>
          <p:nvPicPr>
            <p:cNvPr id="4" name="object 4"/>
            <p:cNvPicPr/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5975" y="1141574"/>
              <a:ext cx="2645450" cy="16294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11212" y="1136812"/>
              <a:ext cx="2655570" cy="1639570"/>
            </a:xfrm>
            <a:custGeom>
              <a:avLst/>
              <a:gdLst/>
              <a:ahLst/>
              <a:cxnLst/>
              <a:rect l="l" t="t" r="r" b="b"/>
              <a:pathLst>
                <a:path w="2655570" h="1639570">
                  <a:moveTo>
                    <a:pt x="0" y="0"/>
                  </a:moveTo>
                  <a:lnTo>
                    <a:pt x="2654975" y="0"/>
                  </a:lnTo>
                  <a:lnTo>
                    <a:pt x="2654975" y="1638950"/>
                  </a:lnTo>
                  <a:lnTo>
                    <a:pt x="0" y="163895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59102" y="3779841"/>
            <a:ext cx="1916007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iPhone</a:t>
            </a:r>
            <a:r>
              <a:rPr sz="2400" b="1" kern="0" spc="-12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028999" y="1509401"/>
            <a:ext cx="4030133" cy="2198793"/>
            <a:chOff x="5271749" y="1132050"/>
            <a:chExt cx="3022600" cy="1649095"/>
          </a:xfrm>
        </p:grpSpPr>
        <p:pic>
          <p:nvPicPr>
            <p:cNvPr id="8" name="object 8"/>
            <p:cNvPicPr/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81274" y="1141575"/>
              <a:ext cx="3003418" cy="16294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276512" y="1136812"/>
              <a:ext cx="3013075" cy="1639570"/>
            </a:xfrm>
            <a:custGeom>
              <a:avLst/>
              <a:gdLst/>
              <a:ahLst/>
              <a:cxnLst/>
              <a:rect l="l" t="t" r="r" b="b"/>
              <a:pathLst>
                <a:path w="3013075" h="1639570">
                  <a:moveTo>
                    <a:pt x="0" y="0"/>
                  </a:moveTo>
                  <a:lnTo>
                    <a:pt x="3012943" y="0"/>
                  </a:lnTo>
                  <a:lnTo>
                    <a:pt x="3012943" y="1638949"/>
                  </a:lnTo>
                  <a:lnTo>
                    <a:pt x="0" y="16389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18145" y="3779841"/>
            <a:ext cx="2049780" cy="3864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defTabSz="1219170">
              <a:spcBef>
                <a:spcPts val="133"/>
              </a:spcBef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Key</a:t>
            </a:r>
            <a:r>
              <a:rPr sz="2400" b="1" kern="0" spc="-6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Fob</a:t>
            </a:r>
            <a:r>
              <a:rPr sz="2400" b="1" kern="0" spc="-60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89667" y="4281966"/>
            <a:ext cx="2786380" cy="1943100"/>
            <a:chOff x="3517250" y="3211474"/>
            <a:chExt cx="2089785" cy="1457325"/>
          </a:xfrm>
        </p:grpSpPr>
        <p:pic>
          <p:nvPicPr>
            <p:cNvPr id="12" name="object 12"/>
            <p:cNvPicPr/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6775" y="3220999"/>
              <a:ext cx="2070324" cy="14377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522012" y="3216237"/>
              <a:ext cx="2080260" cy="1447800"/>
            </a:xfrm>
            <a:custGeom>
              <a:avLst/>
              <a:gdLst/>
              <a:ahLst/>
              <a:cxnLst/>
              <a:rect l="l" t="t" r="r" b="b"/>
              <a:pathLst>
                <a:path w="2080260" h="1447800">
                  <a:moveTo>
                    <a:pt x="0" y="0"/>
                  </a:moveTo>
                  <a:lnTo>
                    <a:pt x="2079849" y="0"/>
                  </a:lnTo>
                  <a:lnTo>
                    <a:pt x="2079849" y="1447274"/>
                  </a:lnTo>
                  <a:lnTo>
                    <a:pt x="0" y="14472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pPr defTabSz="1219170"/>
              <a:endParaRPr sz="2400" ker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03347" y="6318869"/>
            <a:ext cx="295486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840"/>
              </a:lnSpc>
            </a:pPr>
            <a:r>
              <a:rPr sz="2400" b="1" kern="0" dirty="0">
                <a:solidFill>
                  <a:srgbClr val="212D73"/>
                </a:solidFill>
                <a:latin typeface="Roboto"/>
                <a:cs typeface="Roboto"/>
              </a:rPr>
              <a:t>PS5</a:t>
            </a:r>
            <a:r>
              <a:rPr sz="2400" b="1" kern="0" spc="-53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Controller</a:t>
            </a:r>
            <a:r>
              <a:rPr sz="2400" b="1" kern="0" spc="-47" dirty="0">
                <a:solidFill>
                  <a:srgbClr val="212D73"/>
                </a:solidFill>
                <a:latin typeface="Roboto"/>
                <a:cs typeface="Roboto"/>
              </a:rPr>
              <a:t> </a:t>
            </a:r>
            <a:r>
              <a:rPr sz="2400" b="1" kern="0" spc="-13" dirty="0">
                <a:solidFill>
                  <a:srgbClr val="212D73"/>
                </a:solidFill>
                <a:latin typeface="Roboto"/>
                <a:cs typeface="Roboto"/>
              </a:rPr>
              <a:t>FCCID</a:t>
            </a:r>
            <a:endParaRPr sz="2400" kern="0">
              <a:solidFill>
                <a:sysClr val="windowText" lastClr="000000"/>
              </a:solidFill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77941" y="6320327"/>
            <a:ext cx="298027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 defTabSz="1219170">
              <a:lnSpc>
                <a:spcPts val="2193"/>
              </a:lnSpc>
            </a:pPr>
            <a:r>
              <a:rPr sz="1867" kern="0" spc="-33" dirty="0">
                <a:solidFill>
                  <a:srgbClr val="434343"/>
                </a:solidFill>
                <a:latin typeface="Arial"/>
                <a:cs typeface="Arial"/>
              </a:rPr>
              <a:t>38</a:t>
            </a:r>
            <a:endParaRPr sz="1867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65F03D4-C60F-BCC2-00B2-3FC5A2869F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MAC ID Lookup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FDCB8-2683-8890-D373-3B0A01A29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0415" y="771556"/>
            <a:ext cx="11658059" cy="527364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https://en.wikipedia.org/wiki/MAC_address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Looking up the Medium Access Control (MAC)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Important identification of device on local networks, wired or wireless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 with Ethernet, </a:t>
            </a:r>
            <a:r>
              <a:rPr lang="en-US" dirty="0" err="1"/>
              <a:t>WiFi</a:t>
            </a:r>
            <a:r>
              <a:rPr lang="en-US" dirty="0"/>
              <a:t> and Bluetooth devices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Gives Manufacturer Organizationally Unique Identifier (OUI)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https://maclookup.app/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33AFC-FA66-F154-7C50-1D6B83AEC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199" y="3865691"/>
            <a:ext cx="5753599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8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8296D6-69DD-EFB3-27C5-5BB0CA443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D158A4-E09F-9C63-2A15-EC5A41F8B7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0415" y="694944"/>
            <a:ext cx="11658059" cy="535025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Neal’s </a:t>
            </a:r>
            <a:r>
              <a:rPr lang="en-US" dirty="0" err="1"/>
              <a:t>Github</a:t>
            </a:r>
            <a:r>
              <a:rPr lang="en-US" dirty="0"/>
              <a:t> repository for the lab:  </a:t>
            </a:r>
            <a:r>
              <a:rPr lang="en-US" u="sng" dirty="0">
                <a:hlinkClick r:id="rId2"/>
              </a:rPr>
              <a:t>https://github.com/nprobert/AutoISAC-ACT-AdvWireless</a:t>
            </a:r>
            <a:endParaRPr lang="en-US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you want serious Wireless Training take the SANS 617 Wireless Penetration Testing and Ethical Hacking class: </a:t>
            </a:r>
            <a:r>
              <a:rPr lang="en-US" dirty="0">
                <a:hlinkClick r:id="rId3"/>
              </a:rPr>
              <a:t>https://www.sans.org/cyber-security-courses/wireless-penetration-testing-ethical-hacking</a:t>
            </a:r>
            <a:r>
              <a:rPr lang="en-US" dirty="0"/>
              <a:t> as it was just recently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Well known RF tools:</a:t>
            </a:r>
          </a:p>
          <a:p>
            <a:pPr marL="971550" lvl="1" indent="-285750"/>
            <a:r>
              <a:rPr lang="en-US" sz="1600" dirty="0"/>
              <a:t>Flipper Zero: </a:t>
            </a:r>
            <a:r>
              <a:rPr lang="en-US" sz="1600" dirty="0">
                <a:hlinkClick r:id="rId4"/>
              </a:rPr>
              <a:t>https://flipper.net/</a:t>
            </a:r>
            <a:r>
              <a:rPr lang="en-US" sz="1600" dirty="0"/>
              <a:t> for Low Frequency (LF) work under 1Ghz</a:t>
            </a:r>
          </a:p>
          <a:p>
            <a:pPr marL="971550" lvl="1" indent="-285750"/>
            <a:r>
              <a:rPr lang="en-US" sz="1600" dirty="0" err="1"/>
              <a:t>FreeWILI</a:t>
            </a:r>
            <a:r>
              <a:rPr lang="en-US" sz="1600" dirty="0"/>
              <a:t>: </a:t>
            </a:r>
            <a:r>
              <a:rPr lang="en-US" sz="1600" dirty="0">
                <a:hlinkClick r:id="rId5"/>
              </a:rPr>
              <a:t>https://freewili.com/</a:t>
            </a:r>
            <a:r>
              <a:rPr lang="en-US" sz="1600" dirty="0"/>
              <a:t> useful for car hacking</a:t>
            </a:r>
          </a:p>
          <a:p>
            <a:pPr marL="971550" lvl="1" indent="-285750"/>
            <a:r>
              <a:rPr lang="en-US" sz="1600" dirty="0" err="1"/>
              <a:t>HackRF</a:t>
            </a:r>
            <a:r>
              <a:rPr lang="en-US" sz="1600" dirty="0"/>
              <a:t>: </a:t>
            </a:r>
            <a:r>
              <a:rPr lang="en-US" sz="1600" dirty="0">
                <a:hlinkClick r:id="rId6"/>
              </a:rPr>
              <a:t>https://greatscottgadgets.com/hackrf/</a:t>
            </a:r>
            <a:r>
              <a:rPr lang="en-US" sz="1600" dirty="0"/>
              <a:t> is a popular SDR</a:t>
            </a:r>
          </a:p>
          <a:p>
            <a:pPr marL="971550" lvl="1" indent="-285750"/>
            <a:r>
              <a:rPr lang="en-US" sz="1600" dirty="0"/>
              <a:t>RTL-SDR: </a:t>
            </a:r>
            <a:r>
              <a:rPr lang="en-US" sz="1600" dirty="0">
                <a:hlinkClick r:id="rId7"/>
              </a:rPr>
              <a:t>https://www.rtl-sdr.com/</a:t>
            </a:r>
            <a:r>
              <a:rPr lang="en-US" sz="1600" dirty="0"/>
              <a:t> for SDR information and news</a:t>
            </a:r>
          </a:p>
          <a:p>
            <a:pPr marL="971550" lvl="1" indent="-285750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great tool for using with Software Defined Radios (SDR) is GNU Radio: </a:t>
            </a:r>
            <a:r>
              <a:rPr lang="en-US" dirty="0">
                <a:hlinkClick r:id="rId8"/>
              </a:rPr>
              <a:t>https://www.gnuradio.org/</a:t>
            </a:r>
            <a:r>
              <a:rPr lang="en-US" dirty="0"/>
              <a:t> </a:t>
            </a:r>
          </a:p>
          <a:p>
            <a:pPr marL="971550" lvl="1" indent="-285750"/>
            <a:r>
              <a:rPr lang="en-US" sz="1600" dirty="0"/>
              <a:t>Tutorial: </a:t>
            </a:r>
            <a:r>
              <a:rPr lang="en-US" sz="1600" dirty="0">
                <a:hlinkClick r:id="rId9"/>
              </a:rPr>
              <a:t>https://www.gnuradio.org/news/2022-02-03-new-tutorials/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81022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476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Roboto</vt:lpstr>
      <vt:lpstr>Wingdings</vt:lpstr>
      <vt:lpstr>Custom Design</vt:lpstr>
      <vt:lpstr>PowerPoint Presentation</vt:lpstr>
      <vt:lpstr>US Laws, Guidelines &amp; Rules</vt:lpstr>
      <vt:lpstr>PowerPoint Presentation</vt:lpstr>
      <vt:lpstr>PowerPoint Presentation</vt:lpstr>
      <vt:lpstr>FCCID Lookup – Exercise</vt:lpstr>
      <vt:lpstr>FCCID Lookup – Other Examples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36</cp:revision>
  <dcterms:created xsi:type="dcterms:W3CDTF">2026-03-11T18:02:03Z</dcterms:created>
  <dcterms:modified xsi:type="dcterms:W3CDTF">2026-10-27T13:37:07Z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
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43"/>
  </p:notesMasterIdLst>
  <p:sldIdLst>
    <p:sldId id="799" r:id="rId6"/>
    <p:sldId id="320" r:id="rId7"/>
    <p:sldId id="321" r:id="rId8"/>
    <p:sldId id="322" r:id="rId9"/>
    <p:sldId id="323" r:id="rId10"/>
    <p:sldId id="324" r:id="rId11"/>
    <p:sldId id="325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800" r:id="rId38"/>
    <p:sldId id="788" r:id="rId39"/>
    <p:sldId id="789" r:id="rId40"/>
    <p:sldId id="791" r:id="rId41"/>
    <p:sldId id="790" r:id="rId42"/>
  </p:sldIdLst>
  <p:sldSz cx="12192000" cy="6858000"/>
  <p:notesSz cx="6858000" cy="9144000"/>
  <p:custDataLst>
    <p:tags r:id="rId4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DR - GQRX" id="{A7F41C88-17AA-4B6D-B05E-0A04F37A3536}">
          <p14:sldIdLst>
            <p14:sldId id="79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SDR - GNU Radio - Keyfob record" id="{154B9B56-A423-4799-A91B-8B713321DC7B}">
          <p14:sldIdLst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</p14:sldIdLst>
        </p14:section>
        <p14:section name="SDR - GNU Radio - Keyfob replay" id="{D44BFE6D-3B0A-49E7-A48C-663B9C6BBFDD}">
          <p14:sldIdLst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</p14:sldIdLst>
        </p14:section>
        <p14:section name="SDR - GNU Radio - Keyfob decode" id="{039E7430-DF79-44AE-98C8-845E95BB49D1}">
          <p14:sldIdLst>
            <p14:sldId id="360"/>
            <p14:sldId id="361"/>
            <p14:sldId id="362"/>
            <p14:sldId id="363"/>
          </p14:sldIdLst>
        </p14:section>
        <p14:section name="Appendix" id="{BC2EEE3C-6E9F-4522-A1D8-954390DED024}">
          <p14:sldIdLst>
            <p14:sldId id="800"/>
            <p14:sldId id="788"/>
            <p14:sldId id="789"/>
            <p14:sldId id="791"/>
            <p14:sldId id="7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34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835189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35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624816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36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1737505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37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59080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963322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3.png"/><Relationship Id="rId3" Type="http://schemas.openxmlformats.org/officeDocument/2006/relationships/image" Target="../media/image28.jp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image" Target="../media/image20.png"/><Relationship Id="rId11" Type="http://schemas.openxmlformats.org/officeDocument/2006/relationships/image" Target="../media/image31.png"/><Relationship Id="rId5" Type="http://schemas.openxmlformats.org/officeDocument/2006/relationships/image" Target="../media/image19.png"/><Relationship Id="rId10" Type="http://schemas.openxmlformats.org/officeDocument/2006/relationships/image" Target="../media/image30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3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4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4" Type="http://schemas.openxmlformats.org/officeDocument/2006/relationships/image" Target="../media/image1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Relationship Id="rId6" Type="http://schemas.openxmlformats.org/officeDocument/2006/relationships/image" Target="../media/image42.png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-defined_radi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rrl.org/software-defined-radio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drplay.com/" TargetMode="External"/><Relationship Id="rId3" Type="http://schemas.openxmlformats.org/officeDocument/2006/relationships/hyperlink" Target="https://www.rtl-sdr.com/roundup-software-defined-radios/" TargetMode="External"/><Relationship Id="rId7" Type="http://schemas.openxmlformats.org/officeDocument/2006/relationships/hyperlink" Target="https://airspy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rowdsupply.com/lime-micro/limesdr-mini" TargetMode="External"/><Relationship Id="rId5" Type="http://schemas.openxmlformats.org/officeDocument/2006/relationships/hyperlink" Target="https://www.nuand.com/" TargetMode="External"/><Relationship Id="rId4" Type="http://schemas.openxmlformats.org/officeDocument/2006/relationships/hyperlink" Target="https://greatscottgadgets.com/hackrf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radio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irspy.com/" TargetMode="External"/><Relationship Id="rId5" Type="http://schemas.openxmlformats.org/officeDocument/2006/relationships/hyperlink" Target="http://www.sdr-radio.com/" TargetMode="External"/><Relationship Id="rId4" Type="http://schemas.openxmlformats.org/officeDocument/2006/relationships/hyperlink" Target="http://gqrx.dk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tl-sdr.com/tag/applications-2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582863" y="2990851"/>
            <a:ext cx="7046912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Software Defined Radio (SDR)</a:t>
            </a:r>
          </a:p>
        </p:txBody>
      </p:sp>
    </p:spTree>
    <p:extLst>
      <p:ext uri="{BB962C8B-B14F-4D97-AF65-F5344CB8AC3E}">
        <p14:creationId xmlns:p14="http://schemas.microsoft.com/office/powerpoint/2010/main" val="425120236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894833" y="3397551"/>
            <a:ext cx="673438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kern="0" dirty="0">
                <a:latin typeface="Roboto"/>
                <a:cs typeface="Roboto"/>
              </a:rPr>
              <a:t>GQRX:</a:t>
            </a:r>
            <a:r>
              <a:rPr sz="3200" b="1" kern="0" spc="-8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Find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Radio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Station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/</a:t>
            </a:r>
            <a:r>
              <a:rPr sz="3200" kern="0" spc="-8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Fob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455863"/>
            <a:ext cx="9715500" cy="7969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#01</a:t>
            </a:r>
            <a:endParaRPr sz="56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79464" y="3381231"/>
            <a:ext cx="6622627" cy="3011593"/>
            <a:chOff x="1860012" y="2550187"/>
            <a:chExt cx="4966970" cy="22586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710241" y="1702444"/>
            <a:ext cx="4410287" cy="1528688"/>
          </a:xfrm>
          <a:prstGeom prst="rect">
            <a:avLst/>
          </a:prstGeom>
        </p:spPr>
        <p:txBody>
          <a:bodyPr vert="horz" wrap="square" lIns="0" tIns="220980" rIns="0" bIns="0" rtlCol="0">
            <a:spAutoFit/>
          </a:bodyPr>
          <a:lstStyle/>
          <a:p>
            <a:pPr marL="585031" indent="-568098" defTabSz="1219170">
              <a:spcBef>
                <a:spcPts val="17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61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>
              <a:spcBef>
                <a:spcPts val="127"/>
              </a:spcBef>
            </a:pP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6234113" y="1878013"/>
            <a:ext cx="5957887" cy="242093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“Application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13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bottom </a:t>
            </a:r>
            <a:r>
              <a:rPr sz="2000" dirty="0">
                <a:solidFill>
                  <a:srgbClr val="434343"/>
                </a:solidFill>
              </a:rPr>
              <a:t>left</a:t>
            </a:r>
            <a:r>
              <a:rPr sz="2000" spc="-67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corner</a:t>
            </a:r>
          </a:p>
          <a:p>
            <a:pPr marL="626518" marR="15324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000" dirty="0">
                <a:solidFill>
                  <a:srgbClr val="434343"/>
                </a:solidFill>
              </a:rPr>
              <a:t>gqrx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ﬁnd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20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9578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 </a:t>
            </a:r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GQRX</a:t>
            </a:r>
            <a:r>
              <a:rPr sz="3600" b="1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27" dirty="0">
                <a:solidFill>
                  <a:srgbClr val="D13368"/>
                </a:solidFill>
                <a:latin typeface="Courier New"/>
                <a:cs typeface="Courier New"/>
              </a:rPr>
              <a:t>gqrx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499" y="4673001"/>
            <a:ext cx="2738119" cy="1426633"/>
            <a:chOff x="4984124" y="3504750"/>
            <a:chExt cx="2053589" cy="10699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0" y="3514275"/>
              <a:ext cx="2034099" cy="10505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7" y="3509512"/>
              <a:ext cx="2044064" cy="1060450"/>
            </a:xfrm>
            <a:custGeom>
              <a:avLst/>
              <a:gdLst/>
              <a:ahLst/>
              <a:cxnLst/>
              <a:rect l="l" t="t" r="r" b="b"/>
              <a:pathLst>
                <a:path w="2044065" h="1060450">
                  <a:moveTo>
                    <a:pt x="0" y="0"/>
                  </a:moveTo>
                  <a:lnTo>
                    <a:pt x="2043624" y="0"/>
                  </a:lnTo>
                  <a:lnTo>
                    <a:pt x="2043624" y="1060099"/>
                  </a:lnTo>
                  <a:lnTo>
                    <a:pt x="0" y="1060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02899" y="3252466"/>
            <a:ext cx="5613400" cy="2322407"/>
            <a:chOff x="302174" y="2439349"/>
            <a:chExt cx="4210050" cy="1741805"/>
          </a:xfrm>
        </p:grpSpPr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448874"/>
              <a:ext cx="4190699" cy="17226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6937" y="2444112"/>
              <a:ext cx="4200525" cy="1732280"/>
            </a:xfrm>
            <a:custGeom>
              <a:avLst/>
              <a:gdLst/>
              <a:ahLst/>
              <a:cxnLst/>
              <a:rect l="l" t="t" r="r" b="b"/>
              <a:pathLst>
                <a:path w="4200525" h="1732279">
                  <a:moveTo>
                    <a:pt x="0" y="0"/>
                  </a:moveTo>
                  <a:lnTo>
                    <a:pt x="4200224" y="0"/>
                  </a:lnTo>
                  <a:lnTo>
                    <a:pt x="4200224" y="1732149"/>
                  </a:lnTo>
                  <a:lnTo>
                    <a:pt x="0" y="1732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54437" y="5648530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6460" y="619257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827884" y="1806217"/>
            <a:ext cx="3056467" cy="4687146"/>
            <a:chOff x="4370912" y="1354662"/>
            <a:chExt cx="2292350" cy="35153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5675" y="1359425"/>
              <a:ext cx="2282325" cy="3505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70912" y="1354662"/>
              <a:ext cx="2292350" cy="3515360"/>
            </a:xfrm>
            <a:custGeom>
              <a:avLst/>
              <a:gdLst/>
              <a:ahLst/>
              <a:cxnLst/>
              <a:rect l="l" t="t" r="r" b="b"/>
              <a:pathLst>
                <a:path w="2292350" h="3515360">
                  <a:moveTo>
                    <a:pt x="0" y="0"/>
                  </a:moveTo>
                  <a:lnTo>
                    <a:pt x="2291850" y="0"/>
                  </a:lnTo>
                  <a:lnTo>
                    <a:pt x="2291850" y="3515325"/>
                  </a:lnTo>
                  <a:lnTo>
                    <a:pt x="0" y="35153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371475"/>
            <a:ext cx="9337675" cy="1290638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3</a:t>
            </a:r>
            <a:endParaRPr sz="3600" dirty="0"/>
          </a:p>
          <a:p>
            <a:pPr marL="131230"/>
            <a:r>
              <a:rPr sz="3600" spc="-13" dirty="0">
                <a:solidFill>
                  <a:srgbClr val="D13368"/>
                </a:solidFill>
              </a:rPr>
              <a:t>Conﬁgure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I/O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Devices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(GQRX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Settings)</a:t>
            </a:r>
            <a:endParaRPr sz="3600" dirty="0"/>
          </a:p>
        </p:txBody>
      </p:sp>
      <p:sp>
        <p:nvSpPr>
          <p:cNvPr id="10" name="object 10"/>
          <p:cNvSpPr txBox="1"/>
          <p:nvPr/>
        </p:nvSpPr>
        <p:spPr>
          <a:xfrm>
            <a:off x="710241" y="1906863"/>
            <a:ext cx="4627033" cy="17252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Device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spc="-1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hackrf=######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Input</a:t>
            </a:r>
            <a:r>
              <a:rPr sz="2400" b="1" u="heavy" kern="0" spc="-5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Rate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8000000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(8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mega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samples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per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second)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This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is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the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Sample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129222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</a:t>
            </a:r>
            <a:endParaRPr sz="360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Find</a:t>
            </a:r>
            <a:r>
              <a:rPr sz="3600" spc="-6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radio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station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/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Key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Fob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Signal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0" y="1906863"/>
            <a:ext cx="6961293" cy="16534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Change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Mode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WFM</a:t>
            </a:r>
            <a:r>
              <a:rPr sz="2400" b="1" u="heavy" kern="0" spc="-4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spc="-1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(stereo)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Tune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favorite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station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27"/>
              </a:spcBef>
            </a:pP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100.3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95.5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3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97.9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106.7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92.3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endParaRPr sz="16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37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3.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Play</a:t>
            </a:r>
            <a:r>
              <a:rPr sz="2400" b="1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icon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upper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left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hand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corner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0499" y="3657168"/>
            <a:ext cx="6891867" cy="2719493"/>
            <a:chOff x="667874" y="2742876"/>
            <a:chExt cx="5168900" cy="2039620"/>
          </a:xfrm>
        </p:grpSpPr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7400" y="2752401"/>
              <a:ext cx="5149349" cy="20201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2637" y="2747638"/>
              <a:ext cx="5159375" cy="2030095"/>
            </a:xfrm>
            <a:custGeom>
              <a:avLst/>
              <a:gdLst/>
              <a:ahLst/>
              <a:cxnLst/>
              <a:rect l="l" t="t" r="r" b="b"/>
              <a:pathLst>
                <a:path w="5159375" h="2030095">
                  <a:moveTo>
                    <a:pt x="0" y="0"/>
                  </a:moveTo>
                  <a:lnTo>
                    <a:pt x="5158874" y="0"/>
                  </a:lnTo>
                  <a:lnTo>
                    <a:pt x="5158874" y="2029674"/>
                  </a:lnTo>
                  <a:lnTo>
                    <a:pt x="0" y="20296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350266" y="2118767"/>
            <a:ext cx="3355340" cy="2243667"/>
            <a:chOff x="6262699" y="1589075"/>
            <a:chExt cx="2516505" cy="1682750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72224" y="1598600"/>
              <a:ext cx="2497099" cy="16635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67462" y="1593837"/>
              <a:ext cx="2506980" cy="1673225"/>
            </a:xfrm>
            <a:custGeom>
              <a:avLst/>
              <a:gdLst/>
              <a:ahLst/>
              <a:cxnLst/>
              <a:rect l="l" t="t" r="r" b="b"/>
              <a:pathLst>
                <a:path w="2506979" h="1673225">
                  <a:moveTo>
                    <a:pt x="0" y="0"/>
                  </a:moveTo>
                  <a:lnTo>
                    <a:pt x="2506624" y="0"/>
                  </a:lnTo>
                  <a:lnTo>
                    <a:pt x="2506624" y="1673025"/>
                  </a:lnTo>
                  <a:lnTo>
                    <a:pt x="0" y="16730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710064" y="4490730"/>
            <a:ext cx="2634827" cy="6735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999042" marR="6773" indent="-982955" defTabSz="1219170">
              <a:spcBef>
                <a:spcPts val="133"/>
              </a:spcBef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Find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Key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Fob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Signal [FSK]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52176" y="6469509"/>
            <a:ext cx="2367280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Find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radio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station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85950" y="3641284"/>
            <a:ext cx="7592907" cy="3009054"/>
            <a:chOff x="739462" y="2730962"/>
            <a:chExt cx="5694680" cy="2256790"/>
          </a:xfrm>
        </p:grpSpPr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4225" y="2735725"/>
              <a:ext cx="5684898" cy="22466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9462" y="2730962"/>
              <a:ext cx="5694680" cy="2256790"/>
            </a:xfrm>
            <a:custGeom>
              <a:avLst/>
              <a:gdLst/>
              <a:ahLst/>
              <a:cxnLst/>
              <a:rect l="l" t="t" r="r" b="b"/>
              <a:pathLst>
                <a:path w="5694680" h="2256790">
                  <a:moveTo>
                    <a:pt x="0" y="0"/>
                  </a:moveTo>
                  <a:lnTo>
                    <a:pt x="5694423" y="0"/>
                  </a:lnTo>
                  <a:lnTo>
                    <a:pt x="5694423" y="2256224"/>
                  </a:lnTo>
                  <a:lnTo>
                    <a:pt x="0" y="22562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Tune</a:t>
            </a:r>
            <a:r>
              <a:rPr sz="3600" spc="-1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your</a:t>
            </a:r>
            <a:r>
              <a:rPr sz="3600" spc="-1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signal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0" y="1906875"/>
            <a:ext cx="10229427" cy="158675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Select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an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where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there's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signal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tune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into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(solid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line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blurbs)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Turn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up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Gain</a:t>
            </a:r>
            <a:r>
              <a:rPr sz="2400" b="1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(volume)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bottom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right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hand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corner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Under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Squelch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87" dirty="0">
                <a:solidFill>
                  <a:srgbClr val="434343"/>
                </a:solidFill>
                <a:latin typeface="Roboto"/>
                <a:cs typeface="Roboto"/>
              </a:rPr>
              <a:t>‘A’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down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arrow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few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remove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noise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1884" y="3407076"/>
            <a:ext cx="72720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Record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(basic_capture)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 dirty="0">
              <a:latin typeface="Roboto"/>
              <a:cs typeface="Roboto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784225" y="2462213"/>
            <a:ext cx="10664825" cy="8794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>
                <a:solidFill>
                  <a:schemeClr val="tx1"/>
                </a:solidFill>
              </a:rPr>
              <a:t>SDR</a:t>
            </a:r>
            <a:r>
              <a:rPr sz="5600" spc="-147" dirty="0">
                <a:solidFill>
                  <a:schemeClr val="tx1"/>
                </a:solidFill>
              </a:rPr>
              <a:t> </a:t>
            </a:r>
            <a:r>
              <a:rPr sz="5600" spc="-13" dirty="0">
                <a:solidFill>
                  <a:schemeClr val="tx1"/>
                </a:solidFill>
              </a:rPr>
              <a:t>Exercise</a:t>
            </a:r>
            <a:r>
              <a:rPr sz="5600" spc="-147" dirty="0">
                <a:solidFill>
                  <a:schemeClr val="tx1"/>
                </a:solidFill>
              </a:rPr>
              <a:t> </a:t>
            </a:r>
            <a:r>
              <a:rPr sz="5600" spc="-33" dirty="0">
                <a:solidFill>
                  <a:schemeClr val="tx1"/>
                </a:solidFill>
              </a:rPr>
              <a:t>#02</a:t>
            </a:r>
            <a:endParaRPr sz="5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73666" y="3393900"/>
            <a:ext cx="9718887" cy="3464560"/>
            <a:chOff x="1855249" y="2545425"/>
            <a:chExt cx="7289165" cy="259842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9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66675" y="679494"/>
            <a:ext cx="7467600" cy="1017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 dirty="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10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6188802" y="2264043"/>
            <a:ext cx="5876089" cy="1944378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z="2000"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“Application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13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bottom </a:t>
            </a:r>
            <a:r>
              <a:rPr sz="2000" dirty="0">
                <a:solidFill>
                  <a:srgbClr val="434343"/>
                </a:solidFill>
              </a:rPr>
              <a:t>left</a:t>
            </a:r>
            <a:r>
              <a:rPr sz="2000" spc="-67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corner</a:t>
            </a:r>
          </a:p>
          <a:p>
            <a:pPr marL="626518" marR="13800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000" dirty="0">
                <a:solidFill>
                  <a:srgbClr val="434343"/>
                </a:solidFill>
              </a:rPr>
              <a:t>gnuradio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to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20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31841"/>
            <a:ext cx="10398661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8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GNU</a:t>
            </a:r>
            <a:r>
              <a:rPr sz="3600" b="1" spc="-8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Radio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Companion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 dirty="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gnuradio-</a:t>
            </a: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companion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503" y="4774601"/>
            <a:ext cx="2768600" cy="1374987"/>
            <a:chOff x="4984127" y="3580951"/>
            <a:chExt cx="2076450" cy="10312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2" y="3590477"/>
              <a:ext cx="2056899" cy="1012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9" y="3585714"/>
              <a:ext cx="2066925" cy="1021715"/>
            </a:xfrm>
            <a:custGeom>
              <a:avLst/>
              <a:gdLst/>
              <a:ahLst/>
              <a:cxnLst/>
              <a:rect l="l" t="t" r="r" b="b"/>
              <a:pathLst>
                <a:path w="2066925" h="1021714">
                  <a:moveTo>
                    <a:pt x="0" y="0"/>
                  </a:moveTo>
                  <a:lnTo>
                    <a:pt x="2066424" y="0"/>
                  </a:lnTo>
                  <a:lnTo>
                    <a:pt x="2066424" y="1021649"/>
                  </a:lnTo>
                  <a:lnTo>
                    <a:pt x="0" y="1021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54437" y="5611728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2900" y="3354066"/>
            <a:ext cx="5613400" cy="2150533"/>
            <a:chOff x="302175" y="2515549"/>
            <a:chExt cx="4210050" cy="1612900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525074"/>
              <a:ext cx="4190700" cy="15934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6938" y="2520312"/>
              <a:ext cx="4200525" cy="1603375"/>
            </a:xfrm>
            <a:custGeom>
              <a:avLst/>
              <a:gdLst/>
              <a:ahLst/>
              <a:cxnLst/>
              <a:rect l="l" t="t" r="r" b="b"/>
              <a:pathLst>
                <a:path w="4200525" h="1603375">
                  <a:moveTo>
                    <a:pt x="0" y="0"/>
                  </a:moveTo>
                  <a:lnTo>
                    <a:pt x="4200225" y="0"/>
                  </a:lnTo>
                  <a:lnTo>
                    <a:pt x="4200225" y="1602952"/>
                  </a:lnTo>
                  <a:lnTo>
                    <a:pt x="0" y="160295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1659" y="621756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/>
          <p:nvPr/>
        </p:nvSpPr>
        <p:spPr>
          <a:xfrm>
            <a:off x="512967" y="625745"/>
            <a:ext cx="542628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#02</a:t>
            </a:r>
            <a:r>
              <a:rPr sz="36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–</a:t>
            </a:r>
            <a:r>
              <a:rPr sz="3600" kern="0" spc="-2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3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New</a:t>
            </a:r>
            <a:r>
              <a:rPr sz="3600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r>
              <a:rPr sz="3600" kern="0" spc="-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created</a:t>
            </a:r>
            <a:endParaRPr sz="36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241" y="1877601"/>
            <a:ext cx="89128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launches,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it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untitled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6000" y="2793567"/>
            <a:ext cx="10160000" cy="2743200"/>
            <a:chOff x="762000" y="2095175"/>
            <a:chExt cx="7620000" cy="2057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2104700"/>
              <a:ext cx="7600949" cy="2038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6762" y="2099937"/>
              <a:ext cx="7610475" cy="2047875"/>
            </a:xfrm>
            <a:custGeom>
              <a:avLst/>
              <a:gdLst/>
              <a:ahLst/>
              <a:cxnLst/>
              <a:rect l="l" t="t" r="r" b="b"/>
              <a:pathLst>
                <a:path w="7610475" h="2047875">
                  <a:moveTo>
                    <a:pt x="0" y="0"/>
                  </a:moveTo>
                  <a:lnTo>
                    <a:pt x="7610474" y="0"/>
                  </a:lnTo>
                  <a:lnTo>
                    <a:pt x="7610474" y="2047874"/>
                  </a:lnTo>
                  <a:lnTo>
                    <a:pt x="0" y="20478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11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79068" y="1906875"/>
            <a:ext cx="11616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0441" y="2272633"/>
            <a:ext cx="2473113" cy="965222"/>
          </a:xfrm>
          <a:prstGeom prst="rect">
            <a:avLst/>
          </a:prstGeom>
        </p:spPr>
        <p:txBody>
          <a:bodyPr vert="horz" wrap="square" lIns="0" tIns="122767" rIns="0" bIns="0" rtlCol="0">
            <a:spAutoFit/>
          </a:bodyPr>
          <a:lstStyle/>
          <a:p>
            <a:pPr marL="585031" indent="-568098" defTabSz="1219170">
              <a:spcBef>
                <a:spcPts val="9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8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4e6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12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 </a:t>
            </a:r>
            <a:r>
              <a:rPr sz="3600" dirty="0">
                <a:solidFill>
                  <a:srgbClr val="D13368"/>
                </a:solidFill>
              </a:rPr>
              <a:t>Edit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default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values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668867" y="1906875"/>
            <a:ext cx="10998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Options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240" y="2323434"/>
            <a:ext cx="3266440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basic_capture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Title: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Basic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Author:</a:t>
            </a:r>
            <a:r>
              <a:rPr sz="2400" b="1" kern="0" spc="-12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23350" y="3416300"/>
            <a:ext cx="4733713" cy="1727200"/>
            <a:chOff x="4892512" y="2562225"/>
            <a:chExt cx="3550285" cy="129540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2037" y="2571750"/>
              <a:ext cx="3530624" cy="12759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97275" y="2566987"/>
              <a:ext cx="3540760" cy="1285875"/>
            </a:xfrm>
            <a:custGeom>
              <a:avLst/>
              <a:gdLst/>
              <a:ahLst/>
              <a:cxnLst/>
              <a:rect l="l" t="t" r="r" b="b"/>
              <a:pathLst>
                <a:path w="3540759" h="1285875">
                  <a:moveTo>
                    <a:pt x="0" y="0"/>
                  </a:moveTo>
                  <a:lnTo>
                    <a:pt x="3540149" y="0"/>
                  </a:lnTo>
                  <a:lnTo>
                    <a:pt x="3540149" y="1285449"/>
                  </a:lnTo>
                  <a:lnTo>
                    <a:pt x="0" y="1285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73100" y="3841799"/>
            <a:ext cx="5051213" cy="2715260"/>
            <a:chOff x="504825" y="2881349"/>
            <a:chExt cx="3788410" cy="2036445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4350" y="2890875"/>
              <a:ext cx="3769159" cy="20169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9587" y="2886112"/>
              <a:ext cx="3778885" cy="2026920"/>
            </a:xfrm>
            <a:custGeom>
              <a:avLst/>
              <a:gdLst/>
              <a:ahLst/>
              <a:cxnLst/>
              <a:rect l="l" t="t" r="r" b="b"/>
              <a:pathLst>
                <a:path w="3778885" h="2026920">
                  <a:moveTo>
                    <a:pt x="0" y="0"/>
                  </a:moveTo>
                  <a:lnTo>
                    <a:pt x="3778684" y="0"/>
                  </a:lnTo>
                  <a:lnTo>
                    <a:pt x="3778684" y="2026475"/>
                  </a:lnTo>
                  <a:lnTo>
                    <a:pt x="0" y="20264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13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Create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new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Variable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0" y="1906863"/>
            <a:ext cx="9296400" cy="129180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400" b="1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,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add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3004143"/>
            <a:ext cx="6631093" cy="1093462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defTabSz="1219170">
              <a:spcBef>
                <a:spcPts val="1467"/>
              </a:spcBef>
            </a:pP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canvas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3.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Variable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values.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3115" y="3968666"/>
            <a:ext cx="2377440" cy="96436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581645" indent="-557093" defTabSz="1219170">
              <a:spcBef>
                <a:spcPts val="960"/>
              </a:spcBef>
              <a:buClr>
                <a:srgbClr val="434343"/>
              </a:buClr>
              <a:buFontTx/>
              <a:buAutoNum type="alphaLcPeriod"/>
              <a:tabLst>
                <a:tab pos="581645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hw_freq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1645" indent="-564713" defTabSz="1219170">
              <a:spcBef>
                <a:spcPts val="833"/>
              </a:spcBef>
              <a:buClr>
                <a:srgbClr val="434343"/>
              </a:buClr>
              <a:buFontTx/>
              <a:buAutoNum type="alphaLcPeriod"/>
              <a:tabLst>
                <a:tab pos="581645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433e6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50750" y="3361167"/>
            <a:ext cx="8674100" cy="3127587"/>
            <a:chOff x="2513062" y="2520875"/>
            <a:chExt cx="6505575" cy="234569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0038" y="2530400"/>
              <a:ext cx="2879074" cy="1552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25275" y="2525637"/>
              <a:ext cx="2888615" cy="1562100"/>
            </a:xfrm>
            <a:custGeom>
              <a:avLst/>
              <a:gdLst/>
              <a:ahLst/>
              <a:cxnLst/>
              <a:rect l="l" t="t" r="r" b="b"/>
              <a:pathLst>
                <a:path w="2888615" h="1562100">
                  <a:moveTo>
                    <a:pt x="0" y="0"/>
                  </a:moveTo>
                  <a:lnTo>
                    <a:pt x="2888599" y="0"/>
                  </a:lnTo>
                  <a:lnTo>
                    <a:pt x="2888599" y="1561924"/>
                  </a:lnTo>
                  <a:lnTo>
                    <a:pt x="0" y="15619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2587" y="3807575"/>
              <a:ext cx="2824275" cy="10493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517825" y="3802812"/>
              <a:ext cx="2834005" cy="1059180"/>
            </a:xfrm>
            <a:custGeom>
              <a:avLst/>
              <a:gdLst/>
              <a:ahLst/>
              <a:cxnLst/>
              <a:rect l="l" t="t" r="r" b="b"/>
              <a:pathLst>
                <a:path w="2834004" h="1059179">
                  <a:moveTo>
                    <a:pt x="0" y="0"/>
                  </a:moveTo>
                  <a:lnTo>
                    <a:pt x="2833800" y="0"/>
                  </a:lnTo>
                  <a:lnTo>
                    <a:pt x="2833800" y="1058899"/>
                  </a:lnTo>
                  <a:lnTo>
                    <a:pt x="0" y="1058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533371" y="3750800"/>
              <a:ext cx="686435" cy="131445"/>
            </a:xfrm>
            <a:custGeom>
              <a:avLst/>
              <a:gdLst/>
              <a:ahLst/>
              <a:cxnLst/>
              <a:rect l="l" t="t" r="r" b="b"/>
              <a:pathLst>
                <a:path w="686435" h="131445">
                  <a:moveTo>
                    <a:pt x="686303" y="0"/>
                  </a:moveTo>
                  <a:lnTo>
                    <a:pt x="0" y="131286"/>
                  </a:lnTo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91717" y="3821441"/>
              <a:ext cx="164809" cy="12129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14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2926" y="649535"/>
            <a:ext cx="9580847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6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Add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SDR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as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source</a:t>
            </a:r>
            <a:r>
              <a:rPr sz="3600" b="1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for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receiving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906875"/>
            <a:ext cx="10491893" cy="256651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9313" indent="-568946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osmocom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osmocom</a:t>
            </a:r>
            <a:r>
              <a:rPr sz="2400" b="1" u="heavy" kern="0" spc="-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source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add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canvas.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again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values.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6773" indent="-568946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Ch0: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(Hz)</a:t>
            </a:r>
            <a:r>
              <a:rPr sz="2400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hw_freq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variable,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should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be set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2134" y="4540167"/>
            <a:ext cx="4982633" cy="2078567"/>
            <a:chOff x="1749100" y="3405125"/>
            <a:chExt cx="3736975" cy="15589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8625" y="3414650"/>
              <a:ext cx="3717774" cy="15398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53862" y="3409887"/>
              <a:ext cx="3727450" cy="1549400"/>
            </a:xfrm>
            <a:custGeom>
              <a:avLst/>
              <a:gdLst/>
              <a:ahLst/>
              <a:cxnLst/>
              <a:rect l="l" t="t" r="r" b="b"/>
              <a:pathLst>
                <a:path w="3727450" h="1549400">
                  <a:moveTo>
                    <a:pt x="0" y="0"/>
                  </a:moveTo>
                  <a:lnTo>
                    <a:pt x="3727299" y="0"/>
                  </a:lnTo>
                  <a:lnTo>
                    <a:pt x="3727299" y="1549399"/>
                  </a:lnTo>
                  <a:lnTo>
                    <a:pt x="0" y="154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15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7 </a:t>
            </a:r>
            <a:r>
              <a:rPr sz="3600" dirty="0">
                <a:solidFill>
                  <a:srgbClr val="D13368"/>
                </a:solidFill>
              </a:rPr>
              <a:t>Continue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adding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blocks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1" y="1906875"/>
            <a:ext cx="10453793" cy="25231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blocks: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01214" defTabSz="1219170">
              <a:spcBef>
                <a:spcPts val="20"/>
              </a:spcBef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File</a:t>
            </a:r>
            <a:r>
              <a:rPr sz="1867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07141" defTabSz="1219170"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QT</a:t>
            </a:r>
            <a:r>
              <a:rPr sz="1867" b="1" kern="0" spc="-10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r>
              <a:rPr sz="18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13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18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497828" defTabSz="1219170"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QT</a:t>
            </a:r>
            <a:r>
              <a:rPr sz="1867" b="1" kern="0" spc="-10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r>
              <a:rPr sz="1867" b="1" kern="0" spc="-10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Time</a:t>
            </a:r>
            <a:r>
              <a:rPr sz="18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6773" indent="-568946" defTabSz="1219170">
              <a:spcBef>
                <a:spcPts val="1313"/>
              </a:spcBef>
              <a:buFontTx/>
              <a:buAutoNum type="arabicPeriod" startAt="2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replica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called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basic_capture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shown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on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next</a:t>
            </a:r>
            <a:r>
              <a:rPr sz="2400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page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07199" y="4612534"/>
            <a:ext cx="2177627" cy="1641687"/>
          </a:xfrm>
          <a:custGeom>
            <a:avLst/>
            <a:gdLst/>
            <a:ahLst/>
            <a:cxnLst/>
            <a:rect l="l" t="t" r="r" b="b"/>
            <a:pathLst>
              <a:path w="1633220" h="1231264">
                <a:moveTo>
                  <a:pt x="1325399" y="1231199"/>
                </a:moveTo>
                <a:lnTo>
                  <a:pt x="1325399" y="1077299"/>
                </a:lnTo>
                <a:lnTo>
                  <a:pt x="538649" y="1077299"/>
                </a:lnTo>
                <a:lnTo>
                  <a:pt x="489621" y="1075098"/>
                </a:lnTo>
                <a:lnTo>
                  <a:pt x="441826" y="1068621"/>
                </a:lnTo>
                <a:lnTo>
                  <a:pt x="395455" y="1058058"/>
                </a:lnTo>
                <a:lnTo>
                  <a:pt x="350697" y="1043600"/>
                </a:lnTo>
                <a:lnTo>
                  <a:pt x="307743" y="1025437"/>
                </a:lnTo>
                <a:lnTo>
                  <a:pt x="266782" y="1003758"/>
                </a:lnTo>
                <a:lnTo>
                  <a:pt x="228006" y="978754"/>
                </a:lnTo>
                <a:lnTo>
                  <a:pt x="191604" y="950616"/>
                </a:lnTo>
                <a:lnTo>
                  <a:pt x="157766" y="919533"/>
                </a:lnTo>
                <a:lnTo>
                  <a:pt x="126683" y="885695"/>
                </a:lnTo>
                <a:lnTo>
                  <a:pt x="98545" y="849293"/>
                </a:lnTo>
                <a:lnTo>
                  <a:pt x="73541" y="810516"/>
                </a:lnTo>
                <a:lnTo>
                  <a:pt x="51838" y="769499"/>
                </a:lnTo>
                <a:lnTo>
                  <a:pt x="33699" y="726602"/>
                </a:lnTo>
                <a:lnTo>
                  <a:pt x="19241" y="681844"/>
                </a:lnTo>
                <a:lnTo>
                  <a:pt x="8678" y="635473"/>
                </a:lnTo>
                <a:lnTo>
                  <a:pt x="2201" y="587678"/>
                </a:lnTo>
                <a:lnTo>
                  <a:pt x="0" y="538649"/>
                </a:lnTo>
                <a:lnTo>
                  <a:pt x="0" y="0"/>
                </a:lnTo>
                <a:lnTo>
                  <a:pt x="307799" y="0"/>
                </a:lnTo>
                <a:lnTo>
                  <a:pt x="307799" y="538649"/>
                </a:lnTo>
                <a:lnTo>
                  <a:pt x="312490" y="585174"/>
                </a:lnTo>
                <a:lnTo>
                  <a:pt x="325941" y="628507"/>
                </a:lnTo>
                <a:lnTo>
                  <a:pt x="347225" y="667720"/>
                </a:lnTo>
                <a:lnTo>
                  <a:pt x="375414" y="701885"/>
                </a:lnTo>
                <a:lnTo>
                  <a:pt x="409579" y="730074"/>
                </a:lnTo>
                <a:lnTo>
                  <a:pt x="448792" y="751358"/>
                </a:lnTo>
                <a:lnTo>
                  <a:pt x="492125" y="764809"/>
                </a:lnTo>
                <a:lnTo>
                  <a:pt x="538649" y="769499"/>
                </a:lnTo>
                <a:lnTo>
                  <a:pt x="1479299" y="769499"/>
                </a:lnTo>
                <a:lnTo>
                  <a:pt x="1633199" y="923399"/>
                </a:lnTo>
                <a:lnTo>
                  <a:pt x="1325399" y="1231199"/>
                </a:lnTo>
                <a:close/>
              </a:path>
              <a:path w="1633220" h="1231264">
                <a:moveTo>
                  <a:pt x="1479299" y="769499"/>
                </a:moveTo>
                <a:lnTo>
                  <a:pt x="1325399" y="769499"/>
                </a:lnTo>
                <a:lnTo>
                  <a:pt x="1325399" y="615599"/>
                </a:lnTo>
                <a:lnTo>
                  <a:pt x="1479299" y="7694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347801" y="1733665"/>
            <a:ext cx="8826500" cy="5099472"/>
            <a:chOff x="1760850" y="1300249"/>
            <a:chExt cx="6619875" cy="3824604"/>
          </a:xfrm>
        </p:grpSpPr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5350" y="1403624"/>
              <a:ext cx="4567250" cy="20051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000" y="1851673"/>
              <a:ext cx="1216674" cy="7200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94237" y="1846910"/>
              <a:ext cx="1226820" cy="729615"/>
            </a:xfrm>
            <a:custGeom>
              <a:avLst/>
              <a:gdLst/>
              <a:ahLst/>
              <a:cxnLst/>
              <a:rect l="l" t="t" r="r" b="b"/>
              <a:pathLst>
                <a:path w="1226820" h="729614">
                  <a:moveTo>
                    <a:pt x="0" y="0"/>
                  </a:moveTo>
                  <a:lnTo>
                    <a:pt x="1226199" y="0"/>
                  </a:lnTo>
                  <a:lnTo>
                    <a:pt x="1226199" y="729599"/>
                  </a:lnTo>
                  <a:lnTo>
                    <a:pt x="0" y="72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17575" y="1314667"/>
              <a:ext cx="989849" cy="4207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12812" y="1305012"/>
              <a:ext cx="999490" cy="435609"/>
            </a:xfrm>
            <a:custGeom>
              <a:avLst/>
              <a:gdLst/>
              <a:ahLst/>
              <a:cxnLst/>
              <a:rect l="l" t="t" r="r" b="b"/>
              <a:pathLst>
                <a:path w="999490" h="435610">
                  <a:moveTo>
                    <a:pt x="0" y="0"/>
                  </a:moveTo>
                  <a:lnTo>
                    <a:pt x="999374" y="0"/>
                  </a:lnTo>
                  <a:lnTo>
                    <a:pt x="999374" y="435149"/>
                  </a:lnTo>
                  <a:lnTo>
                    <a:pt x="0" y="435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70375" y="3283637"/>
              <a:ext cx="1052500" cy="5036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65612" y="3278874"/>
              <a:ext cx="1062355" cy="541655"/>
            </a:xfrm>
            <a:custGeom>
              <a:avLst/>
              <a:gdLst/>
              <a:ahLst/>
              <a:cxnLst/>
              <a:rect l="l" t="t" r="r" b="b"/>
              <a:pathLst>
                <a:path w="1062355" h="541654">
                  <a:moveTo>
                    <a:pt x="0" y="0"/>
                  </a:moveTo>
                  <a:lnTo>
                    <a:pt x="1062025" y="0"/>
                  </a:lnTo>
                  <a:lnTo>
                    <a:pt x="1062025" y="541099"/>
                  </a:lnTo>
                  <a:lnTo>
                    <a:pt x="0" y="54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6750" y="3549425"/>
              <a:ext cx="2123676" cy="1565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81987" y="3544662"/>
              <a:ext cx="2133600" cy="1575435"/>
            </a:xfrm>
            <a:custGeom>
              <a:avLst/>
              <a:gdLst/>
              <a:ahLst/>
              <a:cxnLst/>
              <a:rect l="l" t="t" r="r" b="b"/>
              <a:pathLst>
                <a:path w="2133600" h="1575435">
                  <a:moveTo>
                    <a:pt x="0" y="0"/>
                  </a:moveTo>
                  <a:lnTo>
                    <a:pt x="2133201" y="0"/>
                  </a:lnTo>
                  <a:lnTo>
                    <a:pt x="2133201" y="1575124"/>
                  </a:lnTo>
                  <a:lnTo>
                    <a:pt x="0" y="15751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86750" y="4723853"/>
              <a:ext cx="2124075" cy="250825"/>
            </a:xfrm>
            <a:custGeom>
              <a:avLst/>
              <a:gdLst/>
              <a:ahLst/>
              <a:cxnLst/>
              <a:rect l="l" t="t" r="r" b="b"/>
              <a:pathLst>
                <a:path w="2124075" h="250825">
                  <a:moveTo>
                    <a:pt x="0" y="0"/>
                  </a:moveTo>
                  <a:lnTo>
                    <a:pt x="2123699" y="0"/>
                  </a:lnTo>
                  <a:lnTo>
                    <a:pt x="2123699" y="250499"/>
                  </a:lnTo>
                  <a:lnTo>
                    <a:pt x="0" y="250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000" y="2875860"/>
              <a:ext cx="1271774" cy="15608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094237" y="2839537"/>
              <a:ext cx="1281430" cy="1607820"/>
            </a:xfrm>
            <a:custGeom>
              <a:avLst/>
              <a:gdLst/>
              <a:ahLst/>
              <a:cxnLst/>
              <a:rect l="l" t="t" r="r" b="b"/>
              <a:pathLst>
                <a:path w="1281429" h="1607820">
                  <a:moveTo>
                    <a:pt x="0" y="0"/>
                  </a:moveTo>
                  <a:lnTo>
                    <a:pt x="1281299" y="0"/>
                  </a:lnTo>
                  <a:lnTo>
                    <a:pt x="1281299" y="1607650"/>
                  </a:lnTo>
                  <a:lnTo>
                    <a:pt x="0" y="1607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216075" y="1897274"/>
              <a:ext cx="921385" cy="136525"/>
            </a:xfrm>
            <a:custGeom>
              <a:avLst/>
              <a:gdLst/>
              <a:ahLst/>
              <a:cxnLst/>
              <a:rect l="l" t="t" r="r" b="b"/>
              <a:pathLst>
                <a:path w="921385" h="136525">
                  <a:moveTo>
                    <a:pt x="0" y="0"/>
                  </a:moveTo>
                  <a:lnTo>
                    <a:pt x="920999" y="0"/>
                  </a:lnTo>
                  <a:lnTo>
                    <a:pt x="9209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13350" y="3290079"/>
              <a:ext cx="256656" cy="26887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34049" y="3277936"/>
              <a:ext cx="81106" cy="24155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72152" y="1577024"/>
              <a:ext cx="545465" cy="153035"/>
            </a:xfrm>
            <a:custGeom>
              <a:avLst/>
              <a:gdLst/>
              <a:ahLst/>
              <a:cxnLst/>
              <a:rect l="l" t="t" r="r" b="b"/>
              <a:pathLst>
                <a:path w="545465" h="153035">
                  <a:moveTo>
                    <a:pt x="545422" y="0"/>
                  </a:moveTo>
                  <a:lnTo>
                    <a:pt x="0" y="152518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79370" y="1689715"/>
              <a:ext cx="110780" cy="7965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535865" y="2401924"/>
              <a:ext cx="563245" cy="125730"/>
            </a:xfrm>
            <a:custGeom>
              <a:avLst/>
              <a:gdLst/>
              <a:ahLst/>
              <a:cxnLst/>
              <a:rect l="l" t="t" r="r" b="b"/>
              <a:pathLst>
                <a:path w="563245" h="125730">
                  <a:moveTo>
                    <a:pt x="563134" y="0"/>
                  </a:moveTo>
                  <a:lnTo>
                    <a:pt x="0" y="125446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41957" y="2487134"/>
              <a:ext cx="110274" cy="804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40177" y="3341666"/>
              <a:ext cx="758825" cy="763905"/>
            </a:xfrm>
            <a:custGeom>
              <a:avLst/>
              <a:gdLst/>
              <a:ahLst/>
              <a:cxnLst/>
              <a:rect l="l" t="t" r="r" b="b"/>
              <a:pathLst>
                <a:path w="758825" h="763904">
                  <a:moveTo>
                    <a:pt x="758822" y="76343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69707" y="3270826"/>
              <a:ext cx="102310" cy="10254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755575" y="1668674"/>
              <a:ext cx="549275" cy="136525"/>
            </a:xfrm>
            <a:custGeom>
              <a:avLst/>
              <a:gdLst/>
              <a:ahLst/>
              <a:cxnLst/>
              <a:rect l="l" t="t" r="r" b="b"/>
              <a:pathLst>
                <a:path w="549275" h="136525">
                  <a:moveTo>
                    <a:pt x="0" y="0"/>
                  </a:moveTo>
                  <a:lnTo>
                    <a:pt x="548699" y="0"/>
                  </a:lnTo>
                  <a:lnTo>
                    <a:pt x="5486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47700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8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0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0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31" name="object 31"/>
          <p:cNvSpPr txBox="1"/>
          <p:nvPr/>
        </p:nvSpPr>
        <p:spPr>
          <a:xfrm>
            <a:off x="367542" y="6071612"/>
            <a:ext cx="3516207" cy="474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740"/>
              </a:lnSpc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88077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963333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85182" y="6233243"/>
            <a:ext cx="1307253" cy="624840"/>
          </a:xfrm>
          <a:custGeom>
            <a:avLst/>
            <a:gdLst/>
            <a:ahLst/>
            <a:cxnLst/>
            <a:rect l="l" t="t" r="r" b="b"/>
            <a:pathLst>
              <a:path w="980440" h="468629">
                <a:moveTo>
                  <a:pt x="980114" y="468567"/>
                </a:moveTo>
                <a:lnTo>
                  <a:pt x="963319" y="468567"/>
                </a:lnTo>
                <a:lnTo>
                  <a:pt x="0" y="0"/>
                </a:lnTo>
                <a:lnTo>
                  <a:pt x="980114" y="0"/>
                </a:lnTo>
                <a:lnTo>
                  <a:pt x="980114" y="468567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2536" y="6233234"/>
            <a:ext cx="1319107" cy="307841"/>
          </a:xfrm>
          <a:prstGeom prst="rect">
            <a:avLst/>
          </a:prstGeom>
          <a:solidFill>
            <a:srgbClr val="D13368"/>
          </a:solidFill>
        </p:spPr>
        <p:txBody>
          <a:bodyPr vert="horz" wrap="square" lIns="0" tIns="142240" rIns="0" bIns="0" rtlCol="0">
            <a:spAutoFit/>
          </a:bodyPr>
          <a:lstStyle/>
          <a:p>
            <a:pPr marL="113450" defTabSz="1219170">
              <a:spcBef>
                <a:spcPts val="1120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9133" y="1733666"/>
            <a:ext cx="10664612" cy="4979247"/>
            <a:chOff x="381849" y="1300249"/>
            <a:chExt cx="7998459" cy="37344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5862" y="1403625"/>
              <a:ext cx="5452567" cy="24525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8999" y="1851673"/>
              <a:ext cx="1216674" cy="7200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94237" y="1846910"/>
              <a:ext cx="1226820" cy="729615"/>
            </a:xfrm>
            <a:custGeom>
              <a:avLst/>
              <a:gdLst/>
              <a:ahLst/>
              <a:cxnLst/>
              <a:rect l="l" t="t" r="r" b="b"/>
              <a:pathLst>
                <a:path w="1226820" h="729614">
                  <a:moveTo>
                    <a:pt x="0" y="0"/>
                  </a:moveTo>
                  <a:lnTo>
                    <a:pt x="1226199" y="0"/>
                  </a:lnTo>
                  <a:lnTo>
                    <a:pt x="1226199" y="729599"/>
                  </a:lnTo>
                  <a:lnTo>
                    <a:pt x="0" y="72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17574" y="1314667"/>
              <a:ext cx="989849" cy="4207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12812" y="1305012"/>
              <a:ext cx="999490" cy="435609"/>
            </a:xfrm>
            <a:custGeom>
              <a:avLst/>
              <a:gdLst/>
              <a:ahLst/>
              <a:cxnLst/>
              <a:rect l="l" t="t" r="r" b="b"/>
              <a:pathLst>
                <a:path w="999490" h="435610">
                  <a:moveTo>
                    <a:pt x="0" y="0"/>
                  </a:moveTo>
                  <a:lnTo>
                    <a:pt x="999374" y="0"/>
                  </a:lnTo>
                  <a:lnTo>
                    <a:pt x="999374" y="435149"/>
                  </a:lnTo>
                  <a:lnTo>
                    <a:pt x="0" y="435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1374" y="3734862"/>
              <a:ext cx="1052500" cy="50366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6612" y="3730099"/>
              <a:ext cx="1062355" cy="541655"/>
            </a:xfrm>
            <a:custGeom>
              <a:avLst/>
              <a:gdLst/>
              <a:ahLst/>
              <a:cxnLst/>
              <a:rect l="l" t="t" r="r" b="b"/>
              <a:pathLst>
                <a:path w="1062355" h="541654">
                  <a:moveTo>
                    <a:pt x="0" y="0"/>
                  </a:moveTo>
                  <a:lnTo>
                    <a:pt x="1062025" y="0"/>
                  </a:lnTo>
                  <a:lnTo>
                    <a:pt x="1062025" y="541099"/>
                  </a:lnTo>
                  <a:lnTo>
                    <a:pt x="0" y="54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97348" y="3459350"/>
              <a:ext cx="1554275" cy="15655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92585" y="3454587"/>
              <a:ext cx="1564005" cy="1575435"/>
            </a:xfrm>
            <a:custGeom>
              <a:avLst/>
              <a:gdLst/>
              <a:ahLst/>
              <a:cxnLst/>
              <a:rect l="l" t="t" r="r" b="b"/>
              <a:pathLst>
                <a:path w="1564004" h="1575435">
                  <a:moveTo>
                    <a:pt x="0" y="0"/>
                  </a:moveTo>
                  <a:lnTo>
                    <a:pt x="1563800" y="0"/>
                  </a:lnTo>
                  <a:lnTo>
                    <a:pt x="1563800" y="1575124"/>
                  </a:lnTo>
                  <a:lnTo>
                    <a:pt x="0" y="15751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397350" y="4627979"/>
              <a:ext cx="1554480" cy="265430"/>
            </a:xfrm>
            <a:custGeom>
              <a:avLst/>
              <a:gdLst/>
              <a:ahLst/>
              <a:cxnLst/>
              <a:rect l="l" t="t" r="r" b="b"/>
              <a:pathLst>
                <a:path w="1554479" h="265429">
                  <a:moveTo>
                    <a:pt x="0" y="0"/>
                  </a:moveTo>
                  <a:lnTo>
                    <a:pt x="1554299" y="0"/>
                  </a:lnTo>
                  <a:lnTo>
                    <a:pt x="1554299" y="264899"/>
                  </a:lnTo>
                  <a:lnTo>
                    <a:pt x="0" y="264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8999" y="2875860"/>
              <a:ext cx="1271774" cy="15608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094237" y="2839537"/>
              <a:ext cx="1281430" cy="1607820"/>
            </a:xfrm>
            <a:custGeom>
              <a:avLst/>
              <a:gdLst/>
              <a:ahLst/>
              <a:cxnLst/>
              <a:rect l="l" t="t" r="r" b="b"/>
              <a:pathLst>
                <a:path w="1281429" h="1607820">
                  <a:moveTo>
                    <a:pt x="0" y="0"/>
                  </a:moveTo>
                  <a:lnTo>
                    <a:pt x="1281299" y="0"/>
                  </a:lnTo>
                  <a:lnTo>
                    <a:pt x="1281299" y="1607650"/>
                  </a:lnTo>
                  <a:lnTo>
                    <a:pt x="0" y="1607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388425" y="2287495"/>
              <a:ext cx="989965" cy="136525"/>
            </a:xfrm>
            <a:custGeom>
              <a:avLst/>
              <a:gdLst/>
              <a:ahLst/>
              <a:cxnLst/>
              <a:rect l="l" t="t" r="r" b="b"/>
              <a:pathLst>
                <a:path w="989964" h="136525">
                  <a:moveTo>
                    <a:pt x="0" y="0"/>
                  </a:moveTo>
                  <a:lnTo>
                    <a:pt x="989699" y="0"/>
                  </a:lnTo>
                  <a:lnTo>
                    <a:pt x="9896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34350" y="3741304"/>
              <a:ext cx="256657" cy="2688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94063" y="3738300"/>
              <a:ext cx="497205" cy="223520"/>
            </a:xfrm>
            <a:custGeom>
              <a:avLst/>
              <a:gdLst/>
              <a:ahLst/>
              <a:cxnLst/>
              <a:rect l="l" t="t" r="r" b="b"/>
              <a:pathLst>
                <a:path w="497204" h="223520">
                  <a:moveTo>
                    <a:pt x="0" y="0"/>
                  </a:moveTo>
                  <a:lnTo>
                    <a:pt x="496932" y="223172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68579" y="3923244"/>
              <a:ext cx="110803" cy="831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454877" y="1577024"/>
              <a:ext cx="363220" cy="482600"/>
            </a:xfrm>
            <a:custGeom>
              <a:avLst/>
              <a:gdLst/>
              <a:ahLst/>
              <a:cxnLst/>
              <a:rect l="l" t="t" r="r" b="b"/>
              <a:pathLst>
                <a:path w="363220" h="482600">
                  <a:moveTo>
                    <a:pt x="362697" y="0"/>
                  </a:moveTo>
                  <a:lnTo>
                    <a:pt x="0" y="482251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93389" y="2030838"/>
              <a:ext cx="96159" cy="10705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762046" y="2402062"/>
              <a:ext cx="337185" cy="340360"/>
            </a:xfrm>
            <a:custGeom>
              <a:avLst/>
              <a:gdLst/>
              <a:ahLst/>
              <a:cxnLst/>
              <a:rect l="l" t="t" r="r" b="b"/>
              <a:pathLst>
                <a:path w="337184" h="340360">
                  <a:moveTo>
                    <a:pt x="336883" y="0"/>
                  </a:moveTo>
                  <a:lnTo>
                    <a:pt x="0" y="340273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91699" y="2710673"/>
              <a:ext cx="102233" cy="10262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14094" y="3895204"/>
              <a:ext cx="485140" cy="210185"/>
            </a:xfrm>
            <a:custGeom>
              <a:avLst/>
              <a:gdLst/>
              <a:ahLst/>
              <a:cxnLst/>
              <a:rect l="l" t="t" r="r" b="b"/>
              <a:pathLst>
                <a:path w="485140" h="210185">
                  <a:moveTo>
                    <a:pt x="484905" y="20989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25232" y="3851338"/>
              <a:ext cx="110885" cy="8226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44900" y="1817899"/>
              <a:ext cx="888365" cy="136525"/>
            </a:xfrm>
            <a:custGeom>
              <a:avLst/>
              <a:gdLst/>
              <a:ahLst/>
              <a:cxnLst/>
              <a:rect l="l" t="t" r="r" b="b"/>
              <a:pathLst>
                <a:path w="888364" h="136525">
                  <a:moveTo>
                    <a:pt x="0" y="0"/>
                  </a:moveTo>
                  <a:lnTo>
                    <a:pt x="888299" y="0"/>
                  </a:lnTo>
                  <a:lnTo>
                    <a:pt x="8882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47700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8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0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0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32" name="object 32"/>
          <p:cNvSpPr txBox="1"/>
          <p:nvPr/>
        </p:nvSpPr>
        <p:spPr>
          <a:xfrm>
            <a:off x="9669716" y="6530881"/>
            <a:ext cx="806027" cy="171051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defTabSz="1219170">
              <a:spcBef>
                <a:spcPts val="53"/>
              </a:spcBef>
            </a:pP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7542" y="6042243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37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9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4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8" name="object 8"/>
          <p:cNvGrpSpPr/>
          <p:nvPr/>
        </p:nvGrpSpPr>
        <p:grpSpPr>
          <a:xfrm>
            <a:off x="7105296" y="2130527"/>
            <a:ext cx="4786205" cy="3208020"/>
            <a:chOff x="5328972" y="1597895"/>
            <a:chExt cx="3589654" cy="2406015"/>
          </a:xfrm>
        </p:grpSpPr>
        <p:pic>
          <p:nvPicPr>
            <p:cNvPr id="9" name="object 9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44274" y="1607420"/>
              <a:ext cx="3464221" cy="23207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3734" y="1602657"/>
              <a:ext cx="3580129" cy="2396490"/>
            </a:xfrm>
            <a:custGeom>
              <a:avLst/>
              <a:gdLst/>
              <a:ahLst/>
              <a:cxnLst/>
              <a:rect l="l" t="t" r="r" b="b"/>
              <a:pathLst>
                <a:path w="3580129" h="2396490">
                  <a:moveTo>
                    <a:pt x="0" y="0"/>
                  </a:moveTo>
                  <a:lnTo>
                    <a:pt x="3579523" y="0"/>
                  </a:lnTo>
                  <a:lnTo>
                    <a:pt x="3579523" y="2396179"/>
                  </a:lnTo>
                  <a:lnTo>
                    <a:pt x="0" y="23961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13823" y="5543910"/>
            <a:ext cx="351620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1283" y="1907432"/>
            <a:ext cx="4619413" cy="4718472"/>
            <a:chOff x="1163462" y="1430574"/>
            <a:chExt cx="3464560" cy="3538854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72987" y="1440100"/>
              <a:ext cx="3445219" cy="35192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68225" y="1435337"/>
              <a:ext cx="3455035" cy="3529329"/>
            </a:xfrm>
            <a:custGeom>
              <a:avLst/>
              <a:gdLst/>
              <a:ahLst/>
              <a:cxnLst/>
              <a:rect l="l" t="t" r="r" b="b"/>
              <a:pathLst>
                <a:path w="3455035" h="3529329">
                  <a:moveTo>
                    <a:pt x="0" y="0"/>
                  </a:moveTo>
                  <a:lnTo>
                    <a:pt x="3454744" y="0"/>
                  </a:lnTo>
                  <a:lnTo>
                    <a:pt x="3454744" y="3528775"/>
                  </a:lnTo>
                  <a:lnTo>
                    <a:pt x="0" y="35287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10404" y="1891484"/>
            <a:ext cx="4701539" cy="4814993"/>
            <a:chOff x="1132803" y="1418612"/>
            <a:chExt cx="3526154" cy="3611245"/>
          </a:xfrm>
        </p:grpSpPr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2328" y="1428138"/>
              <a:ext cx="3506549" cy="35918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37565" y="1423375"/>
              <a:ext cx="3516629" cy="3601720"/>
            </a:xfrm>
            <a:custGeom>
              <a:avLst/>
              <a:gdLst/>
              <a:ahLst/>
              <a:cxnLst/>
              <a:rect l="l" t="t" r="r" b="b"/>
              <a:pathLst>
                <a:path w="3516629" h="3601720">
                  <a:moveTo>
                    <a:pt x="0" y="0"/>
                  </a:moveTo>
                  <a:lnTo>
                    <a:pt x="3516074" y="0"/>
                  </a:lnTo>
                  <a:lnTo>
                    <a:pt x="3516074" y="3601349"/>
                  </a:lnTo>
                  <a:lnTo>
                    <a:pt x="0" y="360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37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9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4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11" name="object 11"/>
          <p:cNvGrpSpPr/>
          <p:nvPr/>
        </p:nvGrpSpPr>
        <p:grpSpPr>
          <a:xfrm>
            <a:off x="7105296" y="2130527"/>
            <a:ext cx="4786205" cy="3208020"/>
            <a:chOff x="5328972" y="1597895"/>
            <a:chExt cx="3589654" cy="2406015"/>
          </a:xfrm>
        </p:grpSpPr>
        <p:pic>
          <p:nvPicPr>
            <p:cNvPr id="12" name="object 12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44274" y="1607420"/>
              <a:ext cx="3464221" cy="23207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3734" y="1602657"/>
              <a:ext cx="3580129" cy="2396490"/>
            </a:xfrm>
            <a:custGeom>
              <a:avLst/>
              <a:gdLst/>
              <a:ahLst/>
              <a:cxnLst/>
              <a:rect l="l" t="t" r="r" b="b"/>
              <a:pathLst>
                <a:path w="3580129" h="2396490">
                  <a:moveTo>
                    <a:pt x="0" y="0"/>
                  </a:moveTo>
                  <a:lnTo>
                    <a:pt x="3579523" y="0"/>
                  </a:lnTo>
                  <a:lnTo>
                    <a:pt x="3579523" y="2396179"/>
                  </a:lnTo>
                  <a:lnTo>
                    <a:pt x="0" y="23961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01422" y="5543910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94699" y="398536"/>
              <a:ext cx="1068549" cy="1068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94834" y="4197651"/>
            <a:ext cx="691811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Replay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(basic_replay)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20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12727"/>
            <a:ext cx="9915525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#03</a:t>
            </a:r>
            <a:endParaRPr sz="5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73666" y="3393900"/>
            <a:ext cx="9718887" cy="3464560"/>
            <a:chOff x="1855249" y="2545425"/>
            <a:chExt cx="7289165" cy="259842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21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22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4711700" y="2401888"/>
            <a:ext cx="7480300" cy="2341562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spc="-13" dirty="0">
                <a:solidFill>
                  <a:srgbClr val="434343"/>
                </a:solidFill>
              </a:rPr>
              <a:t>“Application</a:t>
            </a:r>
            <a:r>
              <a:rPr b="0" spc="-40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b="0" spc="-40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b="0" spc="13" dirty="0">
                <a:solidFill>
                  <a:srgbClr val="434343"/>
                </a:solidFill>
              </a:rPr>
              <a:t> </a:t>
            </a:r>
            <a:r>
              <a:rPr spc="-13" dirty="0">
                <a:solidFill>
                  <a:srgbClr val="434343"/>
                </a:solidFill>
              </a:rPr>
              <a:t>bottom </a:t>
            </a:r>
            <a:r>
              <a:rPr dirty="0">
                <a:solidFill>
                  <a:srgbClr val="434343"/>
                </a:solidFill>
              </a:rPr>
              <a:t>left</a:t>
            </a:r>
            <a:r>
              <a:rPr spc="-67" dirty="0">
                <a:solidFill>
                  <a:srgbClr val="434343"/>
                </a:solidFill>
              </a:rPr>
              <a:t> </a:t>
            </a:r>
            <a:r>
              <a:rPr spc="-13" dirty="0">
                <a:solidFill>
                  <a:srgbClr val="434343"/>
                </a:solidFill>
              </a:rPr>
              <a:t>corner</a:t>
            </a:r>
          </a:p>
          <a:p>
            <a:pPr marL="626518" marR="13800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dirty="0">
                <a:solidFill>
                  <a:srgbClr val="434343"/>
                </a:solidFill>
              </a:rPr>
              <a:t>gnuradio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spc="-33" dirty="0">
                <a:solidFill>
                  <a:srgbClr val="434343"/>
                </a:solidFill>
              </a:rPr>
              <a:t>to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20" dirty="0">
                <a:solidFill>
                  <a:srgbClr val="434343"/>
                </a:solidFill>
              </a:rPr>
              <a:t> </a:t>
            </a:r>
            <a:r>
              <a:rPr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b="0" spc="-2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b="0" spc="-27" dirty="0">
                <a:solidFill>
                  <a:srgbClr val="434343"/>
                </a:solidFill>
              </a:rPr>
              <a:t> </a:t>
            </a:r>
            <a:r>
              <a:rPr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79922"/>
            <a:ext cx="11727280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8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GNU</a:t>
            </a:r>
            <a:r>
              <a:rPr sz="3600" b="1" spc="-8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Radio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Companion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 dirty="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gnuradio-</a:t>
            </a: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companion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503" y="4774601"/>
            <a:ext cx="2768600" cy="1374987"/>
            <a:chOff x="4984127" y="3580951"/>
            <a:chExt cx="2076450" cy="10312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2" y="3590477"/>
              <a:ext cx="2056899" cy="1012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9" y="3585714"/>
              <a:ext cx="2066925" cy="1021715"/>
            </a:xfrm>
            <a:custGeom>
              <a:avLst/>
              <a:gdLst/>
              <a:ahLst/>
              <a:cxnLst/>
              <a:rect l="l" t="t" r="r" b="b"/>
              <a:pathLst>
                <a:path w="2066925" h="1021714">
                  <a:moveTo>
                    <a:pt x="0" y="0"/>
                  </a:moveTo>
                  <a:lnTo>
                    <a:pt x="2066424" y="0"/>
                  </a:lnTo>
                  <a:lnTo>
                    <a:pt x="2066424" y="1021649"/>
                  </a:lnTo>
                  <a:lnTo>
                    <a:pt x="0" y="1021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54437" y="5611728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2900" y="3354066"/>
            <a:ext cx="5613400" cy="2150533"/>
            <a:chOff x="302175" y="2515549"/>
            <a:chExt cx="4210050" cy="1612900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525074"/>
              <a:ext cx="4190700" cy="15934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6938" y="2520312"/>
              <a:ext cx="4200525" cy="1603375"/>
            </a:xfrm>
            <a:custGeom>
              <a:avLst/>
              <a:gdLst/>
              <a:ahLst/>
              <a:cxnLst/>
              <a:rect l="l" t="t" r="r" b="b"/>
              <a:pathLst>
                <a:path w="4200525" h="1603375">
                  <a:moveTo>
                    <a:pt x="0" y="0"/>
                  </a:moveTo>
                  <a:lnTo>
                    <a:pt x="4200225" y="0"/>
                  </a:lnTo>
                  <a:lnTo>
                    <a:pt x="4200225" y="1602952"/>
                  </a:lnTo>
                  <a:lnTo>
                    <a:pt x="0" y="160295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1659" y="621756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/>
          <p:nvPr/>
        </p:nvSpPr>
        <p:spPr>
          <a:xfrm>
            <a:off x="512967" y="625745"/>
            <a:ext cx="542628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#03</a:t>
            </a:r>
            <a:r>
              <a:rPr sz="36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–</a:t>
            </a:r>
            <a:r>
              <a:rPr sz="3600" kern="0" spc="-2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3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New</a:t>
            </a:r>
            <a:r>
              <a:rPr sz="3600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r>
              <a:rPr sz="3600" kern="0" spc="-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created</a:t>
            </a:r>
            <a:endParaRPr sz="36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241" y="1877601"/>
            <a:ext cx="89128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launches,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it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untitled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6000" y="2793567"/>
            <a:ext cx="10160000" cy="2743200"/>
            <a:chOff x="762000" y="2095175"/>
            <a:chExt cx="7620000" cy="2057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2104700"/>
              <a:ext cx="7600949" cy="2038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6762" y="2099937"/>
              <a:ext cx="7610475" cy="2047875"/>
            </a:xfrm>
            <a:custGeom>
              <a:avLst/>
              <a:gdLst/>
              <a:ahLst/>
              <a:cxnLst/>
              <a:rect l="l" t="t" r="r" b="b"/>
              <a:pathLst>
                <a:path w="7610475" h="2047875">
                  <a:moveTo>
                    <a:pt x="0" y="0"/>
                  </a:moveTo>
                  <a:lnTo>
                    <a:pt x="7610474" y="0"/>
                  </a:lnTo>
                  <a:lnTo>
                    <a:pt x="7610474" y="2047874"/>
                  </a:lnTo>
                  <a:lnTo>
                    <a:pt x="0" y="20478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23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54501"/>
            <a:ext cx="5041336" cy="26898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79068" y="1906875"/>
            <a:ext cx="11616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0441" y="2272633"/>
            <a:ext cx="2473113" cy="965222"/>
          </a:xfrm>
          <a:prstGeom prst="rect">
            <a:avLst/>
          </a:prstGeom>
        </p:spPr>
        <p:txBody>
          <a:bodyPr vert="horz" wrap="square" lIns="0" tIns="122767" rIns="0" bIns="0" rtlCol="0">
            <a:spAutoFit/>
          </a:bodyPr>
          <a:lstStyle/>
          <a:p>
            <a:pPr marL="585031" indent="-568098" defTabSz="1219170">
              <a:spcBef>
                <a:spcPts val="9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8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4e6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24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 </a:t>
            </a:r>
            <a:r>
              <a:rPr sz="3600" dirty="0">
                <a:solidFill>
                  <a:srgbClr val="D13368"/>
                </a:solidFill>
              </a:rPr>
              <a:t>Edit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default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values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668867" y="1906875"/>
            <a:ext cx="10998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Options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240" y="2323433"/>
            <a:ext cx="3198707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basic_replay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Title: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Basic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Replay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Author:</a:t>
            </a:r>
            <a:r>
              <a:rPr sz="2400" b="1" kern="0" spc="-12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23350" y="3416300"/>
            <a:ext cx="4733713" cy="1727200"/>
            <a:chOff x="4892512" y="2562225"/>
            <a:chExt cx="3550285" cy="129540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2037" y="2571750"/>
              <a:ext cx="3530624" cy="1275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97275" y="2566987"/>
              <a:ext cx="3540760" cy="1285875"/>
            </a:xfrm>
            <a:custGeom>
              <a:avLst/>
              <a:gdLst/>
              <a:ahLst/>
              <a:cxnLst/>
              <a:rect l="l" t="t" r="r" b="b"/>
              <a:pathLst>
                <a:path w="3540759" h="1285875">
                  <a:moveTo>
                    <a:pt x="0" y="0"/>
                  </a:moveTo>
                  <a:lnTo>
                    <a:pt x="3540149" y="0"/>
                  </a:lnTo>
                  <a:lnTo>
                    <a:pt x="3540149" y="1285449"/>
                  </a:lnTo>
                  <a:lnTo>
                    <a:pt x="0" y="1285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24363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0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8" name="object 8"/>
          <p:cNvGrpSpPr/>
          <p:nvPr/>
        </p:nvGrpSpPr>
        <p:grpSpPr>
          <a:xfrm>
            <a:off x="721383" y="1799733"/>
            <a:ext cx="10442787" cy="5064760"/>
            <a:chOff x="541037" y="1349800"/>
            <a:chExt cx="7832090" cy="37985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37" y="1349800"/>
              <a:ext cx="7832066" cy="28681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16023" y="3046600"/>
              <a:ext cx="1051549" cy="20968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11260" y="3041837"/>
              <a:ext cx="1061085" cy="2101850"/>
            </a:xfrm>
            <a:custGeom>
              <a:avLst/>
              <a:gdLst/>
              <a:ahLst/>
              <a:cxnLst/>
              <a:rect l="l" t="t" r="r" b="b"/>
              <a:pathLst>
                <a:path w="1061085" h="2101850">
                  <a:moveTo>
                    <a:pt x="0" y="2101662"/>
                  </a:moveTo>
                  <a:lnTo>
                    <a:pt x="0" y="0"/>
                  </a:lnTo>
                  <a:lnTo>
                    <a:pt x="1061074" y="0"/>
                  </a:lnTo>
                  <a:lnTo>
                    <a:pt x="1061074" y="2101662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540473" y="3002772"/>
              <a:ext cx="226060" cy="2103120"/>
            </a:xfrm>
            <a:custGeom>
              <a:avLst/>
              <a:gdLst/>
              <a:ahLst/>
              <a:cxnLst/>
              <a:rect l="l" t="t" r="r" b="b"/>
              <a:pathLst>
                <a:path w="226060" h="2103120">
                  <a:moveTo>
                    <a:pt x="225701" y="2102752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99662" y="2907290"/>
              <a:ext cx="81621" cy="1083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550" y="3611625"/>
              <a:ext cx="1315599" cy="15318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11787" y="3606862"/>
              <a:ext cx="1325245" cy="1536700"/>
            </a:xfrm>
            <a:custGeom>
              <a:avLst/>
              <a:gdLst/>
              <a:ahLst/>
              <a:cxnLst/>
              <a:rect l="l" t="t" r="r" b="b"/>
              <a:pathLst>
                <a:path w="1325245" h="1536700">
                  <a:moveTo>
                    <a:pt x="0" y="1536637"/>
                  </a:moveTo>
                  <a:lnTo>
                    <a:pt x="0" y="0"/>
                  </a:lnTo>
                  <a:lnTo>
                    <a:pt x="1325124" y="0"/>
                  </a:lnTo>
                  <a:lnTo>
                    <a:pt x="1325124" y="1536637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24305" y="3370815"/>
              <a:ext cx="346710" cy="1677670"/>
            </a:xfrm>
            <a:custGeom>
              <a:avLst/>
              <a:gdLst/>
              <a:ahLst/>
              <a:cxnLst/>
              <a:rect l="l" t="t" r="r" b="b"/>
              <a:pathLst>
                <a:path w="346710" h="1677670">
                  <a:moveTo>
                    <a:pt x="346194" y="167725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83964" y="3276624"/>
              <a:ext cx="80681" cy="11007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157123" y="5718243"/>
            <a:ext cx="2936240" cy="982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140"/>
              </a:lnSpc>
            </a:pP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2667" b="1" u="heavy" kern="0" spc="-1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29153" marR="1318226" defTabSz="1219170">
              <a:spcBef>
                <a:spcPts val="203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901" y="1741134"/>
            <a:ext cx="11128999" cy="4119033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24363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0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9" name="object 9"/>
          <p:cNvGrpSpPr/>
          <p:nvPr/>
        </p:nvGrpSpPr>
        <p:grpSpPr>
          <a:xfrm>
            <a:off x="3281459" y="3953093"/>
            <a:ext cx="4507653" cy="2911687"/>
            <a:chOff x="2461094" y="2964819"/>
            <a:chExt cx="3380740" cy="2183765"/>
          </a:xfrm>
        </p:grpSpPr>
        <p:pic>
          <p:nvPicPr>
            <p:cNvPr id="10" name="object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16023" y="3046600"/>
              <a:ext cx="1051549" cy="20968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11260" y="3041837"/>
              <a:ext cx="1061085" cy="2101850"/>
            </a:xfrm>
            <a:custGeom>
              <a:avLst/>
              <a:gdLst/>
              <a:ahLst/>
              <a:cxnLst/>
              <a:rect l="l" t="t" r="r" b="b"/>
              <a:pathLst>
                <a:path w="1061085" h="2101850">
                  <a:moveTo>
                    <a:pt x="0" y="2101662"/>
                  </a:moveTo>
                  <a:lnTo>
                    <a:pt x="0" y="0"/>
                  </a:lnTo>
                  <a:lnTo>
                    <a:pt x="1061074" y="0"/>
                  </a:lnTo>
                  <a:lnTo>
                    <a:pt x="1061074" y="2101662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501825" y="3060082"/>
              <a:ext cx="264795" cy="2045970"/>
            </a:xfrm>
            <a:custGeom>
              <a:avLst/>
              <a:gdLst/>
              <a:ahLst/>
              <a:cxnLst/>
              <a:rect l="l" t="t" r="r" b="b"/>
              <a:pathLst>
                <a:path w="264794" h="2045970">
                  <a:moveTo>
                    <a:pt x="264349" y="2045442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61094" y="2964819"/>
              <a:ext cx="81461" cy="1088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550" y="3611625"/>
              <a:ext cx="1315599" cy="15318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11787" y="3606862"/>
              <a:ext cx="1325245" cy="1536700"/>
            </a:xfrm>
            <a:custGeom>
              <a:avLst/>
              <a:gdLst/>
              <a:ahLst/>
              <a:cxnLst/>
              <a:rect l="l" t="t" r="r" b="b"/>
              <a:pathLst>
                <a:path w="1325245" h="1536700">
                  <a:moveTo>
                    <a:pt x="0" y="1536637"/>
                  </a:moveTo>
                  <a:lnTo>
                    <a:pt x="0" y="0"/>
                  </a:lnTo>
                  <a:lnTo>
                    <a:pt x="1325124" y="0"/>
                  </a:lnTo>
                  <a:lnTo>
                    <a:pt x="1325124" y="1536637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71203" y="3443591"/>
              <a:ext cx="399415" cy="1604645"/>
            </a:xfrm>
            <a:custGeom>
              <a:avLst/>
              <a:gdLst/>
              <a:ahLst/>
              <a:cxnLst/>
              <a:rect l="l" t="t" r="r" b="b"/>
              <a:pathLst>
                <a:path w="399414" h="1604645">
                  <a:moveTo>
                    <a:pt x="399296" y="160448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31144" y="3350174"/>
              <a:ext cx="80118" cy="11054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669717" y="5718243"/>
            <a:ext cx="2424007" cy="982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15" defTabSz="1219170">
              <a:lnSpc>
                <a:spcPts val="3140"/>
              </a:lnSpc>
            </a:pPr>
            <a:r>
              <a:rPr sz="2667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2667" b="1" u="heavy" kern="0" spc="-1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marR="1317380" defTabSz="1219170">
              <a:spcBef>
                <a:spcPts val="203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88597" y="1831266"/>
            <a:ext cx="10104120" cy="5027505"/>
            <a:chOff x="1566448" y="1373449"/>
            <a:chExt cx="7578090" cy="3770629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5974" y="1382975"/>
              <a:ext cx="4608780" cy="36618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71211" y="1378212"/>
              <a:ext cx="4618355" cy="3671570"/>
            </a:xfrm>
            <a:custGeom>
              <a:avLst/>
              <a:gdLst/>
              <a:ahLst/>
              <a:cxnLst/>
              <a:rect l="l" t="t" r="r" b="b"/>
              <a:pathLst>
                <a:path w="4618355" h="3671570">
                  <a:moveTo>
                    <a:pt x="0" y="0"/>
                  </a:moveTo>
                  <a:lnTo>
                    <a:pt x="4618305" y="0"/>
                  </a:lnTo>
                  <a:lnTo>
                    <a:pt x="4618305" y="3671349"/>
                  </a:lnTo>
                  <a:lnTo>
                    <a:pt x="0" y="367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942013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6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3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8313823" y="5573279"/>
            <a:ext cx="3516207" cy="11363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740"/>
              </a:lnSpc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372412" marR="1054074" defTabSz="1219170">
              <a:spcBef>
                <a:spcPts val="257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88600" y="1831266"/>
            <a:ext cx="10104120" cy="5027505"/>
            <a:chOff x="1566450" y="1373449"/>
            <a:chExt cx="7578090" cy="3770629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5975" y="1382975"/>
              <a:ext cx="4615851" cy="36618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71212" y="1378212"/>
              <a:ext cx="4625975" cy="3671570"/>
            </a:xfrm>
            <a:custGeom>
              <a:avLst/>
              <a:gdLst/>
              <a:ahLst/>
              <a:cxnLst/>
              <a:rect l="l" t="t" r="r" b="b"/>
              <a:pathLst>
                <a:path w="4625975" h="3671570">
                  <a:moveTo>
                    <a:pt x="0" y="0"/>
                  </a:moveTo>
                  <a:lnTo>
                    <a:pt x="4625376" y="0"/>
                  </a:lnTo>
                  <a:lnTo>
                    <a:pt x="4625376" y="3671349"/>
                  </a:lnTo>
                  <a:lnTo>
                    <a:pt x="0" y="367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/>
          <p:nvPr/>
        </p:nvSpPr>
        <p:spPr>
          <a:xfrm>
            <a:off x="0" y="625745"/>
            <a:ext cx="645402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#03</a:t>
            </a:r>
            <a:r>
              <a:rPr sz="3600" kern="0" spc="-33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–</a:t>
            </a:r>
            <a:r>
              <a:rPr sz="3600" kern="0" spc="-6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6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Execute</a:t>
            </a:r>
            <a:r>
              <a:rPr sz="3600" kern="0" spc="-1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b="1" kern="0" dirty="0">
                <a:solidFill>
                  <a:srgbClr val="D13368"/>
                </a:solidFill>
                <a:latin typeface="Roboto"/>
                <a:cs typeface="Roboto"/>
              </a:rPr>
              <a:t>Basic</a:t>
            </a:r>
            <a:r>
              <a:rPr sz="3600" b="1" kern="0" spc="-1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b="1" kern="0" dirty="0">
                <a:solidFill>
                  <a:srgbClr val="D13368"/>
                </a:solidFill>
                <a:latin typeface="Roboto"/>
                <a:cs typeface="Roboto"/>
              </a:rPr>
              <a:t>Replay</a:t>
            </a:r>
            <a:r>
              <a:rPr sz="3600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endParaRPr sz="36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01422" y="5543910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4834" y="4311951"/>
            <a:ext cx="782404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Decode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(advanced_capture)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29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63254"/>
            <a:ext cx="9594850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#04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88077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963333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4583" y="1806234"/>
            <a:ext cx="11397827" cy="5052060"/>
            <a:chOff x="595937" y="1354675"/>
            <a:chExt cx="8548370" cy="3789045"/>
          </a:xfrm>
        </p:grpSpPr>
        <p:sp>
          <p:nvSpPr>
            <p:cNvPr id="5" name="object 5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5937" y="1354675"/>
              <a:ext cx="7952123" cy="36901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16053" y="4674933"/>
              <a:ext cx="2911475" cy="468630"/>
            </a:xfrm>
            <a:custGeom>
              <a:avLst/>
              <a:gdLst/>
              <a:ahLst/>
              <a:cxnLst/>
              <a:rect l="l" t="t" r="r" b="b"/>
              <a:pathLst>
                <a:path w="2911475" h="468629">
                  <a:moveTo>
                    <a:pt x="963333" y="0"/>
                  </a:moveTo>
                  <a:lnTo>
                    <a:pt x="0" y="468566"/>
                  </a:lnTo>
                  <a:lnTo>
                    <a:pt x="963333" y="468566"/>
                  </a:lnTo>
                  <a:lnTo>
                    <a:pt x="963333" y="0"/>
                  </a:lnTo>
                  <a:close/>
                </a:path>
                <a:path w="2911475" h="468629">
                  <a:moveTo>
                    <a:pt x="2911297" y="468566"/>
                  </a:moveTo>
                  <a:lnTo>
                    <a:pt x="1947964" y="0"/>
                  </a:lnTo>
                  <a:lnTo>
                    <a:pt x="1947964" y="468566"/>
                  </a:lnTo>
                  <a:lnTo>
                    <a:pt x="2911297" y="46856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30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3818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9686650" y="6385255"/>
            <a:ext cx="1078653" cy="31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1200"/>
              </a:lnSpc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defTabSz="1219170"/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47850" y="1770633"/>
            <a:ext cx="9044940" cy="5087620"/>
            <a:chOff x="2360887" y="1327974"/>
            <a:chExt cx="6783705" cy="381571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70412" y="1337499"/>
              <a:ext cx="4403174" cy="36498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65649" y="1332737"/>
              <a:ext cx="4413250" cy="3659504"/>
            </a:xfrm>
            <a:custGeom>
              <a:avLst/>
              <a:gdLst/>
              <a:ahLst/>
              <a:cxnLst/>
              <a:rect l="l" t="t" r="r" b="b"/>
              <a:pathLst>
                <a:path w="4413250" h="3659504">
                  <a:moveTo>
                    <a:pt x="0" y="0"/>
                  </a:moveTo>
                  <a:lnTo>
                    <a:pt x="4412699" y="0"/>
                  </a:lnTo>
                  <a:lnTo>
                    <a:pt x="4412699" y="3659350"/>
                  </a:lnTo>
                  <a:lnTo>
                    <a:pt x="0" y="36593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31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078663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52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16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3599" y="4045664"/>
            <a:ext cx="11049000" cy="2812627"/>
            <a:chOff x="857699" y="3034248"/>
            <a:chExt cx="8286750" cy="210947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225" y="3043773"/>
              <a:ext cx="6419849" cy="15811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2462" y="3039011"/>
              <a:ext cx="6429375" cy="1590675"/>
            </a:xfrm>
            <a:custGeom>
              <a:avLst/>
              <a:gdLst/>
              <a:ahLst/>
              <a:cxnLst/>
              <a:rect l="l" t="t" r="r" b="b"/>
              <a:pathLst>
                <a:path w="6429375" h="1590675">
                  <a:moveTo>
                    <a:pt x="0" y="0"/>
                  </a:moveTo>
                  <a:lnTo>
                    <a:pt x="6429374" y="0"/>
                  </a:lnTo>
                  <a:lnTo>
                    <a:pt x="6429374" y="1590650"/>
                  </a:lnTo>
                  <a:lnTo>
                    <a:pt x="0" y="1590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32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129222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3</a:t>
            </a:r>
            <a:endParaRPr sz="360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View</a:t>
            </a:r>
            <a:r>
              <a:rPr sz="3600" spc="-6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Binary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data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feed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from</a:t>
            </a:r>
            <a:r>
              <a:rPr sz="3600" spc="-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60" dirty="0">
                <a:solidFill>
                  <a:srgbClr val="D13368"/>
                </a:solidFill>
              </a:rPr>
              <a:t> </a:t>
            </a:r>
            <a:r>
              <a:rPr sz="3600" b="1" spc="-13" dirty="0">
                <a:solidFill>
                  <a:srgbClr val="D13368"/>
                </a:solidFill>
              </a:rPr>
              <a:t>Capture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8265" y="1877602"/>
            <a:ext cx="8469207" cy="20150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16454" indent="-499521" defTabSz="1219170">
              <a:lnSpc>
                <a:spcPts val="2733"/>
              </a:lnSpc>
              <a:spcBef>
                <a:spcPts val="133"/>
              </a:spcBef>
              <a:buSzPct val="77777"/>
              <a:buFontTx/>
              <a:buAutoNum type="arabicPeriod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window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16454" indent="-499521" defTabSz="1219170">
              <a:lnSpc>
                <a:spcPts val="2733"/>
              </a:lnSpc>
              <a:buSzPct val="77777"/>
              <a:buFontTx/>
              <a:buAutoNum type="arabicPeriod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view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data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feed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signal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26039" defTabSz="1219170">
              <a:lnSpc>
                <a:spcPts val="2585"/>
              </a:lnSpc>
              <a:spcBef>
                <a:spcPts val="1325"/>
              </a:spcBef>
            </a:pP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nc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127.0.0.1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12345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xxd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26039" defTabSz="1219170">
              <a:lnSpc>
                <a:spcPts val="2585"/>
              </a:lnSpc>
            </a:pP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nc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127.0.0.1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12345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xxd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grep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101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16454" indent="-499521" defTabSz="1219170">
              <a:spcBef>
                <a:spcPts val="780"/>
              </a:spcBef>
              <a:buSzPct val="77777"/>
              <a:buFontTx/>
              <a:buAutoNum type="arabicPeriod" startAt="3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button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binary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data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feed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582863" y="2990851"/>
            <a:ext cx="7046912" cy="9112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Software Defined Radio (SDR)</a:t>
            </a:r>
          </a:p>
        </p:txBody>
      </p:sp>
    </p:spTree>
    <p:extLst>
      <p:ext uri="{BB962C8B-B14F-4D97-AF65-F5344CB8AC3E}">
        <p14:creationId xmlns:p14="http://schemas.microsoft.com/office/powerpoint/2010/main" val="134254544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SDR Information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altLang="ja-JP" sz="2000" dirty="0"/>
              <a:t>Software Defined Radios (SDR)</a:t>
            </a:r>
          </a:p>
          <a:p>
            <a:pPr lvl="1"/>
            <a:r>
              <a:rPr lang="en-US" altLang="ja-JP" sz="1800" dirty="0">
                <a:hlinkClick r:id="rId3"/>
              </a:rPr>
              <a:t>https://en.wikipedia.org/wiki/Software-defined_radio</a:t>
            </a:r>
            <a:endParaRPr lang="en-US" altLang="ja-JP" sz="1800" dirty="0"/>
          </a:p>
          <a:p>
            <a:pPr lvl="1"/>
            <a:r>
              <a:rPr lang="en-US" altLang="ja-JP" sz="1800" dirty="0">
                <a:hlinkClick r:id="rId4"/>
              </a:rPr>
              <a:t>http://www.arrl.org/software-defined-radio</a:t>
            </a:r>
            <a:endParaRPr lang="en-US" altLang="ja-JP" sz="1800" dirty="0"/>
          </a:p>
          <a:p>
            <a:pPr lvl="1"/>
            <a:r>
              <a:rPr lang="en-US" altLang="ja-JP" sz="1800" dirty="0"/>
              <a:t>Not limited by single purpose hardware</a:t>
            </a:r>
          </a:p>
          <a:p>
            <a:pPr lvl="1"/>
            <a:r>
              <a:rPr lang="en-US" altLang="ja-JP" sz="1800" dirty="0"/>
              <a:t>Various software packages</a:t>
            </a:r>
          </a:p>
          <a:p>
            <a:pPr lvl="1"/>
            <a:r>
              <a:rPr lang="en-US" altLang="ja-JP" sz="1800" dirty="0"/>
              <a:t>Use to sniff and diagnose wireless data and frequencies</a:t>
            </a:r>
          </a:p>
          <a:p>
            <a:pPr lvl="1"/>
            <a:r>
              <a:rPr lang="en-US" altLang="ja-JP" sz="1800" dirty="0"/>
              <a:t>Can be used to decode and encode data</a:t>
            </a:r>
          </a:p>
          <a:p>
            <a:pPr lvl="1"/>
            <a:r>
              <a:rPr lang="en-US" altLang="ja-JP" sz="1800" dirty="0"/>
              <a:t>Can also be used to transmit data for testing or spoofing</a:t>
            </a:r>
          </a:p>
          <a:p>
            <a:pPr lvl="1"/>
            <a:r>
              <a:rPr lang="en-US" altLang="ja-JP" sz="1800" dirty="0"/>
              <a:t>Popular with engineers and hackers</a:t>
            </a:r>
          </a:p>
          <a:p>
            <a:pPr lvl="1"/>
            <a:r>
              <a:rPr lang="en-US" altLang="ja-JP" sz="1800" dirty="0"/>
              <a:t>Freedom of access to RF spectrum</a:t>
            </a:r>
          </a:p>
          <a:p>
            <a:pPr lvl="1"/>
            <a:r>
              <a:rPr lang="en-US" altLang="ja-JP" sz="1800" dirty="0"/>
              <a:t>Exposes protocols previously inaccessible</a:t>
            </a:r>
          </a:p>
          <a:p>
            <a:pPr lvl="1"/>
            <a:r>
              <a:rPr lang="en-US" altLang="ja-JP" sz="1800" dirty="0"/>
              <a:t>Hugely flexible, but requires a lot of work</a:t>
            </a:r>
          </a:p>
          <a:p>
            <a:pPr lvl="1"/>
            <a:r>
              <a:rPr lang="en-US" altLang="ja-JP" sz="1800" dirty="0"/>
              <a:t>Requires programming and real-time signal processing</a:t>
            </a:r>
          </a:p>
          <a:p>
            <a:pPr lvl="2"/>
            <a:r>
              <a:rPr lang="en-US" altLang="ja-JP" sz="1600" dirty="0"/>
              <a:t>FFT, Spectrum</a:t>
            </a:r>
          </a:p>
          <a:p>
            <a:pPr lvl="2"/>
            <a:r>
              <a:rPr lang="en-US" altLang="ja-JP" sz="1600" dirty="0"/>
              <a:t>Waterfall display</a:t>
            </a:r>
          </a:p>
          <a:p>
            <a:pPr lvl="1"/>
            <a:r>
              <a:rPr lang="en-US" altLang="ja-JP" sz="1800" dirty="0"/>
              <a:t>Not a first avenue of attack</a:t>
            </a:r>
          </a:p>
          <a:p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3613704005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SDR Hardware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fontScale="32500" lnSpcReduction="20000"/>
          </a:bodyPr>
          <a:lstStyle/>
          <a:p>
            <a:r>
              <a:rPr lang="en-US" altLang="ja-JP" sz="3100" dirty="0"/>
              <a:t>Hardware</a:t>
            </a:r>
          </a:p>
          <a:p>
            <a:pPr lvl="1"/>
            <a:r>
              <a:rPr lang="en-US" altLang="ja-JP" sz="3100" dirty="0"/>
              <a:t>Choices to fit specific applications</a:t>
            </a:r>
          </a:p>
          <a:p>
            <a:pPr lvl="1"/>
            <a:r>
              <a:rPr lang="en-US" altLang="ja-JP" sz="3100" dirty="0">
                <a:hlinkClick r:id="rId3"/>
              </a:rPr>
              <a:t>https://www.rtl-sdr.com/roundup-software-defined-radios/</a:t>
            </a:r>
            <a:endParaRPr lang="en-US" altLang="ja-JP" sz="3100" dirty="0"/>
          </a:p>
          <a:p>
            <a:pPr lvl="1"/>
            <a:r>
              <a:rPr lang="en-US" altLang="ja-JP" sz="3100" dirty="0"/>
              <a:t>Cheap, usually under $500</a:t>
            </a:r>
          </a:p>
          <a:p>
            <a:pPr lvl="1"/>
            <a:r>
              <a:rPr lang="en-US" altLang="ja-JP" sz="3100" dirty="0"/>
              <a:t>Usually multi-platform and open source support</a:t>
            </a:r>
          </a:p>
          <a:p>
            <a:pPr lvl="1"/>
            <a:r>
              <a:rPr lang="en-US" altLang="ja-JP" sz="3100" dirty="0"/>
              <a:t>RTL-SDR</a:t>
            </a:r>
          </a:p>
          <a:p>
            <a:pPr lvl="2"/>
            <a:r>
              <a:rPr lang="en-US" altLang="ja-JP" sz="3100" dirty="0"/>
              <a:t>Cheapest, but RX only ($10-20)</a:t>
            </a:r>
          </a:p>
          <a:p>
            <a:pPr lvl="2"/>
            <a:r>
              <a:rPr lang="en-US" altLang="ja-JP" sz="3100" dirty="0">
                <a:hlinkClick r:id="rId3"/>
              </a:rPr>
              <a:t>https://www.rtl-sdr.com</a:t>
            </a:r>
            <a:r>
              <a:rPr lang="en-US" altLang="ja-JP" sz="3100" dirty="0"/>
              <a:t>/</a:t>
            </a:r>
          </a:p>
          <a:p>
            <a:pPr lvl="2"/>
            <a:r>
              <a:rPr lang="en-US" altLang="ja-JP" sz="3100" dirty="0"/>
              <a:t>Originally for DVB-T TV tuning</a:t>
            </a:r>
          </a:p>
          <a:p>
            <a:pPr lvl="1"/>
            <a:r>
              <a:rPr lang="en-US" altLang="ja-JP" sz="3100" dirty="0" err="1"/>
              <a:t>HackRF</a:t>
            </a:r>
            <a:r>
              <a:rPr lang="en-US" altLang="ja-JP" sz="3100" dirty="0"/>
              <a:t> &amp; YARD Stick One</a:t>
            </a:r>
          </a:p>
          <a:p>
            <a:pPr lvl="2"/>
            <a:r>
              <a:rPr lang="en-US" altLang="ja-JP" sz="3100" dirty="0"/>
              <a:t>Michael </a:t>
            </a:r>
            <a:r>
              <a:rPr lang="en-US" altLang="ja-JP" sz="3100" dirty="0" err="1"/>
              <a:t>Ossman</a:t>
            </a:r>
            <a:endParaRPr lang="en-US" altLang="ja-JP" sz="3100" dirty="0"/>
          </a:p>
          <a:p>
            <a:pPr lvl="2"/>
            <a:r>
              <a:rPr lang="en-US" altLang="ja-JP" sz="3100" dirty="0">
                <a:hlinkClick r:id="rId4"/>
              </a:rPr>
              <a:t>https://greatscottgadgets.com/hackrf/</a:t>
            </a:r>
            <a:endParaRPr lang="en-US" altLang="ja-JP" sz="3100" dirty="0"/>
          </a:p>
          <a:p>
            <a:pPr lvl="2"/>
            <a:r>
              <a:rPr lang="en-US" altLang="ja-JP" sz="3100" dirty="0"/>
              <a:t>Teaches </a:t>
            </a:r>
            <a:r>
              <a:rPr lang="en-US" altLang="ja-JP" sz="3100" dirty="0" err="1"/>
              <a:t>BlackHat</a:t>
            </a:r>
            <a:r>
              <a:rPr lang="en-US" altLang="ja-JP" sz="3100" dirty="0"/>
              <a:t> class</a:t>
            </a:r>
          </a:p>
          <a:p>
            <a:pPr lvl="1"/>
            <a:r>
              <a:rPr lang="en-US" altLang="ja-JP" sz="3100" dirty="0" err="1"/>
              <a:t>BladeRF</a:t>
            </a:r>
            <a:endParaRPr lang="en-US" altLang="ja-JP" sz="3100" dirty="0"/>
          </a:p>
          <a:p>
            <a:pPr lvl="2"/>
            <a:r>
              <a:rPr lang="en-US" altLang="ja-JP" sz="3100" dirty="0"/>
              <a:t>40MHz bandwidth</a:t>
            </a:r>
          </a:p>
          <a:p>
            <a:pPr lvl="2"/>
            <a:r>
              <a:rPr lang="en-US" altLang="ja-JP" sz="3100" dirty="0">
                <a:hlinkClick r:id="rId5"/>
              </a:rPr>
              <a:t>https://www.nuand.com/</a:t>
            </a:r>
            <a:endParaRPr lang="en-US" altLang="ja-JP" sz="3100" dirty="0"/>
          </a:p>
          <a:p>
            <a:pPr lvl="2"/>
            <a:r>
              <a:rPr lang="en-US" altLang="ja-JP" sz="3100" dirty="0" err="1"/>
              <a:t>OpenBTS</a:t>
            </a:r>
            <a:r>
              <a:rPr lang="en-US" altLang="ja-JP" sz="3100" dirty="0"/>
              <a:t> and </a:t>
            </a:r>
            <a:r>
              <a:rPr lang="en-US" altLang="ja-JP" sz="3100" dirty="0" err="1"/>
              <a:t>OpenLTE</a:t>
            </a:r>
            <a:r>
              <a:rPr lang="en-US" altLang="ja-JP" sz="3100" dirty="0"/>
              <a:t> support</a:t>
            </a:r>
          </a:p>
          <a:p>
            <a:pPr lvl="1"/>
            <a:r>
              <a:rPr lang="en-US" altLang="ja-JP" sz="3100" dirty="0" err="1"/>
              <a:t>LimeSDR</a:t>
            </a:r>
            <a:r>
              <a:rPr lang="en-US" altLang="ja-JP" sz="3100" dirty="0"/>
              <a:t> &amp; </a:t>
            </a:r>
            <a:r>
              <a:rPr lang="en-US" altLang="ja-JP" sz="3100" dirty="0" err="1"/>
              <a:t>LimeSDR</a:t>
            </a:r>
            <a:r>
              <a:rPr lang="en-US" altLang="ja-JP" sz="3100" dirty="0"/>
              <a:t> Mini</a:t>
            </a:r>
          </a:p>
          <a:p>
            <a:pPr lvl="2"/>
            <a:r>
              <a:rPr lang="en-US" altLang="ja-JP" sz="3100" dirty="0"/>
              <a:t>Crowd sourced</a:t>
            </a:r>
          </a:p>
          <a:p>
            <a:pPr lvl="2"/>
            <a:r>
              <a:rPr lang="en-US" altLang="ja-JP" sz="3100" dirty="0">
                <a:hlinkClick r:id="rId6"/>
              </a:rPr>
              <a:t>https://www.crowdsupply.com/lime-micro/limesdr-mini</a:t>
            </a:r>
            <a:endParaRPr lang="en-US" altLang="ja-JP" sz="3100" dirty="0"/>
          </a:p>
          <a:p>
            <a:pPr lvl="2"/>
            <a:r>
              <a:rPr lang="en-US" altLang="ja-JP" sz="3100" dirty="0"/>
              <a:t>Full duplex</a:t>
            </a:r>
          </a:p>
          <a:p>
            <a:pPr lvl="1"/>
            <a:r>
              <a:rPr lang="en-US" altLang="ja-JP" sz="3100" dirty="0" err="1"/>
              <a:t>Airspy</a:t>
            </a:r>
            <a:endParaRPr lang="en-US" altLang="ja-JP" sz="3100" dirty="0"/>
          </a:p>
          <a:p>
            <a:pPr lvl="2"/>
            <a:r>
              <a:rPr lang="en-US" altLang="ja-JP" sz="3100" dirty="0"/>
              <a:t>RTL-SDR features</a:t>
            </a:r>
          </a:p>
          <a:p>
            <a:pPr lvl="2"/>
            <a:r>
              <a:rPr lang="en-US" altLang="ja-JP" sz="3100" dirty="0">
                <a:hlinkClick r:id="rId7"/>
              </a:rPr>
              <a:t>https://airspy.com/</a:t>
            </a:r>
            <a:endParaRPr lang="en-US" altLang="ja-JP" sz="3100" dirty="0"/>
          </a:p>
          <a:p>
            <a:pPr lvl="2"/>
            <a:r>
              <a:rPr lang="en-US" altLang="ja-JP" sz="3100" dirty="0"/>
              <a:t>RX only, fast scanning</a:t>
            </a:r>
          </a:p>
          <a:p>
            <a:pPr lvl="1"/>
            <a:r>
              <a:rPr lang="en-US" altLang="ja-JP" sz="3100" dirty="0"/>
              <a:t>Ettus</a:t>
            </a:r>
          </a:p>
          <a:p>
            <a:pPr lvl="2"/>
            <a:r>
              <a:rPr lang="en-US" altLang="ja-JP" sz="3100" dirty="0"/>
              <a:t>Commercial product</a:t>
            </a:r>
          </a:p>
          <a:p>
            <a:pPr lvl="1"/>
            <a:r>
              <a:rPr lang="en-US" altLang="ja-JP" sz="3100" dirty="0" err="1"/>
              <a:t>SDRPlay</a:t>
            </a:r>
            <a:r>
              <a:rPr lang="en-US" altLang="ja-JP" sz="3100" dirty="0"/>
              <a:t> RSP*</a:t>
            </a:r>
          </a:p>
          <a:p>
            <a:pPr lvl="2"/>
            <a:r>
              <a:rPr lang="en-US" altLang="ja-JP" sz="3100" dirty="0">
                <a:hlinkClick r:id="rId8"/>
              </a:rPr>
              <a:t>https://www.sdrplay.com/</a:t>
            </a:r>
            <a:endParaRPr lang="en-US" altLang="ja-JP" sz="3100" dirty="0"/>
          </a:p>
          <a:p>
            <a:pPr lvl="1"/>
            <a:r>
              <a:rPr lang="en-US" altLang="ja-JP" sz="3100" dirty="0"/>
              <a:t>USRP</a:t>
            </a:r>
          </a:p>
          <a:p>
            <a:pPr lvl="2"/>
            <a:r>
              <a:rPr lang="en-US" altLang="ja-JP" sz="3100" dirty="0"/>
              <a:t>Oldest SDR, more expensive</a:t>
            </a:r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2476226955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SDR Software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/>
              <a:t>Software</a:t>
            </a:r>
          </a:p>
          <a:p>
            <a:pPr lvl="1"/>
            <a:r>
              <a:rPr lang="en-US" altLang="ja-JP" dirty="0"/>
              <a:t>Many software packages available, but those are the most prominent</a:t>
            </a:r>
          </a:p>
          <a:p>
            <a:pPr lvl="1"/>
            <a:r>
              <a:rPr lang="en-US" altLang="ja-JP" dirty="0"/>
              <a:t>GNU Radio</a:t>
            </a:r>
          </a:p>
          <a:p>
            <a:pPr lvl="2"/>
            <a:r>
              <a:rPr lang="en-US" altLang="ja-JP" dirty="0">
                <a:hlinkClick r:id="rId3"/>
              </a:rPr>
              <a:t>https://www.gnuradio.org/</a:t>
            </a:r>
            <a:endParaRPr lang="en-US" altLang="ja-JP" dirty="0"/>
          </a:p>
          <a:p>
            <a:pPr lvl="2"/>
            <a:r>
              <a:rPr lang="en-US" altLang="ja-JP" dirty="0"/>
              <a:t>Block Diagramming of radio logic</a:t>
            </a:r>
          </a:p>
          <a:p>
            <a:pPr lvl="3"/>
            <a:r>
              <a:rPr lang="en-US" altLang="ja-JP" sz="1400" dirty="0"/>
              <a:t>Lots of 3</a:t>
            </a:r>
            <a:r>
              <a:rPr lang="en-US" altLang="ja-JP" sz="1400" baseline="30000" dirty="0"/>
              <a:t>rd</a:t>
            </a:r>
            <a:r>
              <a:rPr lang="en-US" altLang="ja-JP" sz="1400" dirty="0"/>
              <a:t> party blocks</a:t>
            </a:r>
          </a:p>
          <a:p>
            <a:pPr lvl="2"/>
            <a:r>
              <a:rPr lang="en-US" altLang="ja-JP" dirty="0"/>
              <a:t>Works with most SDRs</a:t>
            </a:r>
          </a:p>
          <a:p>
            <a:pPr lvl="1"/>
            <a:r>
              <a:rPr lang="en-US" altLang="ja-JP" dirty="0"/>
              <a:t>GQRX Visualization</a:t>
            </a:r>
          </a:p>
          <a:p>
            <a:pPr lvl="2"/>
            <a:r>
              <a:rPr lang="en-US" altLang="ja-JP" dirty="0"/>
              <a:t>Multiplatform</a:t>
            </a:r>
          </a:p>
          <a:p>
            <a:pPr lvl="2"/>
            <a:r>
              <a:rPr lang="en-US" altLang="ja-JP" dirty="0">
                <a:hlinkClick r:id="rId4"/>
              </a:rPr>
              <a:t>http://gqrx.dk/</a:t>
            </a:r>
            <a:endParaRPr lang="en-US" altLang="ja-JP" dirty="0"/>
          </a:p>
          <a:p>
            <a:pPr lvl="2"/>
            <a:r>
              <a:rPr lang="en-US" altLang="ja-JP" dirty="0"/>
              <a:t>Spectrum, Waterfall display</a:t>
            </a:r>
          </a:p>
          <a:p>
            <a:pPr lvl="1"/>
            <a:r>
              <a:rPr lang="en-US" altLang="ja-JP" dirty="0"/>
              <a:t>SDR-Radio</a:t>
            </a:r>
          </a:p>
          <a:p>
            <a:pPr lvl="2"/>
            <a:r>
              <a:rPr lang="en-US" altLang="ja-JP" dirty="0">
                <a:hlinkClick r:id="rId5"/>
              </a:rPr>
              <a:t>http://www.sdr-radio.com/</a:t>
            </a:r>
            <a:endParaRPr lang="en-US" altLang="ja-JP" dirty="0"/>
          </a:p>
          <a:p>
            <a:pPr lvl="1"/>
            <a:r>
              <a:rPr lang="en-US" altLang="ja-JP" dirty="0"/>
              <a:t>SDR# (Windows only)</a:t>
            </a:r>
          </a:p>
          <a:p>
            <a:pPr lvl="2"/>
            <a:r>
              <a:rPr lang="en-US" altLang="ja-JP" dirty="0"/>
              <a:t>Real-time FFT, Waterfall display</a:t>
            </a:r>
          </a:p>
          <a:p>
            <a:pPr lvl="2"/>
            <a:r>
              <a:rPr lang="en-US" altLang="ja-JP" dirty="0">
                <a:hlinkClick r:id="rId6"/>
              </a:rPr>
              <a:t>https://airspy.com/</a:t>
            </a:r>
            <a:endParaRPr lang="en-US" altLang="ja-JP" dirty="0"/>
          </a:p>
          <a:p>
            <a:pPr lvl="2"/>
            <a:r>
              <a:rPr lang="en-US" altLang="ja-JP" dirty="0"/>
              <a:t>Plug-in support</a:t>
            </a:r>
          </a:p>
          <a:p>
            <a:pPr lvl="2"/>
            <a:r>
              <a:rPr lang="en-US" altLang="ja-JP" dirty="0"/>
              <a:t>Closed source</a:t>
            </a:r>
          </a:p>
          <a:p>
            <a:pPr lvl="2"/>
            <a:r>
              <a:rPr lang="en-US" altLang="ja-JP" dirty="0" err="1"/>
              <a:t>AirSpy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18650198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SDR Applications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altLang="ja-JP" sz="2000" dirty="0"/>
              <a:t>Applications/Examples</a:t>
            </a:r>
          </a:p>
          <a:p>
            <a:pPr lvl="1"/>
            <a:r>
              <a:rPr lang="en-US" altLang="ja-JP" sz="1600" dirty="0">
                <a:hlinkClick r:id="rId3"/>
              </a:rPr>
              <a:t>https://www.rtl-sdr.com/tag/applications-2/</a:t>
            </a:r>
            <a:endParaRPr lang="en-US" altLang="ja-JP" sz="1600" dirty="0"/>
          </a:p>
          <a:p>
            <a:pPr lvl="1"/>
            <a:r>
              <a:rPr lang="en-US" altLang="ja-JP" sz="1600" dirty="0"/>
              <a:t>Increasingly used by HAM Radio transceivers</a:t>
            </a:r>
          </a:p>
          <a:p>
            <a:pPr lvl="1"/>
            <a:r>
              <a:rPr lang="en-US" altLang="ja-JP" sz="1600" dirty="0"/>
              <a:t>AM/FM Radio</a:t>
            </a:r>
          </a:p>
          <a:p>
            <a:pPr lvl="1"/>
            <a:r>
              <a:rPr lang="en-US" altLang="ja-JP" sz="1600" dirty="0"/>
              <a:t>FAA ADS-B Messages</a:t>
            </a:r>
          </a:p>
          <a:p>
            <a:pPr lvl="1"/>
            <a:r>
              <a:rPr lang="en-US" altLang="ja-JP" sz="1600" dirty="0" err="1"/>
              <a:t>Keyfob</a:t>
            </a:r>
            <a:r>
              <a:rPr lang="en-US" altLang="ja-JP" sz="1600" dirty="0"/>
              <a:t> hacking</a:t>
            </a:r>
            <a:endParaRPr lang="en-US" altLang="ja-JP" sz="1400" dirty="0"/>
          </a:p>
          <a:p>
            <a:pPr lvl="1"/>
            <a:r>
              <a:rPr lang="en-US" altLang="ja-JP" sz="1600" dirty="0"/>
              <a:t>Stingray catcher (MITM Rogue Cell tower)</a:t>
            </a:r>
          </a:p>
          <a:p>
            <a:pPr lvl="1"/>
            <a:r>
              <a:rPr lang="en-US" altLang="ja-JP" sz="1600" dirty="0"/>
              <a:t>…</a:t>
            </a:r>
          </a:p>
          <a:p>
            <a:pPr marL="0" indent="0">
              <a:buNone/>
            </a:pPr>
            <a:endParaRPr lang="en-US" altLang="ja-JP" sz="1600" dirty="0"/>
          </a:p>
        </p:txBody>
      </p:sp>
    </p:spTree>
    <p:extLst>
      <p:ext uri="{BB962C8B-B14F-4D97-AF65-F5344CB8AC3E}">
        <p14:creationId xmlns:p14="http://schemas.microsoft.com/office/powerpoint/2010/main" val="305635623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2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1475</Words>
  <Application>Microsoft Office PowerPoint</Application>
  <PresentationFormat>Widescreen</PresentationFormat>
  <Paragraphs>270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Aptos Display</vt:lpstr>
      <vt:lpstr>Arial</vt:lpstr>
      <vt:lpstr>Courier New</vt:lpstr>
      <vt:lpstr>Roboto</vt:lpstr>
      <vt:lpstr>Custom Design</vt:lpstr>
      <vt:lpstr>Software Defined Radio (SDR)</vt:lpstr>
      <vt:lpstr>SDR Exercise #01</vt:lpstr>
      <vt:lpstr>SDR Exercise #01 – Step 1 Plugin and ensure HackRF is working</vt:lpstr>
      <vt:lpstr>SDR Exercise #01 – Step 2 Launch the GQRX application</vt:lpstr>
      <vt:lpstr>SDR Exercise #01 – Step 3 Conﬁgure I/O Devices (GQRX Settings)</vt:lpstr>
      <vt:lpstr>SDR Exercise #01 – Step 4 Find radio station / Key Fob Signal</vt:lpstr>
      <vt:lpstr>SDR Exercise #01 – Step 5 Tune your signal</vt:lpstr>
      <vt:lpstr>SDR Exercise #02</vt:lpstr>
      <vt:lpstr>SDR Exercise #02 – Step 1 Plugin and ensure HackRF is working</vt:lpstr>
      <vt:lpstr>SDR Exercise #02 – Step 2 Launch the GNU Radio Companion application</vt:lpstr>
      <vt:lpstr>PowerPoint Presentation</vt:lpstr>
      <vt:lpstr>SDR Exercise #02 – Step 4 Edit default values</vt:lpstr>
      <vt:lpstr>SDR Exercise #02 – Step 5 Create a new Variable</vt:lpstr>
      <vt:lpstr>SDR Exercise #02 – Step 6 Add a SDR as a source for receiving</vt:lpstr>
      <vt:lpstr>SDR Exercise #02 – Step 7 Continue adding blocks</vt:lpstr>
      <vt:lpstr>SDR Exercise #02 – Step 8 Duplicate Basic Capture Project</vt:lpstr>
      <vt:lpstr>SDR Exercise #02 – Step 8 Duplicate Basic Capture Project</vt:lpstr>
      <vt:lpstr>SDR Exercise #02 – Step 9 Execute Basic Capture Project</vt:lpstr>
      <vt:lpstr>SDR Exercise #02 – Step 9 Execute Basic Capture Project</vt:lpstr>
      <vt:lpstr>SDR Exercise #03</vt:lpstr>
      <vt:lpstr>SDR Exercise #03 – Step 1 Plugin and ensure HackRF is working</vt:lpstr>
      <vt:lpstr>SDR Exercise #03 – Step 2 Launch the GNU Radio Companion application</vt:lpstr>
      <vt:lpstr>PowerPoint Presentation</vt:lpstr>
      <vt:lpstr>SDR Exercise #03 – Step 4 Edit default values</vt:lpstr>
      <vt:lpstr>SDR Exercise #03 – Step 5 Duplicate Basic Replay Project</vt:lpstr>
      <vt:lpstr>SDR Exercise #03 – Step 5 Duplicate Basic Replay Project</vt:lpstr>
      <vt:lpstr>SDR Exercise #03 – Step 6 Execute Basic Replay Project</vt:lpstr>
      <vt:lpstr>PowerPoint Presentation</vt:lpstr>
      <vt:lpstr>SDR Exercise #04</vt:lpstr>
      <vt:lpstr>SDR Exercise #04 – Step 1 Duplicate Advanced Capture Project</vt:lpstr>
      <vt:lpstr>SDR Exercise #04 – Step 2 Execute Advanced Capture Project</vt:lpstr>
      <vt:lpstr>SDR Exercise #04 – Step 3 View Binary data feed from Advanced Capture</vt:lpstr>
      <vt:lpstr>Software Defined Radio (SDR)</vt:lpstr>
      <vt:lpstr>SDR Information</vt:lpstr>
      <vt:lpstr>SDR Hardware</vt:lpstr>
      <vt:lpstr>SDR Software</vt:lpstr>
      <vt:lpstr>SDR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Neal Probert</cp:lastModifiedBy>
  <cp:revision>9</cp:revision>
  <dcterms:created xsi:type="dcterms:W3CDTF">2026-03-11T18:02:03Z</dcterms:created>
  <dcterms:modified xsi:type="dcterms:W3CDTF">2026-10-16T18:38:11Z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
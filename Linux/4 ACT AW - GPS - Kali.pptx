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6"/>
  </p:notesMasterIdLst>
  <p:sldIdLst>
    <p:sldId id="75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755" r:id="rId14"/>
    <p:sldId id="756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PS" id="{DA5DB707-DA32-41D9-9E25-196ED6615AA7}">
          <p14:sldIdLst>
            <p14:sldId id="757"/>
            <p14:sldId id="368"/>
          </p14:sldIdLst>
        </p14:section>
        <p14:section name="GPS Spoofing" id="{0232622A-D73C-488C-9472-06D36E450D2A}">
          <p14:sldIdLst>
            <p14:sldId id="369"/>
            <p14:sldId id="370"/>
            <p14:sldId id="371"/>
            <p14:sldId id="372"/>
            <p14:sldId id="373"/>
            <p14:sldId id="374"/>
          </p14:sldIdLst>
        </p14:section>
        <p14:section name="Appendix" id="{9767354D-BE9E-4F2F-8046-9D9ABD2D4757}">
          <p14:sldIdLst>
            <p14:sldId id="755"/>
            <p14:sldId id="7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9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84498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10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257782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41774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qzss/gps-sdr-sim.git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ddis.nasa.gov/archive/gnss/data/daily/2024/brdc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google.co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gpsworld.com/5g-cellulars-next-step-brings-new-positioning-capabilities/" TargetMode="External"/><Relationship Id="rId3" Type="http://schemas.openxmlformats.org/officeDocument/2006/relationships/hyperlink" Target="https://en.wikipedia.org/wiki/Global_Positioning_System" TargetMode="External"/><Relationship Id="rId7" Type="http://schemas.openxmlformats.org/officeDocument/2006/relationships/hyperlink" Target="https://www.novatel.com/an-introduction-to-gnss/chapter-5-resolving-errors/satellite-based-augmentation-system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Wide_Area_Augmentation_System" TargetMode="External"/><Relationship Id="rId5" Type="http://schemas.openxmlformats.org/officeDocument/2006/relationships/hyperlink" Target="https://en.wikipedia.org/wiki/GNSS_augmentation" TargetMode="External"/><Relationship Id="rId4" Type="http://schemas.openxmlformats.org/officeDocument/2006/relationships/hyperlink" Target="https://www.gps.gov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ps.gov/spectrum/" TargetMode="External"/><Relationship Id="rId7" Type="http://schemas.openxmlformats.org/officeDocument/2006/relationships/hyperlink" Target="https://www.digitaltrends.com/mobile/gps-spoof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zmodo.com/jamming-gps-signals-is-illegal-dangerous-cheap-and-e-1796778955" TargetMode="External"/><Relationship Id="rId5" Type="http://schemas.openxmlformats.org/officeDocument/2006/relationships/hyperlink" Target="https://www.thesignaljammer.com/pages/How-GPS-Jammers-Work.html" TargetMode="External"/><Relationship Id="rId4" Type="http://schemas.openxmlformats.org/officeDocument/2006/relationships/hyperlink" Target="https://www.gps.gov/news/2012/03/solarstor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/>
          <a:lstStyle/>
          <a:p>
            <a:pPr algn="ctr"/>
            <a:r>
              <a:rPr lang="en-US" b="1" dirty="0"/>
              <a:t>GPS</a:t>
            </a:r>
          </a:p>
        </p:txBody>
      </p:sp>
      <p:pic>
        <p:nvPicPr>
          <p:cNvPr id="1026" name="Picture 2" descr="Image result for gps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972" y="1984261"/>
            <a:ext cx="2266185" cy="226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gps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955" y="322810"/>
            <a:ext cx="1121839" cy="112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86149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2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194"/>
            <a:ext cx="101663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Live</a:t>
            </a:r>
            <a:r>
              <a:rPr sz="5600" spc="-133" dirty="0"/>
              <a:t> </a:t>
            </a:r>
            <a:r>
              <a:rPr sz="5600" dirty="0"/>
              <a:t>Spooﬁng</a:t>
            </a:r>
            <a:r>
              <a:rPr sz="5600" spc="-120" dirty="0"/>
              <a:t> </a:t>
            </a:r>
            <a:r>
              <a:rPr sz="5600" dirty="0"/>
              <a:t>of</a:t>
            </a:r>
            <a:r>
              <a:rPr sz="5600" spc="-120" dirty="0"/>
              <a:t> </a:t>
            </a:r>
            <a:r>
              <a:rPr sz="5600" dirty="0"/>
              <a:t>GPS</a:t>
            </a:r>
            <a:r>
              <a:rPr sz="5600" spc="-120" dirty="0"/>
              <a:t> </a:t>
            </a:r>
            <a:r>
              <a:rPr sz="5600" spc="-13" dirty="0"/>
              <a:t>Satellites</a:t>
            </a:r>
            <a:endParaRPr sz="5600" dirty="0"/>
          </a:p>
        </p:txBody>
      </p:sp>
      <p:sp>
        <p:nvSpPr>
          <p:cNvPr id="10" name="object 10"/>
          <p:cNvSpPr txBox="1"/>
          <p:nvPr/>
        </p:nvSpPr>
        <p:spPr>
          <a:xfrm>
            <a:off x="894834" y="4292901"/>
            <a:ext cx="3026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Overview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of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GPS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3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3666" y="3393900"/>
            <a:ext cx="6635327" cy="3024293"/>
            <a:chOff x="1855249" y="2545425"/>
            <a:chExt cx="4976495" cy="2268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4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910157"/>
            <a:ext cx="9096375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Backup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1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Install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gps-sdr-</a:t>
            </a:r>
            <a:r>
              <a:rPr sz="3600" spc="-33" dirty="0">
                <a:solidFill>
                  <a:srgbClr val="2A3890"/>
                </a:solidFill>
              </a:rPr>
              <a:t>sim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48341" y="1935309"/>
            <a:ext cx="759036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git</a:t>
            </a:r>
            <a:r>
              <a:rPr sz="2400" kern="0" spc="1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clone</a:t>
            </a:r>
            <a:r>
              <a:rPr sz="2400" kern="0" spc="1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27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https://github.com/osqzss/gps-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sdr-sim.git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cd</a:t>
            </a:r>
            <a:r>
              <a:rPr sz="24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sim/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gcc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gpssim.c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lm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O3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5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85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2 </a:t>
            </a:r>
            <a:r>
              <a:rPr sz="3600" dirty="0">
                <a:solidFill>
                  <a:srgbClr val="D13368"/>
                </a:solidFill>
              </a:rPr>
              <a:t>Download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latest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GNSS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archive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906863"/>
            <a:ext cx="8653780" cy="12738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marR="6773" indent="-568946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0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https://cddis.nasa.gov/archive/gnss/data/daily/2024/brdc/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latest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archive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today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(brdc0370.24n)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Place the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</a:t>
            </a:r>
            <a:r>
              <a:rPr sz="2000" b="1" kern="0" dirty="0">
                <a:solidFill>
                  <a:srgbClr val="D13368"/>
                </a:solidFill>
                <a:latin typeface="Courier New"/>
                <a:cs typeface="Courier New"/>
              </a:rPr>
              <a:t>sim</a:t>
            </a:r>
            <a:r>
              <a:rPr sz="2000" b="1" kern="0" spc="1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directory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6234" y="3538734"/>
            <a:ext cx="7879533" cy="31332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195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3 </a:t>
            </a:r>
            <a:r>
              <a:rPr sz="3600" dirty="0">
                <a:solidFill>
                  <a:srgbClr val="D13368"/>
                </a:solidFill>
              </a:rPr>
              <a:t>Select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location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to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spoof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0" y="1737530"/>
            <a:ext cx="6644640" cy="1629506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Navigate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maps.google.com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location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spoof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Copy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longitude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latitude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URL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6884" y="3474367"/>
            <a:ext cx="6238233" cy="31459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83552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5 </a:t>
            </a:r>
            <a:r>
              <a:rPr sz="3600" dirty="0">
                <a:solidFill>
                  <a:srgbClr val="D13368"/>
                </a:solidFill>
              </a:rPr>
              <a:t>Generate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constellations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906875"/>
            <a:ext cx="10114279" cy="16919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25671" indent="-568098" defTabSz="1219170">
              <a:spcBef>
                <a:spcPts val="1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defTabSz="1219170"/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cd</a:t>
            </a:r>
            <a:r>
              <a:rPr sz="2267" b="1" kern="0" spc="180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/usr/src/gps-sdr-sim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625671" indent="-568098" defTabSz="1219170">
              <a:spcBef>
                <a:spcPts val="400"/>
              </a:spcBef>
              <a:buFont typeface="Roboto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./gps-sdr-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sim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e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brdc2050.23n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l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-81.056276,52.7882491,17z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b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8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d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500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0749" y="3658467"/>
            <a:ext cx="3891280" cy="3136053"/>
            <a:chOff x="3113062" y="2743850"/>
            <a:chExt cx="2918460" cy="235204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22587" y="2753375"/>
              <a:ext cx="2898820" cy="23324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17824" y="2748612"/>
              <a:ext cx="2908935" cy="2342515"/>
            </a:xfrm>
            <a:custGeom>
              <a:avLst/>
              <a:gdLst/>
              <a:ahLst/>
              <a:cxnLst/>
              <a:rect l="l" t="t" r="r" b="b"/>
              <a:pathLst>
                <a:path w="2908935" h="2342515">
                  <a:moveTo>
                    <a:pt x="0" y="0"/>
                  </a:moveTo>
                  <a:lnTo>
                    <a:pt x="2908346" y="0"/>
                  </a:lnTo>
                  <a:lnTo>
                    <a:pt x="2908346" y="2341974"/>
                  </a:lnTo>
                  <a:lnTo>
                    <a:pt x="0" y="23419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8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5087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6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Transmit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Spoofed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GPS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Location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737541"/>
            <a:ext cx="9788312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7572" defTabSz="1219170">
              <a:spcBef>
                <a:spcPts val="1467"/>
              </a:spcBef>
              <a:tabLst>
                <a:tab pos="62567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hackrf_transfer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gpssim.bin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1575420000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2600000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x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30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465" y="3048466"/>
            <a:ext cx="7281865" cy="35580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GPS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600" dirty="0"/>
              <a:t>Basics</a:t>
            </a:r>
          </a:p>
          <a:p>
            <a:pPr lvl="1"/>
            <a:r>
              <a:rPr lang="en-US" sz="1400" dirty="0"/>
              <a:t>Global Navigation Satellite System (GNSS)</a:t>
            </a:r>
          </a:p>
          <a:p>
            <a:pPr lvl="1"/>
            <a:r>
              <a:rPr lang="en-US" sz="1400" dirty="0">
                <a:hlinkClick r:id="rId3"/>
              </a:rPr>
              <a:t>https://en.wikipedia.org/wiki/Global_Positioning_System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https://www.gps.gov/</a:t>
            </a:r>
            <a:endParaRPr lang="en-US" sz="1400" dirty="0"/>
          </a:p>
          <a:p>
            <a:pPr lvl="1"/>
            <a:r>
              <a:rPr lang="en-US" sz="1400" dirty="0"/>
              <a:t>Used for Navigation</a:t>
            </a:r>
          </a:p>
          <a:p>
            <a:pPr lvl="1"/>
            <a:r>
              <a:rPr lang="en-US" sz="1400" dirty="0"/>
              <a:t>Critical for Automated Driving and V2X Safety</a:t>
            </a:r>
          </a:p>
          <a:p>
            <a:pPr lvl="2"/>
            <a:r>
              <a:rPr lang="en-US" sz="1200" dirty="0"/>
              <a:t>Need lane level resolution of at least 1.5m using WAAS</a:t>
            </a:r>
          </a:p>
          <a:p>
            <a:pPr lvl="1"/>
            <a:r>
              <a:rPr lang="en-US" sz="1400" dirty="0"/>
              <a:t>1575.42Mhz, 1227.60Mhz, 1.023Mhz</a:t>
            </a:r>
          </a:p>
          <a:p>
            <a:pPr lvl="1"/>
            <a:r>
              <a:rPr lang="en-US" sz="1400" dirty="0"/>
              <a:t>Weak signal, easily jammed (jamming devices are illegal)</a:t>
            </a:r>
          </a:p>
          <a:p>
            <a:pPr lvl="1"/>
            <a:r>
              <a:rPr lang="en-US" sz="1400" dirty="0"/>
              <a:t>NDGPS stations retired by 2020, WAAS</a:t>
            </a:r>
          </a:p>
          <a:p>
            <a:r>
              <a:rPr lang="en-US" sz="1600" dirty="0"/>
              <a:t>GPS </a:t>
            </a:r>
            <a:r>
              <a:rPr lang="en-US" sz="1600" dirty="0" err="1"/>
              <a:t>Augumentation</a:t>
            </a:r>
            <a:endParaRPr lang="en-US" sz="1600" dirty="0"/>
          </a:p>
          <a:p>
            <a:pPr lvl="1"/>
            <a:r>
              <a:rPr lang="en-US" sz="1400" dirty="0">
                <a:hlinkClick r:id="rId5"/>
              </a:rPr>
              <a:t>https://en.wikipedia.org/wiki/GNSS_augmentation</a:t>
            </a:r>
            <a:endParaRPr lang="en-US" sz="1400" dirty="0"/>
          </a:p>
          <a:p>
            <a:pPr lvl="1"/>
            <a:r>
              <a:rPr lang="en-US" sz="1400" dirty="0">
                <a:hlinkClick r:id="rId6"/>
              </a:rPr>
              <a:t>https://en.wikipedia.org/wiki/Wide_Area_Augmentation_System</a:t>
            </a:r>
            <a:endParaRPr lang="en-US" sz="1400" dirty="0"/>
          </a:p>
          <a:p>
            <a:pPr lvl="1"/>
            <a:r>
              <a:rPr lang="en-US" sz="1400" dirty="0">
                <a:hlinkClick r:id="rId7"/>
              </a:rPr>
              <a:t>https://www.novatel.com/an-introduction-to-gnss/chapter-5-resolving-errors/satellite-based-augmentation-systems/</a:t>
            </a:r>
            <a:endParaRPr lang="en-US" sz="1400" dirty="0"/>
          </a:p>
          <a:p>
            <a:pPr lvl="1"/>
            <a:r>
              <a:rPr lang="en-US" sz="1400" dirty="0">
                <a:hlinkClick r:id="rId8"/>
              </a:rPr>
              <a:t>http://gpsworld.com/5g-cellulars-next-step-brings-new-positioning-capabilities/</a:t>
            </a: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2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440024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GPS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600" dirty="0"/>
              <a:t>Interference</a:t>
            </a:r>
          </a:p>
          <a:p>
            <a:pPr lvl="1"/>
            <a:r>
              <a:rPr lang="en-US" sz="1200" dirty="0"/>
              <a:t>Typically environmental</a:t>
            </a:r>
          </a:p>
          <a:p>
            <a:pPr lvl="1"/>
            <a:r>
              <a:rPr lang="en-US" sz="1200" dirty="0">
                <a:hlinkClick r:id="rId3"/>
              </a:rPr>
              <a:t>https://www.gps.gov/spectrum/</a:t>
            </a:r>
            <a:endParaRPr lang="en-US" sz="1200" dirty="0"/>
          </a:p>
          <a:p>
            <a:pPr lvl="1"/>
            <a:r>
              <a:rPr lang="en-US" sz="1200" dirty="0">
                <a:hlinkClick r:id="rId4"/>
              </a:rPr>
              <a:t>https://www.gps.gov/news/2012/03/solarstorm/</a:t>
            </a:r>
            <a:endParaRPr lang="en-US" sz="1200" dirty="0"/>
          </a:p>
          <a:p>
            <a:r>
              <a:rPr lang="en-US" sz="1600" dirty="0"/>
              <a:t>Jamming</a:t>
            </a:r>
          </a:p>
          <a:p>
            <a:pPr lvl="1"/>
            <a:r>
              <a:rPr lang="en-US" sz="1200" dirty="0"/>
              <a:t>Is illegal</a:t>
            </a:r>
          </a:p>
          <a:p>
            <a:pPr lvl="1"/>
            <a:r>
              <a:rPr lang="en-US" sz="1200" dirty="0">
                <a:hlinkClick r:id="rId5"/>
              </a:rPr>
              <a:t>https://www.gps.gov/spectrum/jamming/</a:t>
            </a:r>
          </a:p>
          <a:p>
            <a:pPr lvl="1"/>
            <a:r>
              <a:rPr lang="en-US" sz="1200" dirty="0">
                <a:hlinkClick r:id="rId5"/>
              </a:rPr>
              <a:t>http://gpsworld.com/tag/gps-jamming/</a:t>
            </a:r>
          </a:p>
          <a:p>
            <a:pPr lvl="1"/>
            <a:r>
              <a:rPr lang="en-US" sz="1200" dirty="0">
                <a:hlinkClick r:id="rId5"/>
              </a:rPr>
              <a:t>https://www.thesignaljammer.com/pages/How-GPS-Jammers-Work.html</a:t>
            </a:r>
            <a:endParaRPr lang="en-US" sz="1200" dirty="0"/>
          </a:p>
          <a:p>
            <a:pPr lvl="1"/>
            <a:r>
              <a:rPr lang="en-US" sz="1200" dirty="0">
                <a:hlinkClick r:id="rId6"/>
              </a:rPr>
              <a:t>https://gizmodo.com/jamming-gps-signals-is-illegal-dangerous-cheap-and-e-1796778955</a:t>
            </a:r>
            <a:endParaRPr lang="en-US" sz="1200" dirty="0"/>
          </a:p>
          <a:p>
            <a:r>
              <a:rPr lang="en-US" sz="1600" dirty="0"/>
              <a:t>Spoofing (broadcasting false information)</a:t>
            </a:r>
          </a:p>
          <a:p>
            <a:pPr lvl="1"/>
            <a:r>
              <a:rPr lang="en-US" sz="1200" dirty="0"/>
              <a:t>Is also illegal</a:t>
            </a:r>
            <a:endParaRPr lang="en-US" sz="1200" dirty="0">
              <a:hlinkClick r:id="rId7"/>
            </a:endParaRPr>
          </a:p>
          <a:p>
            <a:pPr lvl="1"/>
            <a:r>
              <a:rPr lang="en-US" sz="1200" dirty="0">
                <a:hlinkClick r:id="rId7"/>
              </a:rPr>
              <a:t>https://www.gps.gov/multimedia/presentations/2016/04/APEC/alexander-2.pdf</a:t>
            </a:r>
          </a:p>
          <a:p>
            <a:pPr lvl="1"/>
            <a:r>
              <a:rPr lang="en-US" sz="1200" dirty="0">
                <a:hlinkClick r:id="rId7"/>
              </a:rPr>
              <a:t>https://en.wikipedia.org/wiki/Spoofing_attack#GPS_spoofing</a:t>
            </a:r>
          </a:p>
          <a:p>
            <a:pPr lvl="1"/>
            <a:r>
              <a:rPr lang="en-US" sz="1200" dirty="0">
                <a:hlinkClick r:id="rId7"/>
              </a:rPr>
              <a:t>https://www.schneier.com/blog/archives/2017/09/gps_spoofing_at.html</a:t>
            </a:r>
          </a:p>
          <a:p>
            <a:pPr lvl="1"/>
            <a:r>
              <a:rPr lang="en-US" sz="1200" dirty="0">
                <a:hlinkClick r:id="rId7"/>
              </a:rPr>
              <a:t>https://www.spirent.com/Blogs/Positioning/2015/September/GPS_Spoofing_Is_a_Real_Threat</a:t>
            </a:r>
          </a:p>
          <a:p>
            <a:pPr lvl="1"/>
            <a:r>
              <a:rPr lang="en-US" sz="1200" dirty="0">
                <a:hlinkClick r:id="rId7"/>
              </a:rPr>
              <a:t>https://www.spirent.com/Blogs/Positioning/2017/September/DEFCON-25</a:t>
            </a:r>
          </a:p>
          <a:p>
            <a:pPr lvl="1"/>
            <a:r>
              <a:rPr lang="en-US" sz="1200" dirty="0">
                <a:hlinkClick r:id="rId7"/>
              </a:rPr>
              <a:t>https://www.digitaltrends.com/mobile/gps-spoofing/</a:t>
            </a:r>
            <a:endParaRPr lang="en-US" sz="1200" dirty="0"/>
          </a:p>
          <a:p>
            <a:pPr lvl="1"/>
            <a:endParaRPr lang="en-US" sz="12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4104645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551</Words>
  <Application>Microsoft Office PowerPoint</Application>
  <PresentationFormat>Widescreen</PresentationFormat>
  <Paragraphs>74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Roboto</vt:lpstr>
      <vt:lpstr>Custom Design</vt:lpstr>
      <vt:lpstr>GPS</vt:lpstr>
      <vt:lpstr>Live Spooﬁng of GPS Satellites</vt:lpstr>
      <vt:lpstr>GPS Spooﬁng – Step 1 Plugin and ensure HackRF is working</vt:lpstr>
      <vt:lpstr>Backup - Install gps-sdr-sim</vt:lpstr>
      <vt:lpstr>GPS Spooﬁng – Step 2 Download latest GNSS archive</vt:lpstr>
      <vt:lpstr>GPS Spooﬁng – Step 3 Select a location to spoof</vt:lpstr>
      <vt:lpstr>GPS Spooﬁng – Step 5 Generate constellations</vt:lpstr>
      <vt:lpstr>GPS Spooﬁng – Step 6 Transmit Spoofed GPS Location</vt:lpstr>
      <vt:lpstr>GPS Information</vt:lpstr>
      <vt:lpstr>GPS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Neal Probert</cp:lastModifiedBy>
  <cp:revision>10</cp:revision>
  <dcterms:created xsi:type="dcterms:W3CDTF">2026-03-11T18:02:03Z</dcterms:created>
  <dcterms:modified xsi:type="dcterms:W3CDTF">2026-10-16T18:15:23Z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
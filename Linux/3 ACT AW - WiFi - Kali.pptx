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37"/>
  </p:notesMasterIdLst>
  <p:sldIdLst>
    <p:sldId id="742" r:id="rId6"/>
    <p:sldId id="303" r:id="rId7"/>
    <p:sldId id="395" r:id="rId8"/>
    <p:sldId id="396" r:id="rId9"/>
    <p:sldId id="313" r:id="rId10"/>
    <p:sldId id="775" r:id="rId11"/>
    <p:sldId id="304" r:id="rId12"/>
    <p:sldId id="305" r:id="rId13"/>
    <p:sldId id="306" r:id="rId14"/>
    <p:sldId id="391" r:id="rId15"/>
    <p:sldId id="392" r:id="rId16"/>
    <p:sldId id="393" r:id="rId17"/>
    <p:sldId id="394" r:id="rId18"/>
    <p:sldId id="400" r:id="rId19"/>
    <p:sldId id="401" r:id="rId20"/>
    <p:sldId id="402" r:id="rId21"/>
    <p:sldId id="403" r:id="rId22"/>
    <p:sldId id="314" r:id="rId23"/>
    <p:sldId id="315" r:id="rId24"/>
    <p:sldId id="316" r:id="rId25"/>
    <p:sldId id="317" r:id="rId26"/>
    <p:sldId id="318" r:id="rId27"/>
    <p:sldId id="319" r:id="rId28"/>
    <p:sldId id="397" r:id="rId29"/>
    <p:sldId id="398" r:id="rId30"/>
    <p:sldId id="735" r:id="rId31"/>
    <p:sldId id="733" r:id="rId32"/>
    <p:sldId id="774" r:id="rId33"/>
    <p:sldId id="770" r:id="rId34"/>
    <p:sldId id="758" r:id="rId35"/>
    <p:sldId id="737" r:id="rId36"/>
  </p:sldIdLst>
  <p:sldSz cx="12192000" cy="6858000"/>
  <p:notesSz cx="6858000" cy="91440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iFi" id="{074B3C31-54E2-4065-AC58-8112E024755A}">
          <p14:sldIdLst>
            <p14:sldId id="742"/>
            <p14:sldId id="303"/>
          </p14:sldIdLst>
        </p14:section>
        <p14:section name="WiFi - Analyzer App" id="{DB79742B-9CBA-4F20-80DA-0FE921A8153D}">
          <p14:sldIdLst>
            <p14:sldId id="395"/>
            <p14:sldId id="396"/>
            <p14:sldId id="313"/>
          </p14:sldIdLst>
        </p14:section>
        <p14:section name="WiFi Monitor Mode" id="{086194ED-8038-4FD3-8F40-53903EF8A712}">
          <p14:sldIdLst>
            <p14:sldId id="775"/>
            <p14:sldId id="304"/>
            <p14:sldId id="305"/>
            <p14:sldId id="306"/>
            <p14:sldId id="391"/>
            <p14:sldId id="392"/>
            <p14:sldId id="393"/>
            <p14:sldId id="394"/>
          </p14:sldIdLst>
        </p14:section>
        <p14:section name="WiFi - Wifite2" id="{635FED02-9980-4ED6-9FAE-ED9CFAB3223B}">
          <p14:sldIdLst>
            <p14:sldId id="400"/>
            <p14:sldId id="401"/>
            <p14:sldId id="402"/>
            <p14:sldId id="403"/>
          </p14:sldIdLst>
        </p14:section>
        <p14:section name="WiFi - HackISAC" id="{D03E4C7D-FBD0-4CCE-80B4-6619565A2E9D}">
          <p14:sldIdLst>
            <p14:sldId id="314"/>
            <p14:sldId id="315"/>
            <p14:sldId id="316"/>
            <p14:sldId id="317"/>
            <p14:sldId id="318"/>
            <p14:sldId id="319"/>
            <p14:sldId id="397"/>
            <p14:sldId id="398"/>
          </p14:sldIdLst>
        </p14:section>
        <p14:section name="Appendix" id="{340FE8AA-506D-4170-ADA5-773A420C167C}">
          <p14:sldIdLst>
            <p14:sldId id="735"/>
            <p14:sldId id="733"/>
            <p14:sldId id="774"/>
            <p14:sldId id="770"/>
            <p14:sldId id="758"/>
            <p14:sldId id="7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13436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27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49985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28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85908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29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333831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30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551285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31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86689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268002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-fi.org/" TargetMode="External"/><Relationship Id="rId7" Type="http://schemas.openxmlformats.org/officeDocument/2006/relationships/hyperlink" Target="https://wigle.ne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Wi-Fi_Direct" TargetMode="External"/><Relationship Id="rId5" Type="http://schemas.openxmlformats.org/officeDocument/2006/relationships/hyperlink" Target="https://en.wikipedia.org/wiki/Wireless_security" TargetMode="External"/><Relationship Id="rId4" Type="http://schemas.openxmlformats.org/officeDocument/2006/relationships/hyperlink" Target="https://en.wikipedia.org/wiki/Wi-Fi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p/reaver-wp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igle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ve.mitre.org/cgi-bin/cvekey.cgi?keyword=wifi" TargetMode="External"/><Relationship Id="rId5" Type="http://schemas.openxmlformats.org/officeDocument/2006/relationships/hyperlink" Target="https://www.krackattacks.com/" TargetMode="External"/><Relationship Id="rId4" Type="http://schemas.openxmlformats.org/officeDocument/2006/relationships/hyperlink" Target="https://en.wikipedia.org/wiki/KRACK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-cert.gov/sites/default/files/publications/A_Guide_to_Securing_Networks_for_Wi-Fi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ans.org/reading-room/whitepapers/wireless/bluetooth-inherent-security-issues-945" TargetMode="External"/><Relationship Id="rId4" Type="http://schemas.openxmlformats.org/officeDocument/2006/relationships/hyperlink" Target="https://csrc.nist.gov/csrc/media/publications/sp/800-121/rev-2/draft/documents/sp800_121_r2_draft.pdf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rylicwifi.com/e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etageek.com/products/inssider/" TargetMode="External"/><Relationship Id="rId4" Type="http://schemas.openxmlformats.org/officeDocument/2006/relationships/hyperlink" Target="https://www.netspotapp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iFi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313" y="2200972"/>
            <a:ext cx="3881133" cy="229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mage result for small wifi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349" y="250572"/>
            <a:ext cx="1343363" cy="136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8920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-232"/>
            <a:ext cx="6096000" cy="6858000"/>
            <a:chOff x="4572000" y="-174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-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77941" y="6297871"/>
            <a:ext cx="2980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kern="0" spc="-33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770188"/>
            <a:ext cx="4689475" cy="126682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algn="ctr">
              <a:spcBef>
                <a:spcPts val="173"/>
              </a:spcBef>
            </a:pPr>
            <a:r>
              <a:rPr sz="5000" spc="-13" dirty="0">
                <a:solidFill>
                  <a:srgbClr val="2A3890"/>
                </a:solidFill>
              </a:rPr>
              <a:t>Walkthrough</a:t>
            </a:r>
            <a:endParaRPr sz="5000"/>
          </a:p>
          <a:p>
            <a:pPr algn="ctr">
              <a:spcBef>
                <a:spcPts val="127"/>
              </a:spcBef>
            </a:pPr>
            <a:r>
              <a:rPr sz="3000" dirty="0">
                <a:solidFill>
                  <a:srgbClr val="2A3890"/>
                </a:solidFill>
              </a:rPr>
              <a:t>WPA2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dirty="0">
                <a:solidFill>
                  <a:srgbClr val="2A3890"/>
                </a:solidFill>
              </a:rPr>
              <a:t>Handshake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spc="-13" dirty="0">
                <a:solidFill>
                  <a:srgbClr val="2A3890"/>
                </a:solidFill>
              </a:rPr>
              <a:t>Cracking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6804067" y="2320883"/>
            <a:ext cx="3281680" cy="256993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05447" indent="-488514" defTabSz="1219170">
              <a:spcBef>
                <a:spcPts val="560"/>
              </a:spcBef>
              <a:buFont typeface="Arial"/>
              <a:buChar char="●"/>
              <a:tabLst>
                <a:tab pos="505447" algn="l"/>
              </a:tabLst>
            </a:pPr>
            <a:r>
              <a:rPr lang="en-US" sz="2400" kern="0" dirty="0">
                <a:solidFill>
                  <a:srgbClr val="FFFFFF"/>
                </a:solidFill>
                <a:latin typeface="Roboto"/>
                <a:cs typeface="Roboto"/>
              </a:rPr>
              <a:t>Analyzer Mode</a:t>
            </a:r>
          </a:p>
          <a:p>
            <a:pPr marL="505447" indent="-488514" defTabSz="1219170">
              <a:spcBef>
                <a:spcPts val="560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Setup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Monitor</a:t>
            </a:r>
            <a:r>
              <a:rPr sz="2400" kern="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Mode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Find</a:t>
            </a:r>
            <a:r>
              <a:rPr sz="2400" kern="0" spc="-3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SSID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Attack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Deauth</a:t>
            </a:r>
            <a:r>
              <a:rPr sz="2400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Client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Capture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Crack</a:t>
            </a:r>
            <a:r>
              <a:rPr sz="2400" kern="0" spc="-1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3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932281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48674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Mobile</a:t>
            </a:r>
            <a:r>
              <a:rPr sz="3200" b="1" kern="0" spc="-87" dirty="0">
                <a:latin typeface="Roboto"/>
                <a:cs typeface="Roboto"/>
              </a:rPr>
              <a:t> </a:t>
            </a:r>
            <a:r>
              <a:rPr sz="3200" b="1" kern="0" dirty="0">
                <a:latin typeface="Roboto"/>
                <a:cs typeface="Roboto"/>
              </a:rPr>
              <a:t>App:</a:t>
            </a:r>
            <a:r>
              <a:rPr sz="3200" b="1" kern="0" spc="-67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Wi-</a:t>
            </a:r>
            <a:r>
              <a:rPr sz="3200" kern="0" dirty="0">
                <a:latin typeface="Roboto"/>
                <a:cs typeface="Roboto"/>
              </a:rPr>
              <a:t>Fi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Analyzer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4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607300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1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Analyzer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33" dirty="0">
                <a:solidFill>
                  <a:srgbClr val="2A3890"/>
                </a:solidFill>
              </a:rPr>
              <a:t>App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512967" y="1181159"/>
            <a:ext cx="6320367" cy="19639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Mobile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App: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27" dirty="0">
                <a:solidFill>
                  <a:srgbClr val="2A3890"/>
                </a:solidFill>
                <a:latin typeface="Roboto"/>
                <a:cs typeface="Roboto"/>
              </a:rPr>
              <a:t>Wi-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Fi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13" dirty="0">
                <a:solidFill>
                  <a:srgbClr val="2A3890"/>
                </a:solidFill>
                <a:latin typeface="Roboto"/>
                <a:cs typeface="Roboto"/>
              </a:rPr>
              <a:t>Analyzer</a:t>
            </a: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>
              <a:spcBef>
                <a:spcPts val="272"/>
              </a:spcBef>
            </a:pP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Google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Store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33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analyzer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monitor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27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best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ratings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9200" y="3416297"/>
            <a:ext cx="5521960" cy="2789767"/>
            <a:chOff x="674400" y="2562222"/>
            <a:chExt cx="4141470" cy="2092325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0046" y="2641420"/>
              <a:ext cx="4006178" cy="19508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9162" y="2566985"/>
              <a:ext cx="4131945" cy="2082800"/>
            </a:xfrm>
            <a:custGeom>
              <a:avLst/>
              <a:gdLst/>
              <a:ahLst/>
              <a:cxnLst/>
              <a:rect l="l" t="t" r="r" b="b"/>
              <a:pathLst>
                <a:path w="4131945" h="2082800">
                  <a:moveTo>
                    <a:pt x="0" y="0"/>
                  </a:moveTo>
                  <a:lnTo>
                    <a:pt x="4131824" y="0"/>
                  </a:lnTo>
                  <a:lnTo>
                    <a:pt x="4131824" y="2082274"/>
                  </a:lnTo>
                  <a:lnTo>
                    <a:pt x="0" y="2082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358967" y="1479467"/>
            <a:ext cx="4257887" cy="4300220"/>
            <a:chOff x="5519225" y="1109600"/>
            <a:chExt cx="3193415" cy="3225165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750" y="1119125"/>
              <a:ext cx="3173745" cy="32058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23987" y="1114362"/>
              <a:ext cx="3183890" cy="3215640"/>
            </a:xfrm>
            <a:custGeom>
              <a:avLst/>
              <a:gdLst/>
              <a:ahLst/>
              <a:cxnLst/>
              <a:rect l="l" t="t" r="r" b="b"/>
              <a:pathLst>
                <a:path w="3183890" h="3215640">
                  <a:moveTo>
                    <a:pt x="0" y="0"/>
                  </a:moveTo>
                  <a:lnTo>
                    <a:pt x="3183270" y="0"/>
                  </a:lnTo>
                  <a:lnTo>
                    <a:pt x="3183270" y="3215425"/>
                  </a:lnTo>
                  <a:lnTo>
                    <a:pt x="0" y="32154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01966" y="1668699"/>
            <a:ext cx="3990340" cy="5190067"/>
            <a:chOff x="6151474" y="1251524"/>
            <a:chExt cx="2992755" cy="389255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61000" y="1261049"/>
              <a:ext cx="2149250" cy="33633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6237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3"/>
                  </a:lnTo>
                  <a:lnTo>
                    <a:pt x="0" y="337292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3378"/>
            <a:ext cx="1010183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2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Check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the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Different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Views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dirty="0">
                <a:solidFill>
                  <a:srgbClr val="2A3890"/>
                </a:solidFill>
              </a:rPr>
              <a:t>Mobile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dirty="0">
                <a:solidFill>
                  <a:srgbClr val="2A3890"/>
                </a:solidFill>
              </a:rPr>
              <a:t>App: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27" dirty="0">
                <a:solidFill>
                  <a:srgbClr val="2A3890"/>
                </a:solidFill>
              </a:rPr>
              <a:t>Wi-</a:t>
            </a:r>
            <a:r>
              <a:rPr sz="2267" dirty="0">
                <a:solidFill>
                  <a:srgbClr val="2A3890"/>
                </a:solidFill>
              </a:rPr>
              <a:t>Fi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Analyzer</a:t>
            </a:r>
            <a:endParaRPr sz="2267" dirty="0"/>
          </a:p>
        </p:txBody>
      </p:sp>
      <p:grpSp>
        <p:nvGrpSpPr>
          <p:cNvPr id="10" name="object 10"/>
          <p:cNvGrpSpPr/>
          <p:nvPr/>
        </p:nvGrpSpPr>
        <p:grpSpPr>
          <a:xfrm>
            <a:off x="815099" y="1743634"/>
            <a:ext cx="2891367" cy="4510193"/>
            <a:chOff x="611324" y="1307725"/>
            <a:chExt cx="2168525" cy="3382645"/>
          </a:xfrm>
        </p:grpSpPr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850" y="1317250"/>
              <a:ext cx="2149250" cy="33634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6087" y="13124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508533" y="1668700"/>
            <a:ext cx="2891367" cy="4510193"/>
            <a:chOff x="3381399" y="1251524"/>
            <a:chExt cx="2168525" cy="3382645"/>
          </a:xfrm>
        </p:grpSpPr>
        <p:pic>
          <p:nvPicPr>
            <p:cNvPr id="14" name="object 14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0924" y="1261049"/>
              <a:ext cx="2149250" cy="33634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86162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05152" y="6218002"/>
            <a:ext cx="13106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Channels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98683" y="6218002"/>
            <a:ext cx="21471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Signal</a:t>
            </a:r>
            <a:r>
              <a:rPr sz="24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Strength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0A91C-0CE8-E01E-4764-1D956912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E82D933-91AC-4052-07DB-97A46CA42ADB}"/>
              </a:ext>
            </a:extLst>
          </p:cNvPr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FE906E7-EF56-E2E5-6F6E-4E8CB25C2E06}"/>
                </a:ext>
              </a:extLst>
            </p:cNvPr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4B32003-69FB-A959-D16F-98F18E8F4E8C}"/>
                </a:ext>
              </a:extLst>
            </p:cNvPr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B8CE668-4A2F-21C9-9FD6-FF73191A5C64}"/>
                </a:ext>
              </a:extLst>
            </p:cNvPr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3ABF03E-DE36-CA9D-BE04-030EFE38BC7E}"/>
                </a:ext>
              </a:extLst>
            </p:cNvPr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8BD458AE-631D-6115-C54C-4748F503577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6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>
            <a:extLst>
              <a:ext uri="{FF2B5EF4-FFF2-40B4-BE49-F238E27FC236}">
                <a16:creationId xmlns:a16="http://schemas.microsoft.com/office/drawing/2014/main" id="{44F56A17-37FA-6066-50BA-12EC45F9F5A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0" y="2932281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</a:t>
            </a:r>
            <a:r>
              <a:rPr lang="en-US" sz="5600" spc="-33" dirty="0"/>
              <a:t>2</a:t>
            </a:r>
            <a:endParaRPr sz="560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2A18695-7272-ECD7-923B-C22E6DE8BB18}"/>
              </a:ext>
            </a:extLst>
          </p:cNvPr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5FEE7EE-DE19-67BB-4AB4-BC74D4D56BC3}"/>
              </a:ext>
            </a:extLst>
          </p:cNvPr>
          <p:cNvSpPr txBox="1"/>
          <p:nvPr/>
        </p:nvSpPr>
        <p:spPr>
          <a:xfrm>
            <a:off x="894834" y="3702351"/>
            <a:ext cx="6027174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Mobile</a:t>
            </a:r>
            <a:r>
              <a:rPr sz="3200" b="1" kern="0" spc="-87" dirty="0">
                <a:latin typeface="Roboto"/>
                <a:cs typeface="Roboto"/>
              </a:rPr>
              <a:t> </a:t>
            </a:r>
            <a:r>
              <a:rPr sz="3200" b="1" kern="0" dirty="0">
                <a:latin typeface="Roboto"/>
                <a:cs typeface="Roboto"/>
              </a:rPr>
              <a:t>App:</a:t>
            </a:r>
            <a:r>
              <a:rPr sz="3200" b="1" kern="0" spc="-67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Wi-</a:t>
            </a:r>
            <a:r>
              <a:rPr sz="3200" kern="0" dirty="0">
                <a:latin typeface="Roboto"/>
                <a:cs typeface="Roboto"/>
              </a:rPr>
              <a:t>Fi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lang="en-US" sz="3200" kern="0" spc="-13" dirty="0">
                <a:latin typeface="Roboto"/>
                <a:cs typeface="Roboto"/>
              </a:rPr>
              <a:t>Monitor Mode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6216" y="3093733"/>
            <a:ext cx="11106573" cy="3764280"/>
            <a:chOff x="814662" y="2320300"/>
            <a:chExt cx="8329930" cy="282321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662" y="2320300"/>
              <a:ext cx="7514675" cy="23719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3901" y="760814"/>
            <a:ext cx="101307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Setup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568" y="1859448"/>
            <a:ext cx="5739553" cy="1153115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555398" indent="-538467" defTabSz="1219170">
              <a:spcBef>
                <a:spcPts val="513"/>
              </a:spcBef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55398" indent="-538467" defTabSz="1219170">
              <a:spcBef>
                <a:spcPts val="387"/>
              </a:spcBef>
              <a:buClr>
                <a:srgbClr val="374151"/>
              </a:buClr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64984" lvl="1" indent="-530847" defTabSz="1219170">
              <a:spcBef>
                <a:spcPts val="387"/>
              </a:spcBef>
              <a:buFont typeface="Arial"/>
              <a:buAutoNum type="alphaLcPeriod"/>
              <a:tabLst>
                <a:tab pos="1164984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 airmon-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&lt;&lt;wiﬁadapter&gt;&gt;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7700" y="2918699"/>
            <a:ext cx="10364893" cy="3939540"/>
            <a:chOff x="1370775" y="2189024"/>
            <a:chExt cx="7773670" cy="2954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0775" y="2189024"/>
              <a:ext cx="5412749" cy="26214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63690"/>
            <a:ext cx="971682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60" dirty="0"/>
              <a:t> </a:t>
            </a:r>
            <a:r>
              <a:rPr sz="3600" dirty="0"/>
              <a:t>2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Available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Networks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17"/>
            <a:ext cx="502412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31117" y="2781599"/>
            <a:ext cx="11561233" cy="4076700"/>
            <a:chOff x="473337" y="2086199"/>
            <a:chExt cx="8670925" cy="305752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3337" y="2086199"/>
              <a:ext cx="7207624" cy="26411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07723"/>
            <a:ext cx="1027508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3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Networks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on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Channel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1" y="1843617"/>
            <a:ext cx="651340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[channel]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960131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4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Access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Point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(BSSID)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019556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4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11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9732"/>
            <a:ext cx="809977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12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4995"/>
            <a:ext cx="92163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5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120986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write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capture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wlan0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60967" y="2828232"/>
            <a:ext cx="9831493" cy="4030133"/>
            <a:chOff x="1770725" y="2121174"/>
            <a:chExt cx="7373620" cy="302260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725" y="2121174"/>
              <a:ext cx="4899924" cy="282992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13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7202"/>
            <a:ext cx="11112484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7" dirty="0"/>
              <a:t> </a:t>
            </a:r>
            <a:r>
              <a:rPr sz="3600" dirty="0"/>
              <a:t>6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29"/>
            <a:ext cx="598762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133" b="1" kern="0" spc="5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0333" y="1685224"/>
            <a:ext cx="283464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For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visit: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/>
            <a:r>
              <a:rPr sz="2400" kern="0" spc="-13" dirty="0">
                <a:solidFill>
                  <a:srgbClr val="0F0F0F"/>
                </a:solidFill>
                <a:latin typeface="Roboto"/>
                <a:cs typeface="Roboto"/>
              </a:rPr>
              <a:t>chv.link/autoisac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14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631303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</a:t>
            </a:r>
            <a:r>
              <a:rPr lang="en-US" sz="5600" spc="-33" dirty="0"/>
              <a:t>3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3" y="3702351"/>
            <a:ext cx="24976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Utilize</a:t>
            </a:r>
            <a:r>
              <a:rPr sz="3200" kern="0" spc="-16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Wiﬁte2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47063"/>
            <a:ext cx="1094885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spc="-13" dirty="0"/>
              <a:t>Wiﬁte2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868" y="1863175"/>
            <a:ext cx="9513993" cy="45273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999"/>
              </a:lnSpc>
              <a:spcBef>
                <a:spcPts val="133"/>
              </a:spcBef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tool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automates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80" dirty="0">
                <a:solidFill>
                  <a:srgbClr val="434343"/>
                </a:solidFill>
                <a:latin typeface="Roboto"/>
                <a:cs typeface="Roboto"/>
              </a:rPr>
              <a:t>WEP,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performs</a:t>
            </a:r>
            <a:r>
              <a:rPr sz="20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the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actions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automatically: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2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Sets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interface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Scans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potential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allows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selection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victim(s)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Launches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WEP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applicable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Executes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24457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Conducts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including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Pixie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dust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(note: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may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time-consuming)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Access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Point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(AP)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cracking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Tries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AP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57476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captured,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top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5000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passwords.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16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79450"/>
            <a:ext cx="14924088" cy="688975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Wiﬁte2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Steps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9468" y="1851999"/>
            <a:ext cx="8867987" cy="420576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75719" indent="-556246" defTabSz="1219170">
              <a:spcBef>
                <a:spcPts val="560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85304" lvl="1" indent="-558786" defTabSz="1219170">
              <a:spcBef>
                <a:spcPts val="433"/>
              </a:spcBef>
              <a:buFont typeface="Arial"/>
              <a:buAutoNum type="alphaLcPeriod"/>
              <a:tabLst>
                <a:tab pos="1185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wiﬁte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33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Hit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Ctrl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+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attacking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APs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27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Target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Wiﬁte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capturing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marR="6773" indent="-556246" defTabSz="1219170">
              <a:lnSpc>
                <a:spcPct val="114999"/>
              </a:lnSpc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cracks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wordlist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similar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rockyou.txt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7734" y="304867"/>
            <a:ext cx="5021964" cy="26679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325561"/>
            <a:ext cx="1023937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60" dirty="0"/>
              <a:t> </a:t>
            </a:r>
            <a:r>
              <a:rPr sz="5400" dirty="0"/>
              <a:t>1</a:t>
            </a:r>
            <a:r>
              <a:rPr sz="5400" spc="-70" dirty="0"/>
              <a:t> </a:t>
            </a:r>
            <a:r>
              <a:rPr sz="5400" dirty="0"/>
              <a:t>–</a:t>
            </a:r>
            <a:r>
              <a:rPr sz="5400" spc="-60" dirty="0"/>
              <a:t> </a:t>
            </a:r>
            <a:r>
              <a:rPr sz="5400" dirty="0"/>
              <a:t>Understanding</a:t>
            </a:r>
            <a:r>
              <a:rPr sz="5400" spc="-75" dirty="0"/>
              <a:t> </a:t>
            </a:r>
            <a:r>
              <a:rPr sz="5400" spc="-10" dirty="0"/>
              <a:t>Your</a:t>
            </a:r>
            <a:r>
              <a:rPr sz="5400" spc="-45" dirty="0"/>
              <a:t> </a:t>
            </a:r>
            <a:r>
              <a:rPr sz="5400" spc="-10" dirty="0"/>
              <a:t>Environment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18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756800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</a:t>
            </a:r>
            <a:r>
              <a:rPr lang="en-US" sz="5600" spc="-33" dirty="0"/>
              <a:t>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6328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Break</a:t>
            </a:r>
            <a:r>
              <a:rPr sz="3200" kern="0" spc="-11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into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the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Network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“HackISAC”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19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11079163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53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Wordlist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Identify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Wireless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Adapter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6029" y="1400574"/>
            <a:ext cx="8349827" cy="1372834"/>
          </a:xfrm>
          <a:prstGeom prst="rect">
            <a:avLst/>
          </a:prstGeom>
        </p:spPr>
        <p:txBody>
          <a:bodyPr vert="horz" wrap="square" lIns="0" tIns="74507" rIns="0" bIns="0" rtlCol="0">
            <a:spAutoFit/>
          </a:bodyPr>
          <a:lstStyle/>
          <a:p>
            <a:pPr marL="599425" indent="-582492" defTabSz="1219170">
              <a:spcBef>
                <a:spcPts val="587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533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533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chv.link/autoisac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99425" indent="-582492" defTabSz="1219170">
              <a:spcBef>
                <a:spcPts val="460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27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13" dirty="0">
                <a:solidFill>
                  <a:srgbClr val="434343"/>
                </a:solidFill>
                <a:latin typeface="Roboto"/>
                <a:cs typeface="Roboto"/>
              </a:rPr>
              <a:t>(DragonOS)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09010" lvl="1" indent="-573179" defTabSz="1219170">
              <a:spcBef>
                <a:spcPts val="453"/>
              </a:spcBef>
              <a:buFont typeface="Arial"/>
              <a:buAutoNum type="alphaLcPeriod"/>
              <a:tabLst>
                <a:tab pos="1209010" algn="l"/>
              </a:tabLst>
            </a:pP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ifconﬁg</a:t>
            </a:r>
            <a:r>
              <a:rPr sz="25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identify</a:t>
            </a:r>
            <a:r>
              <a:rPr sz="2533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5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wireless</a:t>
            </a:r>
            <a:r>
              <a:rPr sz="2533" b="1" kern="0" spc="-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adapter’s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name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45883" y="3273199"/>
            <a:ext cx="10081260" cy="2185247"/>
            <a:chOff x="784412" y="2454899"/>
            <a:chExt cx="7560945" cy="163893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700" y="2454899"/>
              <a:ext cx="7546575" cy="16386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8699" y="2571749"/>
              <a:ext cx="1708785" cy="281305"/>
            </a:xfrm>
            <a:custGeom>
              <a:avLst/>
              <a:gdLst/>
              <a:ahLst/>
              <a:cxnLst/>
              <a:rect l="l" t="t" r="r" b="b"/>
              <a:pathLst>
                <a:path w="1708785" h="281305">
                  <a:moveTo>
                    <a:pt x="0" y="0"/>
                  </a:moveTo>
                  <a:lnTo>
                    <a:pt x="1708199" y="0"/>
                  </a:lnTo>
                  <a:lnTo>
                    <a:pt x="1708199" y="281099"/>
                  </a:lnTo>
                  <a:lnTo>
                    <a:pt x="0" y="281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93565" y="5672675"/>
            <a:ext cx="47345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2400" b="1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595959"/>
                </a:solidFill>
                <a:latin typeface="Roboto"/>
                <a:cs typeface="Roboto"/>
              </a:rPr>
              <a:t>wireless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adapter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595959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1608"/>
            <a:ext cx="1038096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668867" y="1877602"/>
            <a:ext cx="44365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Kill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Interrupting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Services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check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kill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9633" y="3317100"/>
            <a:ext cx="9132699" cy="16276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5700" y="3088366"/>
            <a:ext cx="11216640" cy="3770207"/>
            <a:chOff x="731775" y="2316274"/>
            <a:chExt cx="8412480" cy="2827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775" y="2316274"/>
              <a:ext cx="6530605" cy="23349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21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0363" y="753880"/>
            <a:ext cx="12161637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868" y="1877602"/>
            <a:ext cx="73448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Start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400" b="1" kern="0" spc="5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65017" y="2349501"/>
            <a:ext cx="10427545" cy="4508500"/>
            <a:chOff x="1323762" y="1762125"/>
            <a:chExt cx="7820659" cy="338137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38050" y="1762125"/>
              <a:ext cx="5222975" cy="3127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38050" y="2571750"/>
              <a:ext cx="4335145" cy="137795"/>
            </a:xfrm>
            <a:custGeom>
              <a:avLst/>
              <a:gdLst/>
              <a:ahLst/>
              <a:cxnLst/>
              <a:rect l="l" t="t" r="r" b="b"/>
              <a:pathLst>
                <a:path w="4335145" h="137794">
                  <a:moveTo>
                    <a:pt x="0" y="0"/>
                  </a:moveTo>
                  <a:lnTo>
                    <a:pt x="4334699" y="0"/>
                  </a:lnTo>
                  <a:lnTo>
                    <a:pt x="4334699" y="137399"/>
                  </a:lnTo>
                  <a:lnTo>
                    <a:pt x="0" y="137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22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994275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20" dirty="0"/>
              <a:t> </a:t>
            </a:r>
            <a:r>
              <a:rPr sz="3600" dirty="0"/>
              <a:t>3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13" dirty="0"/>
              <a:t> </a:t>
            </a:r>
            <a:r>
              <a:rPr sz="3600" dirty="0">
                <a:solidFill>
                  <a:srgbClr val="2A3890"/>
                </a:solidFill>
              </a:rPr>
              <a:t>Look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for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Targets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041" y="1532868"/>
            <a:ext cx="6997700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lnSpc>
                <a:spcPts val="2727"/>
              </a:lnSpc>
              <a:spcBef>
                <a:spcPts val="1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  <a:tab pos="3570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airodump-ng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lnSpc>
                <a:spcPts val="2887"/>
              </a:lnSpc>
              <a:buSzPct val="94736"/>
              <a:buFont typeface="Roboto"/>
              <a:buAutoNum type="arabicPeriod"/>
              <a:tabLst>
                <a:tab pos="585031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Locate</a:t>
            </a:r>
            <a:r>
              <a:rPr sz="2533" kern="0" spc="-10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HackISAC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23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8828088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8900" y="3634083"/>
            <a:ext cx="11533293" cy="3224107"/>
            <a:chOff x="494175" y="2725562"/>
            <a:chExt cx="8649970" cy="241808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175" y="2725562"/>
              <a:ext cx="8155630" cy="19256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8450" y="3605237"/>
              <a:ext cx="7967345" cy="366395"/>
            </a:xfrm>
            <a:custGeom>
              <a:avLst/>
              <a:gdLst/>
              <a:ahLst/>
              <a:cxnLst/>
              <a:rect l="l" t="t" r="r" b="b"/>
              <a:pathLst>
                <a:path w="7967345" h="366395">
                  <a:moveTo>
                    <a:pt x="0" y="0"/>
                  </a:moveTo>
                  <a:lnTo>
                    <a:pt x="7967099" y="0"/>
                  </a:lnTo>
                  <a:lnTo>
                    <a:pt x="79670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24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75385"/>
            <a:ext cx="10082581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5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Handshake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Save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to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File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867" y="1588540"/>
            <a:ext cx="9324340" cy="18919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Network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82492" defTabSz="1219170">
              <a:spcBef>
                <a:spcPts val="2427"/>
              </a:spcBef>
              <a:buClr>
                <a:srgbClr val="374151"/>
              </a:buClr>
              <a:buSzPct val="105555"/>
              <a:buFontTx/>
              <a:buAutoNum type="arabicPeriod"/>
              <a:tabLst>
                <a:tab pos="625671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5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adapter&gt;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&lt;wiﬁ-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bssid&gt;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6518" defTabSz="1219170">
              <a:spcBef>
                <a:spcPts val="460"/>
              </a:spcBef>
            </a:pP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&lt;File-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58786" defTabSz="1219170">
              <a:spcBef>
                <a:spcPts val="200"/>
              </a:spcBef>
              <a:buClr>
                <a:srgbClr val="374151"/>
              </a:buClr>
              <a:buFont typeface="Arial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File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88001" y="2537067"/>
            <a:ext cx="10904220" cy="4321387"/>
            <a:chOff x="966000" y="1902800"/>
            <a:chExt cx="8178165" cy="324104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000" y="1902800"/>
              <a:ext cx="6031675" cy="28949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26375" y="2805524"/>
              <a:ext cx="2075814" cy="305435"/>
            </a:xfrm>
            <a:custGeom>
              <a:avLst/>
              <a:gdLst/>
              <a:ahLst/>
              <a:cxnLst/>
              <a:rect l="l" t="t" r="r" b="b"/>
              <a:pathLst>
                <a:path w="2075814" h="305435">
                  <a:moveTo>
                    <a:pt x="0" y="0"/>
                  </a:moveTo>
                  <a:lnTo>
                    <a:pt x="2075699" y="0"/>
                  </a:lnTo>
                  <a:lnTo>
                    <a:pt x="2075699" y="305099"/>
                  </a:lnTo>
                  <a:lnTo>
                    <a:pt x="0" y="3050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4219" y="643180"/>
            <a:ext cx="10589795" cy="5189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6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Password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using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Aircrack-</a:t>
            </a:r>
            <a:r>
              <a:rPr sz="3600" dirty="0">
                <a:solidFill>
                  <a:srgbClr val="2A3890"/>
                </a:solidFill>
              </a:rPr>
              <a:t>ng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Wordlist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67" y="1298681"/>
            <a:ext cx="6134947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Crack</a:t>
            </a:r>
            <a:r>
              <a:rPr sz="2400" b="1" kern="0" spc="-9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400" b="1" kern="0" spc="5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r>
              <a:rPr sz="2400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&lt;wordlist&gt;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2027238" y="178336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WiFi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756231"/>
            <a:ext cx="8699500" cy="5668382"/>
          </a:xfrm>
        </p:spPr>
        <p:txBody>
          <a:bodyPr>
            <a:normAutofit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/>
              <a:t>Wireless Local Area Networking based on IEEE 802.11 standards</a:t>
            </a:r>
          </a:p>
          <a:p>
            <a:pPr lvl="1"/>
            <a:r>
              <a:rPr lang="en-US" sz="1400" dirty="0"/>
              <a:t>Wireless Ethernet link</a:t>
            </a:r>
          </a:p>
          <a:p>
            <a:pPr lvl="1"/>
            <a:r>
              <a:rPr lang="en-US" sz="1400" dirty="0"/>
              <a:t>Connect to WLAN from a wide range of devices via Access Point</a:t>
            </a:r>
          </a:p>
          <a:p>
            <a:pPr lvl="1"/>
            <a:r>
              <a:rPr lang="en-US" sz="1400" dirty="0"/>
              <a:t>WiFi-5: IEEE 802.11b/g (2.4Ghz band) and IEEE 802.11a (U-NII 5Ghz)</a:t>
            </a:r>
          </a:p>
          <a:p>
            <a:pPr lvl="1"/>
            <a:r>
              <a:rPr lang="en-US" sz="1400" dirty="0"/>
              <a:t>WiFi-6: IEEE 802.11n (2.4Ghz, 5.8Ghz), IEEE 802.11ac/ax (2.4Ghz, 5Ghz and 5.8Ghz)</a:t>
            </a:r>
          </a:p>
          <a:p>
            <a:pPr lvl="1"/>
            <a:r>
              <a:rPr lang="en-US" sz="1400" dirty="0"/>
              <a:t>WiFi-6E: Opens up IEEE 802.11ax to 6Ghz bands</a:t>
            </a:r>
          </a:p>
          <a:p>
            <a:pPr lvl="1"/>
            <a:r>
              <a:rPr lang="en-US" sz="1400" dirty="0"/>
              <a:t>WiFi-7: Adds Multi-Link Operation (MLO) across channels</a:t>
            </a:r>
          </a:p>
          <a:p>
            <a:pPr lvl="1"/>
            <a:r>
              <a:rPr lang="en-US" sz="1400" dirty="0"/>
              <a:t>Band allocation various by region, channels vary</a:t>
            </a:r>
          </a:p>
          <a:p>
            <a:pPr lvl="1"/>
            <a:r>
              <a:rPr lang="en-US" sz="1400" dirty="0"/>
              <a:t>Bandwidth ranges from 20Mhz (b) to 160Mhz (ac)</a:t>
            </a:r>
          </a:p>
          <a:p>
            <a:pPr lvl="1"/>
            <a:r>
              <a:rPr lang="en-US" sz="1400" dirty="0"/>
              <a:t>Wider channels results in shorter ranges</a:t>
            </a:r>
          </a:p>
          <a:p>
            <a:pPr lvl="1"/>
            <a:r>
              <a:rPr lang="en-US" sz="1400" dirty="0"/>
              <a:t>Vulnerable to eavesdropping</a:t>
            </a:r>
          </a:p>
          <a:p>
            <a:r>
              <a:rPr lang="en-US" sz="1800" dirty="0"/>
              <a:t>Links</a:t>
            </a:r>
          </a:p>
          <a:p>
            <a:pPr lvl="1"/>
            <a:r>
              <a:rPr lang="en-US" sz="1400" dirty="0"/>
              <a:t>WiFi Alliance: </a:t>
            </a:r>
            <a:r>
              <a:rPr lang="en-US" sz="1400" dirty="0">
                <a:hlinkClick r:id="rId3"/>
              </a:rPr>
              <a:t>https://www.wi-fi.org/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https://en.wikipedia.org/wiki/Wi-Fi</a:t>
            </a:r>
            <a:endParaRPr lang="en-US" sz="1400" dirty="0"/>
          </a:p>
          <a:p>
            <a:pPr lvl="1"/>
            <a:r>
              <a:rPr lang="en-US" sz="1400" dirty="0">
                <a:hlinkClick r:id="rId5"/>
              </a:rPr>
              <a:t>https://en.wikipedia.org/wiki/Wireless_security</a:t>
            </a:r>
            <a:endParaRPr lang="en-US" sz="1400" dirty="0"/>
          </a:p>
          <a:p>
            <a:pPr lvl="1"/>
            <a:r>
              <a:rPr lang="en-US" sz="1400" dirty="0">
                <a:hlinkClick r:id="rId6"/>
              </a:rPr>
              <a:t>https://en.wikipedia.org/wiki/Wi-Fi_Direct</a:t>
            </a:r>
            <a:endParaRPr lang="en-US" sz="1400" dirty="0"/>
          </a:p>
          <a:p>
            <a:pPr lvl="1"/>
            <a:r>
              <a:rPr lang="en-US" sz="1400" dirty="0"/>
              <a:t>Mapping of known Access Points (APs) </a:t>
            </a:r>
            <a:r>
              <a:rPr lang="en-US" sz="1400" dirty="0">
                <a:hlinkClick r:id="rId7"/>
              </a:rPr>
              <a:t>https://wigle.net/</a:t>
            </a:r>
            <a:endParaRPr lang="en-US" sz="1400" dirty="0"/>
          </a:p>
          <a:p>
            <a:pPr lvl="1"/>
            <a:endParaRPr lang="en-US" sz="1400" dirty="0"/>
          </a:p>
          <a:p>
            <a:pPr marL="457200" lvl="1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4138554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WiFi</a:t>
            </a:r>
            <a:r>
              <a:rPr lang="en-US" dirty="0"/>
              <a:t>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sz="1600" dirty="0"/>
              <a:t>Basics</a:t>
            </a:r>
          </a:p>
          <a:p>
            <a:pPr lvl="1"/>
            <a:r>
              <a:rPr lang="en-US" altLang="ja-JP" sz="1400" dirty="0"/>
              <a:t>WPA2-PSK is meant for consumer networks, not enterprise networks</a:t>
            </a:r>
          </a:p>
          <a:p>
            <a:pPr lvl="1"/>
            <a:r>
              <a:rPr lang="en-US" altLang="ja-JP" sz="1400" dirty="0"/>
              <a:t>Use 802.1X/EAP with WPA2+AES (WPA3 in the future)</a:t>
            </a:r>
          </a:p>
          <a:p>
            <a:pPr lvl="1"/>
            <a:r>
              <a:rPr lang="en-US" altLang="ja-JP" sz="1400" dirty="0"/>
              <a:t>Use at least 20 characters in passphrase</a:t>
            </a:r>
          </a:p>
          <a:p>
            <a:pPr lvl="1"/>
            <a:r>
              <a:rPr lang="en-US" altLang="ja-JP" sz="1400" dirty="0"/>
              <a:t>Use VPN over public WiFi</a:t>
            </a:r>
          </a:p>
          <a:p>
            <a:pPr lvl="1"/>
            <a:r>
              <a:rPr lang="en-US" altLang="ja-JP" sz="1400" dirty="0"/>
              <a:t>Keep WiFi equipment updated to latest firmware</a:t>
            </a:r>
          </a:p>
          <a:p>
            <a:pPr lvl="1"/>
            <a:r>
              <a:rPr lang="en-US" altLang="ja-JP" sz="1400" dirty="0"/>
              <a:t>Replace older equipment (no new updates) with newer models</a:t>
            </a:r>
          </a:p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802.11 specification has critical flaw and doesn’t secure frames</a:t>
            </a:r>
          </a:p>
          <a:p>
            <a:pPr lvl="1"/>
            <a:r>
              <a:rPr lang="en-US" sz="1400" dirty="0"/>
              <a:t>802.11i specification attempts to address security</a:t>
            </a:r>
          </a:p>
          <a:p>
            <a:pPr lvl="1"/>
            <a:r>
              <a:rPr lang="en-US" sz="1400" dirty="0"/>
              <a:t>WEP</a:t>
            </a:r>
          </a:p>
          <a:p>
            <a:pPr lvl="2"/>
            <a:r>
              <a:rPr lang="en-US" sz="1200" dirty="0"/>
              <a:t>Do not use</a:t>
            </a:r>
          </a:p>
          <a:p>
            <a:pPr lvl="2"/>
            <a:r>
              <a:rPr lang="en-US" sz="1200" dirty="0"/>
              <a:t>Easily breakable and hackable</a:t>
            </a:r>
          </a:p>
          <a:p>
            <a:pPr lvl="1"/>
            <a:r>
              <a:rPr lang="en-US" sz="1400" dirty="0"/>
              <a:t>WPA/WPA2 increases security</a:t>
            </a:r>
          </a:p>
          <a:p>
            <a:pPr lvl="2"/>
            <a:r>
              <a:rPr lang="en-US" sz="1200" dirty="0"/>
              <a:t>Choose WPA2 over WPA</a:t>
            </a:r>
          </a:p>
          <a:p>
            <a:pPr lvl="2"/>
            <a:r>
              <a:rPr lang="en-US" sz="1200" dirty="0"/>
              <a:t>WPA2 uses multiple keys: PSK, PMK (PSK or EAP), PTK</a:t>
            </a:r>
          </a:p>
          <a:p>
            <a:pPr lvl="2"/>
            <a:r>
              <a:rPr lang="en-US" sz="1200" dirty="0"/>
              <a:t>WPA2 is recommended with AES/CCMP, not TKIP</a:t>
            </a:r>
          </a:p>
          <a:p>
            <a:pPr lvl="2"/>
            <a:r>
              <a:rPr lang="en-US" sz="1200" dirty="0"/>
              <a:t>TKIP interferes with WPA/WPA2 QoS mechanism</a:t>
            </a:r>
          </a:p>
          <a:p>
            <a:pPr lvl="2"/>
            <a:r>
              <a:rPr lang="en-US" sz="1200" dirty="0"/>
              <a:t>Attack tools: </a:t>
            </a:r>
            <a:r>
              <a:rPr lang="en-US" sz="1200" dirty="0" err="1"/>
              <a:t>pyrit</a:t>
            </a:r>
            <a:r>
              <a:rPr lang="en-US" sz="1200" dirty="0"/>
              <a:t>, </a:t>
            </a:r>
            <a:r>
              <a:rPr lang="en-US" sz="1200" dirty="0" err="1"/>
              <a:t>hashcat</a:t>
            </a:r>
            <a:r>
              <a:rPr lang="en-US" sz="1200" dirty="0"/>
              <a:t>, </a:t>
            </a:r>
            <a:r>
              <a:rPr lang="en-US" sz="1200" dirty="0" err="1"/>
              <a:t>aircrack</a:t>
            </a:r>
            <a:r>
              <a:rPr lang="en-US" sz="1200" dirty="0"/>
              <a:t>-ng</a:t>
            </a:r>
          </a:p>
          <a:p>
            <a:pPr lvl="1"/>
            <a:r>
              <a:rPr lang="en-US" sz="1400" dirty="0" err="1"/>
              <a:t>WiFi</a:t>
            </a:r>
            <a:r>
              <a:rPr lang="en-US" sz="1400" dirty="0"/>
              <a:t> Protected Setup (WPS) has security flaw and is not recommended</a:t>
            </a:r>
          </a:p>
          <a:p>
            <a:pPr lvl="2"/>
            <a:r>
              <a:rPr lang="en-US" sz="1200" dirty="0"/>
              <a:t>PIN is printed on device label</a:t>
            </a:r>
          </a:p>
          <a:p>
            <a:pPr lvl="2"/>
            <a:r>
              <a:rPr lang="en-US" sz="1200" dirty="0"/>
              <a:t>Easy to brute force</a:t>
            </a:r>
          </a:p>
          <a:p>
            <a:pPr lvl="2"/>
            <a:r>
              <a:rPr lang="en-US" sz="1200" dirty="0" err="1"/>
              <a:t>Reaver</a:t>
            </a:r>
            <a:r>
              <a:rPr lang="en-US" sz="1200" dirty="0"/>
              <a:t> attack (</a:t>
            </a:r>
            <a:r>
              <a:rPr lang="en-US" sz="1200" dirty="0">
                <a:hlinkClick r:id="rId3"/>
              </a:rPr>
              <a:t>http://code.google.com/p/reaver-wps</a:t>
            </a:r>
            <a:r>
              <a:rPr lang="en-US" sz="1200" dirty="0"/>
              <a:t>)</a:t>
            </a:r>
          </a:p>
          <a:p>
            <a:pPr lvl="1"/>
            <a:r>
              <a:rPr lang="en-US" sz="1400" dirty="0"/>
              <a:t>WPA3 now the latest standard</a:t>
            </a:r>
          </a:p>
          <a:p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76924518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WiFi</a:t>
            </a:r>
            <a:r>
              <a:rPr lang="en-US" dirty="0"/>
              <a:t> Vulnerabilities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sz="1600" dirty="0"/>
              <a:t>Known Exploits/Vulnerabilities</a:t>
            </a:r>
          </a:p>
          <a:p>
            <a:pPr lvl="1"/>
            <a:r>
              <a:rPr lang="en-US" sz="1400" dirty="0"/>
              <a:t>Weak access points easily identified by wardriving</a:t>
            </a:r>
          </a:p>
          <a:p>
            <a:pPr lvl="1"/>
            <a:r>
              <a:rPr lang="en-US" altLang="ja-JP" sz="1400" dirty="0"/>
              <a:t>Password cracking, built-in passwords</a:t>
            </a:r>
          </a:p>
          <a:p>
            <a:pPr lvl="1"/>
            <a:r>
              <a:rPr lang="en-US" altLang="ja-JP" sz="1400" dirty="0"/>
              <a:t>Firmware bugs leaves remote administration vulnerable</a:t>
            </a:r>
          </a:p>
          <a:p>
            <a:pPr lvl="1"/>
            <a:r>
              <a:rPr lang="en-US" altLang="ja-JP" sz="1400" dirty="0"/>
              <a:t>Open access </a:t>
            </a:r>
            <a:r>
              <a:rPr lang="en-US" altLang="ja-JP" sz="1400" dirty="0" err="1"/>
              <a:t>WiFi</a:t>
            </a:r>
            <a:r>
              <a:rPr lang="en-US" altLang="ja-JP" sz="1400" dirty="0"/>
              <a:t> is easily sniffed and hacked</a:t>
            </a:r>
          </a:p>
          <a:p>
            <a:pPr lvl="1"/>
            <a:r>
              <a:rPr lang="en-US" altLang="ja-JP" sz="1400" dirty="0"/>
              <a:t>Super-G is not a standard and will swamp 2.4Ghz</a:t>
            </a:r>
          </a:p>
          <a:p>
            <a:r>
              <a:rPr lang="en-US" altLang="ja-JP" sz="1600" dirty="0"/>
              <a:t>Hacking &amp; Cracking</a:t>
            </a:r>
          </a:p>
          <a:p>
            <a:pPr lvl="1"/>
            <a:r>
              <a:rPr lang="en-US" altLang="ja-JP" sz="1400" dirty="0"/>
              <a:t>Passwords under 20 characters are easily hacked</a:t>
            </a:r>
          </a:p>
          <a:p>
            <a:pPr lvl="1"/>
            <a:r>
              <a:rPr lang="en-US" altLang="ja-JP" sz="1400" dirty="0"/>
              <a:t>Pre-computed PMK hashes for top 1000 common SSIDs available at </a:t>
            </a:r>
            <a:r>
              <a:rPr lang="en-US" altLang="ja-JP" sz="1400" dirty="0">
                <a:hlinkClick r:id="rId3"/>
              </a:rPr>
              <a:t>https://wigle.net/</a:t>
            </a:r>
            <a:endParaRPr lang="en-US" altLang="ja-JP" sz="1400" dirty="0"/>
          </a:p>
          <a:p>
            <a:pPr lvl="1"/>
            <a:r>
              <a:rPr lang="en-US" altLang="ja-JP" sz="1400" dirty="0"/>
              <a:t>Tools to accelerate hash computation and WPA2-PSK cracking</a:t>
            </a:r>
          </a:p>
          <a:p>
            <a:pPr lvl="2"/>
            <a:r>
              <a:rPr lang="en-US" altLang="ja-JP" sz="1200" dirty="0"/>
              <a:t> Runs on ATI or NVIDIA GPUs (</a:t>
            </a:r>
            <a:r>
              <a:rPr lang="en-US" altLang="ja-JP" sz="1200" dirty="0" err="1"/>
              <a:t>Pyrit</a:t>
            </a:r>
            <a:r>
              <a:rPr lang="en-US" altLang="ja-JP" sz="1200" dirty="0"/>
              <a:t>, </a:t>
            </a:r>
            <a:r>
              <a:rPr lang="en-US" altLang="ja-JP" sz="1200" dirty="0" err="1"/>
              <a:t>hashcat</a:t>
            </a:r>
            <a:r>
              <a:rPr lang="en-US" altLang="ja-JP" sz="1200" dirty="0"/>
              <a:t>)</a:t>
            </a:r>
          </a:p>
          <a:p>
            <a:pPr lvl="1"/>
            <a:r>
              <a:rPr lang="en-US" altLang="ja-JP" sz="1400" dirty="0"/>
              <a:t>Can crack within seconds</a:t>
            </a:r>
          </a:p>
          <a:p>
            <a:pPr lvl="1"/>
            <a:r>
              <a:rPr lang="en-US" altLang="ja-JP" sz="1400" dirty="0"/>
              <a:t>PSK and PMK are stored on client devices, which can be stolen</a:t>
            </a:r>
          </a:p>
          <a:p>
            <a:r>
              <a:rPr lang="en-US" altLang="ja-JP" sz="1600" b="1" dirty="0">
                <a:solidFill>
                  <a:srgbClr val="FF0000"/>
                </a:solidFill>
              </a:rPr>
              <a:t>KRACK</a:t>
            </a:r>
            <a:endParaRPr lang="en-US" altLang="ja-JP" sz="1800" b="1" dirty="0">
              <a:solidFill>
                <a:srgbClr val="FF0000"/>
              </a:solidFill>
            </a:endParaRPr>
          </a:p>
          <a:p>
            <a:pPr lvl="1"/>
            <a:r>
              <a:rPr lang="en-US" altLang="ja-JP" sz="1400" dirty="0">
                <a:hlinkClick r:id="rId4"/>
              </a:rPr>
              <a:t>https://en.wikipedia.org/wiki/KRACK</a:t>
            </a:r>
            <a:endParaRPr lang="en-US" altLang="ja-JP" sz="1400" dirty="0"/>
          </a:p>
          <a:p>
            <a:pPr lvl="1"/>
            <a:r>
              <a:rPr lang="en-US" altLang="ja-JP" sz="1400" dirty="0">
                <a:hlinkClick r:id="rId5"/>
              </a:rPr>
              <a:t>https://www.krackattacks.com/</a:t>
            </a:r>
            <a:endParaRPr lang="en-US" altLang="ja-JP" sz="1400" dirty="0"/>
          </a:p>
          <a:p>
            <a:pPr lvl="1"/>
            <a:r>
              <a:rPr lang="en-US" altLang="ja-JP" sz="1400" dirty="0"/>
              <a:t>Against 802.11i/r</a:t>
            </a:r>
          </a:p>
          <a:p>
            <a:pPr lvl="1"/>
            <a:r>
              <a:rPr lang="en-US" altLang="ja-JP" sz="1400" dirty="0"/>
              <a:t>Uses replay attacks</a:t>
            </a:r>
          </a:p>
          <a:p>
            <a:pPr lvl="1"/>
            <a:r>
              <a:rPr lang="en-US" altLang="ja-JP" sz="1400" dirty="0"/>
              <a:t>TKIP, CCMP, or GCMP (</a:t>
            </a:r>
            <a:r>
              <a:rPr lang="en-US" altLang="ja-JP" sz="1400" dirty="0" err="1"/>
              <a:t>WiGig</a:t>
            </a:r>
            <a:r>
              <a:rPr lang="en-US" altLang="ja-JP" sz="1400" dirty="0"/>
              <a:t>) with 802.1X key distribution</a:t>
            </a:r>
          </a:p>
          <a:p>
            <a:pPr lvl="1"/>
            <a:r>
              <a:rPr lang="en-US" altLang="ja-JP" sz="1400" dirty="0"/>
              <a:t>Affects all current crypto and key derivation methods</a:t>
            </a:r>
          </a:p>
          <a:p>
            <a:pPr lvl="1"/>
            <a:r>
              <a:rPr lang="en-US" altLang="ja-JP" sz="1400" dirty="0"/>
              <a:t>Not in the wild (yet)</a:t>
            </a:r>
          </a:p>
          <a:p>
            <a:r>
              <a:rPr lang="en-US" sz="1600" dirty="0"/>
              <a:t>CERT CVE Lookup</a:t>
            </a:r>
          </a:p>
          <a:p>
            <a:pPr lvl="1"/>
            <a:r>
              <a:rPr lang="en-US" sz="1400" dirty="0">
                <a:hlinkClick r:id="rId6"/>
              </a:rPr>
              <a:t>http://cve.mitre.org/cgi-bin/cvekey.cgi?keyword=wifi</a:t>
            </a:r>
            <a:endParaRPr lang="en-US" sz="1400" dirty="0"/>
          </a:p>
          <a:p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06120403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WiFi</a:t>
            </a:r>
            <a:r>
              <a:rPr lang="en-US" dirty="0"/>
              <a:t> Enterprise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lnSpcReduction="10000"/>
          </a:bodyPr>
          <a:lstStyle/>
          <a:p>
            <a:r>
              <a:rPr lang="en-US" altLang="ja-JP" sz="1600" dirty="0"/>
              <a:t>Security</a:t>
            </a:r>
          </a:p>
          <a:p>
            <a:pPr lvl="1"/>
            <a:r>
              <a:rPr lang="en-US" altLang="ja-JP" sz="1400" dirty="0"/>
              <a:t>WPA2-Enterprise</a:t>
            </a:r>
          </a:p>
          <a:p>
            <a:pPr lvl="1"/>
            <a:r>
              <a:rPr lang="en-US" altLang="ja-JP" sz="1400" dirty="0"/>
              <a:t>TKIP or CCMP with 802.1X key distribution</a:t>
            </a:r>
          </a:p>
          <a:p>
            <a:pPr lvl="1"/>
            <a:r>
              <a:rPr lang="en-US" altLang="ja-JP" sz="1400" dirty="0"/>
              <a:t>EAPOL (PMK + PTK) 4-way with PMK</a:t>
            </a:r>
          </a:p>
          <a:p>
            <a:pPr lvl="1"/>
            <a:r>
              <a:rPr lang="en-US" altLang="ja-JP" sz="1400" dirty="0"/>
              <a:t>Encryption keys rotated every 216 packets</a:t>
            </a:r>
          </a:p>
          <a:p>
            <a:pPr lvl="1"/>
            <a:r>
              <a:rPr lang="en-US" altLang="ja-JP" sz="1400" dirty="0"/>
              <a:t>PEAP negotiation over TLS, new key every 64K packets</a:t>
            </a:r>
          </a:p>
          <a:p>
            <a:pPr lvl="2"/>
            <a:r>
              <a:rPr lang="en-US" altLang="ja-JP" sz="1200" dirty="0"/>
              <a:t>Subject to known TLS vulnerabilities</a:t>
            </a:r>
          </a:p>
          <a:p>
            <a:r>
              <a:rPr lang="en-US" altLang="ja-JP" sz="1600" dirty="0"/>
              <a:t>Vulnerabilities</a:t>
            </a:r>
          </a:p>
          <a:p>
            <a:pPr lvl="1"/>
            <a:r>
              <a:rPr lang="en-US" altLang="ja-JP" sz="1400" dirty="0"/>
              <a:t>Don’t always need to target WPA2 security</a:t>
            </a:r>
          </a:p>
          <a:p>
            <a:pPr lvl="1"/>
            <a:r>
              <a:rPr lang="en-US" altLang="ja-JP" sz="1400" dirty="0"/>
              <a:t>Impersonate open SSID with MiFi or AP</a:t>
            </a:r>
          </a:p>
          <a:p>
            <a:pPr lvl="2"/>
            <a:r>
              <a:rPr lang="en-US" altLang="ja-JP" sz="1200" dirty="0"/>
              <a:t>Can be leveraged for </a:t>
            </a:r>
            <a:r>
              <a:rPr lang="en-US" altLang="ja-JP" sz="1200" dirty="0" err="1"/>
              <a:t>DoS</a:t>
            </a:r>
            <a:r>
              <a:rPr lang="en-US" altLang="ja-JP" sz="1200" dirty="0"/>
              <a:t> attack to force roaming event to impersonating AP</a:t>
            </a:r>
          </a:p>
          <a:p>
            <a:pPr lvl="1"/>
            <a:r>
              <a:rPr lang="en-US" altLang="ja-JP" sz="1400" dirty="0"/>
              <a:t>Attacker looks for valid usernames by sniffing</a:t>
            </a:r>
          </a:p>
          <a:p>
            <a:pPr lvl="2"/>
            <a:r>
              <a:rPr lang="en-US" altLang="ja-JP" sz="1200" dirty="0"/>
              <a:t>Attacker attempts authentication using common weak passwords</a:t>
            </a:r>
          </a:p>
          <a:p>
            <a:pPr lvl="2"/>
            <a:r>
              <a:rPr lang="en-US" altLang="ja-JP" sz="1200" dirty="0"/>
              <a:t>Account lockout if policy is enabled</a:t>
            </a:r>
          </a:p>
          <a:p>
            <a:pPr lvl="1"/>
            <a:r>
              <a:rPr lang="en-US" altLang="ja-JP" sz="1400" dirty="0"/>
              <a:t>Many PEAP deployments fail to deploy properly</a:t>
            </a:r>
          </a:p>
          <a:p>
            <a:pPr lvl="2"/>
            <a:r>
              <a:rPr lang="en-US" altLang="ja-JP" sz="1200" dirty="0"/>
              <a:t>Fail to enable server certificate validation</a:t>
            </a:r>
          </a:p>
          <a:p>
            <a:pPr lvl="2"/>
            <a:r>
              <a:rPr lang="en-US" altLang="ja-JP" sz="1200" dirty="0"/>
              <a:t>Using CHAP/PAP (MS-CHAPv2), which can be cracked</a:t>
            </a:r>
          </a:p>
          <a:p>
            <a:pPr lvl="1"/>
            <a:r>
              <a:rPr lang="en-US" altLang="ja-JP" sz="1400" dirty="0"/>
              <a:t>Anyone can impersonate RADIUS server</a:t>
            </a:r>
          </a:p>
          <a:p>
            <a:pPr lvl="2"/>
            <a:r>
              <a:rPr lang="en-US" altLang="ja-JP" sz="1200" dirty="0"/>
              <a:t>Clients don’t always validate the CA certificate</a:t>
            </a:r>
          </a:p>
          <a:p>
            <a:pPr lvl="2"/>
            <a:r>
              <a:rPr lang="en-US" altLang="ja-JP" sz="1200" dirty="0"/>
              <a:t>Windows client ask for </a:t>
            </a:r>
            <a:r>
              <a:rPr lang="en-US" altLang="ja-JP" sz="1200" dirty="0" err="1"/>
              <a:t>userid</a:t>
            </a:r>
            <a:r>
              <a:rPr lang="en-US" altLang="ja-JP" sz="1200" dirty="0"/>
              <a:t>/password before validating certificate</a:t>
            </a:r>
          </a:p>
          <a:p>
            <a:pPr lvl="3"/>
            <a:r>
              <a:rPr lang="en-US" altLang="ja-JP" sz="1000" dirty="0"/>
              <a:t>Sends MS-CHAPv2 credentials to attacker</a:t>
            </a:r>
            <a:endParaRPr lang="en-US" altLang="ja-JP" sz="1200" dirty="0"/>
          </a:p>
          <a:p>
            <a:pPr lvl="2"/>
            <a:r>
              <a:rPr lang="en-US" altLang="ja-JP" sz="1200" dirty="0"/>
              <a:t>Users left to decide to trust or reject certificate (iOS)</a:t>
            </a:r>
          </a:p>
          <a:p>
            <a:pPr lvl="3"/>
            <a:r>
              <a:rPr lang="en-US" altLang="ja-JP" sz="1000" dirty="0"/>
              <a:t>Android unless specifically configured to trust a public CA</a:t>
            </a:r>
          </a:p>
        </p:txBody>
      </p:sp>
    </p:spTree>
    <p:extLst>
      <p:ext uri="{BB962C8B-B14F-4D97-AF65-F5344CB8AC3E}">
        <p14:creationId xmlns:p14="http://schemas.microsoft.com/office/powerpoint/2010/main" val="8396126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WiFi Guidelines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600" dirty="0"/>
              <a:t>CERT Guide</a:t>
            </a:r>
          </a:p>
          <a:p>
            <a:pPr lvl="1"/>
            <a:r>
              <a:rPr lang="en-US" sz="1400" dirty="0">
                <a:hlinkClick r:id="rId3"/>
              </a:rPr>
              <a:t>https://www.us-cert.gov/sites/default/files/publications/A_Guide_to_Securing_Networks_for_Wi-Fi.pdf</a:t>
            </a:r>
            <a:endParaRPr lang="en-US" sz="1400" dirty="0"/>
          </a:p>
          <a:p>
            <a:r>
              <a:rPr lang="en-US" sz="1600" dirty="0"/>
              <a:t>NIST Guidelines</a:t>
            </a:r>
          </a:p>
          <a:p>
            <a:pPr lvl="1"/>
            <a:r>
              <a:rPr lang="en-US" sz="1400" dirty="0">
                <a:hlinkClick r:id="rId4"/>
              </a:rPr>
              <a:t>https://csrc.nist.gov/publications/detail/sp/800-97/final</a:t>
            </a:r>
          </a:p>
          <a:p>
            <a:pPr lvl="1"/>
            <a:r>
              <a:rPr lang="en-US" sz="1400" dirty="0">
                <a:hlinkClick r:id="rId4"/>
              </a:rPr>
              <a:t>https://csrc.nist.gov/publications/detail/sp/800-153/final</a:t>
            </a:r>
          </a:p>
          <a:p>
            <a:r>
              <a:rPr lang="en-US" sz="1600" dirty="0"/>
              <a:t>SANS Whitepaper</a:t>
            </a:r>
          </a:p>
          <a:p>
            <a:pPr lvl="1"/>
            <a:r>
              <a:rPr lang="en-US" sz="1400" dirty="0">
                <a:hlinkClick r:id="rId5"/>
              </a:rPr>
              <a:t>https://www.sans.org/reading-room/whitepapers/access/security-vulnerabilities-wireless-lan-technology-1629</a:t>
            </a:r>
          </a:p>
          <a:p>
            <a:pPr lvl="1"/>
            <a:r>
              <a:rPr lang="en-US" sz="1400" dirty="0">
                <a:hlinkClick r:id="rId5"/>
              </a:rPr>
              <a:t>https://www.sans.org/reading-room/whitepapers/wireless/security-guidelines-wireless-lan-implementation-1233</a:t>
            </a:r>
          </a:p>
          <a:p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14905297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WiFi Tools    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00706"/>
            <a:ext cx="8699500" cy="5523908"/>
          </a:xfrm>
        </p:spPr>
        <p:txBody>
          <a:bodyPr>
            <a:normAutofit lnSpcReduction="10000"/>
          </a:bodyPr>
          <a:lstStyle/>
          <a:p>
            <a:r>
              <a:rPr lang="en-US" altLang="ja-JP" sz="1600" dirty="0"/>
              <a:t>Tools</a:t>
            </a:r>
          </a:p>
          <a:p>
            <a:pPr lvl="1"/>
            <a:r>
              <a:rPr lang="en-US" altLang="ja-JP" sz="1400" dirty="0"/>
              <a:t>Too many to enumerate, available for all platforms</a:t>
            </a:r>
          </a:p>
          <a:p>
            <a:pPr lvl="1"/>
            <a:r>
              <a:rPr lang="en-US" altLang="ja-JP" sz="1400" dirty="0"/>
              <a:t>SANS SWAT Toolkit</a:t>
            </a:r>
          </a:p>
          <a:p>
            <a:r>
              <a:rPr lang="en-US" altLang="ja-JP" sz="1600" dirty="0"/>
              <a:t>Popular</a:t>
            </a:r>
          </a:p>
          <a:p>
            <a:pPr lvl="1"/>
            <a:r>
              <a:rPr lang="en-US" altLang="ja-JP" sz="1400" dirty="0"/>
              <a:t>Android</a:t>
            </a:r>
          </a:p>
          <a:p>
            <a:pPr lvl="2"/>
            <a:r>
              <a:rPr lang="en-US" altLang="ja-JP" sz="1200" dirty="0" err="1"/>
              <a:t>Wifi</a:t>
            </a:r>
            <a:r>
              <a:rPr lang="en-US" altLang="ja-JP" sz="1200" dirty="0"/>
              <a:t> Analyzer</a:t>
            </a:r>
          </a:p>
          <a:p>
            <a:pPr lvl="1"/>
            <a:r>
              <a:rPr lang="en-US" altLang="ja-JP" sz="1400" dirty="0"/>
              <a:t>Linux (usually included with Kali Linux)</a:t>
            </a:r>
          </a:p>
          <a:p>
            <a:pPr lvl="2"/>
            <a:r>
              <a:rPr lang="en-US" altLang="ja-JP" sz="1200" dirty="0"/>
              <a:t>Linux allows </a:t>
            </a:r>
            <a:r>
              <a:rPr lang="en-US" altLang="ja-JP" sz="1200" dirty="0" err="1"/>
              <a:t>WiFi</a:t>
            </a:r>
            <a:r>
              <a:rPr lang="en-US" altLang="ja-JP" sz="1200" dirty="0"/>
              <a:t> devices to be put into monitor mode good for sniffing</a:t>
            </a:r>
          </a:p>
          <a:p>
            <a:pPr lvl="2"/>
            <a:r>
              <a:rPr lang="en-US" altLang="ja-JP" sz="1200" dirty="0"/>
              <a:t>Command line tools</a:t>
            </a:r>
          </a:p>
          <a:p>
            <a:pPr lvl="3"/>
            <a:r>
              <a:rPr lang="en-US" altLang="ja-JP" sz="1000" dirty="0" err="1"/>
              <a:t>iwlist</a:t>
            </a:r>
            <a:endParaRPr lang="en-US" altLang="ja-JP" sz="1000" dirty="0"/>
          </a:p>
          <a:p>
            <a:pPr lvl="3"/>
            <a:r>
              <a:rPr lang="en-US" altLang="ja-JP" sz="1000" dirty="0" err="1"/>
              <a:t>wavemon</a:t>
            </a:r>
            <a:endParaRPr lang="en-US" altLang="ja-JP" sz="1000" dirty="0"/>
          </a:p>
          <a:p>
            <a:pPr lvl="2"/>
            <a:r>
              <a:rPr lang="en-US" altLang="ja-JP" sz="1200" dirty="0" err="1"/>
              <a:t>Aircrack</a:t>
            </a:r>
            <a:r>
              <a:rPr lang="en-US" altLang="ja-JP" sz="1200" dirty="0"/>
              <a:t>-NG Suite: </a:t>
            </a:r>
            <a:r>
              <a:rPr lang="en-US" altLang="ja-JP" sz="1200" dirty="0" err="1"/>
              <a:t>aircrack</a:t>
            </a:r>
            <a:r>
              <a:rPr lang="en-US" altLang="ja-JP" sz="1200" dirty="0"/>
              <a:t>-ng, </a:t>
            </a:r>
            <a:r>
              <a:rPr lang="en-US" altLang="ja-JP" sz="1200" dirty="0" err="1"/>
              <a:t>airmon</a:t>
            </a:r>
            <a:r>
              <a:rPr lang="en-US" altLang="ja-JP" sz="1200" dirty="0"/>
              <a:t>-ng, </a:t>
            </a:r>
            <a:r>
              <a:rPr lang="en-US" altLang="ja-JP" sz="1200" dirty="0" err="1"/>
              <a:t>aircrack</a:t>
            </a:r>
            <a:r>
              <a:rPr lang="en-US" altLang="ja-JP" sz="1200" dirty="0"/>
              <a:t>-ng, </a:t>
            </a:r>
            <a:r>
              <a:rPr lang="en-US" altLang="ja-JP" sz="1200" dirty="0" err="1"/>
              <a:t>airdecap</a:t>
            </a:r>
            <a:r>
              <a:rPr lang="en-US" altLang="ja-JP" sz="1200" dirty="0"/>
              <a:t>-ng, …</a:t>
            </a:r>
          </a:p>
          <a:p>
            <a:pPr lvl="2"/>
            <a:r>
              <a:rPr lang="en-US" altLang="ja-JP" sz="1200" dirty="0" err="1"/>
              <a:t>Hashcat</a:t>
            </a:r>
            <a:endParaRPr lang="en-US" altLang="ja-JP" sz="1200" dirty="0"/>
          </a:p>
          <a:p>
            <a:pPr lvl="2"/>
            <a:r>
              <a:rPr lang="en-US" altLang="ja-JP" sz="1200" dirty="0"/>
              <a:t>Kismet</a:t>
            </a:r>
          </a:p>
          <a:p>
            <a:pPr lvl="2"/>
            <a:r>
              <a:rPr lang="en-US" altLang="ja-JP" sz="1200" dirty="0" err="1"/>
              <a:t>LinSSID</a:t>
            </a:r>
            <a:endParaRPr lang="en-US" altLang="ja-JP" sz="1200" dirty="0"/>
          </a:p>
          <a:p>
            <a:pPr lvl="2"/>
            <a:r>
              <a:rPr lang="en-US" altLang="ja-JP" sz="1200" dirty="0"/>
              <a:t>Wireshark, </a:t>
            </a:r>
            <a:r>
              <a:rPr lang="en-US" altLang="ja-JP" sz="1200" dirty="0" err="1"/>
              <a:t>tshark</a:t>
            </a:r>
            <a:endParaRPr lang="en-US" altLang="ja-JP" sz="1200" dirty="0"/>
          </a:p>
          <a:p>
            <a:pPr lvl="1"/>
            <a:r>
              <a:rPr lang="en-US" altLang="ja-JP" sz="1400" dirty="0"/>
              <a:t>Windows</a:t>
            </a:r>
          </a:p>
          <a:p>
            <a:pPr lvl="2"/>
            <a:r>
              <a:rPr lang="en-US" altLang="ja-JP" sz="1200" dirty="0"/>
              <a:t>Using 802.11n/ac dongle</a:t>
            </a:r>
          </a:p>
          <a:p>
            <a:pPr lvl="2"/>
            <a:r>
              <a:rPr lang="en-US" altLang="ja-JP" sz="1200" dirty="0"/>
              <a:t>Acrylic </a:t>
            </a:r>
            <a:r>
              <a:rPr lang="en-US" altLang="ja-JP" sz="1200" dirty="0" err="1"/>
              <a:t>WiFi</a:t>
            </a:r>
            <a:r>
              <a:rPr lang="en-US" altLang="ja-JP" sz="1200" dirty="0"/>
              <a:t>: </a:t>
            </a:r>
            <a:r>
              <a:rPr lang="en-US" altLang="ja-JP" sz="1200" dirty="0">
                <a:hlinkClick r:id="rId3"/>
              </a:rPr>
              <a:t>https://www.acrylicwifi.com/en/</a:t>
            </a:r>
            <a:endParaRPr lang="en-US" altLang="ja-JP" sz="1200" dirty="0"/>
          </a:p>
          <a:p>
            <a:pPr lvl="2"/>
            <a:r>
              <a:rPr lang="en-US" altLang="ja-JP" sz="1200" dirty="0" err="1"/>
              <a:t>NetSpot</a:t>
            </a:r>
            <a:r>
              <a:rPr lang="en-US" altLang="ja-JP" sz="1200" dirty="0"/>
              <a:t>: </a:t>
            </a:r>
            <a:r>
              <a:rPr lang="en-US" altLang="ja-JP" sz="1200" dirty="0">
                <a:hlinkClick r:id="rId4"/>
              </a:rPr>
              <a:t>https://www.netspotapp.com/</a:t>
            </a:r>
            <a:endParaRPr lang="en-US" altLang="ja-JP" sz="1200" dirty="0"/>
          </a:p>
          <a:p>
            <a:pPr lvl="2"/>
            <a:r>
              <a:rPr lang="en-US" altLang="ja-JP" sz="1200" dirty="0" err="1"/>
              <a:t>InSSIDer</a:t>
            </a:r>
            <a:r>
              <a:rPr lang="en-US" altLang="ja-JP" sz="1200" dirty="0"/>
              <a:t>: </a:t>
            </a:r>
            <a:r>
              <a:rPr lang="en-US" altLang="ja-JP" sz="1200" dirty="0">
                <a:hlinkClick r:id="rId5"/>
              </a:rPr>
              <a:t>https://www.metageek.com/products/inssider/</a:t>
            </a:r>
            <a:endParaRPr lang="en-US" altLang="ja-JP" sz="1200" dirty="0"/>
          </a:p>
          <a:p>
            <a:pPr lvl="2"/>
            <a:r>
              <a:rPr lang="en-US" altLang="ja-JP" sz="1200" dirty="0"/>
              <a:t>Wireshark</a:t>
            </a:r>
          </a:p>
          <a:p>
            <a:pPr lvl="2"/>
            <a:r>
              <a:rPr lang="en-US" altLang="ja-JP" sz="1200" dirty="0" err="1"/>
              <a:t>WirelessKeyView</a:t>
            </a:r>
            <a:r>
              <a:rPr lang="en-US" altLang="ja-JP" sz="1200" dirty="0"/>
              <a:t> (</a:t>
            </a:r>
            <a:r>
              <a:rPr lang="en-US" altLang="ja-JP" sz="1200" dirty="0" err="1"/>
              <a:t>NirSoft</a:t>
            </a:r>
            <a:r>
              <a:rPr lang="en-US" altLang="ja-JP" sz="1200" dirty="0"/>
              <a:t>)</a:t>
            </a:r>
          </a:p>
          <a:p>
            <a:pPr lvl="2"/>
            <a:endParaRPr lang="en-US" altLang="ja-JP" sz="1200" dirty="0"/>
          </a:p>
          <a:p>
            <a:pPr lvl="1"/>
            <a:endParaRPr lang="en-US" altLang="ja-JP" sz="1400" dirty="0"/>
          </a:p>
          <a:p>
            <a:pPr lvl="1"/>
            <a:endParaRPr lang="en-US" altLang="ja-JP" sz="1200" dirty="0"/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83160743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2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1683</Words>
  <Application>Microsoft Office PowerPoint</Application>
  <PresentationFormat>Widescreen</PresentationFormat>
  <Paragraphs>283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Roboto</vt:lpstr>
      <vt:lpstr>Custom Design</vt:lpstr>
      <vt:lpstr>PowerPoint Presentation</vt:lpstr>
      <vt:lpstr>Walkthrough WPA2 Handshake Cracking</vt:lpstr>
      <vt:lpstr>Exercise #01</vt:lpstr>
      <vt:lpstr>Step 1 - Download Wi-Fi Analyzer App</vt:lpstr>
      <vt:lpstr>Step 2 - Check the Different Views Mobile App: Wi-Fi Analyzer</vt:lpstr>
      <vt:lpstr>Exercise #02</vt:lpstr>
      <vt:lpstr>Step 1 - Setup Monitor Mode WPA2 Handshake Cracking</vt:lpstr>
      <vt:lpstr>Step 2 - Analyze Available Wi-Fi Networks WPA2 Handshake Cracking</vt:lpstr>
      <vt:lpstr>Step 3 - Analyze Networks on a Speciﬁc Channel WPA2 Handshake Cracking</vt:lpstr>
      <vt:lpstr>Step 4 - Analyze Speciﬁc Access Point (BSSID) WPA2 Handshake Cracking</vt:lpstr>
      <vt:lpstr>Step 4 - Deauth Clients WPA2 Handshake Cracking</vt:lpstr>
      <vt:lpstr>Step 5 - Capture Handshake WPA2 Handshake Cracking</vt:lpstr>
      <vt:lpstr>Step 6 - Crack Handshake WPA2 Handshake Cracking</vt:lpstr>
      <vt:lpstr>Exercise #03</vt:lpstr>
      <vt:lpstr>Wiﬁte2</vt:lpstr>
      <vt:lpstr>Wiﬁte2 - Steps</vt:lpstr>
      <vt:lpstr>Lab 1 – Understanding Your Environment</vt:lpstr>
      <vt:lpstr>Exercise #04</vt:lpstr>
      <vt:lpstr>Step 1 - Download Wordlist &amp; Identify Wireless Adapter</vt:lpstr>
      <vt:lpstr>Step 2 - Kill Interrupting Services &amp; Start Monitor Mode</vt:lpstr>
      <vt:lpstr>Step 2 - Kill Interrupting Services &amp; Start Monitor Mode</vt:lpstr>
      <vt:lpstr>Step 3 - Look for Targets</vt:lpstr>
      <vt:lpstr>Step 4 - Deauth Clients WPA2 Handshake Cracking</vt:lpstr>
      <vt:lpstr>Step 5 - Capture Network Handshake and Save to File</vt:lpstr>
      <vt:lpstr>Step 6 - Crack Password using Aircrack-ng &amp; Wordlist</vt:lpstr>
      <vt:lpstr>WiFi Information</vt:lpstr>
      <vt:lpstr>WiFi Security</vt:lpstr>
      <vt:lpstr>WiFi Vulnerabilities</vt:lpstr>
      <vt:lpstr>WiFi Enterprise</vt:lpstr>
      <vt:lpstr>WiFi Guidelines</vt:lpstr>
      <vt:lpstr>WiFi Tools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Neal Probert</cp:lastModifiedBy>
  <cp:revision>11</cp:revision>
  <dcterms:created xsi:type="dcterms:W3CDTF">2026-03-11T18:02:03Z</dcterms:created>
  <dcterms:modified xsi:type="dcterms:W3CDTF">2026-10-16T18:00:39Z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
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5"/>
  </p:sldMasterIdLst>
  <p:notesMasterIdLst>
    <p:notesMasterId r:id="rId22"/>
  </p:notesMasterIdLst>
  <p:sldIdLst>
    <p:sldId id="745" r:id="rId6"/>
    <p:sldId id="732" r:id="rId7"/>
    <p:sldId id="746" r:id="rId8"/>
    <p:sldId id="795" r:id="rId9"/>
    <p:sldId id="796" r:id="rId10"/>
    <p:sldId id="797" r:id="rId11"/>
    <p:sldId id="794" r:id="rId12"/>
    <p:sldId id="806" r:id="rId13"/>
    <p:sldId id="798" r:id="rId14"/>
    <p:sldId id="805" r:id="rId15"/>
    <p:sldId id="804" r:id="rId16"/>
    <p:sldId id="779" r:id="rId17"/>
    <p:sldId id="782" r:id="rId18"/>
    <p:sldId id="780" r:id="rId19"/>
    <p:sldId id="793" r:id="rId20"/>
    <p:sldId id="748" r:id="rId21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2648E-2733-4EC8-BEDA-1577DE2D3D0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A796C-48E4-4AB2-BF9A-20773E9CD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2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3909268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3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2248661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4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427760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5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2505068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6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33417165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7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2802952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8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3000483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9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36976327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10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5823437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11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17139747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12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41480951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13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38879644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14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33053915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15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35352583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16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3052812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A380C-F67F-EFBA-3B70-375AF924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61943-3342-4554-8403-118C8C1529D5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AFDB8-8FC5-F48F-B4AE-DA7846B5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2BEB7-8480-87E5-785A-0C311E8B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579870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42D-E5F5-D09D-EEA0-06051D45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2CF76-9965-422C-D7AA-934E02A1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11D16-F5A9-231C-545E-6906C5F1D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61943-3342-4554-8403-118C8C1529D5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8B990-6EF6-E39E-EF31-38B044D06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DDA7-C73D-4678-0FED-6404D4AF2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1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tia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Internet_of_things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howtogeek.com/180649/htg-explains-whats-the-difference-between-ad-hoc-and-infrastructure-mode/" TargetMode="External"/><Relationship Id="rId3" Type="http://schemas.openxmlformats.org/officeDocument/2006/relationships/hyperlink" Target="https://en.wikipedia.org/wiki/Bluetooth_mesh_networking" TargetMode="External"/><Relationship Id="rId7" Type="http://schemas.openxmlformats.org/officeDocument/2006/relationships/hyperlink" Target="https://en.wikipedia.org/wiki/Wi-Fi_Direc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i-fi.org/discover-wi-fi/wi-fi-halow" TargetMode="External"/><Relationship Id="rId5" Type="http://schemas.openxmlformats.org/officeDocument/2006/relationships/hyperlink" Target="https://en.wikipedia.org/wiki/IEEE_802.11ah" TargetMode="External"/><Relationship Id="rId4" Type="http://schemas.openxmlformats.org/officeDocument/2006/relationships/hyperlink" Target="https://www.bluetooth.com/bluetooth-technology/topology-options/le-mesh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adio-frequency_identificatio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ear-field_communicatio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nearfieldcommunication.org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tandards.ieee.org/findstds/standard/802.15.4-2015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zigbee.org/" TargetMode="External"/><Relationship Id="rId5" Type="http://schemas.openxmlformats.org/officeDocument/2006/relationships/hyperlink" Target="https://en.wikipedia.org/wiki/IEEE_802.15.4" TargetMode="External"/><Relationship Id="rId4" Type="http://schemas.openxmlformats.org/officeDocument/2006/relationships/hyperlink" Target="https://en.wikipedia.org/wiki/Zigbee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iverloopsec/killerbe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Z-Wav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z-wave.com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-Fi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Power-line_communication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ans.org/reading-room/whitepapers/wireless/bluetooth-inherent-security-issues-945" TargetMode="External"/><Relationship Id="rId3" Type="http://schemas.openxmlformats.org/officeDocument/2006/relationships/hyperlink" Target="https://www.wired.com/story/devils-ivy-iot-vulnerability/" TargetMode="External"/><Relationship Id="rId7" Type="http://schemas.openxmlformats.org/officeDocument/2006/relationships/hyperlink" Target="https://csrc.nist.gov/csrc/media/publications/sp/800-121/rev-2/draft/documents/sp800_121_r2_draft.pdf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hodan.io/" TargetMode="External"/><Relationship Id="rId5" Type="http://schemas.openxmlformats.org/officeDocument/2006/relationships/hyperlink" Target="https://www.wired.com/story/mirai-botnet-minecraft-scam-brought-down-the-internet/" TargetMode="External"/><Relationship Id="rId4" Type="http://schemas.openxmlformats.org/officeDocument/2006/relationships/hyperlink" Target="https://en.wikipedia.org/wiki/Mirai_(malware)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2582863" y="2990851"/>
            <a:ext cx="7046912" cy="911225"/>
          </a:xfrm>
        </p:spPr>
        <p:txBody>
          <a:bodyPr/>
          <a:lstStyle/>
          <a:p>
            <a:pPr algn="ctr"/>
            <a:r>
              <a:rPr lang="en-US" b="1" dirty="0"/>
              <a:t>Internet of Things</a:t>
            </a:r>
          </a:p>
        </p:txBody>
      </p:sp>
      <p:pic>
        <p:nvPicPr>
          <p:cNvPr id="3076" name="Picture 4" descr="Image result for internet of thing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326" y="1117416"/>
            <a:ext cx="4745986" cy="4189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937997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Internet of Things (</a:t>
            </a:r>
            <a:r>
              <a:rPr lang="en-US" dirty="0" err="1"/>
              <a:t>IoT</a:t>
            </a:r>
            <a:r>
              <a:rPr lang="en-US" dirty="0"/>
              <a:t>)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sz="1800" dirty="0"/>
              <a:t>Basics</a:t>
            </a:r>
          </a:p>
          <a:p>
            <a:pPr lvl="1"/>
            <a:r>
              <a:rPr lang="en-US" sz="1400" dirty="0"/>
              <a:t>Wide variety of wireless technologies, including Bluetooth and WiFi</a:t>
            </a:r>
          </a:p>
          <a:p>
            <a:pPr lvl="1"/>
            <a:r>
              <a:rPr lang="en-US" sz="1400" dirty="0"/>
              <a:t>Smart grids, power plants, smart homes, intelligent transportation and smart cities</a:t>
            </a:r>
          </a:p>
          <a:p>
            <a:pPr lvl="1"/>
            <a:r>
              <a:rPr lang="en-US" sz="1400" dirty="0"/>
              <a:t>Network of physical devices for home and industrial applications</a:t>
            </a:r>
          </a:p>
          <a:p>
            <a:pPr lvl="2"/>
            <a:r>
              <a:rPr lang="en-US" sz="1200" dirty="0"/>
              <a:t>Electronics, software, sensors, actuators and connectivity</a:t>
            </a:r>
          </a:p>
          <a:p>
            <a:r>
              <a:rPr lang="en-US" sz="1800" dirty="0"/>
              <a:t>Security</a:t>
            </a:r>
          </a:p>
          <a:p>
            <a:pPr lvl="1"/>
            <a:r>
              <a:rPr lang="en-US" sz="1400" dirty="0"/>
              <a:t>Initially none or very weak</a:t>
            </a:r>
          </a:p>
          <a:p>
            <a:pPr lvl="1"/>
            <a:r>
              <a:rPr lang="en-US" sz="1400" dirty="0"/>
              <a:t>Factory default usernames and passwords</a:t>
            </a:r>
          </a:p>
          <a:p>
            <a:pPr lvl="1"/>
            <a:r>
              <a:rPr lang="en-US" sz="1400" dirty="0"/>
              <a:t>Embedded devices are sometimes hard to patch</a:t>
            </a:r>
          </a:p>
          <a:p>
            <a:pPr lvl="2"/>
            <a:r>
              <a:rPr lang="en-US" sz="1200" dirty="0"/>
              <a:t>Can’t be updated</a:t>
            </a:r>
          </a:p>
          <a:p>
            <a:pPr lvl="2"/>
            <a:r>
              <a:rPr lang="en-US" sz="1200" dirty="0"/>
              <a:t>Updated software not always available</a:t>
            </a:r>
          </a:p>
          <a:p>
            <a:pPr lvl="2"/>
            <a:r>
              <a:rPr lang="en-US" sz="1200" dirty="0"/>
              <a:t>Product becomes obsolete quickly</a:t>
            </a:r>
          </a:p>
          <a:p>
            <a:pPr lvl="1"/>
            <a:r>
              <a:rPr lang="en-US" sz="1400" dirty="0"/>
              <a:t>Devices connected to the Internet (the cloud) become vulnerable</a:t>
            </a:r>
          </a:p>
          <a:p>
            <a:pPr lvl="1"/>
            <a:r>
              <a:rPr lang="en-US" sz="1400" dirty="0"/>
              <a:t>Website and cloud vulnerabilities become </a:t>
            </a:r>
            <a:r>
              <a:rPr lang="en-US" sz="1400" dirty="0" err="1"/>
              <a:t>IoT</a:t>
            </a:r>
            <a:r>
              <a:rPr lang="en-US" sz="1400" dirty="0"/>
              <a:t> vulnerabilities</a:t>
            </a:r>
          </a:p>
          <a:p>
            <a:r>
              <a:rPr lang="en-US" sz="1800" dirty="0"/>
              <a:t>Automotive is often included as a “Thing”</a:t>
            </a:r>
          </a:p>
          <a:p>
            <a:pPr lvl="1"/>
            <a:r>
              <a:rPr lang="en-US" sz="1400" dirty="0"/>
              <a:t>Doesn’t use </a:t>
            </a:r>
            <a:r>
              <a:rPr lang="en-US" sz="1400" dirty="0" err="1"/>
              <a:t>IoT</a:t>
            </a:r>
            <a:r>
              <a:rPr lang="en-US" sz="1400" dirty="0"/>
              <a:t> protocols aside from Bluetooth, Cellular and WiFi</a:t>
            </a:r>
          </a:p>
          <a:p>
            <a:r>
              <a:rPr lang="en-US" sz="1800" dirty="0"/>
              <a:t>Links</a:t>
            </a:r>
          </a:p>
          <a:p>
            <a:pPr lvl="1"/>
            <a:r>
              <a:rPr lang="en-US" sz="1400" dirty="0"/>
              <a:t>CITA: </a:t>
            </a:r>
            <a:r>
              <a:rPr lang="en-US" sz="1400" dirty="0">
                <a:hlinkClick r:id="rId3"/>
              </a:rPr>
              <a:t>https://www.ctia.org/</a:t>
            </a:r>
            <a:endParaRPr lang="en-US" sz="1400" dirty="0"/>
          </a:p>
          <a:p>
            <a:pPr lvl="1"/>
            <a:r>
              <a:rPr lang="en-US" sz="1400" dirty="0">
                <a:hlinkClick r:id="rId4"/>
              </a:rPr>
              <a:t>https://en.wikipedia.org/wiki/Internet_of_things</a:t>
            </a:r>
            <a:endParaRPr lang="en-US" sz="1400" dirty="0"/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7168909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IoT Protocols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sz="1800" dirty="0"/>
              <a:t>Bluetooth (BT) Mesh</a:t>
            </a:r>
          </a:p>
          <a:p>
            <a:pPr lvl="1"/>
            <a:r>
              <a:rPr lang="en-US" sz="1400" dirty="0">
                <a:hlinkClick r:id="rId3"/>
              </a:rPr>
              <a:t>https://en.wikipedia.org/wiki/Bluetooth_mesh_networking</a:t>
            </a:r>
            <a:endParaRPr lang="en-US" sz="1400" dirty="0"/>
          </a:p>
          <a:p>
            <a:pPr lvl="1"/>
            <a:r>
              <a:rPr lang="en-US" sz="1400" dirty="0">
                <a:hlinkClick r:id="rId4"/>
              </a:rPr>
              <a:t>https://www.bluetooth.com/bluetooth-technology/topology-options/le-mesh</a:t>
            </a:r>
            <a:endParaRPr lang="en-US" sz="1400" dirty="0"/>
          </a:p>
          <a:p>
            <a:pPr lvl="1"/>
            <a:r>
              <a:rPr lang="en-US" sz="1400" dirty="0"/>
              <a:t>Bluetooth Low Energy (BLE) available as a competitor to ZigBee</a:t>
            </a:r>
          </a:p>
          <a:p>
            <a:pPr lvl="1"/>
            <a:r>
              <a:rPr lang="en-US" sz="1400" dirty="0"/>
              <a:t>See Bluetooth BLE section above</a:t>
            </a:r>
          </a:p>
          <a:p>
            <a:r>
              <a:rPr lang="en-US" sz="1800" dirty="0" err="1"/>
              <a:t>HaLow</a:t>
            </a:r>
            <a:r>
              <a:rPr lang="en-US" sz="1800" dirty="0"/>
              <a:t> WiFi</a:t>
            </a:r>
          </a:p>
          <a:p>
            <a:pPr lvl="1"/>
            <a:r>
              <a:rPr lang="en-US" sz="1400" dirty="0"/>
              <a:t>IEEE 802.11ah</a:t>
            </a:r>
          </a:p>
          <a:p>
            <a:pPr lvl="1"/>
            <a:r>
              <a:rPr lang="en-US" sz="1400" dirty="0">
                <a:hlinkClick r:id="rId5"/>
              </a:rPr>
              <a:t>https://en.wikipedia.org/wiki/IEEE_802.11ah</a:t>
            </a:r>
            <a:endParaRPr lang="en-US" sz="1400" dirty="0"/>
          </a:p>
          <a:p>
            <a:pPr lvl="1"/>
            <a:r>
              <a:rPr lang="en-US" sz="1400" dirty="0">
                <a:hlinkClick r:id="rId6"/>
              </a:rPr>
              <a:t>https://www.wi-fi.org/discover-wi-fi/wi-fi-halow</a:t>
            </a:r>
            <a:endParaRPr lang="en-US" sz="1400" dirty="0"/>
          </a:p>
          <a:p>
            <a:pPr lvl="1"/>
            <a:r>
              <a:rPr lang="en-US" sz="1400" dirty="0"/>
              <a:t>Being added to new </a:t>
            </a:r>
            <a:r>
              <a:rPr lang="en-US" sz="1400" dirty="0" err="1"/>
              <a:t>WiFi</a:t>
            </a:r>
            <a:r>
              <a:rPr lang="en-US" sz="1400" dirty="0"/>
              <a:t> routers</a:t>
            </a:r>
          </a:p>
          <a:p>
            <a:pPr lvl="1"/>
            <a:r>
              <a:rPr lang="en-US" sz="1400" dirty="0"/>
              <a:t>Longer range, lower power</a:t>
            </a:r>
          </a:p>
          <a:p>
            <a:pPr lvl="1"/>
            <a:r>
              <a:rPr lang="en-US" sz="1400" dirty="0"/>
              <a:t>900Mhz</a:t>
            </a:r>
          </a:p>
          <a:p>
            <a:r>
              <a:rPr lang="en-US" sz="1800" dirty="0" err="1"/>
              <a:t>WiFi</a:t>
            </a:r>
            <a:endParaRPr lang="en-US" sz="1800" dirty="0"/>
          </a:p>
          <a:p>
            <a:pPr lvl="1"/>
            <a:r>
              <a:rPr lang="en-US" sz="1400" dirty="0"/>
              <a:t>Wi-Fi Direct</a:t>
            </a:r>
          </a:p>
          <a:p>
            <a:pPr lvl="1"/>
            <a:r>
              <a:rPr lang="en-US" sz="1400" dirty="0">
                <a:hlinkClick r:id="rId7"/>
              </a:rPr>
              <a:t>https://en.wikipedia.org/wiki/Wi-Fi_Direct</a:t>
            </a:r>
            <a:endParaRPr lang="en-US" sz="1400" dirty="0"/>
          </a:p>
          <a:p>
            <a:pPr lvl="1"/>
            <a:r>
              <a:rPr lang="en-US" sz="1400" dirty="0">
                <a:hlinkClick r:id="rId8"/>
              </a:rPr>
              <a:t>https://www.howtogeek.com/180649/htg-explains-whats-the-difference-between-ad-hoc-and-infrastructure-mode/</a:t>
            </a:r>
            <a:endParaRPr lang="en-US" sz="1400" dirty="0"/>
          </a:p>
          <a:p>
            <a:pPr lvl="1"/>
            <a:r>
              <a:rPr lang="en-US" sz="1400" dirty="0"/>
              <a:t>Like Ad-Hoc, not as secure</a:t>
            </a:r>
          </a:p>
          <a:p>
            <a:pPr lvl="1"/>
            <a:r>
              <a:rPr lang="en-US" sz="1400" dirty="0"/>
              <a:t>Too complex for simple applications</a:t>
            </a:r>
          </a:p>
          <a:p>
            <a:pPr lvl="1"/>
            <a:r>
              <a:rPr lang="en-US" sz="1400" dirty="0"/>
              <a:t>ESP8266, ESP32 devices provide low cost embedded </a:t>
            </a:r>
            <a:r>
              <a:rPr lang="en-US" sz="1400" dirty="0" err="1"/>
              <a:t>WiFi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9075347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178336"/>
            <a:ext cx="8229600" cy="732127"/>
          </a:xfrm>
        </p:spPr>
        <p:txBody>
          <a:bodyPr>
            <a:normAutofit/>
          </a:bodyPr>
          <a:lstStyle/>
          <a:p>
            <a:r>
              <a:rPr lang="en-US" dirty="0"/>
              <a:t>IoT RFID Information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828469"/>
            <a:ext cx="8699500" cy="5596145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Basics</a:t>
            </a:r>
          </a:p>
          <a:p>
            <a:pPr lvl="1"/>
            <a:r>
              <a:rPr lang="en-US" sz="1400" dirty="0">
                <a:hlinkClick r:id="rId3"/>
              </a:rPr>
              <a:t>https://en.wikipedia.org/wiki/Radio-frequency_identification</a:t>
            </a:r>
            <a:endParaRPr lang="en-US" sz="1400" dirty="0"/>
          </a:p>
          <a:p>
            <a:pPr lvl="1"/>
            <a:r>
              <a:rPr lang="en-US" sz="1400" dirty="0"/>
              <a:t>Minimal transmission applications</a:t>
            </a:r>
          </a:p>
          <a:p>
            <a:pPr lvl="1"/>
            <a:r>
              <a:rPr lang="en-US" sz="1400" dirty="0"/>
              <a:t>Low overhead protocols, many proprietary</a:t>
            </a:r>
          </a:p>
          <a:p>
            <a:pPr lvl="1"/>
            <a:r>
              <a:rPr lang="en-US" sz="1400" dirty="0"/>
              <a:t>Multiple frequency bands:</a:t>
            </a:r>
          </a:p>
          <a:p>
            <a:pPr lvl="2"/>
            <a:r>
              <a:rPr lang="en-US" sz="1200" dirty="0"/>
              <a:t>120-134Khz, 140-148Khz = LF tags, 10cm</a:t>
            </a:r>
          </a:p>
          <a:p>
            <a:pPr lvl="2"/>
            <a:r>
              <a:rPr lang="en-US" sz="1200" dirty="0"/>
              <a:t>13.56Mhz = HF, 10-100cm</a:t>
            </a:r>
          </a:p>
          <a:p>
            <a:pPr lvl="2"/>
            <a:r>
              <a:rPr lang="en-US" sz="1200" dirty="0"/>
              <a:t>433Mhz = UHF, good range 1-100m and low interference</a:t>
            </a:r>
          </a:p>
          <a:p>
            <a:pPr lvl="2"/>
            <a:r>
              <a:rPr lang="en-US" sz="1200" dirty="0"/>
              <a:t>868-915Mhz = UHF, 1-2m or 300m also used for other protocols</a:t>
            </a:r>
          </a:p>
          <a:p>
            <a:pPr lvl="2"/>
            <a:r>
              <a:rPr lang="en-US" sz="1200" dirty="0"/>
              <a:t>2.4Ghz, 5Ghz = Industrial/Scientific/Medical 1-200m – also used for Wi-Fi, BT and Zigbee</a:t>
            </a:r>
          </a:p>
          <a:p>
            <a:pPr lvl="2"/>
            <a:r>
              <a:rPr lang="en-US" sz="1200" dirty="0"/>
              <a:t>LF has lower cost with improved range with common antennas</a:t>
            </a:r>
          </a:p>
          <a:p>
            <a:pPr lvl="2"/>
            <a:r>
              <a:rPr lang="en-US" sz="1200" dirty="0"/>
              <a:t>HF supports more data transfer and security</a:t>
            </a:r>
          </a:p>
          <a:p>
            <a:pPr lvl="1"/>
            <a:r>
              <a:rPr lang="en-US" sz="1400" dirty="0"/>
              <a:t>Passive Tags (Transponder)</a:t>
            </a:r>
          </a:p>
          <a:p>
            <a:pPr lvl="2"/>
            <a:r>
              <a:rPr lang="en-US" sz="1200" dirty="0"/>
              <a:t>No power</a:t>
            </a:r>
          </a:p>
          <a:p>
            <a:pPr lvl="2"/>
            <a:r>
              <a:rPr lang="en-US" sz="1200" dirty="0"/>
              <a:t>Power from Receiver EM field (inductive or capacitive coupling)</a:t>
            </a:r>
          </a:p>
          <a:p>
            <a:pPr lvl="2"/>
            <a:r>
              <a:rPr lang="en-US" sz="1200" dirty="0"/>
              <a:t>Proximity Integrated Circuit Card (PICC)</a:t>
            </a:r>
          </a:p>
          <a:p>
            <a:pPr lvl="1"/>
            <a:r>
              <a:rPr lang="en-US" sz="1400" dirty="0"/>
              <a:t>Active Tag</a:t>
            </a:r>
          </a:p>
          <a:p>
            <a:pPr lvl="2"/>
            <a:r>
              <a:rPr lang="en-US" sz="1200" dirty="0"/>
              <a:t>Battery powered</a:t>
            </a:r>
          </a:p>
          <a:p>
            <a:pPr lvl="2"/>
            <a:r>
              <a:rPr lang="en-US" sz="1200" dirty="0"/>
              <a:t>Can initiate exchange</a:t>
            </a:r>
          </a:p>
          <a:p>
            <a:pPr lvl="2"/>
            <a:r>
              <a:rPr lang="en-US" sz="1200" dirty="0"/>
              <a:t>EZ-Pass, </a:t>
            </a:r>
            <a:r>
              <a:rPr lang="en-US" sz="1200" dirty="0" err="1"/>
              <a:t>AeroScout</a:t>
            </a:r>
            <a:endParaRPr lang="en-US" sz="1200" dirty="0"/>
          </a:p>
          <a:p>
            <a:pPr lvl="1"/>
            <a:r>
              <a:rPr lang="en-US" sz="1400" dirty="0"/>
              <a:t>Receivers</a:t>
            </a:r>
          </a:p>
          <a:p>
            <a:pPr lvl="2"/>
            <a:r>
              <a:rPr lang="en-US" sz="1200" dirty="0"/>
              <a:t>Battery or AC powered</a:t>
            </a:r>
          </a:p>
          <a:p>
            <a:pPr lvl="2"/>
            <a:r>
              <a:rPr lang="en-US" sz="1200" dirty="0"/>
              <a:t>Proximity Coupling Device (PCD)</a:t>
            </a:r>
          </a:p>
          <a:p>
            <a:pPr lvl="1"/>
            <a:r>
              <a:rPr lang="en-US" sz="1400" dirty="0"/>
              <a:t>Contactless Smart Cards (RO/RW)</a:t>
            </a:r>
          </a:p>
          <a:p>
            <a:pPr lvl="2"/>
            <a:r>
              <a:rPr lang="en-US" sz="1200" dirty="0"/>
              <a:t>Transactions (subway, parking, banking, …)</a:t>
            </a:r>
          </a:p>
        </p:txBody>
      </p:sp>
    </p:spTree>
    <p:extLst>
      <p:ext uri="{BB962C8B-B14F-4D97-AF65-F5344CB8AC3E}">
        <p14:creationId xmlns:p14="http://schemas.microsoft.com/office/powerpoint/2010/main" val="420343681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IoT RFID Applications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LF Applications</a:t>
            </a:r>
          </a:p>
          <a:p>
            <a:pPr lvl="1"/>
            <a:r>
              <a:rPr lang="en-US" sz="1400" dirty="0"/>
              <a:t>Asset tracking, antitheft, point-of-sale</a:t>
            </a:r>
          </a:p>
          <a:p>
            <a:pPr lvl="1"/>
            <a:r>
              <a:rPr lang="en-US" sz="1400" dirty="0"/>
              <a:t>Simple identifier, but multiple standards make tag operation identification difficult</a:t>
            </a:r>
          </a:p>
          <a:p>
            <a:pPr lvl="1"/>
            <a:r>
              <a:rPr lang="en-US" sz="1400" dirty="0"/>
              <a:t>Bike rental companies</a:t>
            </a:r>
          </a:p>
          <a:p>
            <a:pPr lvl="2"/>
            <a:r>
              <a:rPr lang="en-US" sz="1200" dirty="0"/>
              <a:t>Customers get a RFID card at 125khz</a:t>
            </a:r>
          </a:p>
          <a:p>
            <a:r>
              <a:rPr lang="en-US" sz="1800" dirty="0"/>
              <a:t>HF Applications</a:t>
            </a:r>
          </a:p>
          <a:p>
            <a:pPr lvl="1"/>
            <a:r>
              <a:rPr lang="en-US" sz="1400" dirty="0"/>
              <a:t>Authentication</a:t>
            </a:r>
          </a:p>
          <a:p>
            <a:pPr lvl="1"/>
            <a:r>
              <a:rPr lang="en-US" sz="1400" dirty="0"/>
              <a:t>Point of Sale</a:t>
            </a:r>
          </a:p>
          <a:p>
            <a:pPr lvl="1"/>
            <a:r>
              <a:rPr lang="en-US" sz="1400" dirty="0"/>
              <a:t>RFID location tracking</a:t>
            </a:r>
          </a:p>
          <a:p>
            <a:pPr lvl="1"/>
            <a:r>
              <a:rPr lang="en-US" sz="1400" dirty="0"/>
              <a:t>Electronic toll collection (EZ-Pass, </a:t>
            </a:r>
            <a:r>
              <a:rPr lang="en-US" sz="1400" dirty="0" err="1"/>
              <a:t>FasTrak</a:t>
            </a:r>
            <a:r>
              <a:rPr lang="en-US" sz="1400" dirty="0"/>
              <a:t>, I-Pass, </a:t>
            </a:r>
            <a:r>
              <a:rPr lang="en-US" sz="1400" dirty="0" err="1"/>
              <a:t>SunPass</a:t>
            </a:r>
            <a:r>
              <a:rPr lang="en-US" sz="1400" dirty="0"/>
              <a:t>, …)</a:t>
            </a:r>
          </a:p>
          <a:p>
            <a:pPr lvl="2"/>
            <a:r>
              <a:rPr lang="en-US" sz="1200" dirty="0"/>
              <a:t>900MHz, multiple incompatible protocols</a:t>
            </a:r>
          </a:p>
          <a:p>
            <a:pPr lvl="2"/>
            <a:r>
              <a:rPr lang="en-US" sz="1200" dirty="0"/>
              <a:t>Attempts to standardize on IEEE 802.11p (DSRC)</a:t>
            </a:r>
          </a:p>
          <a:p>
            <a:pPr lvl="2"/>
            <a:r>
              <a:rPr lang="en-US" sz="1200" dirty="0"/>
              <a:t>Automatic debit at tools</a:t>
            </a:r>
          </a:p>
          <a:p>
            <a:pPr lvl="2"/>
            <a:r>
              <a:rPr lang="en-US" sz="1200" dirty="0"/>
              <a:t>Used to quietly track motorists</a:t>
            </a:r>
          </a:p>
          <a:p>
            <a:pPr lvl="1"/>
            <a:r>
              <a:rPr lang="en-US" sz="1400" dirty="0"/>
              <a:t>Apple iBeacon</a:t>
            </a:r>
          </a:p>
          <a:p>
            <a:pPr lvl="2"/>
            <a:r>
              <a:rPr lang="en-US" sz="1200" dirty="0"/>
              <a:t>BLE indoor positioning, up to 30m</a:t>
            </a:r>
          </a:p>
          <a:p>
            <a:pPr lvl="2"/>
            <a:r>
              <a:rPr lang="en-US" sz="1200" dirty="0"/>
              <a:t>Apps take action based on identification of fixed location transmitters (iBeacon)</a:t>
            </a:r>
          </a:p>
          <a:p>
            <a:pPr lvl="2"/>
            <a:r>
              <a:rPr lang="en-US" sz="1200" dirty="0"/>
              <a:t>Android supported too</a:t>
            </a:r>
          </a:p>
          <a:p>
            <a:pPr lvl="2"/>
            <a:r>
              <a:rPr lang="en-US" sz="1200" dirty="0"/>
              <a:t>Tracking customer within retail stores</a:t>
            </a:r>
          </a:p>
          <a:p>
            <a:pPr lvl="2"/>
            <a:r>
              <a:rPr lang="en-US" sz="1200" dirty="0"/>
              <a:t>Dynamic marketing</a:t>
            </a:r>
          </a:p>
          <a:p>
            <a:pPr lvl="2"/>
            <a:r>
              <a:rPr lang="en-US" sz="1200" dirty="0"/>
              <a:t>Other apps can also monitor iBeacon</a:t>
            </a:r>
          </a:p>
          <a:p>
            <a:pPr lvl="1"/>
            <a:r>
              <a:rPr lang="en-US" sz="1400" dirty="0"/>
              <a:t>UHF garment tracking</a:t>
            </a:r>
          </a:p>
          <a:p>
            <a:pPr lvl="2"/>
            <a:r>
              <a:rPr lang="en-US" sz="1200" dirty="0"/>
              <a:t>Sewn into clothing, washer-safe</a:t>
            </a:r>
          </a:p>
          <a:p>
            <a:pPr lvl="1"/>
            <a:r>
              <a:rPr lang="en-US" sz="1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12701971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IoT RFID Security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sz="1800" dirty="0"/>
              <a:t>Security</a:t>
            </a:r>
          </a:p>
          <a:p>
            <a:pPr lvl="1"/>
            <a:r>
              <a:rPr lang="en-US" sz="1400" dirty="0"/>
              <a:t>Tracking/privacy attacks</a:t>
            </a:r>
          </a:p>
          <a:p>
            <a:pPr lvl="1"/>
            <a:r>
              <a:rPr lang="en-US" sz="1400" dirty="0"/>
              <a:t>Location privacy</a:t>
            </a:r>
          </a:p>
          <a:p>
            <a:pPr lvl="2"/>
            <a:r>
              <a:rPr lang="en-US" sz="1200" dirty="0"/>
              <a:t>Other mobile apps can use iBeacon information</a:t>
            </a:r>
          </a:p>
          <a:p>
            <a:pPr lvl="2"/>
            <a:r>
              <a:rPr lang="en-US" sz="1200" dirty="0"/>
              <a:t>EZ-Pass gets read on highways without tollways, hidden readers (NYSDOT)</a:t>
            </a:r>
          </a:p>
          <a:p>
            <a:pPr lvl="1"/>
            <a:r>
              <a:rPr lang="en-US" sz="1400" dirty="0"/>
              <a:t>PICC data disclosure</a:t>
            </a:r>
          </a:p>
          <a:p>
            <a:pPr lvl="1"/>
            <a:r>
              <a:rPr lang="en-US" sz="1400" dirty="0"/>
              <a:t>Cloning cards</a:t>
            </a:r>
          </a:p>
          <a:p>
            <a:pPr lvl="2"/>
            <a:r>
              <a:rPr lang="en-US" sz="1200" dirty="0"/>
              <a:t>Close proximity to card needed</a:t>
            </a:r>
          </a:p>
          <a:p>
            <a:pPr lvl="2"/>
            <a:r>
              <a:rPr lang="en-US" sz="1200" dirty="0"/>
              <a:t>Many LF tags use proprietary encoding</a:t>
            </a:r>
          </a:p>
          <a:p>
            <a:pPr lvl="2"/>
            <a:r>
              <a:rPr lang="en-US" sz="1200" dirty="0"/>
              <a:t>FCC ID lookup reveals more information</a:t>
            </a:r>
          </a:p>
          <a:p>
            <a:pPr lvl="2"/>
            <a:r>
              <a:rPr lang="en-US" sz="1200" dirty="0"/>
              <a:t>May need to do RF analysis (SDR) and datasheets to extract tag information</a:t>
            </a:r>
          </a:p>
          <a:p>
            <a:pPr lvl="1"/>
            <a:r>
              <a:rPr lang="en-US" sz="1400" dirty="0"/>
              <a:t>Replay attacks</a:t>
            </a:r>
          </a:p>
          <a:p>
            <a:pPr lvl="1"/>
            <a:r>
              <a:rPr lang="en-US" sz="1400" dirty="0"/>
              <a:t>Data injection attacks</a:t>
            </a:r>
          </a:p>
          <a:p>
            <a:pPr lvl="1"/>
            <a:r>
              <a:rPr lang="en-US" sz="1400" dirty="0"/>
              <a:t>Defeating RFID cryptography</a:t>
            </a:r>
          </a:p>
          <a:p>
            <a:pPr lvl="1"/>
            <a:r>
              <a:rPr lang="en-US" sz="1400" dirty="0"/>
              <a:t>Optimal range is 3-5cm</a:t>
            </a:r>
          </a:p>
          <a:p>
            <a:pPr lvl="1"/>
            <a:r>
              <a:rPr lang="en-US" sz="1400" dirty="0"/>
              <a:t>Relay attacks require 2 attacker devices over long-range wireless</a:t>
            </a:r>
          </a:p>
          <a:p>
            <a:pPr lvl="2"/>
            <a:r>
              <a:rPr lang="en-US" sz="1200" dirty="0"/>
              <a:t>Also same kind of attack used against </a:t>
            </a:r>
            <a:r>
              <a:rPr lang="en-US" sz="1200" dirty="0" err="1"/>
              <a:t>keyfobs</a:t>
            </a:r>
            <a:endParaRPr lang="en-US" sz="1200" dirty="0"/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2772469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/>
          </a:bodyPr>
          <a:lstStyle/>
          <a:p>
            <a:r>
              <a:rPr lang="en-US" sz="2800" dirty="0" err="1"/>
              <a:t>IoT</a:t>
            </a:r>
            <a:r>
              <a:rPr lang="en-US" sz="2800" dirty="0"/>
              <a:t> Near Field Communication (NFC) Basics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Basics</a:t>
            </a:r>
          </a:p>
          <a:p>
            <a:pPr lvl="1"/>
            <a:r>
              <a:rPr lang="en-US" sz="1400" dirty="0">
                <a:hlinkClick r:id="rId3"/>
              </a:rPr>
              <a:t>https://en.wikipedia.org/wiki/Near-field_communication</a:t>
            </a:r>
            <a:endParaRPr lang="en-US" sz="1400" dirty="0"/>
          </a:p>
          <a:p>
            <a:pPr lvl="1"/>
            <a:r>
              <a:rPr lang="en-US" sz="1400" dirty="0">
                <a:hlinkClick r:id="rId4"/>
              </a:rPr>
              <a:t>http://nearfieldcommunication.org/</a:t>
            </a:r>
            <a:endParaRPr lang="en-US" sz="1400" dirty="0"/>
          </a:p>
          <a:p>
            <a:pPr lvl="1"/>
            <a:r>
              <a:rPr lang="en-US" sz="1400" dirty="0"/>
              <a:t>Usually 13.56Mhz</a:t>
            </a:r>
          </a:p>
          <a:p>
            <a:pPr lvl="1"/>
            <a:r>
              <a:rPr lang="en-US" sz="1400" dirty="0"/>
              <a:t>NFC builds on HF RFID</a:t>
            </a:r>
          </a:p>
          <a:p>
            <a:pPr lvl="2"/>
            <a:r>
              <a:rPr lang="en-US" sz="1200" dirty="0"/>
              <a:t>Use cases differ between NFC and RFID</a:t>
            </a:r>
          </a:p>
          <a:p>
            <a:pPr lvl="2"/>
            <a:r>
              <a:rPr lang="en-US" sz="1200" dirty="0"/>
              <a:t>Unauthenticated information sharing</a:t>
            </a:r>
          </a:p>
          <a:p>
            <a:pPr lvl="2"/>
            <a:r>
              <a:rPr lang="en-US" sz="1200" dirty="0"/>
              <a:t>Contactless payment systems</a:t>
            </a:r>
          </a:p>
          <a:p>
            <a:pPr lvl="2"/>
            <a:r>
              <a:rPr lang="en-US" sz="1200" dirty="0"/>
              <a:t>Used in mobile phones</a:t>
            </a:r>
          </a:p>
          <a:p>
            <a:pPr lvl="1"/>
            <a:r>
              <a:rPr lang="en-US" sz="1400" dirty="0"/>
              <a:t>Bidirectional communications</a:t>
            </a:r>
          </a:p>
          <a:p>
            <a:pPr lvl="1"/>
            <a:r>
              <a:rPr lang="en-US" sz="1400" dirty="0"/>
              <a:t>Actively powered</a:t>
            </a:r>
          </a:p>
          <a:p>
            <a:pPr lvl="1"/>
            <a:r>
              <a:rPr lang="en-US" sz="1400" dirty="0"/>
              <a:t>Dynamic data storage</a:t>
            </a:r>
          </a:p>
          <a:p>
            <a:pPr lvl="1"/>
            <a:r>
              <a:rPr lang="en-US" sz="1400" dirty="0"/>
              <a:t>NFC Data Exchange Format (NDEF)</a:t>
            </a:r>
          </a:p>
          <a:p>
            <a:pPr lvl="2"/>
            <a:r>
              <a:rPr lang="en-US" sz="1200" dirty="0"/>
              <a:t>NDEF structured data</a:t>
            </a:r>
          </a:p>
          <a:p>
            <a:pPr lvl="2"/>
            <a:r>
              <a:rPr lang="en-US" sz="1200" dirty="0"/>
              <a:t>Type Name Format (TNF)</a:t>
            </a:r>
          </a:p>
          <a:p>
            <a:pPr lvl="1"/>
            <a:r>
              <a:rPr lang="en-US" sz="1400" dirty="0"/>
              <a:t>Android Beam</a:t>
            </a:r>
          </a:p>
          <a:p>
            <a:pPr lvl="2"/>
            <a:r>
              <a:rPr lang="en-US" sz="1200" dirty="0"/>
              <a:t>“Tap to Beam”</a:t>
            </a:r>
          </a:p>
          <a:p>
            <a:pPr lvl="1"/>
            <a:r>
              <a:rPr lang="en-US" sz="1400" dirty="0"/>
              <a:t>Google Wallet</a:t>
            </a:r>
          </a:p>
          <a:p>
            <a:pPr lvl="2"/>
            <a:r>
              <a:rPr lang="en-US" sz="1200" dirty="0"/>
              <a:t>Host Card Emulation (HEC)</a:t>
            </a:r>
          </a:p>
          <a:p>
            <a:pPr lvl="2"/>
            <a:r>
              <a:rPr lang="en-US" sz="1200" dirty="0"/>
              <a:t>Cloud access needed</a:t>
            </a:r>
          </a:p>
          <a:p>
            <a:pPr lvl="1"/>
            <a:r>
              <a:rPr lang="en-US" sz="1400" dirty="0"/>
              <a:t>Apple Pay</a:t>
            </a:r>
          </a:p>
          <a:p>
            <a:pPr lvl="2"/>
            <a:r>
              <a:rPr lang="en-US" sz="1200" dirty="0"/>
              <a:t>Cloud based</a:t>
            </a:r>
          </a:p>
          <a:p>
            <a:pPr lvl="2"/>
            <a:r>
              <a:rPr lang="en-US" sz="1200" dirty="0"/>
              <a:t>Embedded secure element, stores EMV token</a:t>
            </a:r>
          </a:p>
          <a:p>
            <a:pPr lvl="2"/>
            <a:r>
              <a:rPr lang="en-US" sz="1200" dirty="0"/>
              <a:t>Requires pre-authorization</a:t>
            </a:r>
          </a:p>
        </p:txBody>
      </p:sp>
    </p:spTree>
    <p:extLst>
      <p:ext uri="{BB962C8B-B14F-4D97-AF65-F5344CB8AC3E}">
        <p14:creationId xmlns:p14="http://schemas.microsoft.com/office/powerpoint/2010/main" val="2171302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IoT NFC Security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sz="1800" dirty="0"/>
              <a:t>Security</a:t>
            </a:r>
          </a:p>
          <a:p>
            <a:pPr lvl="1"/>
            <a:r>
              <a:rPr lang="en-US" sz="1400" dirty="0"/>
              <a:t>Same standard format across vendors</a:t>
            </a:r>
          </a:p>
          <a:p>
            <a:pPr lvl="1"/>
            <a:r>
              <a:rPr lang="en-US" sz="1400" dirty="0"/>
              <a:t>Attacks usually associated with malformed data</a:t>
            </a:r>
          </a:p>
          <a:p>
            <a:pPr lvl="1"/>
            <a:r>
              <a:rPr lang="en-US" sz="1400" dirty="0"/>
              <a:t>Targeted client devices</a:t>
            </a:r>
          </a:p>
          <a:p>
            <a:r>
              <a:rPr lang="en-US" sz="1800" dirty="0"/>
              <a:t>Vulnerabilities</a:t>
            </a:r>
          </a:p>
          <a:p>
            <a:pPr lvl="1"/>
            <a:r>
              <a:rPr lang="en-US" sz="1400" dirty="0"/>
              <a:t>Android “</a:t>
            </a:r>
            <a:r>
              <a:rPr lang="en-US" sz="1400" dirty="0" err="1"/>
              <a:t>Stagefright</a:t>
            </a:r>
            <a:r>
              <a:rPr lang="en-US" sz="1400" dirty="0"/>
              <a:t>” malformed MP4 file</a:t>
            </a:r>
          </a:p>
          <a:p>
            <a:pPr lvl="1"/>
            <a:r>
              <a:rPr lang="en-US" sz="1400" dirty="0" err="1"/>
              <a:t>Modifed</a:t>
            </a:r>
            <a:r>
              <a:rPr lang="en-US" sz="1400" dirty="0"/>
              <a:t> URI data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0465681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IoT RFID/NFC Hardware Tools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sz="1800" dirty="0"/>
              <a:t>Tools</a:t>
            </a:r>
          </a:p>
          <a:p>
            <a:pPr lvl="1"/>
            <a:r>
              <a:rPr lang="en-US" sz="1400" dirty="0"/>
              <a:t>ACG LAHF Reader/Writer $300</a:t>
            </a:r>
          </a:p>
          <a:p>
            <a:pPr lvl="1"/>
            <a:r>
              <a:rPr lang="en-US" sz="1400" dirty="0"/>
              <a:t>ACS ACR122 Reader/Writer $43</a:t>
            </a:r>
          </a:p>
          <a:p>
            <a:pPr lvl="2"/>
            <a:r>
              <a:rPr lang="en-US" sz="1200" dirty="0"/>
              <a:t>Part of SEC617 class SWAT toolkit</a:t>
            </a:r>
          </a:p>
          <a:p>
            <a:pPr lvl="1"/>
            <a:r>
              <a:rPr lang="en-US" sz="1400" dirty="0"/>
              <a:t>HID </a:t>
            </a:r>
            <a:r>
              <a:rPr lang="en-US" sz="1400" dirty="0" err="1"/>
              <a:t>Proxcard</a:t>
            </a:r>
            <a:r>
              <a:rPr lang="en-US" sz="1400" dirty="0"/>
              <a:t> II</a:t>
            </a:r>
          </a:p>
          <a:p>
            <a:pPr lvl="2"/>
            <a:r>
              <a:rPr lang="en-US" sz="1200" dirty="0"/>
              <a:t>Door access control systems</a:t>
            </a:r>
          </a:p>
          <a:p>
            <a:pPr lvl="2"/>
            <a:r>
              <a:rPr lang="en-US" sz="1200" dirty="0"/>
              <a:t>Wiegand Protocol</a:t>
            </a:r>
          </a:p>
          <a:p>
            <a:pPr lvl="1"/>
            <a:r>
              <a:rPr lang="en-US" sz="1400" dirty="0" err="1"/>
              <a:t>Proxmark</a:t>
            </a:r>
            <a:r>
              <a:rPr lang="en-US" sz="1400" dirty="0"/>
              <a:t> 3 RDV2/3 $220</a:t>
            </a:r>
          </a:p>
          <a:p>
            <a:pPr lvl="2"/>
            <a:r>
              <a:rPr lang="en-US" sz="1200" dirty="0"/>
              <a:t>Linux or Windows software</a:t>
            </a:r>
          </a:p>
          <a:p>
            <a:pPr lvl="1"/>
            <a:r>
              <a:rPr lang="en-US" sz="1400" dirty="0" err="1"/>
              <a:t>ProxBrute</a:t>
            </a:r>
            <a:endParaRPr lang="en-US" sz="1400" dirty="0"/>
          </a:p>
          <a:p>
            <a:pPr lvl="2"/>
            <a:r>
              <a:rPr lang="en-US" sz="1200" dirty="0"/>
              <a:t>Attempts to elevate access privileges</a:t>
            </a:r>
          </a:p>
          <a:p>
            <a:pPr lvl="1"/>
            <a:r>
              <a:rPr lang="en-US" sz="1400" dirty="0" err="1"/>
              <a:t>Tastic</a:t>
            </a:r>
            <a:r>
              <a:rPr lang="en-US" sz="1400" dirty="0"/>
              <a:t> RF Thief &lt; $400</a:t>
            </a:r>
          </a:p>
          <a:p>
            <a:pPr lvl="2"/>
            <a:r>
              <a:rPr lang="en-US" sz="1200" dirty="0"/>
              <a:t>HID </a:t>
            </a:r>
            <a:r>
              <a:rPr lang="en-US" sz="1200" dirty="0" err="1"/>
              <a:t>MaxiProx</a:t>
            </a:r>
            <a:r>
              <a:rPr lang="en-US" sz="1200" dirty="0"/>
              <a:t> long-range reader</a:t>
            </a:r>
          </a:p>
          <a:p>
            <a:pPr lvl="2"/>
            <a:r>
              <a:rPr lang="en-US" sz="1200" dirty="0"/>
              <a:t>Adafruit Feather Huzzah (ESP8266 SOC)</a:t>
            </a:r>
          </a:p>
          <a:p>
            <a:pPr lvl="2"/>
            <a:r>
              <a:rPr lang="en-US" sz="1200" dirty="0"/>
              <a:t>Saves codes to memory</a:t>
            </a:r>
          </a:p>
          <a:p>
            <a:pPr lvl="2"/>
            <a:r>
              <a:rPr lang="en-US" sz="1200" dirty="0"/>
              <a:t>Transmit over </a:t>
            </a:r>
            <a:r>
              <a:rPr lang="en-US" sz="1200" dirty="0" err="1"/>
              <a:t>WiFi</a:t>
            </a:r>
            <a:endParaRPr lang="en-US" sz="1200" dirty="0"/>
          </a:p>
          <a:p>
            <a:pPr lvl="1"/>
            <a:r>
              <a:rPr lang="en-US" sz="1400" dirty="0"/>
              <a:t>Linux </a:t>
            </a:r>
            <a:r>
              <a:rPr lang="en-US" sz="1400" dirty="0" err="1"/>
              <a:t>RFIDIOt</a:t>
            </a:r>
            <a:r>
              <a:rPr lang="en-US" sz="1400" dirty="0"/>
              <a:t> software</a:t>
            </a:r>
          </a:p>
          <a:p>
            <a:pPr lvl="2"/>
            <a:r>
              <a:rPr lang="en-US" sz="1200" dirty="0"/>
              <a:t>Read/write cards</a:t>
            </a:r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6107797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IoT NFC EMV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sz="1800" dirty="0" err="1"/>
              <a:t>Europay</a:t>
            </a:r>
            <a:r>
              <a:rPr lang="en-US" sz="1800" dirty="0"/>
              <a:t>, MasterCard, Visa (EMV) Cards</a:t>
            </a:r>
          </a:p>
          <a:p>
            <a:pPr lvl="1"/>
            <a:r>
              <a:rPr lang="en-US" sz="1400" dirty="0"/>
              <a:t>ISO/IEC 14443 13.56Mhz</a:t>
            </a:r>
          </a:p>
          <a:p>
            <a:pPr lvl="1"/>
            <a:r>
              <a:rPr lang="en-US" sz="1400" dirty="0"/>
              <a:t>Chipped credit cards</a:t>
            </a:r>
          </a:p>
          <a:p>
            <a:pPr lvl="1"/>
            <a:r>
              <a:rPr lang="en-US" sz="1400" dirty="0"/>
              <a:t>RFID reads information similar to that of magnetic stripe</a:t>
            </a:r>
          </a:p>
          <a:p>
            <a:r>
              <a:rPr lang="en-US" sz="1800" dirty="0"/>
              <a:t>Security</a:t>
            </a:r>
          </a:p>
          <a:p>
            <a:pPr lvl="1"/>
            <a:r>
              <a:rPr lang="en-US" sz="1400" dirty="0"/>
              <a:t>Card#, first and last name, expiration date, transaction counter</a:t>
            </a:r>
          </a:p>
          <a:p>
            <a:pPr lvl="2"/>
            <a:r>
              <a:rPr lang="en-US" sz="1200" dirty="0"/>
              <a:t>Confidentiality exposed</a:t>
            </a:r>
          </a:p>
          <a:p>
            <a:pPr lvl="1"/>
            <a:r>
              <a:rPr lang="en-US" sz="1400" dirty="0"/>
              <a:t>CVV2 not disclosed (Dynamic CVC)</a:t>
            </a:r>
          </a:p>
          <a:p>
            <a:r>
              <a:rPr lang="en-US" sz="1800" dirty="0"/>
              <a:t>Vulnerabilities</a:t>
            </a:r>
          </a:p>
          <a:p>
            <a:pPr lvl="1"/>
            <a:r>
              <a:rPr lang="en-US" sz="1400" dirty="0"/>
              <a:t>Vulnerable to NFC Proxy attack</a:t>
            </a:r>
          </a:p>
          <a:p>
            <a:r>
              <a:rPr lang="en-US" sz="1800" dirty="0"/>
              <a:t>Tools</a:t>
            </a:r>
          </a:p>
          <a:p>
            <a:pPr lvl="1"/>
            <a:r>
              <a:rPr lang="en-US" sz="1400" dirty="0"/>
              <a:t>EMV readers available</a:t>
            </a:r>
          </a:p>
          <a:p>
            <a:pPr lvl="2"/>
            <a:r>
              <a:rPr lang="en-US" sz="1200" dirty="0" err="1"/>
              <a:t>VIVOPay</a:t>
            </a:r>
            <a:endParaRPr lang="en-US" sz="1200" dirty="0"/>
          </a:p>
          <a:p>
            <a:pPr lvl="3"/>
            <a:r>
              <a:rPr lang="en-US" sz="1000" dirty="0" err="1"/>
              <a:t>Pwnpass</a:t>
            </a:r>
            <a:r>
              <a:rPr lang="en-US" sz="1000" dirty="0"/>
              <a:t> application (Python script) reads out data</a:t>
            </a:r>
          </a:p>
          <a:p>
            <a:pPr lvl="2"/>
            <a:r>
              <a:rPr lang="en-US" sz="1200" dirty="0"/>
              <a:t>Android EMV</a:t>
            </a:r>
          </a:p>
          <a:p>
            <a:pPr lvl="3"/>
            <a:r>
              <a:rPr lang="en-US" sz="1000" dirty="0"/>
              <a:t>NFC </a:t>
            </a:r>
            <a:r>
              <a:rPr lang="en-US" sz="1000" dirty="0" err="1"/>
              <a:t>SmartCard</a:t>
            </a:r>
            <a:r>
              <a:rPr lang="en-US" sz="1000" dirty="0"/>
              <a:t> Info</a:t>
            </a:r>
          </a:p>
          <a:p>
            <a:pPr lvl="2"/>
            <a:r>
              <a:rPr lang="en-US" sz="1200" dirty="0"/>
              <a:t>ACS ACR122U</a:t>
            </a:r>
          </a:p>
          <a:p>
            <a:pPr lvl="3"/>
            <a:r>
              <a:rPr lang="en-US" sz="1000" dirty="0"/>
              <a:t>HF RFID and NFC</a:t>
            </a:r>
          </a:p>
          <a:p>
            <a:pPr lvl="3"/>
            <a:r>
              <a:rPr lang="en-US" sz="1000" dirty="0"/>
              <a:t>Can emulate PICCs</a:t>
            </a:r>
          </a:p>
          <a:p>
            <a:pPr lvl="3"/>
            <a:r>
              <a:rPr lang="en-US" sz="1000" dirty="0"/>
              <a:t>USB reader supported by Linux</a:t>
            </a:r>
          </a:p>
          <a:p>
            <a:pPr lvl="1"/>
            <a:r>
              <a:rPr lang="en-US" sz="1400" dirty="0"/>
              <a:t>Linux: </a:t>
            </a:r>
            <a:r>
              <a:rPr lang="en-US" sz="1400" dirty="0" err="1"/>
              <a:t>pwnpass</a:t>
            </a:r>
            <a:r>
              <a:rPr lang="en-US" sz="1400" dirty="0"/>
              <a:t>, </a:t>
            </a:r>
            <a:r>
              <a:rPr lang="en-US" sz="1400" dirty="0" err="1"/>
              <a:t>nfcproxy</a:t>
            </a:r>
            <a:endParaRPr lang="en-US" sz="1400" dirty="0"/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7267707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IoT NFC MIFARE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sz="1800" dirty="0"/>
              <a:t>MIFARE</a:t>
            </a:r>
          </a:p>
          <a:p>
            <a:pPr lvl="1"/>
            <a:r>
              <a:rPr lang="en-US" sz="1400" dirty="0"/>
              <a:t>RFID chipset built into many products</a:t>
            </a:r>
          </a:p>
          <a:p>
            <a:r>
              <a:rPr lang="en-US" sz="1800" dirty="0"/>
              <a:t>Security</a:t>
            </a:r>
          </a:p>
          <a:p>
            <a:pPr lvl="1"/>
            <a:r>
              <a:rPr lang="en-US" sz="1400" dirty="0"/>
              <a:t>Proprietary steam cipher crypto “CRYPTO1” for authentication</a:t>
            </a:r>
          </a:p>
          <a:p>
            <a:pPr lvl="1"/>
            <a:r>
              <a:rPr lang="en-US" sz="1400" dirty="0"/>
              <a:t>Multiple flaws</a:t>
            </a:r>
          </a:p>
          <a:p>
            <a:pPr lvl="1"/>
            <a:r>
              <a:rPr lang="en-US" sz="1400" dirty="0"/>
              <a:t>Weak 48 bit key length</a:t>
            </a:r>
          </a:p>
          <a:p>
            <a:pPr lvl="2"/>
            <a:r>
              <a:rPr lang="en-US" sz="1200" dirty="0"/>
              <a:t>Default key often used</a:t>
            </a:r>
          </a:p>
          <a:p>
            <a:pPr lvl="1"/>
            <a:r>
              <a:rPr lang="en-US" sz="1400" dirty="0"/>
              <a:t>Predictable nonce values</a:t>
            </a:r>
          </a:p>
          <a:p>
            <a:pPr lvl="1"/>
            <a:r>
              <a:rPr lang="en-US" sz="1400" dirty="0"/>
              <a:t>Recover key by eavesdropping</a:t>
            </a:r>
          </a:p>
          <a:p>
            <a:pPr lvl="1"/>
            <a:r>
              <a:rPr lang="en-US" sz="1400" dirty="0"/>
              <a:t>Recover key from PICC, takes time under 30 minutes</a:t>
            </a:r>
          </a:p>
          <a:p>
            <a:pPr lvl="1"/>
            <a:r>
              <a:rPr lang="en-US" sz="1400" dirty="0"/>
              <a:t>With 1 key, attacker can recover all other keys on card</a:t>
            </a:r>
          </a:p>
          <a:p>
            <a:pPr lvl="1"/>
            <a:r>
              <a:rPr lang="en-US" sz="1400" dirty="0"/>
              <a:t>Attacker can dump card and clone</a:t>
            </a:r>
          </a:p>
          <a:p>
            <a:r>
              <a:rPr lang="en-US" sz="1800" dirty="0"/>
              <a:t>Vulnerabilities</a:t>
            </a:r>
          </a:p>
          <a:p>
            <a:pPr lvl="1"/>
            <a:r>
              <a:rPr lang="en-US" sz="1400" dirty="0"/>
              <a:t>Mix key and UID to authenticate</a:t>
            </a:r>
          </a:p>
          <a:p>
            <a:pPr lvl="1"/>
            <a:r>
              <a:rPr lang="en-US" sz="1400" dirty="0"/>
              <a:t>UID unique to card</a:t>
            </a:r>
          </a:p>
          <a:p>
            <a:pPr lvl="1"/>
            <a:r>
              <a:rPr lang="en-US" sz="1400" dirty="0"/>
              <a:t>Need writable card to clone it</a:t>
            </a:r>
          </a:p>
          <a:p>
            <a:r>
              <a:rPr lang="en-US" sz="1800" dirty="0"/>
              <a:t>Tools</a:t>
            </a:r>
          </a:p>
          <a:p>
            <a:pPr lvl="1"/>
            <a:r>
              <a:rPr lang="en-US" sz="1400" dirty="0"/>
              <a:t>Linux: </a:t>
            </a:r>
            <a:r>
              <a:rPr lang="en-US" sz="1400" dirty="0" err="1"/>
              <a:t>mfoc</a:t>
            </a:r>
            <a:r>
              <a:rPr lang="en-US" sz="1400" dirty="0"/>
              <a:t>, </a:t>
            </a:r>
            <a:r>
              <a:rPr lang="en-US" sz="1400" dirty="0" err="1"/>
              <a:t>mfcuk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2882206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IoT ZigBee Information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sz="1800" dirty="0"/>
              <a:t>Basics</a:t>
            </a:r>
          </a:p>
          <a:p>
            <a:pPr lvl="1"/>
            <a:r>
              <a:rPr lang="en-US" sz="1400" dirty="0"/>
              <a:t>IEEE 802.15.4</a:t>
            </a:r>
          </a:p>
          <a:p>
            <a:pPr lvl="1"/>
            <a:r>
              <a:rPr lang="en-US" sz="1400" dirty="0">
                <a:hlinkClick r:id="rId3"/>
              </a:rPr>
              <a:t>https://standards.ieee.org/findstds/standard/802.15.4-2015.html</a:t>
            </a:r>
            <a:endParaRPr lang="en-US" sz="1400" dirty="0"/>
          </a:p>
          <a:p>
            <a:pPr lvl="1"/>
            <a:r>
              <a:rPr lang="en-US" sz="1400" dirty="0">
                <a:hlinkClick r:id="rId4"/>
              </a:rPr>
              <a:t>https://en.wikipedia.org/wiki/Zigbee</a:t>
            </a:r>
            <a:endParaRPr lang="en-US" sz="1400" dirty="0"/>
          </a:p>
          <a:p>
            <a:pPr lvl="1"/>
            <a:r>
              <a:rPr lang="en-US" sz="1400" dirty="0">
                <a:hlinkClick r:id="rId5"/>
              </a:rPr>
              <a:t>https://en.wikipedia.org/wiki/IEEE_802.15.4</a:t>
            </a:r>
            <a:endParaRPr lang="en-US" sz="1400" dirty="0"/>
          </a:p>
          <a:p>
            <a:pPr lvl="1"/>
            <a:r>
              <a:rPr lang="en-US" sz="1400" dirty="0">
                <a:hlinkClick r:id="rId6"/>
              </a:rPr>
              <a:t>http://www.zigbee.org/</a:t>
            </a:r>
            <a:endParaRPr lang="en-US" sz="1400" dirty="0"/>
          </a:p>
          <a:p>
            <a:pPr lvl="1"/>
            <a:r>
              <a:rPr lang="en-US" sz="1400" dirty="0"/>
              <a:t>Wi-Fi is too complex, Bluetooth requires excessive power and is complex</a:t>
            </a:r>
          </a:p>
          <a:p>
            <a:pPr lvl="1"/>
            <a:r>
              <a:rPr lang="en-US" sz="1400" dirty="0"/>
              <a:t>Smart Thermostats, building controls, Keyless entry door locks, hotel management</a:t>
            </a:r>
          </a:p>
          <a:p>
            <a:pPr lvl="1"/>
            <a:r>
              <a:rPr lang="en-US" sz="1400" dirty="0"/>
              <a:t>Radio/Protocol</a:t>
            </a:r>
          </a:p>
          <a:p>
            <a:pPr lvl="2"/>
            <a:r>
              <a:rPr lang="en-US" sz="1200" dirty="0"/>
              <a:t>Radio Frequency For Consumer Electronics (RF4CE) up to 100m</a:t>
            </a:r>
          </a:p>
          <a:p>
            <a:pPr lvl="2"/>
            <a:r>
              <a:rPr lang="en-US" sz="1200" dirty="0"/>
              <a:t>2.4Ghz low power, low data rate (250Kbps), long battery life, star/mesh topology</a:t>
            </a:r>
          </a:p>
          <a:p>
            <a:pPr lvl="2"/>
            <a:r>
              <a:rPr lang="en-US" sz="1200" dirty="0"/>
              <a:t>DSSS modulation similar to 802.11b, 2.405Ghz (11ch), 2.480Ghz (26 </a:t>
            </a:r>
            <a:r>
              <a:rPr lang="en-US" sz="1200" dirty="0" err="1"/>
              <a:t>ch</a:t>
            </a:r>
            <a:r>
              <a:rPr lang="en-US" sz="1200" dirty="0"/>
              <a:t>), 5Mhz (16 </a:t>
            </a:r>
            <a:r>
              <a:rPr lang="en-US" sz="1200" dirty="0" err="1"/>
              <a:t>ch</a:t>
            </a:r>
            <a:r>
              <a:rPr lang="en-US" sz="1200" dirty="0"/>
              <a:t>)</a:t>
            </a:r>
          </a:p>
          <a:p>
            <a:pPr lvl="2"/>
            <a:r>
              <a:rPr lang="en-US" sz="1200" dirty="0"/>
              <a:t>Small frame size of 127 bytes with max payload of 114 bytes</a:t>
            </a:r>
          </a:p>
          <a:p>
            <a:pPr lvl="2"/>
            <a:r>
              <a:rPr lang="en-US" sz="1200" dirty="0"/>
              <a:t>Frame types: beacon, data, command, ACK</a:t>
            </a:r>
          </a:p>
          <a:p>
            <a:pPr lvl="2"/>
            <a:r>
              <a:rPr lang="en-US" sz="1200" dirty="0"/>
              <a:t>PAN ID 16 or 64 bit (2 or 8 byte) addressing</a:t>
            </a:r>
          </a:p>
          <a:p>
            <a:pPr lvl="1"/>
            <a:r>
              <a:rPr lang="en-US" sz="1400" dirty="0"/>
              <a:t>Devices</a:t>
            </a:r>
          </a:p>
          <a:p>
            <a:pPr lvl="2"/>
            <a:r>
              <a:rPr lang="en-US" sz="1200" dirty="0"/>
              <a:t>Coordinator (ZC) – Authentication of nodes, hub of network (address of zero)</a:t>
            </a:r>
          </a:p>
          <a:p>
            <a:pPr lvl="2"/>
            <a:r>
              <a:rPr lang="en-US" sz="1200" dirty="0"/>
              <a:t>Router (ZR) – Capable of forwarding frames</a:t>
            </a:r>
          </a:p>
          <a:p>
            <a:pPr lvl="2"/>
            <a:r>
              <a:rPr lang="en-US" sz="1200" dirty="0"/>
              <a:t>Device (ZED) – Only participates</a:t>
            </a:r>
          </a:p>
          <a:p>
            <a:pPr lvl="2"/>
            <a:r>
              <a:rPr lang="en-US" sz="1200" dirty="0"/>
              <a:t>Trust Center (TC) – Key distribution, authentication (PRO only)</a:t>
            </a:r>
          </a:p>
          <a:p>
            <a:pPr lvl="2"/>
            <a:r>
              <a:rPr lang="en-US" sz="1200" dirty="0"/>
              <a:t>FFD vs. RFD</a:t>
            </a:r>
          </a:p>
        </p:txBody>
      </p:sp>
    </p:spTree>
    <p:extLst>
      <p:ext uri="{BB962C8B-B14F-4D97-AF65-F5344CB8AC3E}">
        <p14:creationId xmlns:p14="http://schemas.microsoft.com/office/powerpoint/2010/main" val="205241933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IoT ZigBee Security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sz="1800" dirty="0"/>
              <a:t>Security</a:t>
            </a:r>
          </a:p>
          <a:p>
            <a:pPr lvl="1"/>
            <a:r>
              <a:rPr lang="en-US" sz="1400" dirty="0"/>
              <a:t>Zigbee-2006 added encryption, Message Integrity Check (MIC) support</a:t>
            </a:r>
          </a:p>
          <a:p>
            <a:pPr lvl="1"/>
            <a:r>
              <a:rPr lang="en-US" sz="1400" dirty="0"/>
              <a:t>Zigbee-PRO adds symmetric key exchange</a:t>
            </a:r>
          </a:p>
          <a:p>
            <a:pPr lvl="1"/>
            <a:r>
              <a:rPr lang="en-US" sz="1400" dirty="0"/>
              <a:t>Zigbee Network (NWK) layer allows encryption over entire layer</a:t>
            </a:r>
          </a:p>
          <a:p>
            <a:pPr lvl="1"/>
            <a:r>
              <a:rPr lang="en-US" sz="1400" dirty="0"/>
              <a:t>AES-CCM of 128 bit key length with MIC</a:t>
            </a:r>
          </a:p>
          <a:p>
            <a:pPr lvl="1"/>
            <a:r>
              <a:rPr lang="en-US" sz="1400" dirty="0"/>
              <a:t>Devices have key set at factory, no rotation or revocation, sent plaintext</a:t>
            </a:r>
          </a:p>
          <a:p>
            <a:pPr lvl="1"/>
            <a:r>
              <a:rPr lang="en-US" sz="1400" dirty="0"/>
              <a:t>Standard security “residential” mode between Full Functional Device (FFD)</a:t>
            </a:r>
          </a:p>
          <a:p>
            <a:pPr lvl="1"/>
            <a:r>
              <a:rPr lang="en-US" sz="1400" dirty="0"/>
              <a:t>High security “commercial” mode requires Trust Center (TC) to authenticate</a:t>
            </a:r>
          </a:p>
          <a:p>
            <a:pPr lvl="1"/>
            <a:r>
              <a:rPr lang="en-US" sz="1400" dirty="0"/>
              <a:t>Smart Energy Profile leverages ECC for authentication and PKI for encryption</a:t>
            </a:r>
          </a:p>
          <a:p>
            <a:pPr lvl="1"/>
            <a:r>
              <a:rPr lang="en-US" sz="1400" dirty="0"/>
              <a:t>SEC 2 in development</a:t>
            </a:r>
          </a:p>
          <a:p>
            <a:r>
              <a:rPr lang="en-US" sz="1800" dirty="0"/>
              <a:t>Vulnerabilities</a:t>
            </a:r>
          </a:p>
          <a:p>
            <a:pPr lvl="1"/>
            <a:r>
              <a:rPr lang="en-US" sz="1400" dirty="0"/>
              <a:t>Weak replay protection</a:t>
            </a:r>
          </a:p>
          <a:p>
            <a:pPr lvl="1"/>
            <a:r>
              <a:rPr lang="en-US" sz="1400" dirty="0"/>
              <a:t>Lack of key rotation</a:t>
            </a:r>
          </a:p>
          <a:p>
            <a:pPr lvl="1"/>
            <a:r>
              <a:rPr lang="en-US" sz="1400" dirty="0"/>
              <a:t>Compromised device = compromised network</a:t>
            </a:r>
          </a:p>
          <a:p>
            <a:pPr lvl="1"/>
            <a:r>
              <a:rPr lang="en-US" sz="1400" dirty="0"/>
              <a:t>Open source stack</a:t>
            </a:r>
          </a:p>
          <a:p>
            <a:r>
              <a:rPr lang="en-US" sz="1800" dirty="0"/>
              <a:t>Tools</a:t>
            </a:r>
          </a:p>
          <a:p>
            <a:pPr lvl="1"/>
            <a:r>
              <a:rPr lang="en-US" sz="1400" dirty="0" err="1"/>
              <a:t>Killerbee</a:t>
            </a:r>
            <a:r>
              <a:rPr lang="en-US" sz="1400" dirty="0"/>
              <a:t> tool, in Python on Linux (</a:t>
            </a:r>
            <a:r>
              <a:rPr lang="en-US" sz="1400" dirty="0">
                <a:hlinkClick r:id="rId3"/>
              </a:rPr>
              <a:t>https://github.com/riverloopsec/killerbee</a:t>
            </a:r>
            <a:r>
              <a:rPr lang="en-US" sz="1400" dirty="0"/>
              <a:t>)</a:t>
            </a:r>
          </a:p>
          <a:p>
            <a:pPr lvl="1"/>
            <a:r>
              <a:rPr lang="en-US" sz="1400" dirty="0"/>
              <a:t>AVR RZ Raven USB Stick ($40), requires AVR Dragon ($60) to </a:t>
            </a:r>
            <a:r>
              <a:rPr lang="en-US" sz="1400" dirty="0" err="1"/>
              <a:t>reflash</a:t>
            </a:r>
            <a:endParaRPr lang="en-US" sz="1400" dirty="0"/>
          </a:p>
          <a:p>
            <a:pPr lvl="1"/>
            <a:r>
              <a:rPr lang="en-US" sz="1400" dirty="0" err="1"/>
              <a:t>GoodFET</a:t>
            </a:r>
            <a:r>
              <a:rPr lang="en-US" sz="1400" dirty="0"/>
              <a:t> for hardware debugging, retrieving key from RAM</a:t>
            </a:r>
          </a:p>
          <a:p>
            <a:pPr lvl="1"/>
            <a:r>
              <a:rPr lang="en-US" sz="1400" dirty="0"/>
              <a:t>Wireshark supports NWK decryption</a:t>
            </a:r>
          </a:p>
        </p:txBody>
      </p:sp>
    </p:spTree>
    <p:extLst>
      <p:ext uri="{BB962C8B-B14F-4D97-AF65-F5344CB8AC3E}">
        <p14:creationId xmlns:p14="http://schemas.microsoft.com/office/powerpoint/2010/main" val="45630835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IoT Z-Wave Protocol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sz="1800" dirty="0"/>
              <a:t>Basics</a:t>
            </a:r>
          </a:p>
          <a:p>
            <a:pPr lvl="1"/>
            <a:r>
              <a:rPr lang="en-US" sz="1400" dirty="0">
                <a:hlinkClick r:id="rId3"/>
              </a:rPr>
              <a:t>https://en.wikipedia.org/wiki/Z-Wave</a:t>
            </a:r>
            <a:endParaRPr lang="en-US" sz="1400" dirty="0"/>
          </a:p>
          <a:p>
            <a:pPr lvl="1"/>
            <a:r>
              <a:rPr lang="en-US" sz="1400" dirty="0">
                <a:hlinkClick r:id="rId4"/>
              </a:rPr>
              <a:t>https://z-wavealliance.org/</a:t>
            </a:r>
          </a:p>
          <a:p>
            <a:pPr lvl="1"/>
            <a:r>
              <a:rPr lang="en-US" sz="1400" dirty="0">
                <a:hlinkClick r:id="rId4"/>
              </a:rPr>
              <a:t>http://www.z-wave.com/</a:t>
            </a:r>
            <a:endParaRPr lang="en-US" sz="1400" dirty="0"/>
          </a:p>
          <a:p>
            <a:pPr lvl="1"/>
            <a:r>
              <a:rPr lang="en-US" sz="1400" dirty="0"/>
              <a:t>Not as common as ZigBee, but gaining in popularity</a:t>
            </a:r>
          </a:p>
          <a:p>
            <a:pPr lvl="1"/>
            <a:r>
              <a:rPr lang="en-US" sz="1400" dirty="0"/>
              <a:t>900Mhz</a:t>
            </a:r>
          </a:p>
          <a:p>
            <a:pPr lvl="1"/>
            <a:r>
              <a:rPr lang="en-US" sz="1400" dirty="0"/>
              <a:t>Mesh network</a:t>
            </a:r>
          </a:p>
          <a:p>
            <a:pPr lvl="1"/>
            <a:r>
              <a:rPr lang="en-US" sz="1400" dirty="0"/>
              <a:t>Proprietary protocol, specification released of old version not </a:t>
            </a:r>
            <a:r>
              <a:rPr lang="en-US" sz="1400"/>
              <a:t>new version</a:t>
            </a:r>
            <a:endParaRPr lang="en-US" sz="1400" dirty="0"/>
          </a:p>
          <a:p>
            <a:r>
              <a:rPr lang="en-US" sz="1800" dirty="0"/>
              <a:t>Security</a:t>
            </a:r>
          </a:p>
          <a:p>
            <a:pPr lvl="1"/>
            <a:r>
              <a:rPr lang="en-US" sz="1400" dirty="0"/>
              <a:t>AES security options</a:t>
            </a:r>
          </a:p>
          <a:p>
            <a:r>
              <a:rPr lang="en-US" sz="1800" dirty="0"/>
              <a:t>Vulnerabilities</a:t>
            </a:r>
          </a:p>
          <a:p>
            <a:pPr lvl="1"/>
            <a:r>
              <a:rPr lang="en-US" sz="1400" dirty="0"/>
              <a:t>Easy to reverse engineer</a:t>
            </a:r>
          </a:p>
          <a:p>
            <a:r>
              <a:rPr lang="en-US" sz="1800" dirty="0"/>
              <a:t>Tools</a:t>
            </a:r>
          </a:p>
          <a:p>
            <a:pPr lvl="1"/>
            <a:r>
              <a:rPr lang="en-US" sz="1400" dirty="0" err="1"/>
              <a:t>RFcat</a:t>
            </a:r>
            <a:r>
              <a:rPr lang="en-US" sz="1400" dirty="0"/>
              <a:t> firmware</a:t>
            </a:r>
          </a:p>
          <a:p>
            <a:pPr lvl="1"/>
            <a:r>
              <a:rPr lang="en-US" sz="1400" dirty="0"/>
              <a:t>YARD Stick One</a:t>
            </a:r>
          </a:p>
          <a:p>
            <a:pPr lvl="1"/>
            <a:r>
              <a:rPr lang="en-US" sz="1400" dirty="0" err="1"/>
              <a:t>KillerZee</a:t>
            </a:r>
            <a:r>
              <a:rPr lang="en-US" sz="1400" dirty="0"/>
              <a:t> (similar to </a:t>
            </a:r>
            <a:r>
              <a:rPr lang="en-US" sz="1400" dirty="0" err="1"/>
              <a:t>KillerBee</a:t>
            </a:r>
            <a:r>
              <a:rPr lang="en-US" sz="1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5949454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IoT Specialty Protocols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sz="1800" dirty="0"/>
              <a:t>Li-Fi (Light)</a:t>
            </a:r>
          </a:p>
          <a:p>
            <a:pPr lvl="1"/>
            <a:r>
              <a:rPr lang="en-US" sz="1400" dirty="0">
                <a:hlinkClick r:id="rId3"/>
              </a:rPr>
              <a:t>https://en.wikipedia.org/wiki/Li-Fi</a:t>
            </a:r>
            <a:endParaRPr lang="en-US" sz="1400" dirty="0"/>
          </a:p>
          <a:p>
            <a:pPr lvl="1"/>
            <a:r>
              <a:rPr lang="en-US" sz="1400" dirty="0"/>
              <a:t>Uses light, special light bulbs</a:t>
            </a:r>
          </a:p>
          <a:p>
            <a:pPr lvl="1"/>
            <a:r>
              <a:rPr lang="en-US" sz="1400" dirty="0"/>
              <a:t>Line of sight only</a:t>
            </a:r>
          </a:p>
          <a:p>
            <a:r>
              <a:rPr lang="en-US" sz="1800" dirty="0"/>
              <a:t>Power-line Communication</a:t>
            </a:r>
          </a:p>
          <a:p>
            <a:pPr lvl="1"/>
            <a:r>
              <a:rPr lang="en-US" sz="1400" dirty="0"/>
              <a:t>PLC </a:t>
            </a:r>
            <a:r>
              <a:rPr lang="en-US" sz="1400" dirty="0">
                <a:hlinkClick r:id="rId4"/>
              </a:rPr>
              <a:t>https://en.wikipedia.org/wiki/Power-line_communication</a:t>
            </a:r>
            <a:endParaRPr lang="en-US" sz="1400" dirty="0"/>
          </a:p>
          <a:p>
            <a:pPr lvl="1"/>
            <a:r>
              <a:rPr lang="en-US" sz="1400" dirty="0"/>
              <a:t>Wired, but uses existing powerlines in a home</a:t>
            </a:r>
          </a:p>
          <a:p>
            <a:pPr lvl="1"/>
            <a:r>
              <a:rPr lang="en-US" sz="1400" dirty="0"/>
              <a:t>Complaints are that it radiates additional RF noise into the environment</a:t>
            </a:r>
          </a:p>
          <a:p>
            <a:pPr lvl="1"/>
            <a:r>
              <a:rPr lang="en-US" sz="1400" dirty="0"/>
              <a:t>Broadband over power grid (BPL) is uncommon and used only on low voltages (120 VAC)</a:t>
            </a:r>
          </a:p>
        </p:txBody>
      </p:sp>
    </p:spTree>
    <p:extLst>
      <p:ext uri="{BB962C8B-B14F-4D97-AF65-F5344CB8AC3E}">
        <p14:creationId xmlns:p14="http://schemas.microsoft.com/office/powerpoint/2010/main" val="180841081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IoT</a:t>
            </a:r>
            <a:r>
              <a:rPr lang="en-US" dirty="0"/>
              <a:t> Security    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altLang="ja-JP" sz="1600" dirty="0"/>
              <a:t>Known Exploits/Vulnerabilities</a:t>
            </a:r>
          </a:p>
          <a:p>
            <a:pPr lvl="1"/>
            <a:r>
              <a:rPr lang="en-US" altLang="ja-JP" sz="1400" dirty="0"/>
              <a:t>Devil’s Ivy</a:t>
            </a:r>
          </a:p>
          <a:p>
            <a:pPr lvl="2"/>
            <a:r>
              <a:rPr lang="en-US" altLang="ja-JP" sz="1200" dirty="0">
                <a:hlinkClick r:id="rId3"/>
              </a:rPr>
              <a:t>https://www.wired.com/story/devils-ivy-iot-vulnerability/</a:t>
            </a:r>
            <a:endParaRPr lang="en-US" altLang="ja-JP" sz="1200" dirty="0"/>
          </a:p>
          <a:p>
            <a:pPr lvl="1"/>
            <a:r>
              <a:rPr lang="en-US" altLang="ja-JP" sz="1400" b="1" dirty="0" err="1">
                <a:solidFill>
                  <a:srgbClr val="FF0000"/>
                </a:solidFill>
              </a:rPr>
              <a:t>Mirai</a:t>
            </a:r>
            <a:r>
              <a:rPr lang="en-US" altLang="ja-JP" sz="1400" b="1" dirty="0">
                <a:solidFill>
                  <a:srgbClr val="FF0000"/>
                </a:solidFill>
              </a:rPr>
              <a:t> Botnet</a:t>
            </a:r>
          </a:p>
          <a:p>
            <a:pPr lvl="2"/>
            <a:r>
              <a:rPr lang="en-US" altLang="ja-JP" sz="1200" dirty="0"/>
              <a:t>Used </a:t>
            </a:r>
            <a:r>
              <a:rPr lang="en-US" altLang="ja-JP" sz="1200" dirty="0" err="1"/>
              <a:t>IoT</a:t>
            </a:r>
            <a:r>
              <a:rPr lang="en-US" altLang="ja-JP" sz="1200" dirty="0"/>
              <a:t> devices such as web cameras and home routers</a:t>
            </a:r>
          </a:p>
          <a:p>
            <a:pPr lvl="2"/>
            <a:r>
              <a:rPr lang="en-US" altLang="ja-JP" sz="1200" dirty="0"/>
              <a:t>Used to launch some of the biggest DDoS attacks in recent history</a:t>
            </a:r>
          </a:p>
          <a:p>
            <a:pPr lvl="2"/>
            <a:r>
              <a:rPr lang="en-US" sz="1200" dirty="0">
                <a:hlinkClick r:id="rId4"/>
              </a:rPr>
              <a:t>https://en.wikipedia.org/wiki/Mirai_(malware)</a:t>
            </a:r>
            <a:endParaRPr lang="en-US" sz="1200" dirty="0"/>
          </a:p>
          <a:p>
            <a:pPr lvl="2"/>
            <a:r>
              <a:rPr lang="en-US" sz="1200" dirty="0">
                <a:hlinkClick r:id="rId5"/>
              </a:rPr>
              <a:t>https://www.wired.com/story/mirai-botnet-minecraft-scam-brought-down-the-internet/</a:t>
            </a:r>
            <a:endParaRPr lang="en-US" sz="1200" dirty="0"/>
          </a:p>
          <a:p>
            <a:pPr lvl="2"/>
            <a:r>
              <a:rPr lang="en-US" sz="1200" dirty="0"/>
              <a:t>Still ongoing with new variants!</a:t>
            </a:r>
          </a:p>
          <a:p>
            <a:pPr lvl="1"/>
            <a:r>
              <a:rPr lang="en-US" sz="1400" dirty="0"/>
              <a:t>Vulnerable devices</a:t>
            </a:r>
          </a:p>
          <a:p>
            <a:pPr lvl="2"/>
            <a:r>
              <a:rPr lang="en-US" sz="1200" dirty="0"/>
              <a:t>Can be found on the Internet</a:t>
            </a:r>
          </a:p>
          <a:p>
            <a:pPr lvl="2"/>
            <a:r>
              <a:rPr lang="en-US" sz="1200" dirty="0">
                <a:hlinkClick r:id="rId6"/>
              </a:rPr>
              <a:t>https://www.shodan.io/</a:t>
            </a:r>
            <a:endParaRPr lang="en-US" sz="1200" dirty="0"/>
          </a:p>
          <a:p>
            <a:pPr lvl="2"/>
            <a:r>
              <a:rPr lang="en-US" sz="1200" dirty="0"/>
              <a:t>St. Jude Cardiac Devices</a:t>
            </a:r>
          </a:p>
          <a:p>
            <a:pPr lvl="2"/>
            <a:r>
              <a:rPr lang="en-US" sz="1200" dirty="0"/>
              <a:t>Owlet WiFi Baby Heart Monitor</a:t>
            </a:r>
          </a:p>
          <a:p>
            <a:pPr lvl="2"/>
            <a:r>
              <a:rPr lang="en-US" sz="1200" dirty="0" err="1"/>
              <a:t>TRENDnet</a:t>
            </a:r>
            <a:r>
              <a:rPr lang="en-US" sz="1200" dirty="0"/>
              <a:t> Webcam</a:t>
            </a:r>
          </a:p>
          <a:p>
            <a:r>
              <a:rPr lang="en-US" sz="1600" dirty="0"/>
              <a:t>NIST Guidelines</a:t>
            </a:r>
          </a:p>
          <a:p>
            <a:pPr lvl="1"/>
            <a:r>
              <a:rPr lang="en-US" sz="1400" dirty="0">
                <a:hlinkClick r:id="rId7"/>
              </a:rPr>
              <a:t>https://www.nist.gov/topics/internet-things-iot</a:t>
            </a:r>
          </a:p>
          <a:p>
            <a:pPr lvl="1"/>
            <a:r>
              <a:rPr lang="en-US" sz="1400" dirty="0">
                <a:hlinkClick r:id="rId7"/>
              </a:rPr>
              <a:t>https://www.nist.gov/programs-projects/nist-cybersecurity-iot-program</a:t>
            </a:r>
          </a:p>
          <a:p>
            <a:pPr lvl="1"/>
            <a:r>
              <a:rPr lang="en-US" sz="1400" dirty="0">
                <a:hlinkClick r:id="rId7"/>
              </a:rPr>
              <a:t>https://csrc.nist.gov/CSRC/media/Publications/nistir/8200/draft/documents/nistir8200-draft.pdf</a:t>
            </a:r>
          </a:p>
          <a:p>
            <a:r>
              <a:rPr lang="en-US" sz="1600" dirty="0"/>
              <a:t>SANS Whitepaper</a:t>
            </a:r>
          </a:p>
          <a:p>
            <a:pPr lvl="1"/>
            <a:r>
              <a:rPr lang="en-US" sz="1400" dirty="0">
                <a:hlinkClick r:id="rId8"/>
              </a:rPr>
              <a:t>https://www.sans.org/reading-room/whitepapers/hsoffice/securing-home-iot-network-37717</a:t>
            </a:r>
          </a:p>
          <a:p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2008887083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5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c7a77415-c4a3-4262-8430-671f3e8707b6">7J4PPY27XH2W-901365475-257158</_dlc_DocId>
    <_dlc_DocIdUrl xmlns="c7a77415-c4a3-4262-8430-671f3e8707b6">
      <Url>https://automotivei.sharepoint.com/sites/PMO/_layouts/15/DocIdRedir.aspx?ID=7J4PPY27XH2W-901365475-257158</Url>
      <Description>7J4PPY27XH2W-901365475-257158</Description>
    </_dlc_DocIdUrl>
    <TaxCatchAll xmlns="c7a77415-c4a3-4262-8430-671f3e8707b6" xsi:nil="true"/>
    <lcf76f155ced4ddcb4097134ff3c332f xmlns="69a7259e-7a2c-42d5-bc84-25eccf0dce8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B86F8708159745A0B6896184DE9576" ma:contentTypeVersion="19" ma:contentTypeDescription="Create a new document." ma:contentTypeScope="" ma:versionID="493bf26d373952ea1ae3b9e24cd19b33">
  <xsd:schema xmlns:xsd="http://www.w3.org/2001/XMLSchema" xmlns:xs="http://www.w3.org/2001/XMLSchema" xmlns:p="http://schemas.microsoft.com/office/2006/metadata/properties" xmlns:ns2="c7a77415-c4a3-4262-8430-671f3e8707b6" xmlns:ns3="69a7259e-7a2c-42d5-bc84-25eccf0dce8b" targetNamespace="http://schemas.microsoft.com/office/2006/metadata/properties" ma:root="true" ma:fieldsID="69c00e31f84d56e19bb090b7ea67ab52" ns2:_="" ns3:_="">
    <xsd:import namespace="c7a77415-c4a3-4262-8430-671f3e8707b6"/>
    <xsd:import namespace="69a7259e-7a2c-42d5-bc84-25eccf0dce8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77415-c4a3-4262-8430-671f3e8707b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d3a045ce-0abc-407a-a385-daab9685d46b}" ma:internalName="TaxCatchAll" ma:showField="CatchAllData" ma:web="c7a77415-c4a3-4262-8430-671f3e8707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7259e-7a2c-42d5-bc84-25eccf0dce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ca126d71-af09-421f-972c-d16e59c14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E71A463F-9F4B-47AC-91AA-3962FD8F3CE5}">
  <ds:schemaRefs>
    <ds:schemaRef ds:uri="http://schemas.microsoft.com/office/2006/metadata/properties"/>
    <ds:schemaRef ds:uri="http://schemas.microsoft.com/office/infopath/2007/PartnerControls"/>
    <ds:schemaRef ds:uri="c7a77415-c4a3-4262-8430-671f3e8707b6"/>
    <ds:schemaRef ds:uri="69a7259e-7a2c-42d5-bc84-25eccf0dce8b"/>
  </ds:schemaRefs>
</ds:datastoreItem>
</file>

<file path=customXml/itemProps2.xml><?xml version="1.0" encoding="utf-8"?>
<ds:datastoreItem xmlns:ds="http://schemas.openxmlformats.org/officeDocument/2006/customXml" ds:itemID="{8FEF19B7-7529-453B-A7D5-A8465340F1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a77415-c4a3-4262-8430-671f3e8707b6"/>
    <ds:schemaRef ds:uri="69a7259e-7a2c-42d5-bc84-25eccf0dce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EE72F3-C956-4A5B-833F-E761B5D8ACD8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54C592EF-85C1-482B-896B-DED434B6FCCC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1305</TotalTime>
  <Words>1789</Words>
  <Application>Microsoft Office PowerPoint</Application>
  <PresentationFormat>Widescreen</PresentationFormat>
  <Paragraphs>310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Custom Design</vt:lpstr>
      <vt:lpstr>Internet of Things</vt:lpstr>
      <vt:lpstr>Internet of Things (IoT)</vt:lpstr>
      <vt:lpstr>IoT Protocols</vt:lpstr>
      <vt:lpstr>IoT RFID Information</vt:lpstr>
      <vt:lpstr>IoT RFID Applications</vt:lpstr>
      <vt:lpstr>IoT RFID Security</vt:lpstr>
      <vt:lpstr>IoT Near Field Communication (NFC) Basics</vt:lpstr>
      <vt:lpstr>IoT NFC Security</vt:lpstr>
      <vt:lpstr>IoT RFID/NFC Hardware Tools</vt:lpstr>
      <vt:lpstr>IoT NFC EMV</vt:lpstr>
      <vt:lpstr>IoT NFC MIFARE</vt:lpstr>
      <vt:lpstr>IoT ZigBee Information</vt:lpstr>
      <vt:lpstr>IoT ZigBee Security</vt:lpstr>
      <vt:lpstr>IoT Z-Wave Protocol</vt:lpstr>
      <vt:lpstr>IoT Specialty Protocols</vt:lpstr>
      <vt:lpstr>IoT Security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Carey Garback</dc:creator>
  <cp:lastModifiedBy>Probert, Neal</cp:lastModifiedBy>
  <cp:revision>12</cp:revision>
  <dcterms:created xsi:type="dcterms:W3CDTF">2026-03-11T18:02:03Z</dcterms:created>
  <dcterms:modified xsi:type="dcterms:W3CDTF">2026-09-04T13:29:21Z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9C55993E-2489-4B16-A624-642EE1CF50C1</vt:lpwstr>
  </property>
  <property fmtid="{D5CDD505-2E9C-101B-9397-08002B2CF9AE}" pid="3" name="ArticulatePath">
    <vt:lpwstr>Presentation1</vt:lpwstr>
  </property>
  <property fmtid="{D5CDD505-2E9C-101B-9397-08002B2CF9AE}" pid="4" name="_dlc_DocIdItemGuid">
    <vt:lpwstr>93579079-5068-410a-b208-65d154b95cd0</vt:lpwstr>
  </property>
  <property fmtid="{D5CDD505-2E9C-101B-9397-08002B2CF9AE}" pid="5" name="ContentTypeId">
    <vt:lpwstr>0x01010067B86F8708159745A0B6896184DE9576</vt:lpwstr>
  </property>
  <property fmtid="{D5CDD505-2E9C-101B-9397-08002B2CF9AE}" pid="6" name="MediaServiceImageTags">
    <vt:lpwstr/>
  </property>
</Properties>
</file>
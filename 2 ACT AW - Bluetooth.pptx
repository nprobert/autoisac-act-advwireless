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32"/>
  </p:notesMasterIdLst>
  <p:sldIdLst>
    <p:sldId id="741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730" r:id="rId24"/>
    <p:sldId id="783" r:id="rId25"/>
    <p:sldId id="734" r:id="rId26"/>
    <p:sldId id="784" r:id="rId27"/>
    <p:sldId id="785" r:id="rId28"/>
    <p:sldId id="786" r:id="rId29"/>
    <p:sldId id="736" r:id="rId30"/>
    <p:sldId id="787" r:id="rId31"/>
  </p:sldIdLst>
  <p:sldSz cx="12192000" cy="6858000"/>
  <p:notesSz cx="6858000" cy="9144000"/>
  <p:custDataLst>
    <p:tags r:id="rId3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luetooth" id="{CE274DD4-88AE-4FF5-8622-BD38CA4270E3}">
          <p14:sldIdLst>
            <p14:sldId id="741"/>
            <p14:sldId id="284"/>
            <p14:sldId id="285"/>
            <p14:sldId id="286"/>
            <p14:sldId id="287"/>
          </p14:sldIdLst>
        </p14:section>
        <p14:section name=" Bluetooth Scanning" id="{68166EB0-8075-43B7-ADC5-9D86910720E9}">
          <p14:sldIdLst>
            <p14:sldId id="288"/>
            <p14:sldId id="289"/>
            <p14:sldId id="290"/>
            <p14:sldId id="291"/>
          </p14:sldIdLst>
        </p14:section>
        <p14:section name="Bluetooth Services" id="{5A79DE84-06D5-4FB9-8C5A-73BC5BFAEEB0}">
          <p14:sldIdLst>
            <p14:sldId id="292"/>
            <p14:sldId id="293"/>
            <p14:sldId id="294"/>
            <p14:sldId id="295"/>
          </p14:sldIdLst>
        </p14:section>
        <p14:section name="Bluetooth Pairing" id="{C6B06CB6-A763-4B09-A261-C79BD8740F77}">
          <p14:sldIdLst>
            <p14:sldId id="296"/>
            <p14:sldId id="297"/>
            <p14:sldId id="298"/>
          </p14:sldIdLst>
        </p14:section>
        <p14:section name="Bluetooth Data" id="{2BC74A79-D2CC-4608-B0DC-841A54C94B1F}">
          <p14:sldIdLst>
            <p14:sldId id="299"/>
            <p14:sldId id="300"/>
          </p14:sldIdLst>
        </p14:section>
        <p14:section name="Appendix" id="{5348B367-85F7-4A75-AC97-3AF8A339C4A8}">
          <p14:sldIdLst>
            <p14:sldId id="730"/>
            <p14:sldId id="783"/>
            <p14:sldId id="734"/>
            <p14:sldId id="784"/>
            <p14:sldId id="785"/>
            <p14:sldId id="786"/>
            <p14:sldId id="736"/>
            <p14:sldId id="7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microsoft.com/office/2015/10/relationships/revisionInfo" Target="revisionInfo.xml"/><Relationship Id="rId21" Type="http://schemas.openxmlformats.org/officeDocument/2006/relationships/slide" Target="slides/slide16.xml"/><Relationship Id="rId34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tags" Target="tags/tag1.xml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19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797427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20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168916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21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006360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22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205914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23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36154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24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54466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25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7485379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26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015599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9993990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luetooth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List_of_Bluetooth_protocols" TargetMode="External"/><Relationship Id="rId4" Type="http://schemas.openxmlformats.org/officeDocument/2006/relationships/hyperlink" Target="https://en.wikipedia.org/wiki/Bluetooth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levenpaths.com/labstools/dirtytooth-para-raspberry-pi-2/index.html" TargetMode="External"/><Relationship Id="rId3" Type="http://schemas.openxmlformats.org/officeDocument/2006/relationships/hyperlink" Target="https://www.armis.com/blueborne/" TargetMode="External"/><Relationship Id="rId7" Type="http://schemas.openxmlformats.org/officeDocument/2006/relationships/hyperlink" Target="http://www.dirtytooth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airodump.net/bluetooth-security-vulnerabilities/" TargetMode="External"/><Relationship Id="rId11" Type="http://schemas.openxmlformats.org/officeDocument/2006/relationships/hyperlink" Target="https://www.sans.org/reading-room/whitepapers/wireless/bluetooth-inherent-security-issues-945" TargetMode="External"/><Relationship Id="rId5" Type="http://schemas.openxmlformats.org/officeDocument/2006/relationships/hyperlink" Target="https://en.wikipedia.org/wiki/Bluesnarfing" TargetMode="External"/><Relationship Id="rId10" Type="http://schemas.openxmlformats.org/officeDocument/2006/relationships/hyperlink" Target="https://csrc.nist.gov/csrc/media/publications/sp/800-121/rev-2/draft/documents/sp800_121_r2_draft.pdf" TargetMode="External"/><Relationship Id="rId4" Type="http://schemas.openxmlformats.org/officeDocument/2006/relationships/hyperlink" Target="https://en.wikipedia.org/wiki/Bluejacking" TargetMode="External"/><Relationship Id="rId9" Type="http://schemas.openxmlformats.org/officeDocument/2006/relationships/hyperlink" Target="http://cve.mitre.org/cgi-bin/cvekey.cgi?keyword=bluetooth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fte.com/products/sodera.aspx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ellisys.com/products/bex400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crosoft.com/en-us/store/p/bluetooth-analyzer/9wzdncrdhhw6?activetab=pivot:overviewtab" TargetMode="External"/><Relationship Id="rId7" Type="http://schemas.openxmlformats.org/officeDocument/2006/relationships/hyperlink" Target="https://github.com/greatscottgadgets/ubertooth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akshop.com/products/ubertooth-one" TargetMode="External"/><Relationship Id="rId5" Type="http://schemas.openxmlformats.org/officeDocument/2006/relationships/hyperlink" Target="http://www.greatscottgadgets.com/ubertoothone/" TargetMode="External"/><Relationship Id="rId4" Type="http://schemas.openxmlformats.org/officeDocument/2006/relationships/hyperlink" Target="https://www.nirsoft.net/utils/bluetooth_viewer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2" descr="Image result for small bluetooth log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4416" y="1172245"/>
            <a:ext cx="4912116" cy="4698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Image result for bluetooth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1430" y="159320"/>
            <a:ext cx="1258318" cy="1258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164756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118873" y="1774081"/>
            <a:ext cx="4588511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2803474"/>
            <a:ext cx="6352540" cy="293362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virtual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machine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adapter!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ts val="259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begin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hands-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portion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training,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platforms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configuring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1435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making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sure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running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page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inquiry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nearby</a:t>
            </a:r>
            <a:r>
              <a:rPr kumimoji="0" sz="24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devices.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pic>
        <p:nvPicPr>
          <p:cNvPr id="4" name="object 4" descr="Text  Description automatically generated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56247" y="950975"/>
            <a:ext cx="5516880" cy="5061204"/>
          </a:xfrm>
          <a:prstGeom prst="rect">
            <a:avLst/>
          </a:prstGeom>
        </p:spPr>
      </p:pic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0A99B574-4EB3-874B-D372-0652085B8A06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Hands-</a:t>
            </a:r>
            <a:r>
              <a:rPr kumimoji="0" sz="3600" b="1" i="0" u="none" strike="noStrike" kern="0" cap="none" spc="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</a:t>
            </a:r>
            <a:r>
              <a:rPr kumimoji="0" sz="3600" b="1" i="0" u="none" strike="noStrike" kern="0" cap="none" spc="-19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6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Exercises</a:t>
            </a:r>
            <a:r>
              <a:rPr lang="en-US" sz="3600" b="1" kern="0" spc="-65" dirty="0">
                <a:solidFill>
                  <a:srgbClr val="25252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Slides 1-17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621020" cy="239268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25755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type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security assessment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searching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nearby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1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98517"/>
            <a:ext cx="5446395" cy="1050290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3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Scanning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proximity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973445" cy="239268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302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Scanning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Modern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usually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non-discoverable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default,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connecting/pairing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98517"/>
            <a:ext cx="521525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intentionally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been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put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into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mode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2344928"/>
            <a:ext cx="5926455" cy="1734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along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236220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should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able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detect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(and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fellow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students)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00981"/>
            <a:ext cx="575119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4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sure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device’s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address!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You’ll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using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023350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</a:t>
            </a:r>
            <a:r>
              <a:rPr spc="-210" dirty="0"/>
              <a:t> </a:t>
            </a:r>
            <a:r>
              <a:rPr spc="-20" dirty="0"/>
              <a:t>Note</a:t>
            </a:r>
            <a:r>
              <a:rPr spc="-204" dirty="0"/>
              <a:t> </a:t>
            </a:r>
            <a:r>
              <a:rPr dirty="0"/>
              <a:t>on</a:t>
            </a:r>
            <a:r>
              <a:rPr spc="-200" dirty="0"/>
              <a:t> </a:t>
            </a:r>
            <a:r>
              <a:rPr spc="-50" dirty="0"/>
              <a:t>BT</a:t>
            </a:r>
            <a:r>
              <a:rPr spc="-200" dirty="0"/>
              <a:t> </a:t>
            </a:r>
            <a:r>
              <a:rPr spc="-60" dirty="0"/>
              <a:t>Addresses</a:t>
            </a:r>
            <a:r>
              <a:rPr spc="-200" dirty="0"/>
              <a:t> </a:t>
            </a:r>
            <a:r>
              <a:rPr dirty="0"/>
              <a:t>and</a:t>
            </a:r>
            <a:r>
              <a:rPr spc="-190" dirty="0"/>
              <a:t> </a:t>
            </a:r>
            <a:r>
              <a:rPr spc="-10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-12700" y="1210817"/>
            <a:ext cx="8030845" cy="4799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4139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48-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bit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“unique”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value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AA:BB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: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>
                  <a:solidFill>
                    <a:srgbClr val="FFC000"/>
                  </a:solidFill>
                </a:uFill>
                <a:latin typeface="Calibri"/>
                <a:cs typeface="Calibri"/>
              </a:rPr>
              <a:t>CC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: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006FC0"/>
                </a:solidFill>
                <a:effectLst/>
                <a:uLnTx/>
                <a:uFillTx/>
                <a:latin typeface="Calibri"/>
                <a:cs typeface="Calibri"/>
              </a:rPr>
              <a:t>DD:EE:FF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Organizationally</a:t>
            </a:r>
            <a:r>
              <a:rPr kumimoji="0" sz="2800" b="0" i="0" u="none" strike="noStrike" kern="0" cap="none" spc="-10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Unique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Identifier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(OUI)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2:</a:t>
            </a:r>
            <a:r>
              <a:rPr kumimoji="0" sz="28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significant.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Third: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Upper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Last</a:t>
            </a:r>
            <a:r>
              <a:rPr kumimoji="0" sz="28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Lower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 typeface="Calibri"/>
              <a:buChar char="◦"/>
              <a:tabLst>
                <a:tab pos="396240" algn="l"/>
              </a:tabLst>
              <a:defRPr/>
            </a:pPr>
            <a:r>
              <a:rPr kumimoji="0" sz="28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Normally</a:t>
            </a:r>
            <a:r>
              <a:rPr kumimoji="0" sz="2800" b="0" i="1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invisible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2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*OUI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=/=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Chip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manufacturer!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691505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device.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requests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454654"/>
            <a:ext cx="595503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much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possible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about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over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798517"/>
            <a:ext cx="562546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“info”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tool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“hcitool”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suite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6054725" cy="10496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along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1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4.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Take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different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types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454654"/>
            <a:ext cx="5873750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Keep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mind,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all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obtained before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any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authentication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5128386"/>
            <a:ext cx="44818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just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6022340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Something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take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of: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obtained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mostly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about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itself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454654"/>
            <a:ext cx="55664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</a:t>
            </a:r>
            <a:r>
              <a:rPr kumimoji="0" sz="24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isn’t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much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1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doing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resides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798517"/>
            <a:ext cx="5118100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next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give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regarding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hoping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4.</a:t>
            </a:r>
            <a:r>
              <a:rPr spc="-200" dirty="0"/>
              <a:t> </a:t>
            </a:r>
            <a:r>
              <a:rPr spc="-55" dirty="0"/>
              <a:t>Identifying</a:t>
            </a:r>
            <a:r>
              <a:rPr spc="-200" dirty="0"/>
              <a:t> </a:t>
            </a:r>
            <a:r>
              <a:rPr spc="-35" dirty="0"/>
              <a:t>BT</a:t>
            </a:r>
            <a:r>
              <a:rPr spc="-185" dirty="0"/>
              <a:t> </a:t>
            </a:r>
            <a:r>
              <a:rPr spc="-1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724525" cy="137922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different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applications.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applications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individual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configured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support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discovered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using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1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Discovery</a:t>
            </a:r>
            <a:r>
              <a:rPr kumimoji="0" sz="2400" b="0" i="1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Protocol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222447"/>
            <a:ext cx="5803900" cy="105029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special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protocol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meant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about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1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interact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another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895215"/>
            <a:ext cx="5365115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result,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often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shared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without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encryption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authentication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4.</a:t>
            </a:r>
            <a:r>
              <a:rPr spc="-200" dirty="0"/>
              <a:t> </a:t>
            </a:r>
            <a:r>
              <a:rPr spc="-55" dirty="0"/>
              <a:t>Identifying</a:t>
            </a:r>
            <a:r>
              <a:rPr spc="-200" dirty="0"/>
              <a:t> </a:t>
            </a:r>
            <a:r>
              <a:rPr spc="-35" dirty="0"/>
              <a:t>BT</a:t>
            </a:r>
            <a:r>
              <a:rPr spc="-185" dirty="0"/>
              <a:t> </a:t>
            </a:r>
            <a:r>
              <a:rPr spc="-1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27149"/>
            <a:ext cx="5899785" cy="105029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When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checking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r>
              <a:rPr kumimoji="0" sz="2400" b="0" i="0" u="none" strike="noStrike" kern="0" cap="none" spc="6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399790"/>
            <a:ext cx="55359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seen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“port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scan”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414773"/>
            <a:ext cx="5712460" cy="720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5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get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from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device’s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5.</a:t>
            </a:r>
            <a:r>
              <a:rPr spc="-215" dirty="0"/>
              <a:t> </a:t>
            </a:r>
            <a:r>
              <a:rPr spc="-50" dirty="0"/>
              <a:t>Analyzing</a:t>
            </a:r>
            <a:r>
              <a:rPr spc="-200" dirty="0"/>
              <a:t> </a:t>
            </a:r>
            <a:r>
              <a:rPr dirty="0"/>
              <a:t>SDP</a:t>
            </a:r>
            <a:r>
              <a:rPr spc="-215" dirty="0"/>
              <a:t> </a:t>
            </a:r>
            <a:r>
              <a:rPr spc="-10" dirty="0"/>
              <a:t>Output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27149"/>
            <a:ext cx="5581650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Depending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complex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give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070047"/>
            <a:ext cx="584898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special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purpose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414773"/>
            <a:ext cx="59093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perform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other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tests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5.</a:t>
            </a:r>
            <a:r>
              <a:rPr spc="-215" dirty="0"/>
              <a:t> </a:t>
            </a:r>
            <a:r>
              <a:rPr spc="-50" dirty="0"/>
              <a:t>Analyzing</a:t>
            </a:r>
            <a:r>
              <a:rPr spc="-200" dirty="0"/>
              <a:t> </a:t>
            </a:r>
            <a:r>
              <a:rPr dirty="0"/>
              <a:t>SDP</a:t>
            </a:r>
            <a:r>
              <a:rPr spc="-215" dirty="0"/>
              <a:t> </a:t>
            </a:r>
            <a:r>
              <a:rPr spc="-10" dirty="0"/>
              <a:t>Output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191005"/>
            <a:ext cx="5532120" cy="220980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12700" marR="110489" lvl="0" indent="0" algn="just" defTabSz="914400" eaLnBrk="1" fontAlgn="auto" latinLnBrk="0" hangingPunct="1">
              <a:lnSpc>
                <a:spcPts val="2300"/>
              </a:lnSpc>
              <a:spcBef>
                <a:spcPts val="6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Analyze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received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from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You’ll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RFCOMM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channel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able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951478"/>
            <a:ext cx="5650230" cy="97663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300"/>
              </a:lnSpc>
              <a:spcBef>
                <a:spcPts val="6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There’s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also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hints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keep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track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5477357"/>
            <a:ext cx="5367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Proceed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6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7901420" y="2823569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9" name="object 19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661616"/>
            <a:ext cx="6132195" cy="402907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 marR="52705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hosted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started interacting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31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designed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interact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other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 however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332740" lvl="0" indent="0" defTabSz="91440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hints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previous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steps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tools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available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Linux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3" name="object 23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5" name="object 25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987415" cy="439610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9525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general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forms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Simple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(SSP)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41910" lvl="0" indent="0" defTabSz="914400" eaLnBrk="1" fontAlgn="auto" latinLnBrk="0" hangingPunct="1">
              <a:lnSpc>
                <a:spcPts val="259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SSP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version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far,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configured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Older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only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supported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would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PIN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code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devices,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manufacturer-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default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code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like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0000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</a:t>
            </a:r>
            <a:r>
              <a:rPr kumimoji="0" sz="24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1234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157451" y="27336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4" name="object 24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6" name="object 26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6173470" cy="4340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5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attempt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without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wont’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accepted!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separate</a:t>
            </a:r>
            <a:r>
              <a:rPr kumimoji="0" sz="2400" b="0" i="1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concepts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993775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7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complete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process.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405130" lvl="0" indent="-181610" defTabSz="914400" eaLnBrk="1" fontAlgn="auto" latinLnBrk="0" hangingPunct="1">
              <a:lnSpc>
                <a:spcPts val="2160"/>
              </a:lnSpc>
              <a:spcBef>
                <a:spcPts val="42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480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might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need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few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attempts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many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people 	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once*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157451" y="27336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4" name="object 24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6" name="object 26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7.</a:t>
            </a:r>
            <a:r>
              <a:rPr spc="-204" dirty="0"/>
              <a:t> </a:t>
            </a:r>
            <a:r>
              <a:rPr spc="-45" dirty="0"/>
              <a:t>Sending</a:t>
            </a:r>
            <a:r>
              <a:rPr spc="-195" dirty="0"/>
              <a:t> </a:t>
            </a:r>
            <a:r>
              <a:rPr spc="-50" dirty="0"/>
              <a:t>Data</a:t>
            </a:r>
            <a:r>
              <a:rPr spc="-200" dirty="0"/>
              <a:t> </a:t>
            </a:r>
            <a:r>
              <a:rPr spc="-35" dirty="0"/>
              <a:t>Over</a:t>
            </a:r>
            <a:r>
              <a:rPr spc="-215" dirty="0"/>
              <a:t> </a:t>
            </a:r>
            <a:r>
              <a:rPr spc="-25" dirty="0"/>
              <a:t>Bluetooth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6807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time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finish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CTF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2509520"/>
            <a:ext cx="5616575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accept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text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over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service’s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RFCOMM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channel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154224"/>
            <a:ext cx="5797550" cy="164655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flags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find: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0" lvl="0" indent="-181610" defTabSz="914400" eaLnBrk="1" fontAlgn="auto" latinLnBrk="0" hangingPunct="1">
              <a:lnSpc>
                <a:spcPts val="2280"/>
              </a:lnSpc>
              <a:spcBef>
                <a:spcPts val="18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353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one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hidden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see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4800" marR="0" lvl="0" indent="0" defTabSz="91440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tools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you’ve</a:t>
            </a:r>
            <a:r>
              <a:rPr kumimoji="0" sz="20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learned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290830" lvl="0" indent="-181610" defTabSz="914400" eaLnBrk="1" fontAlgn="auto" latinLnBrk="0" hangingPunct="1">
              <a:lnSpc>
                <a:spcPts val="2160"/>
              </a:lnSpc>
              <a:spcBef>
                <a:spcPts val="63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480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second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revealed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when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successfully 	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0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20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27569" y="2364498"/>
            <a:ext cx="2310130" cy="1743075"/>
            <a:chOff x="6227569" y="2364498"/>
            <a:chExt cx="2310130" cy="1743075"/>
          </a:xfrm>
        </p:grpSpPr>
        <p:sp>
          <p:nvSpPr>
            <p:cNvPr id="7" name="object 7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4"/>
                  </a:lnTo>
                  <a:lnTo>
                    <a:pt x="361187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7" y="180594"/>
                  </a:lnTo>
                  <a:lnTo>
                    <a:pt x="270890" y="180594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56944" y="23645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5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5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5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5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5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03299" y="34367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609282" y="233680"/>
                  </a:moveTo>
                  <a:lnTo>
                    <a:pt x="607644" y="223520"/>
                  </a:lnTo>
                  <a:lnTo>
                    <a:pt x="602043" y="188722"/>
                  </a:lnTo>
                  <a:lnTo>
                    <a:pt x="586232" y="158153"/>
                  </a:lnTo>
                  <a:lnTo>
                    <a:pt x="586232" y="223520"/>
                  </a:lnTo>
                  <a:lnTo>
                    <a:pt x="586232" y="243840"/>
                  </a:lnTo>
                  <a:lnTo>
                    <a:pt x="576859" y="281216"/>
                  </a:lnTo>
                  <a:lnTo>
                    <a:pt x="556666" y="312966"/>
                  </a:lnTo>
                  <a:lnTo>
                    <a:pt x="527634" y="336867"/>
                  </a:lnTo>
                  <a:lnTo>
                    <a:pt x="491693" y="350735"/>
                  </a:lnTo>
                  <a:lnTo>
                    <a:pt x="503885" y="336410"/>
                  </a:lnTo>
                  <a:lnTo>
                    <a:pt x="511390" y="327583"/>
                  </a:lnTo>
                  <a:lnTo>
                    <a:pt x="526910" y="301675"/>
                  </a:lnTo>
                  <a:lnTo>
                    <a:pt x="537921" y="273697"/>
                  </a:lnTo>
                  <a:lnTo>
                    <a:pt x="538835" y="269557"/>
                  </a:lnTo>
                  <a:lnTo>
                    <a:pt x="544296" y="243840"/>
                  </a:lnTo>
                  <a:lnTo>
                    <a:pt x="586232" y="243840"/>
                  </a:lnTo>
                  <a:lnTo>
                    <a:pt x="586232" y="223520"/>
                  </a:lnTo>
                  <a:lnTo>
                    <a:pt x="544296" y="223520"/>
                  </a:lnTo>
                  <a:lnTo>
                    <a:pt x="537972" y="193852"/>
                  </a:lnTo>
                  <a:lnTo>
                    <a:pt x="526961" y="165811"/>
                  </a:lnTo>
                  <a:lnTo>
                    <a:pt x="523887" y="160655"/>
                  </a:lnTo>
                  <a:lnTo>
                    <a:pt x="523887" y="223520"/>
                  </a:lnTo>
                  <a:lnTo>
                    <a:pt x="523887" y="243840"/>
                  </a:lnTo>
                  <a:lnTo>
                    <a:pt x="517969" y="269151"/>
                  </a:lnTo>
                  <a:lnTo>
                    <a:pt x="517880" y="269557"/>
                  </a:lnTo>
                  <a:lnTo>
                    <a:pt x="507961" y="293839"/>
                  </a:lnTo>
                  <a:lnTo>
                    <a:pt x="494347" y="316268"/>
                  </a:lnTo>
                  <a:lnTo>
                    <a:pt x="477278" y="336410"/>
                  </a:lnTo>
                  <a:lnTo>
                    <a:pt x="477278" y="335292"/>
                  </a:lnTo>
                  <a:lnTo>
                    <a:pt x="477278" y="243840"/>
                  </a:lnTo>
                  <a:lnTo>
                    <a:pt x="523887" y="243840"/>
                  </a:lnTo>
                  <a:lnTo>
                    <a:pt x="523887" y="223520"/>
                  </a:lnTo>
                  <a:lnTo>
                    <a:pt x="477278" y="223520"/>
                  </a:lnTo>
                  <a:lnTo>
                    <a:pt x="477278" y="132080"/>
                  </a:lnTo>
                  <a:lnTo>
                    <a:pt x="477278" y="130860"/>
                  </a:lnTo>
                  <a:lnTo>
                    <a:pt x="494360" y="151015"/>
                  </a:lnTo>
                  <a:lnTo>
                    <a:pt x="507974" y="173469"/>
                  </a:lnTo>
                  <a:lnTo>
                    <a:pt x="517893" y="197789"/>
                  </a:lnTo>
                  <a:lnTo>
                    <a:pt x="523887" y="223520"/>
                  </a:lnTo>
                  <a:lnTo>
                    <a:pt x="523887" y="160655"/>
                  </a:lnTo>
                  <a:lnTo>
                    <a:pt x="511556" y="139915"/>
                  </a:lnTo>
                  <a:lnTo>
                    <a:pt x="503910" y="130860"/>
                  </a:lnTo>
                  <a:lnTo>
                    <a:pt x="491998" y="116738"/>
                  </a:lnTo>
                  <a:lnTo>
                    <a:pt x="527824" y="130644"/>
                  </a:lnTo>
                  <a:lnTo>
                    <a:pt x="556768" y="154546"/>
                  </a:lnTo>
                  <a:lnTo>
                    <a:pt x="576872" y="186232"/>
                  </a:lnTo>
                  <a:lnTo>
                    <a:pt x="586232" y="223520"/>
                  </a:lnTo>
                  <a:lnTo>
                    <a:pt x="586232" y="158153"/>
                  </a:lnTo>
                  <a:lnTo>
                    <a:pt x="581850" y="149682"/>
                  </a:lnTo>
                  <a:lnTo>
                    <a:pt x="551078" y="118884"/>
                  </a:lnTo>
                  <a:lnTo>
                    <a:pt x="546938" y="116738"/>
                  </a:lnTo>
                  <a:lnTo>
                    <a:pt x="546150" y="116332"/>
                  </a:lnTo>
                  <a:lnTo>
                    <a:pt x="512051" y="98691"/>
                  </a:lnTo>
                  <a:lnTo>
                    <a:pt x="467118" y="91440"/>
                  </a:lnTo>
                  <a:lnTo>
                    <a:pt x="456971" y="93078"/>
                  </a:lnTo>
                  <a:lnTo>
                    <a:pt x="456971" y="132080"/>
                  </a:lnTo>
                  <a:lnTo>
                    <a:pt x="456971" y="223520"/>
                  </a:lnTo>
                  <a:lnTo>
                    <a:pt x="456971" y="243840"/>
                  </a:lnTo>
                  <a:lnTo>
                    <a:pt x="456971" y="335292"/>
                  </a:lnTo>
                  <a:lnTo>
                    <a:pt x="444373" y="320065"/>
                  </a:lnTo>
                  <a:lnTo>
                    <a:pt x="444373" y="351142"/>
                  </a:lnTo>
                  <a:lnTo>
                    <a:pt x="407822" y="337566"/>
                  </a:lnTo>
                  <a:lnTo>
                    <a:pt x="378218" y="313651"/>
                  </a:lnTo>
                  <a:lnTo>
                    <a:pt x="357606" y="281660"/>
                  </a:lnTo>
                  <a:lnTo>
                    <a:pt x="348005" y="243840"/>
                  </a:lnTo>
                  <a:lnTo>
                    <a:pt x="391464" y="243840"/>
                  </a:lnTo>
                  <a:lnTo>
                    <a:pt x="397852" y="273697"/>
                  </a:lnTo>
                  <a:lnTo>
                    <a:pt x="408889" y="301675"/>
                  </a:lnTo>
                  <a:lnTo>
                    <a:pt x="408978" y="301904"/>
                  </a:lnTo>
                  <a:lnTo>
                    <a:pt x="424573" y="327901"/>
                  </a:lnTo>
                  <a:lnTo>
                    <a:pt x="444373" y="351142"/>
                  </a:lnTo>
                  <a:lnTo>
                    <a:pt x="444373" y="320065"/>
                  </a:lnTo>
                  <a:lnTo>
                    <a:pt x="440423" y="315290"/>
                  </a:lnTo>
                  <a:lnTo>
                    <a:pt x="427253" y="293103"/>
                  </a:lnTo>
                  <a:lnTo>
                    <a:pt x="417664" y="269151"/>
                  </a:lnTo>
                  <a:lnTo>
                    <a:pt x="411873" y="243840"/>
                  </a:lnTo>
                  <a:lnTo>
                    <a:pt x="456971" y="243840"/>
                  </a:lnTo>
                  <a:lnTo>
                    <a:pt x="456971" y="223520"/>
                  </a:lnTo>
                  <a:lnTo>
                    <a:pt x="411873" y="223520"/>
                  </a:lnTo>
                  <a:lnTo>
                    <a:pt x="417639" y="198208"/>
                  </a:lnTo>
                  <a:lnTo>
                    <a:pt x="427215" y="174244"/>
                  </a:lnTo>
                  <a:lnTo>
                    <a:pt x="440397" y="152057"/>
                  </a:lnTo>
                  <a:lnTo>
                    <a:pt x="456971" y="132080"/>
                  </a:lnTo>
                  <a:lnTo>
                    <a:pt x="456971" y="93078"/>
                  </a:lnTo>
                  <a:lnTo>
                    <a:pt x="444169" y="95148"/>
                  </a:lnTo>
                  <a:lnTo>
                    <a:pt x="444169" y="116332"/>
                  </a:lnTo>
                  <a:lnTo>
                    <a:pt x="424459" y="139573"/>
                  </a:lnTo>
                  <a:lnTo>
                    <a:pt x="408914" y="165544"/>
                  </a:lnTo>
                  <a:lnTo>
                    <a:pt x="397827" y="193713"/>
                  </a:lnTo>
                  <a:lnTo>
                    <a:pt x="391464" y="223520"/>
                  </a:lnTo>
                  <a:lnTo>
                    <a:pt x="348005" y="223520"/>
                  </a:lnTo>
                  <a:lnTo>
                    <a:pt x="357441" y="186232"/>
                  </a:lnTo>
                  <a:lnTo>
                    <a:pt x="378129" y="153797"/>
                  </a:lnTo>
                  <a:lnTo>
                    <a:pt x="444169" y="116332"/>
                  </a:lnTo>
                  <a:lnTo>
                    <a:pt x="444169" y="95148"/>
                  </a:lnTo>
                  <a:lnTo>
                    <a:pt x="383159" y="118884"/>
                  </a:lnTo>
                  <a:lnTo>
                    <a:pt x="352386" y="149682"/>
                  </a:lnTo>
                  <a:lnTo>
                    <a:pt x="332206" y="188722"/>
                  </a:lnTo>
                  <a:lnTo>
                    <a:pt x="324954" y="233680"/>
                  </a:lnTo>
                  <a:lnTo>
                    <a:pt x="332206" y="278638"/>
                  </a:lnTo>
                  <a:lnTo>
                    <a:pt x="352386" y="317690"/>
                  </a:lnTo>
                  <a:lnTo>
                    <a:pt x="383159" y="348488"/>
                  </a:lnTo>
                  <a:lnTo>
                    <a:pt x="422186" y="368681"/>
                  </a:lnTo>
                  <a:lnTo>
                    <a:pt x="467118" y="375932"/>
                  </a:lnTo>
                  <a:lnTo>
                    <a:pt x="512051" y="368681"/>
                  </a:lnTo>
                  <a:lnTo>
                    <a:pt x="545947" y="351142"/>
                  </a:lnTo>
                  <a:lnTo>
                    <a:pt x="546735" y="350735"/>
                  </a:lnTo>
                  <a:lnTo>
                    <a:pt x="551078" y="348488"/>
                  </a:lnTo>
                  <a:lnTo>
                    <a:pt x="581850" y="317690"/>
                  </a:lnTo>
                  <a:lnTo>
                    <a:pt x="602043" y="278638"/>
                  </a:lnTo>
                  <a:lnTo>
                    <a:pt x="607644" y="243840"/>
                  </a:lnTo>
                  <a:lnTo>
                    <a:pt x="609282" y="233680"/>
                  </a:lnTo>
                  <a:close/>
                </a:path>
                <a:path w="934720" h="569595">
                  <a:moveTo>
                    <a:pt x="812380" y="40640"/>
                  </a:moveTo>
                  <a:lnTo>
                    <a:pt x="809193" y="24815"/>
                  </a:lnTo>
                  <a:lnTo>
                    <a:pt x="800481" y="11899"/>
                  </a:lnTo>
                  <a:lnTo>
                    <a:pt x="787577" y="3187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659" y="3187"/>
                  </a:lnTo>
                  <a:lnTo>
                    <a:pt x="133756" y="11899"/>
                  </a:lnTo>
                  <a:lnTo>
                    <a:pt x="125044" y="24815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396" y="523443"/>
                  </a:lnTo>
                  <a:lnTo>
                    <a:pt x="524421" y="527989"/>
                  </a:lnTo>
                  <a:lnTo>
                    <a:pt x="411086" y="528675"/>
                  </a:lnTo>
                  <a:lnTo>
                    <a:pt x="406539" y="524700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187" y="544156"/>
                  </a:lnTo>
                  <a:lnTo>
                    <a:pt x="11899" y="557072"/>
                  </a:lnTo>
                  <a:lnTo>
                    <a:pt x="24803" y="565785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434" y="565785"/>
                  </a:lnTo>
                  <a:lnTo>
                    <a:pt x="922337" y="557072"/>
                  </a:lnTo>
                  <a:lnTo>
                    <a:pt x="931049" y="544156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27559" y="3335159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01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30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0822" y="481202"/>
                  </a:lnTo>
                  <a:lnTo>
                    <a:pt x="480822" y="641603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3"/>
                  </a:lnTo>
                  <a:lnTo>
                    <a:pt x="480822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4" name="object 14"/>
          <p:cNvSpPr/>
          <p:nvPr/>
        </p:nvSpPr>
        <p:spPr>
          <a:xfrm>
            <a:off x="6956147" y="17725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269955" y="3220072"/>
            <a:ext cx="915035" cy="619125"/>
            <a:chOff x="10269955" y="3220072"/>
            <a:chExt cx="915035" cy="619125"/>
          </a:xfrm>
        </p:grpSpPr>
        <p:sp>
          <p:nvSpPr>
            <p:cNvPr id="16" name="object 16"/>
            <p:cNvSpPr/>
            <p:nvPr/>
          </p:nvSpPr>
          <p:spPr>
            <a:xfrm>
              <a:off x="10269955" y="32200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10560614" y="3359753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7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8" name="object 18"/>
          <p:cNvSpPr/>
          <p:nvPr/>
        </p:nvSpPr>
        <p:spPr>
          <a:xfrm>
            <a:off x="10108545" y="38929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09943" y="3102447"/>
            <a:ext cx="616585" cy="455295"/>
          </a:xfrm>
          <a:custGeom>
            <a:avLst/>
            <a:gdLst/>
            <a:ahLst/>
            <a:cxnLst/>
            <a:rect l="l" t="t" r="r" b="b"/>
            <a:pathLst>
              <a:path w="616584" h="455295">
                <a:moveTo>
                  <a:pt x="396116" y="0"/>
                </a:moveTo>
                <a:lnTo>
                  <a:pt x="396116" y="107951"/>
                </a:lnTo>
                <a:lnTo>
                  <a:pt x="191495" y="163468"/>
                </a:lnTo>
                <a:lnTo>
                  <a:pt x="71189" y="282600"/>
                </a:lnTo>
                <a:lnTo>
                  <a:pt x="14317" y="401153"/>
                </a:lnTo>
                <a:lnTo>
                  <a:pt x="0" y="454936"/>
                </a:lnTo>
                <a:lnTo>
                  <a:pt x="23854" y="426346"/>
                </a:lnTo>
                <a:lnTo>
                  <a:pt x="96620" y="363274"/>
                </a:lnTo>
                <a:lnTo>
                  <a:pt x="220106" y="299768"/>
                </a:lnTo>
                <a:lnTo>
                  <a:pt x="396116" y="269877"/>
                </a:lnTo>
                <a:lnTo>
                  <a:pt x="396116" y="370117"/>
                </a:lnTo>
                <a:lnTo>
                  <a:pt x="616523" y="185058"/>
                </a:lnTo>
                <a:lnTo>
                  <a:pt x="3961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007480" y="3736768"/>
            <a:ext cx="616585" cy="455930"/>
          </a:xfrm>
          <a:custGeom>
            <a:avLst/>
            <a:gdLst/>
            <a:ahLst/>
            <a:cxnLst/>
            <a:rect l="l" t="t" r="r" b="b"/>
            <a:pathLst>
              <a:path w="616584" h="455929">
                <a:moveTo>
                  <a:pt x="220407" y="455864"/>
                </a:moveTo>
                <a:lnTo>
                  <a:pt x="220407" y="347693"/>
                </a:lnTo>
                <a:lnTo>
                  <a:pt x="425028" y="292062"/>
                </a:lnTo>
                <a:lnTo>
                  <a:pt x="545334" y="172687"/>
                </a:lnTo>
                <a:lnTo>
                  <a:pt x="602206" y="53892"/>
                </a:lnTo>
                <a:lnTo>
                  <a:pt x="616523" y="0"/>
                </a:lnTo>
                <a:lnTo>
                  <a:pt x="592669" y="28648"/>
                </a:lnTo>
                <a:lnTo>
                  <a:pt x="519902" y="91849"/>
                </a:lnTo>
                <a:lnTo>
                  <a:pt x="396417" y="155484"/>
                </a:lnTo>
                <a:lnTo>
                  <a:pt x="220407" y="185436"/>
                </a:lnTo>
                <a:lnTo>
                  <a:pt x="220407" y="84991"/>
                </a:lnTo>
                <a:lnTo>
                  <a:pt x="0" y="270428"/>
                </a:lnTo>
                <a:lnTo>
                  <a:pt x="220407" y="45586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54795" y="268681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29845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1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654795" y="4280915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2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7.</a:t>
            </a:r>
            <a:r>
              <a:rPr spc="-204" dirty="0"/>
              <a:t> </a:t>
            </a:r>
            <a:r>
              <a:rPr spc="-45" dirty="0"/>
              <a:t>Sending</a:t>
            </a:r>
            <a:r>
              <a:rPr spc="-195" dirty="0"/>
              <a:t> </a:t>
            </a:r>
            <a:r>
              <a:rPr spc="-50" dirty="0"/>
              <a:t>Data</a:t>
            </a:r>
            <a:r>
              <a:rPr spc="-200" dirty="0"/>
              <a:t> </a:t>
            </a:r>
            <a:r>
              <a:rPr spc="-35" dirty="0"/>
              <a:t>Over</a:t>
            </a:r>
            <a:r>
              <a:rPr spc="-215" dirty="0"/>
              <a:t> </a:t>
            </a:r>
            <a:r>
              <a:rPr spc="-25" dirty="0"/>
              <a:t>Bluetooth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-12700" y="1661616"/>
            <a:ext cx="6062345" cy="250317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04139" marR="508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over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very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hard,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 developed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helper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script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make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easier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956944" lvl="0" indent="0" defTabSz="914400" eaLnBrk="1" fontAlgn="auto" latinLnBrk="0" hangingPunct="1">
              <a:lnSpc>
                <a:spcPct val="8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~/Training_Scripts/2CHVBT_Helper.py</a:t>
            </a:r>
            <a:r>
              <a:rPr kumimoji="0" sz="2400" b="0" i="0" u="none" strike="noStrike" kern="0" cap="none" spc="114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(or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something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like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that)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04139" marR="549910" lvl="0" indent="0" defTabSz="914400" eaLnBrk="1" fontAlgn="auto" latinLnBrk="0" hangingPunct="1">
              <a:lnSpc>
                <a:spcPts val="23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hidden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read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clues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left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13173"/>
            <a:ext cx="5975350" cy="97726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you’ve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it,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helper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script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second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key!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227569" y="2364498"/>
            <a:ext cx="2310130" cy="1743075"/>
            <a:chOff x="6227569" y="2364498"/>
            <a:chExt cx="2310130" cy="1743075"/>
          </a:xfrm>
        </p:grpSpPr>
        <p:sp>
          <p:nvSpPr>
            <p:cNvPr id="6" name="object 6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4"/>
                  </a:lnTo>
                  <a:lnTo>
                    <a:pt x="361187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7" y="180594"/>
                  </a:lnTo>
                  <a:lnTo>
                    <a:pt x="270890" y="180594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856944" y="23645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5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5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5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5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5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603299" y="34367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609282" y="233680"/>
                  </a:moveTo>
                  <a:lnTo>
                    <a:pt x="607644" y="223520"/>
                  </a:lnTo>
                  <a:lnTo>
                    <a:pt x="602043" y="188722"/>
                  </a:lnTo>
                  <a:lnTo>
                    <a:pt x="586232" y="158153"/>
                  </a:lnTo>
                  <a:lnTo>
                    <a:pt x="586232" y="223520"/>
                  </a:lnTo>
                  <a:lnTo>
                    <a:pt x="586232" y="243840"/>
                  </a:lnTo>
                  <a:lnTo>
                    <a:pt x="576859" y="281216"/>
                  </a:lnTo>
                  <a:lnTo>
                    <a:pt x="556666" y="312966"/>
                  </a:lnTo>
                  <a:lnTo>
                    <a:pt x="527634" y="336867"/>
                  </a:lnTo>
                  <a:lnTo>
                    <a:pt x="491693" y="350735"/>
                  </a:lnTo>
                  <a:lnTo>
                    <a:pt x="503885" y="336410"/>
                  </a:lnTo>
                  <a:lnTo>
                    <a:pt x="511390" y="327583"/>
                  </a:lnTo>
                  <a:lnTo>
                    <a:pt x="526910" y="301675"/>
                  </a:lnTo>
                  <a:lnTo>
                    <a:pt x="537921" y="273697"/>
                  </a:lnTo>
                  <a:lnTo>
                    <a:pt x="538835" y="269557"/>
                  </a:lnTo>
                  <a:lnTo>
                    <a:pt x="544296" y="243840"/>
                  </a:lnTo>
                  <a:lnTo>
                    <a:pt x="586232" y="243840"/>
                  </a:lnTo>
                  <a:lnTo>
                    <a:pt x="586232" y="223520"/>
                  </a:lnTo>
                  <a:lnTo>
                    <a:pt x="544296" y="223520"/>
                  </a:lnTo>
                  <a:lnTo>
                    <a:pt x="537972" y="193852"/>
                  </a:lnTo>
                  <a:lnTo>
                    <a:pt x="526961" y="165811"/>
                  </a:lnTo>
                  <a:lnTo>
                    <a:pt x="523887" y="160655"/>
                  </a:lnTo>
                  <a:lnTo>
                    <a:pt x="523887" y="223520"/>
                  </a:lnTo>
                  <a:lnTo>
                    <a:pt x="523887" y="243840"/>
                  </a:lnTo>
                  <a:lnTo>
                    <a:pt x="517969" y="269151"/>
                  </a:lnTo>
                  <a:lnTo>
                    <a:pt x="517880" y="269557"/>
                  </a:lnTo>
                  <a:lnTo>
                    <a:pt x="507961" y="293839"/>
                  </a:lnTo>
                  <a:lnTo>
                    <a:pt x="494347" y="316268"/>
                  </a:lnTo>
                  <a:lnTo>
                    <a:pt x="477278" y="336410"/>
                  </a:lnTo>
                  <a:lnTo>
                    <a:pt x="477278" y="335292"/>
                  </a:lnTo>
                  <a:lnTo>
                    <a:pt x="477278" y="243840"/>
                  </a:lnTo>
                  <a:lnTo>
                    <a:pt x="523887" y="243840"/>
                  </a:lnTo>
                  <a:lnTo>
                    <a:pt x="523887" y="223520"/>
                  </a:lnTo>
                  <a:lnTo>
                    <a:pt x="477278" y="223520"/>
                  </a:lnTo>
                  <a:lnTo>
                    <a:pt x="477278" y="132080"/>
                  </a:lnTo>
                  <a:lnTo>
                    <a:pt x="477278" y="130860"/>
                  </a:lnTo>
                  <a:lnTo>
                    <a:pt x="494360" y="151015"/>
                  </a:lnTo>
                  <a:lnTo>
                    <a:pt x="507974" y="173469"/>
                  </a:lnTo>
                  <a:lnTo>
                    <a:pt x="517893" y="197789"/>
                  </a:lnTo>
                  <a:lnTo>
                    <a:pt x="523887" y="223520"/>
                  </a:lnTo>
                  <a:lnTo>
                    <a:pt x="523887" y="160655"/>
                  </a:lnTo>
                  <a:lnTo>
                    <a:pt x="511556" y="139915"/>
                  </a:lnTo>
                  <a:lnTo>
                    <a:pt x="503910" y="130860"/>
                  </a:lnTo>
                  <a:lnTo>
                    <a:pt x="491998" y="116738"/>
                  </a:lnTo>
                  <a:lnTo>
                    <a:pt x="527824" y="130644"/>
                  </a:lnTo>
                  <a:lnTo>
                    <a:pt x="556768" y="154546"/>
                  </a:lnTo>
                  <a:lnTo>
                    <a:pt x="576872" y="186232"/>
                  </a:lnTo>
                  <a:lnTo>
                    <a:pt x="586232" y="223520"/>
                  </a:lnTo>
                  <a:lnTo>
                    <a:pt x="586232" y="158153"/>
                  </a:lnTo>
                  <a:lnTo>
                    <a:pt x="581850" y="149682"/>
                  </a:lnTo>
                  <a:lnTo>
                    <a:pt x="551078" y="118884"/>
                  </a:lnTo>
                  <a:lnTo>
                    <a:pt x="546938" y="116738"/>
                  </a:lnTo>
                  <a:lnTo>
                    <a:pt x="546150" y="116332"/>
                  </a:lnTo>
                  <a:lnTo>
                    <a:pt x="512051" y="98691"/>
                  </a:lnTo>
                  <a:lnTo>
                    <a:pt x="467118" y="91440"/>
                  </a:lnTo>
                  <a:lnTo>
                    <a:pt x="456971" y="93078"/>
                  </a:lnTo>
                  <a:lnTo>
                    <a:pt x="456971" y="132080"/>
                  </a:lnTo>
                  <a:lnTo>
                    <a:pt x="456971" y="223520"/>
                  </a:lnTo>
                  <a:lnTo>
                    <a:pt x="456971" y="243840"/>
                  </a:lnTo>
                  <a:lnTo>
                    <a:pt x="456971" y="335292"/>
                  </a:lnTo>
                  <a:lnTo>
                    <a:pt x="444373" y="320065"/>
                  </a:lnTo>
                  <a:lnTo>
                    <a:pt x="444373" y="351142"/>
                  </a:lnTo>
                  <a:lnTo>
                    <a:pt x="407822" y="337566"/>
                  </a:lnTo>
                  <a:lnTo>
                    <a:pt x="378218" y="313651"/>
                  </a:lnTo>
                  <a:lnTo>
                    <a:pt x="357606" y="281660"/>
                  </a:lnTo>
                  <a:lnTo>
                    <a:pt x="348005" y="243840"/>
                  </a:lnTo>
                  <a:lnTo>
                    <a:pt x="391464" y="243840"/>
                  </a:lnTo>
                  <a:lnTo>
                    <a:pt x="397852" y="273697"/>
                  </a:lnTo>
                  <a:lnTo>
                    <a:pt x="408889" y="301675"/>
                  </a:lnTo>
                  <a:lnTo>
                    <a:pt x="408978" y="301904"/>
                  </a:lnTo>
                  <a:lnTo>
                    <a:pt x="424573" y="327901"/>
                  </a:lnTo>
                  <a:lnTo>
                    <a:pt x="444373" y="351142"/>
                  </a:lnTo>
                  <a:lnTo>
                    <a:pt x="444373" y="320065"/>
                  </a:lnTo>
                  <a:lnTo>
                    <a:pt x="440423" y="315290"/>
                  </a:lnTo>
                  <a:lnTo>
                    <a:pt x="427253" y="293103"/>
                  </a:lnTo>
                  <a:lnTo>
                    <a:pt x="417664" y="269151"/>
                  </a:lnTo>
                  <a:lnTo>
                    <a:pt x="411873" y="243840"/>
                  </a:lnTo>
                  <a:lnTo>
                    <a:pt x="456971" y="243840"/>
                  </a:lnTo>
                  <a:lnTo>
                    <a:pt x="456971" y="223520"/>
                  </a:lnTo>
                  <a:lnTo>
                    <a:pt x="411873" y="223520"/>
                  </a:lnTo>
                  <a:lnTo>
                    <a:pt x="417639" y="198208"/>
                  </a:lnTo>
                  <a:lnTo>
                    <a:pt x="427215" y="174244"/>
                  </a:lnTo>
                  <a:lnTo>
                    <a:pt x="440397" y="152057"/>
                  </a:lnTo>
                  <a:lnTo>
                    <a:pt x="456971" y="132080"/>
                  </a:lnTo>
                  <a:lnTo>
                    <a:pt x="456971" y="93078"/>
                  </a:lnTo>
                  <a:lnTo>
                    <a:pt x="444169" y="95148"/>
                  </a:lnTo>
                  <a:lnTo>
                    <a:pt x="444169" y="116332"/>
                  </a:lnTo>
                  <a:lnTo>
                    <a:pt x="424459" y="139573"/>
                  </a:lnTo>
                  <a:lnTo>
                    <a:pt x="408914" y="165544"/>
                  </a:lnTo>
                  <a:lnTo>
                    <a:pt x="397827" y="193713"/>
                  </a:lnTo>
                  <a:lnTo>
                    <a:pt x="391464" y="223520"/>
                  </a:lnTo>
                  <a:lnTo>
                    <a:pt x="348005" y="223520"/>
                  </a:lnTo>
                  <a:lnTo>
                    <a:pt x="357441" y="186232"/>
                  </a:lnTo>
                  <a:lnTo>
                    <a:pt x="378129" y="153797"/>
                  </a:lnTo>
                  <a:lnTo>
                    <a:pt x="444169" y="116332"/>
                  </a:lnTo>
                  <a:lnTo>
                    <a:pt x="444169" y="95148"/>
                  </a:lnTo>
                  <a:lnTo>
                    <a:pt x="383159" y="118884"/>
                  </a:lnTo>
                  <a:lnTo>
                    <a:pt x="352386" y="149682"/>
                  </a:lnTo>
                  <a:lnTo>
                    <a:pt x="332206" y="188722"/>
                  </a:lnTo>
                  <a:lnTo>
                    <a:pt x="324954" y="233680"/>
                  </a:lnTo>
                  <a:lnTo>
                    <a:pt x="332206" y="278638"/>
                  </a:lnTo>
                  <a:lnTo>
                    <a:pt x="352386" y="317690"/>
                  </a:lnTo>
                  <a:lnTo>
                    <a:pt x="383159" y="348488"/>
                  </a:lnTo>
                  <a:lnTo>
                    <a:pt x="422186" y="368681"/>
                  </a:lnTo>
                  <a:lnTo>
                    <a:pt x="467118" y="375932"/>
                  </a:lnTo>
                  <a:lnTo>
                    <a:pt x="512051" y="368681"/>
                  </a:lnTo>
                  <a:lnTo>
                    <a:pt x="545947" y="351142"/>
                  </a:lnTo>
                  <a:lnTo>
                    <a:pt x="546735" y="350735"/>
                  </a:lnTo>
                  <a:lnTo>
                    <a:pt x="551078" y="348488"/>
                  </a:lnTo>
                  <a:lnTo>
                    <a:pt x="581850" y="317690"/>
                  </a:lnTo>
                  <a:lnTo>
                    <a:pt x="602043" y="278638"/>
                  </a:lnTo>
                  <a:lnTo>
                    <a:pt x="607644" y="243840"/>
                  </a:lnTo>
                  <a:lnTo>
                    <a:pt x="609282" y="233680"/>
                  </a:lnTo>
                  <a:close/>
                </a:path>
                <a:path w="934720" h="569595">
                  <a:moveTo>
                    <a:pt x="812380" y="40640"/>
                  </a:moveTo>
                  <a:lnTo>
                    <a:pt x="809193" y="24815"/>
                  </a:lnTo>
                  <a:lnTo>
                    <a:pt x="800481" y="11899"/>
                  </a:lnTo>
                  <a:lnTo>
                    <a:pt x="787577" y="3187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659" y="3187"/>
                  </a:lnTo>
                  <a:lnTo>
                    <a:pt x="133756" y="11899"/>
                  </a:lnTo>
                  <a:lnTo>
                    <a:pt x="125044" y="24815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396" y="523443"/>
                  </a:lnTo>
                  <a:lnTo>
                    <a:pt x="524421" y="527989"/>
                  </a:lnTo>
                  <a:lnTo>
                    <a:pt x="411086" y="528675"/>
                  </a:lnTo>
                  <a:lnTo>
                    <a:pt x="406539" y="524700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187" y="544156"/>
                  </a:lnTo>
                  <a:lnTo>
                    <a:pt x="11899" y="557072"/>
                  </a:lnTo>
                  <a:lnTo>
                    <a:pt x="24803" y="565785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434" y="565785"/>
                  </a:lnTo>
                  <a:lnTo>
                    <a:pt x="922337" y="557072"/>
                  </a:lnTo>
                  <a:lnTo>
                    <a:pt x="931049" y="544156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6227559" y="3335159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01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30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0822" y="481202"/>
                  </a:lnTo>
                  <a:lnTo>
                    <a:pt x="480822" y="641603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3"/>
                  </a:lnTo>
                  <a:lnTo>
                    <a:pt x="480822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3" name="object 13"/>
          <p:cNvSpPr/>
          <p:nvPr/>
        </p:nvSpPr>
        <p:spPr>
          <a:xfrm>
            <a:off x="6956147" y="17725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7997432" y="25050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269955" y="3220072"/>
            <a:ext cx="915035" cy="619125"/>
            <a:chOff x="10269955" y="3220072"/>
            <a:chExt cx="915035" cy="619125"/>
          </a:xfrm>
        </p:grpSpPr>
        <p:sp>
          <p:nvSpPr>
            <p:cNvPr id="16" name="object 16"/>
            <p:cNvSpPr/>
            <p:nvPr/>
          </p:nvSpPr>
          <p:spPr>
            <a:xfrm>
              <a:off x="10269955" y="32200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10560614" y="3359753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7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8" name="object 18"/>
          <p:cNvSpPr/>
          <p:nvPr/>
        </p:nvSpPr>
        <p:spPr>
          <a:xfrm>
            <a:off x="10108545" y="38929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09943" y="3102447"/>
            <a:ext cx="616585" cy="455295"/>
          </a:xfrm>
          <a:custGeom>
            <a:avLst/>
            <a:gdLst/>
            <a:ahLst/>
            <a:cxnLst/>
            <a:rect l="l" t="t" r="r" b="b"/>
            <a:pathLst>
              <a:path w="616584" h="455295">
                <a:moveTo>
                  <a:pt x="396116" y="0"/>
                </a:moveTo>
                <a:lnTo>
                  <a:pt x="396116" y="107951"/>
                </a:lnTo>
                <a:lnTo>
                  <a:pt x="191495" y="163468"/>
                </a:lnTo>
                <a:lnTo>
                  <a:pt x="71189" y="282600"/>
                </a:lnTo>
                <a:lnTo>
                  <a:pt x="14317" y="401153"/>
                </a:lnTo>
                <a:lnTo>
                  <a:pt x="0" y="454936"/>
                </a:lnTo>
                <a:lnTo>
                  <a:pt x="23854" y="426346"/>
                </a:lnTo>
                <a:lnTo>
                  <a:pt x="96620" y="363274"/>
                </a:lnTo>
                <a:lnTo>
                  <a:pt x="220106" y="299768"/>
                </a:lnTo>
                <a:lnTo>
                  <a:pt x="396116" y="269877"/>
                </a:lnTo>
                <a:lnTo>
                  <a:pt x="396116" y="370117"/>
                </a:lnTo>
                <a:lnTo>
                  <a:pt x="616523" y="185058"/>
                </a:lnTo>
                <a:lnTo>
                  <a:pt x="3961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007480" y="3736768"/>
            <a:ext cx="616585" cy="455930"/>
          </a:xfrm>
          <a:custGeom>
            <a:avLst/>
            <a:gdLst/>
            <a:ahLst/>
            <a:cxnLst/>
            <a:rect l="l" t="t" r="r" b="b"/>
            <a:pathLst>
              <a:path w="616584" h="455929">
                <a:moveTo>
                  <a:pt x="220407" y="455864"/>
                </a:moveTo>
                <a:lnTo>
                  <a:pt x="220407" y="347693"/>
                </a:lnTo>
                <a:lnTo>
                  <a:pt x="425028" y="292062"/>
                </a:lnTo>
                <a:lnTo>
                  <a:pt x="545334" y="172687"/>
                </a:lnTo>
                <a:lnTo>
                  <a:pt x="602206" y="53892"/>
                </a:lnTo>
                <a:lnTo>
                  <a:pt x="616523" y="0"/>
                </a:lnTo>
                <a:lnTo>
                  <a:pt x="592669" y="28648"/>
                </a:lnTo>
                <a:lnTo>
                  <a:pt x="519902" y="91849"/>
                </a:lnTo>
                <a:lnTo>
                  <a:pt x="396417" y="155484"/>
                </a:lnTo>
                <a:lnTo>
                  <a:pt x="220407" y="185436"/>
                </a:lnTo>
                <a:lnTo>
                  <a:pt x="220407" y="84991"/>
                </a:lnTo>
                <a:lnTo>
                  <a:pt x="0" y="270428"/>
                </a:lnTo>
                <a:lnTo>
                  <a:pt x="220407" y="45586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54795" y="268681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29845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1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654795" y="4280915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2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Short range </a:t>
            </a:r>
            <a:r>
              <a:rPr lang="en-US" sz="1400" dirty="0" err="1"/>
              <a:t>Wirelesss</a:t>
            </a:r>
            <a:r>
              <a:rPr lang="en-US" sz="1400" dirty="0"/>
              <a:t> Personal Area Network (WPAN)</a:t>
            </a:r>
          </a:p>
          <a:p>
            <a:pPr lvl="1"/>
            <a:r>
              <a:rPr lang="en-US" sz="1400" dirty="0"/>
              <a:t>Based on IEEE 802.15.1 Standard derived from Bluetooth SIG</a:t>
            </a:r>
          </a:p>
          <a:p>
            <a:pPr lvl="1"/>
            <a:r>
              <a:rPr lang="en-US" sz="1400" dirty="0"/>
              <a:t>Named after Viking King Harald Bluetooth</a:t>
            </a:r>
          </a:p>
          <a:p>
            <a:pPr lvl="1"/>
            <a:r>
              <a:rPr lang="en-US" sz="1400" dirty="0"/>
              <a:t>Co-exists with WiFi and cordless phones</a:t>
            </a:r>
          </a:p>
          <a:p>
            <a:pPr lvl="1"/>
            <a:r>
              <a:rPr lang="en-US" sz="1400" dirty="0"/>
              <a:t>Applications include Headsets, keyboards, mice, serial links, networking, …</a:t>
            </a:r>
          </a:p>
          <a:p>
            <a:pPr lvl="1"/>
            <a:r>
              <a:rPr lang="en-US" sz="1400" dirty="0"/>
              <a:t>Ad-hoc network not under any form of centralized control, pairing is called a piconet</a:t>
            </a:r>
          </a:p>
          <a:p>
            <a:pPr lvl="1"/>
            <a:r>
              <a:rPr lang="en-US" sz="1400" dirty="0"/>
              <a:t>Driven more by marketing than engineering, low cost</a:t>
            </a:r>
          </a:p>
          <a:p>
            <a:pPr lvl="1"/>
            <a:r>
              <a:rPr lang="en-US" sz="1400" dirty="0"/>
              <a:t>Wireless technology from 2.4 to 2.485 </a:t>
            </a:r>
            <a:r>
              <a:rPr lang="en-US" sz="1400" dirty="0" err="1"/>
              <a:t>Ghz</a:t>
            </a:r>
            <a:r>
              <a:rPr lang="en-US" sz="1400" dirty="0"/>
              <a:t> with 2.1 </a:t>
            </a:r>
            <a:r>
              <a:rPr lang="en-US" sz="1400" dirty="0" err="1"/>
              <a:t>Mbps</a:t>
            </a:r>
            <a:r>
              <a:rPr lang="en-US" sz="1400" dirty="0"/>
              <a:t> Enhanced Data Rate (EDR)</a:t>
            </a:r>
          </a:p>
          <a:p>
            <a:pPr lvl="1"/>
            <a:r>
              <a:rPr lang="en-US" sz="1400" dirty="0"/>
              <a:t>Up to 10m, but potentially up to 100m (BT 5 potential to 400m) on 79 channels</a:t>
            </a:r>
          </a:p>
          <a:p>
            <a:pPr lvl="1"/>
            <a:r>
              <a:rPr lang="en-US" sz="1400" dirty="0"/>
              <a:t>Power classes: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100m (100mW)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10M (2.5mW) - typical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1M (1mW)</a:t>
            </a:r>
          </a:p>
          <a:p>
            <a:pPr lvl="1"/>
            <a:r>
              <a:rPr lang="en-US" sz="1400" dirty="0"/>
              <a:t>Many versions (1.0, 1.1, 1.2, 2.0, 2.1, 3.0, 4.0 (LE), 4.1, 4.2, 5, …)</a:t>
            </a:r>
          </a:p>
          <a:p>
            <a:pPr lvl="1"/>
            <a:r>
              <a:rPr lang="en-US" sz="1400" dirty="0"/>
              <a:t>Complicated protocols leading to vulnerabilities in poor implementations</a:t>
            </a:r>
          </a:p>
          <a:p>
            <a:pPr lvl="2"/>
            <a:r>
              <a:rPr lang="en-US" sz="1200" dirty="0"/>
              <a:t>Specification is 4x more complicated than for </a:t>
            </a:r>
            <a:r>
              <a:rPr lang="en-US" sz="1200" dirty="0" err="1"/>
              <a:t>WiFi</a:t>
            </a:r>
            <a:endParaRPr lang="en-US" sz="1200" dirty="0"/>
          </a:p>
          <a:p>
            <a:pPr lvl="1"/>
            <a:r>
              <a:rPr lang="en-US" sz="1400" dirty="0"/>
              <a:t>Frequency Hopping Spread Spectrum (FHSS) + Adaptive Frequency Hopping (AFH)</a:t>
            </a:r>
          </a:p>
          <a:p>
            <a:pPr lvl="2"/>
            <a:r>
              <a:rPr lang="en-US" sz="1200" dirty="0"/>
              <a:t>Interference resistant</a:t>
            </a:r>
          </a:p>
          <a:p>
            <a:pPr lvl="1"/>
            <a:r>
              <a:rPr lang="en-US" sz="1400" dirty="0"/>
              <a:t>BT 3.0 adds Alternate MAC and </a:t>
            </a:r>
            <a:r>
              <a:rPr lang="en-US" sz="1400" dirty="0" err="1"/>
              <a:t>Phy</a:t>
            </a:r>
            <a:r>
              <a:rPr lang="en-US" sz="1400" dirty="0"/>
              <a:t> (AMP) for 802.11 data transfer</a:t>
            </a:r>
          </a:p>
          <a:p>
            <a:r>
              <a:rPr lang="en-US" sz="1800" dirty="0"/>
              <a:t>Links</a:t>
            </a:r>
          </a:p>
          <a:p>
            <a:pPr lvl="1"/>
            <a:r>
              <a:rPr lang="en-US" sz="1400" dirty="0"/>
              <a:t>Bluetooth Special Interest Group (SIG) </a:t>
            </a:r>
            <a:r>
              <a:rPr lang="en-US" sz="1400" dirty="0">
                <a:hlinkClick r:id="rId3"/>
              </a:rPr>
              <a:t>https://www.bluetooth.com/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https://en.wikipedia.org/wiki/Bluetooth</a:t>
            </a:r>
            <a:endParaRPr lang="en-US" sz="1400" dirty="0"/>
          </a:p>
          <a:p>
            <a:pPr lvl="1"/>
            <a:r>
              <a:rPr lang="en-US" sz="1400" dirty="0">
                <a:hlinkClick r:id="rId5"/>
              </a:rPr>
              <a:t>https://en.wikipedia.org/wiki/List_of_Bluetooth_protocols</a:t>
            </a:r>
            <a:endParaRPr lang="en-US" sz="1400" dirty="0"/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81825182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Bluetooth Protocol Stack (top to bottom)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Host Software: ---</a:t>
            </a:r>
          </a:p>
          <a:p>
            <a:pPr lvl="1"/>
            <a:r>
              <a:rPr lang="en-US" sz="1400" dirty="0"/>
              <a:t>PPP, IP Stack, Applications</a:t>
            </a:r>
          </a:p>
          <a:p>
            <a:pPr lvl="1"/>
            <a:r>
              <a:rPr lang="en-US" sz="1400" dirty="0"/>
              <a:t>Bluetooth Profiles (RFCOMM, BNEP, OBEX) – Functions</a:t>
            </a:r>
          </a:p>
          <a:p>
            <a:pPr lvl="2"/>
            <a:r>
              <a:rPr lang="en-US" sz="1200" dirty="0"/>
              <a:t>Radio Frequency Communications (RFCOMM)</a:t>
            </a:r>
          </a:p>
          <a:p>
            <a:pPr lvl="2"/>
            <a:r>
              <a:rPr lang="en-US" sz="1200" dirty="0"/>
              <a:t>Bluetooth Network Encapsulation Protocol (BNEP)</a:t>
            </a:r>
          </a:p>
          <a:p>
            <a:pPr lvl="2"/>
            <a:r>
              <a:rPr lang="en-US" sz="1200" dirty="0"/>
              <a:t>Object Exchange Protocol (OBEX)</a:t>
            </a:r>
          </a:p>
          <a:p>
            <a:pPr lvl="2"/>
            <a:r>
              <a:rPr lang="en-US" sz="1200" dirty="0"/>
              <a:t>Headset audio</a:t>
            </a:r>
          </a:p>
          <a:p>
            <a:pPr lvl="2"/>
            <a:r>
              <a:rPr lang="en-US" sz="1200" dirty="0"/>
              <a:t>Dial-up Networking</a:t>
            </a:r>
          </a:p>
          <a:p>
            <a:pPr lvl="1"/>
            <a:r>
              <a:rPr lang="en-US" sz="1400" dirty="0"/>
              <a:t>Logical Link Control and Adaptation Protocol (L2CAP) – abstraction, packet fragmentation, reassembly, QoS function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Interface: ---</a:t>
            </a:r>
          </a:p>
          <a:p>
            <a:pPr lvl="1"/>
            <a:r>
              <a:rPr lang="en-US" sz="1400" dirty="0"/>
              <a:t>Host Controller Interface (HCI) – Layer between host and device (driver)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Device Hardware/Firmware: ---</a:t>
            </a:r>
          </a:p>
          <a:p>
            <a:pPr lvl="1"/>
            <a:r>
              <a:rPr lang="en-US" sz="1400" dirty="0"/>
              <a:t>Link Management Protocol (LMP) – Discovery, enumeration, setup, teardown</a:t>
            </a:r>
          </a:p>
          <a:p>
            <a:pPr lvl="1"/>
            <a:r>
              <a:rPr lang="en-US" sz="1400" dirty="0"/>
              <a:t>Baseband Controller, Framing – Packet assembly, disassembly</a:t>
            </a:r>
          </a:p>
          <a:p>
            <a:pPr lvl="1"/>
            <a:r>
              <a:rPr lang="en-US" sz="1400" dirty="0"/>
              <a:t>Radio Interface, RF Controller – Radio interface, channel changing, synchronization, modulation, demodulation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6020375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Security starts with 2.1 using SAFER+ block cipher using PIN and MAC</a:t>
            </a:r>
          </a:p>
          <a:p>
            <a:pPr lvl="1"/>
            <a:r>
              <a:rPr lang="en-US" sz="1400" dirty="0"/>
              <a:t>Most devices use a static PIN such as 0000 or 1234</a:t>
            </a:r>
          </a:p>
          <a:p>
            <a:pPr lvl="1"/>
            <a:r>
              <a:rPr lang="en-US" sz="1400" dirty="0"/>
              <a:t>Weak authentication</a:t>
            </a:r>
          </a:p>
          <a:p>
            <a:pPr lvl="1"/>
            <a:r>
              <a:rPr lang="en-US" sz="1400" dirty="0"/>
              <a:t>Possible to identify non-discoverable devices and attack</a:t>
            </a:r>
          </a:p>
          <a:p>
            <a:pPr lvl="1"/>
            <a:r>
              <a:rPr lang="en-US" sz="1400" dirty="0"/>
              <a:t>Older devices are less secure</a:t>
            </a:r>
          </a:p>
          <a:p>
            <a:pPr lvl="1"/>
            <a:r>
              <a:rPr lang="en-US" sz="1400" dirty="0"/>
              <a:t>Long history of security concerns</a:t>
            </a:r>
          </a:p>
          <a:p>
            <a:r>
              <a:rPr lang="en-US" sz="1800" dirty="0"/>
              <a:t>Security Modes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Node never initiates any security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 link encryption, application-level security options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Link encryption before any data is exchanged</a:t>
            </a:r>
          </a:p>
          <a:p>
            <a:r>
              <a:rPr lang="en-US" sz="1800" dirty="0"/>
              <a:t>Security Mode 3</a:t>
            </a:r>
          </a:p>
          <a:p>
            <a:pPr lvl="1"/>
            <a:r>
              <a:rPr lang="en-US" sz="1400" dirty="0"/>
              <a:t>PIN mixed with MAC to generate 128 bit key</a:t>
            </a:r>
          </a:p>
          <a:p>
            <a:pPr lvl="1"/>
            <a:r>
              <a:rPr lang="en-US" sz="1400" dirty="0"/>
              <a:t>SAFER+ cipher used to hash content for authentication</a:t>
            </a:r>
          </a:p>
          <a:p>
            <a:pPr lvl="1"/>
            <a:r>
              <a:rPr lang="en-US" sz="1400" dirty="0"/>
              <a:t>Link key generated for subsequent authentication</a:t>
            </a:r>
          </a:p>
          <a:p>
            <a:pPr lvl="1"/>
            <a:r>
              <a:rPr lang="en-US" sz="1400" dirty="0"/>
              <a:t>EO Cipher, similar to RC4, Stream </a:t>
            </a:r>
            <a:r>
              <a:rPr lang="en-US" sz="1400" dirty="0" err="1"/>
              <a:t>XOR’d</a:t>
            </a:r>
            <a:r>
              <a:rPr lang="en-US" sz="1400" dirty="0"/>
              <a:t> with plaintext to create ciphertext</a:t>
            </a:r>
          </a:p>
          <a:p>
            <a:pPr lvl="1"/>
            <a:r>
              <a:rPr lang="en-US" sz="1400" dirty="0"/>
              <a:t>Uses Linear Shift Feedback Registers (LSFRs) for hardware adaptation</a:t>
            </a:r>
          </a:p>
          <a:p>
            <a:r>
              <a:rPr lang="en-US" sz="1800" dirty="0"/>
              <a:t>Security Tips</a:t>
            </a:r>
          </a:p>
          <a:p>
            <a:pPr lvl="1"/>
            <a:r>
              <a:rPr lang="en-US" sz="1400" dirty="0"/>
              <a:t>Best security is to turn off Bluetooth when not in use</a:t>
            </a:r>
          </a:p>
          <a:p>
            <a:pPr lvl="1"/>
            <a:r>
              <a:rPr lang="en-US" sz="1400" dirty="0"/>
              <a:t>Disable unneeded profiles</a:t>
            </a:r>
          </a:p>
          <a:p>
            <a:pPr lvl="1"/>
            <a:r>
              <a:rPr lang="en-US" sz="1400" dirty="0"/>
              <a:t>Make non-discoverable</a:t>
            </a:r>
          </a:p>
          <a:p>
            <a:pPr lvl="1"/>
            <a:r>
              <a:rPr lang="en-US" sz="1400" dirty="0"/>
              <a:t>Update software</a:t>
            </a:r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283546074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Vulnerabilities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Attacks</a:t>
            </a:r>
          </a:p>
          <a:p>
            <a:pPr lvl="1"/>
            <a:r>
              <a:rPr lang="en-US" sz="1400" dirty="0"/>
              <a:t>Classic Pairing Authentication (</a:t>
            </a:r>
            <a:r>
              <a:rPr lang="en-US" sz="1400" dirty="0" err="1"/>
              <a:t>BTCrack</a:t>
            </a:r>
            <a:r>
              <a:rPr lang="en-US" sz="1400" dirty="0"/>
              <a:t> v1.1)</a:t>
            </a:r>
          </a:p>
          <a:p>
            <a:pPr lvl="2"/>
            <a:r>
              <a:rPr lang="en-US" sz="1200" dirty="0"/>
              <a:t>Guess PIN and key offline</a:t>
            </a:r>
          </a:p>
          <a:p>
            <a:pPr lvl="1"/>
            <a:r>
              <a:rPr lang="en-US" sz="1400" dirty="0"/>
              <a:t>Classic PIN Cracking</a:t>
            </a:r>
          </a:p>
          <a:p>
            <a:pPr lvl="2"/>
            <a:r>
              <a:rPr lang="en-US" sz="1200" dirty="0"/>
              <a:t>Capture initial pairing exchange</a:t>
            </a:r>
          </a:p>
          <a:p>
            <a:pPr lvl="2"/>
            <a:r>
              <a:rPr lang="en-US" sz="1200" dirty="0"/>
              <a:t>Impersonate master or slave</a:t>
            </a:r>
          </a:p>
          <a:p>
            <a:pPr lvl="2"/>
            <a:r>
              <a:rPr lang="en-US" sz="1200" dirty="0"/>
              <a:t>Transmit “not accepted”</a:t>
            </a:r>
          </a:p>
          <a:p>
            <a:pPr lvl="2"/>
            <a:r>
              <a:rPr lang="en-US" sz="1200" dirty="0"/>
              <a:t>User is prompted to re-enter PIN</a:t>
            </a:r>
          </a:p>
          <a:p>
            <a:pPr lvl="1"/>
            <a:r>
              <a:rPr lang="en-US" sz="1400" dirty="0"/>
              <a:t>BT MAC (BT_ADDR) might be one off from </a:t>
            </a:r>
            <a:r>
              <a:rPr lang="en-US" sz="1400" dirty="0" err="1"/>
              <a:t>WiFi</a:t>
            </a:r>
            <a:r>
              <a:rPr lang="en-US" sz="1400" dirty="0"/>
              <a:t> MAC</a:t>
            </a:r>
          </a:p>
          <a:p>
            <a:r>
              <a:rPr lang="en-US" sz="1800" dirty="0"/>
              <a:t>Known Exploits/Vulnerabilities</a:t>
            </a:r>
          </a:p>
          <a:p>
            <a:pPr lvl="1"/>
            <a:r>
              <a:rPr lang="en-US" sz="1400" dirty="0" err="1"/>
              <a:t>BlueBorne</a:t>
            </a:r>
            <a:r>
              <a:rPr lang="en-US" sz="1400" dirty="0"/>
              <a:t> </a:t>
            </a:r>
            <a:r>
              <a:rPr lang="en-US" sz="1400" u="sng" dirty="0">
                <a:hlinkClick r:id="rId3"/>
              </a:rPr>
              <a:t>https://www.armis.com/blueborne/</a:t>
            </a:r>
            <a:endParaRPr lang="en-US" sz="1400" u="sng" dirty="0"/>
          </a:p>
          <a:p>
            <a:pPr lvl="1"/>
            <a:r>
              <a:rPr lang="en-US" sz="1400" dirty="0" err="1"/>
              <a:t>Bluejacking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https://en.wikipedia.org/wiki/Bluejacking</a:t>
            </a:r>
            <a:endParaRPr lang="en-US" sz="1400" dirty="0"/>
          </a:p>
          <a:p>
            <a:pPr lvl="1"/>
            <a:r>
              <a:rPr lang="en-US" sz="1400" dirty="0" err="1"/>
              <a:t>Bluesnarfing</a:t>
            </a:r>
            <a:r>
              <a:rPr lang="en-US" sz="1400" dirty="0"/>
              <a:t> </a:t>
            </a:r>
            <a:r>
              <a:rPr lang="en-US" sz="1400" dirty="0">
                <a:hlinkClick r:id="rId5"/>
              </a:rPr>
              <a:t>https://en.wikipedia.org/wiki/Bluesnarfing</a:t>
            </a:r>
            <a:endParaRPr lang="en-US" sz="1400" dirty="0"/>
          </a:p>
          <a:p>
            <a:pPr lvl="1"/>
            <a:r>
              <a:rPr lang="en-US" sz="1400" dirty="0"/>
              <a:t>General: </a:t>
            </a:r>
            <a:r>
              <a:rPr lang="en-US" sz="1400" dirty="0">
                <a:hlinkClick r:id="rId6"/>
              </a:rPr>
              <a:t>http://airodump.net/bluetooth-security-vulnerabilities/</a:t>
            </a:r>
            <a:endParaRPr lang="en-US" sz="1400" dirty="0"/>
          </a:p>
          <a:p>
            <a:pPr lvl="1"/>
            <a:r>
              <a:rPr lang="en-US" sz="1400" dirty="0" err="1"/>
              <a:t>DirtyTooth</a:t>
            </a:r>
            <a:endParaRPr lang="en-US" sz="1400" dirty="0"/>
          </a:p>
          <a:p>
            <a:pPr lvl="2"/>
            <a:r>
              <a:rPr lang="en-US" sz="1200" dirty="0">
                <a:hlinkClick r:id="rId7"/>
              </a:rPr>
              <a:t>http://www.dirtytooth.com/</a:t>
            </a:r>
            <a:endParaRPr lang="en-US" sz="1200" dirty="0"/>
          </a:p>
          <a:p>
            <a:pPr lvl="2"/>
            <a:r>
              <a:rPr lang="en-US" sz="1200" dirty="0">
                <a:hlinkClick r:id="rId8"/>
              </a:rPr>
              <a:t>https://www.elevenpaths.com/labstools/dirtytooth-para-raspberry-pi-2/index.html</a:t>
            </a:r>
            <a:endParaRPr lang="en-US" sz="1200" dirty="0"/>
          </a:p>
          <a:p>
            <a:r>
              <a:rPr lang="en-US" sz="1800" dirty="0"/>
              <a:t>CERT CVE Lookup</a:t>
            </a:r>
          </a:p>
          <a:p>
            <a:pPr lvl="1"/>
            <a:r>
              <a:rPr lang="en-US" sz="1400" dirty="0">
                <a:hlinkClick r:id="rId9"/>
              </a:rPr>
              <a:t>http://cve.mitre.org/cgi-bin/cvekey.cgi?keyword=bluetooth</a:t>
            </a:r>
            <a:endParaRPr lang="en-US" sz="1400" dirty="0"/>
          </a:p>
          <a:p>
            <a:r>
              <a:rPr lang="en-US" sz="1800" dirty="0"/>
              <a:t>NIST Guidelines</a:t>
            </a:r>
          </a:p>
          <a:p>
            <a:pPr lvl="1"/>
            <a:r>
              <a:rPr lang="en-US" sz="1400" dirty="0">
                <a:hlinkClick r:id="rId10"/>
              </a:rPr>
              <a:t>https://csrc.nist.gov/csrc/media/publications/sp/800-121/rev-2/draft/documents/sp800_121_r2_draft.pdf</a:t>
            </a:r>
            <a:endParaRPr lang="en-US" sz="1400" dirty="0"/>
          </a:p>
          <a:p>
            <a:r>
              <a:rPr lang="en-US" sz="1800" dirty="0"/>
              <a:t>SANS Whitepaper</a:t>
            </a:r>
          </a:p>
          <a:p>
            <a:pPr lvl="1"/>
            <a:r>
              <a:rPr lang="en-US" sz="1400" dirty="0">
                <a:hlinkClick r:id="rId11"/>
              </a:rPr>
              <a:t>https://www.sans.org/reading-room/whitepapers/wireless/bluetooth-inherent-security-issues-945</a:t>
            </a:r>
            <a:endParaRPr lang="en-US" sz="1400" dirty="0"/>
          </a:p>
          <a:p>
            <a:pPr lvl="1"/>
            <a:endParaRPr lang="en-US" sz="14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077421620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Classic BT became overly complicated</a:t>
            </a:r>
          </a:p>
          <a:p>
            <a:pPr lvl="1"/>
            <a:r>
              <a:rPr lang="en-US" sz="1400" dirty="0"/>
              <a:t>Needed less overhead</a:t>
            </a:r>
          </a:p>
          <a:p>
            <a:pPr lvl="1"/>
            <a:r>
              <a:rPr lang="en-US" sz="1400" dirty="0"/>
              <a:t>More competitive with ZigBee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Changes from Classic BT</a:t>
            </a:r>
          </a:p>
          <a:p>
            <a:pPr lvl="1"/>
            <a:r>
              <a:rPr lang="en-US" sz="1400" dirty="0"/>
              <a:t>AMP just hands off to standard </a:t>
            </a:r>
            <a:r>
              <a:rPr lang="en-US" sz="1400" dirty="0" err="1"/>
              <a:t>WiFi</a:t>
            </a:r>
            <a:endParaRPr lang="en-US" sz="1400" dirty="0"/>
          </a:p>
          <a:p>
            <a:pPr lvl="1"/>
            <a:r>
              <a:rPr lang="en-US" sz="1400" dirty="0"/>
              <a:t>Gaussian Frequency Shift Keying (GFSK) instead of FHSS</a:t>
            </a:r>
          </a:p>
          <a:p>
            <a:pPr lvl="1"/>
            <a:r>
              <a:rPr lang="en-US" sz="1400" dirty="0"/>
              <a:t>Separate radio, same antenna</a:t>
            </a:r>
          </a:p>
          <a:p>
            <a:pPr lvl="1"/>
            <a:r>
              <a:rPr lang="en-US" sz="1400" dirty="0"/>
              <a:t>40 channels, next hop is mod 37</a:t>
            </a:r>
          </a:p>
          <a:p>
            <a:pPr lvl="1"/>
            <a:r>
              <a:rPr lang="en-US" sz="1400" dirty="0"/>
              <a:t>BLE leverages GATT/ATT protocol for data exchanges, replaces RFCOMM</a:t>
            </a:r>
          </a:p>
          <a:p>
            <a:pPr lvl="1"/>
            <a:r>
              <a:rPr lang="en-US" sz="1400" dirty="0"/>
              <a:t>Standardized protocol for all profiles to reduce overhead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29072913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Security</a:t>
            </a:r>
          </a:p>
          <a:p>
            <a:pPr lvl="1"/>
            <a:r>
              <a:rPr lang="en-US" sz="1400" dirty="0"/>
              <a:t>Pairing similar to Classic Bluetooth</a:t>
            </a:r>
          </a:p>
          <a:p>
            <a:pPr lvl="1"/>
            <a:r>
              <a:rPr lang="en-US" sz="1400" dirty="0"/>
              <a:t>Keys are not retained, renegotiated each time</a:t>
            </a:r>
          </a:p>
          <a:p>
            <a:pPr lvl="1"/>
            <a:r>
              <a:rPr lang="en-US" sz="1400" dirty="0"/>
              <a:t>Bonding retains keys</a:t>
            </a:r>
          </a:p>
          <a:p>
            <a:pPr lvl="1"/>
            <a:r>
              <a:rPr lang="en-US" sz="1400" dirty="0"/>
              <a:t>LE 4.2 is most secure using Out of Band (OOB) pairing</a:t>
            </a:r>
          </a:p>
          <a:p>
            <a:r>
              <a:rPr lang="en-US" sz="1800" dirty="0"/>
              <a:t>Vulnerabilities</a:t>
            </a:r>
          </a:p>
          <a:p>
            <a:pPr lvl="1"/>
            <a:r>
              <a:rPr lang="en-US" sz="1400" dirty="0"/>
              <a:t>“Just Works” mode is not secure (TK=0)</a:t>
            </a:r>
          </a:p>
          <a:p>
            <a:pPr lvl="1"/>
            <a:r>
              <a:rPr lang="en-US" sz="1400" dirty="0"/>
              <a:t>Profiles are similar to Classic Mode 1</a:t>
            </a:r>
          </a:p>
          <a:p>
            <a:pPr lvl="1"/>
            <a:r>
              <a:rPr lang="en-US" sz="1400" dirty="0"/>
              <a:t>Easy to find advertising devices, track and capture</a:t>
            </a:r>
          </a:p>
          <a:p>
            <a:pPr lvl="1"/>
            <a:r>
              <a:rPr lang="en-US" sz="1400" dirty="0"/>
              <a:t>PIN cracking is easier if pairing exchange is captured</a:t>
            </a:r>
          </a:p>
          <a:p>
            <a:pPr lvl="1"/>
            <a:r>
              <a:rPr lang="en-US" sz="1400" dirty="0"/>
              <a:t>Currently no way to force </a:t>
            </a:r>
            <a:r>
              <a:rPr lang="en-US" sz="1400" dirty="0" err="1"/>
              <a:t>deauthorization</a:t>
            </a:r>
            <a:endParaRPr lang="en-US" sz="1400" dirty="0"/>
          </a:p>
          <a:p>
            <a:pPr lvl="1"/>
            <a:r>
              <a:rPr lang="en-US" sz="1400" dirty="0"/>
              <a:t>Security left up to applications</a:t>
            </a:r>
          </a:p>
          <a:p>
            <a:pPr lvl="1"/>
            <a:r>
              <a:rPr lang="en-US" sz="1400" dirty="0" err="1"/>
              <a:t>GATTacker</a:t>
            </a:r>
            <a:r>
              <a:rPr lang="en-US" sz="1400" dirty="0"/>
              <a:t> is a Man-In-The-Middle (MITM) tool which spoofs both master and slave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7057738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Tools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800" dirty="0"/>
              <a:t>Tools</a:t>
            </a:r>
          </a:p>
          <a:p>
            <a:pPr lvl="1"/>
            <a:r>
              <a:rPr lang="en-US" sz="1600" dirty="0"/>
              <a:t>Hardware</a:t>
            </a:r>
          </a:p>
          <a:p>
            <a:pPr lvl="2"/>
            <a:r>
              <a:rPr lang="en-US" sz="1400" dirty="0"/>
              <a:t>Laptops with built-in Bluetooth</a:t>
            </a:r>
          </a:p>
          <a:p>
            <a:pPr lvl="3"/>
            <a:r>
              <a:rPr lang="en-US" sz="1200" dirty="0"/>
              <a:t>Most support BLE</a:t>
            </a:r>
          </a:p>
          <a:p>
            <a:pPr lvl="2"/>
            <a:r>
              <a:rPr lang="en-US" sz="1400" dirty="0"/>
              <a:t>USB Dongles, with antennas</a:t>
            </a:r>
          </a:p>
          <a:p>
            <a:pPr lvl="3"/>
            <a:r>
              <a:rPr lang="en-US" sz="1200" dirty="0"/>
              <a:t>Linksys USB-BT100 modified</a:t>
            </a:r>
          </a:p>
          <a:p>
            <a:pPr lvl="3"/>
            <a:r>
              <a:rPr lang="en-US" sz="1200" dirty="0" err="1"/>
              <a:t>Sena</a:t>
            </a:r>
            <a:r>
              <a:rPr lang="en-US" sz="1200" dirty="0"/>
              <a:t> UD100, supports BLE too</a:t>
            </a:r>
          </a:p>
          <a:p>
            <a:pPr lvl="2"/>
            <a:r>
              <a:rPr lang="en-US" sz="1400" dirty="0"/>
              <a:t>BLE Specific</a:t>
            </a:r>
          </a:p>
          <a:p>
            <a:pPr lvl="3"/>
            <a:r>
              <a:rPr lang="en-US" sz="1200" dirty="0"/>
              <a:t>Adafruit BLUE Sniffer (NRF 51822) $25 works with Wireshark</a:t>
            </a:r>
          </a:p>
          <a:p>
            <a:pPr lvl="3"/>
            <a:r>
              <a:rPr lang="en-US" sz="1200" dirty="0"/>
              <a:t>TI CC2540EMK + SMARTRF Tool (proprietary) $40</a:t>
            </a:r>
          </a:p>
          <a:p>
            <a:pPr lvl="1"/>
            <a:r>
              <a:rPr lang="en-US" sz="1600" dirty="0"/>
              <a:t>Commercial</a:t>
            </a:r>
          </a:p>
          <a:p>
            <a:pPr lvl="2"/>
            <a:r>
              <a:rPr lang="en-US" sz="1400" u="sng" dirty="0">
                <a:hlinkClick r:id="rId3"/>
              </a:rPr>
              <a:t>http://www.fte.com/products/sodera.aspx</a:t>
            </a:r>
            <a:endParaRPr lang="en-US" sz="1400" dirty="0"/>
          </a:p>
          <a:p>
            <a:pPr lvl="2"/>
            <a:r>
              <a:rPr lang="en-US" sz="1400" u="sng" dirty="0">
                <a:hlinkClick r:id="rId4"/>
              </a:rPr>
              <a:t>https://www.ellisys.com/products/bex400/</a:t>
            </a:r>
            <a:endParaRPr lang="en-US" sz="1400" u="sng" dirty="0"/>
          </a:p>
          <a:p>
            <a:pPr lvl="2"/>
            <a:r>
              <a:rPr lang="en-US" sz="1400" dirty="0"/>
              <a:t>Typically doesn’t have security vulnerability checking functionality</a:t>
            </a:r>
            <a:endParaRPr lang="en-US" sz="10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304770773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Tools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Software</a:t>
            </a:r>
          </a:p>
          <a:p>
            <a:pPr lvl="1"/>
            <a:r>
              <a:rPr lang="en-US" sz="1600" dirty="0"/>
              <a:t>Many, but these are the most notable ones</a:t>
            </a:r>
          </a:p>
          <a:p>
            <a:pPr lvl="1"/>
            <a:r>
              <a:rPr lang="en-US" sz="1600" dirty="0"/>
              <a:t>Windows</a:t>
            </a:r>
          </a:p>
          <a:p>
            <a:pPr lvl="2"/>
            <a:r>
              <a:rPr lang="en-US" sz="1400" dirty="0" err="1"/>
              <a:t>BlueScanner</a:t>
            </a:r>
            <a:endParaRPr lang="en-US" sz="1400" dirty="0"/>
          </a:p>
          <a:p>
            <a:pPr lvl="2"/>
            <a:r>
              <a:rPr lang="en-US" sz="1400" dirty="0"/>
              <a:t>Bluetooth Analyzer (Microsoft)</a:t>
            </a:r>
          </a:p>
          <a:p>
            <a:pPr lvl="3"/>
            <a:r>
              <a:rPr lang="en-US" sz="1200" dirty="0">
                <a:hlinkClick r:id="rId3"/>
              </a:rPr>
              <a:t>https://www.microsoft.com/en-us/store/p/bluetooth-analyzer/9wzdncrdhhw6?activetab=pivot%3aoverviewtab</a:t>
            </a:r>
            <a:endParaRPr lang="en-US" sz="1200" dirty="0"/>
          </a:p>
          <a:p>
            <a:pPr lvl="2"/>
            <a:r>
              <a:rPr lang="en-US" sz="1400" dirty="0"/>
              <a:t>Bluetooth Viewer</a:t>
            </a:r>
          </a:p>
          <a:p>
            <a:pPr lvl="3"/>
            <a:r>
              <a:rPr lang="en-US" sz="1200" dirty="0">
                <a:hlinkClick r:id="rId4"/>
              </a:rPr>
              <a:t>https://www.nirsoft.net/utils/bluetooth_viewer.html</a:t>
            </a:r>
            <a:endParaRPr lang="en-US" sz="1200" dirty="0"/>
          </a:p>
          <a:p>
            <a:pPr lvl="2"/>
            <a:r>
              <a:rPr lang="en-US" sz="1400" dirty="0"/>
              <a:t>NRF Sniffer</a:t>
            </a:r>
          </a:p>
          <a:p>
            <a:pPr lvl="1"/>
            <a:r>
              <a:rPr lang="en-US" sz="1600" dirty="0"/>
              <a:t>Linux</a:t>
            </a:r>
          </a:p>
          <a:p>
            <a:pPr lvl="2"/>
            <a:r>
              <a:rPr lang="en-US" sz="1400" dirty="0" err="1"/>
              <a:t>BlueZ</a:t>
            </a:r>
            <a:r>
              <a:rPr lang="en-US" sz="1400" dirty="0"/>
              <a:t>: </a:t>
            </a:r>
            <a:r>
              <a:rPr lang="en-US" sz="1400" dirty="0" err="1"/>
              <a:t>hctitool</a:t>
            </a:r>
            <a:r>
              <a:rPr lang="en-US" sz="1400" dirty="0"/>
              <a:t>, </a:t>
            </a:r>
            <a:r>
              <a:rPr lang="en-US" sz="1400" dirty="0" err="1"/>
              <a:t>gatttool</a:t>
            </a:r>
            <a:r>
              <a:rPr lang="en-US" sz="1400" dirty="0"/>
              <a:t>, </a:t>
            </a:r>
            <a:r>
              <a:rPr lang="en-US" sz="1400" dirty="0" err="1"/>
              <a:t>bluetoothctl</a:t>
            </a:r>
            <a:endParaRPr lang="en-US" sz="1400" dirty="0"/>
          </a:p>
          <a:p>
            <a:pPr lvl="2"/>
            <a:r>
              <a:rPr lang="en-US" sz="1400" dirty="0" err="1"/>
              <a:t>BTScanner</a:t>
            </a:r>
            <a:r>
              <a:rPr lang="en-US" sz="1400" dirty="0"/>
              <a:t>, BLE Sniffer, </a:t>
            </a:r>
            <a:r>
              <a:rPr lang="en-US" sz="1400" dirty="0" err="1"/>
              <a:t>btmon</a:t>
            </a:r>
            <a:endParaRPr lang="en-US" sz="1400" dirty="0"/>
          </a:p>
          <a:p>
            <a:pPr lvl="2"/>
            <a:r>
              <a:rPr lang="en-US" sz="1400" dirty="0" err="1"/>
              <a:t>BLESuite</a:t>
            </a:r>
            <a:r>
              <a:rPr lang="en-US" sz="1400" dirty="0"/>
              <a:t>: BLE-Replay</a:t>
            </a:r>
          </a:p>
          <a:p>
            <a:pPr lvl="2"/>
            <a:r>
              <a:rPr lang="en-US" sz="1400" dirty="0"/>
              <a:t>BLE Fuzzing, </a:t>
            </a:r>
            <a:r>
              <a:rPr lang="en-US" sz="1400" dirty="0" err="1"/>
              <a:t>BlueHydra</a:t>
            </a:r>
            <a:endParaRPr lang="en-US" sz="1400" dirty="0"/>
          </a:p>
          <a:p>
            <a:pPr lvl="2"/>
            <a:r>
              <a:rPr lang="en-US" sz="1400" dirty="0"/>
              <a:t>Crackle (PIN cracking)</a:t>
            </a:r>
          </a:p>
          <a:p>
            <a:pPr lvl="2"/>
            <a:r>
              <a:rPr lang="en-US" sz="1400" dirty="0" err="1"/>
              <a:t>Ubertooth</a:t>
            </a:r>
            <a:r>
              <a:rPr lang="en-US" sz="1400" dirty="0"/>
              <a:t> One</a:t>
            </a:r>
          </a:p>
          <a:p>
            <a:pPr lvl="3"/>
            <a:r>
              <a:rPr lang="en-US" sz="1200" dirty="0"/>
              <a:t>Good for sniffing, but not as actual BT device (doesn’t channel hop)</a:t>
            </a:r>
          </a:p>
          <a:p>
            <a:pPr lvl="3"/>
            <a:r>
              <a:rPr lang="en-US" sz="1200" dirty="0"/>
              <a:t>Help find non-discoverable devices</a:t>
            </a:r>
          </a:p>
          <a:p>
            <a:pPr lvl="3"/>
            <a:r>
              <a:rPr lang="en-US" sz="1200" u="sng" dirty="0">
                <a:hlinkClick r:id="rId5"/>
              </a:rPr>
              <a:t>http://www.greatscottgadgets.com/ubertoothone/</a:t>
            </a:r>
            <a:endParaRPr lang="en-US" sz="1200" u="sng" dirty="0"/>
          </a:p>
          <a:p>
            <a:pPr lvl="3"/>
            <a:r>
              <a:rPr lang="en-US" sz="1200" u="sng" dirty="0">
                <a:hlinkClick r:id="rId6"/>
              </a:rPr>
              <a:t>https://hakshop.com/products/ubertooth-one</a:t>
            </a:r>
            <a:endParaRPr lang="en-US" sz="1200" dirty="0"/>
          </a:p>
          <a:p>
            <a:pPr lvl="3"/>
            <a:r>
              <a:rPr lang="en-US" sz="1200" dirty="0">
                <a:hlinkClick r:id="rId7"/>
              </a:rPr>
              <a:t>https://github.com/greatscottgadgets/ubertooth</a:t>
            </a:r>
            <a:endParaRPr lang="en-US" sz="1200" dirty="0"/>
          </a:p>
          <a:p>
            <a:pPr lvl="1"/>
            <a:r>
              <a:rPr lang="en-US" sz="1600" dirty="0"/>
              <a:t>Android</a:t>
            </a:r>
          </a:p>
          <a:p>
            <a:pPr lvl="2"/>
            <a:r>
              <a:rPr lang="en-US" sz="1400" dirty="0"/>
              <a:t>Bluetooth Scanner</a:t>
            </a:r>
          </a:p>
          <a:p>
            <a:pPr lvl="2"/>
            <a:r>
              <a:rPr lang="en-US" sz="1400" dirty="0"/>
              <a:t>NRF Connect</a:t>
            </a:r>
            <a:endParaRPr lang="en-US" sz="16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99937002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2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1305</TotalTime>
  <Words>2289</Words>
  <Application>Microsoft Office PowerPoint</Application>
  <PresentationFormat>Widescreen</PresentationFormat>
  <Paragraphs>295</Paragraphs>
  <Slides>26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Custom Design</vt:lpstr>
      <vt:lpstr>PowerPoint Presentation</vt:lpstr>
      <vt:lpstr>1. Getting Started</vt:lpstr>
      <vt:lpstr>2. Bluetooth Scanning</vt:lpstr>
      <vt:lpstr>2. Bluetooth Scanning</vt:lpstr>
      <vt:lpstr>2. Bluetooth Scanning</vt:lpstr>
      <vt:lpstr>A Note on BT Addresses and Scanning</vt:lpstr>
      <vt:lpstr>3. Enumerating Bluetooth Information</vt:lpstr>
      <vt:lpstr>3. Enumerating Bluetooth Information</vt:lpstr>
      <vt:lpstr>3. Enumerating Bluetooth Information</vt:lpstr>
      <vt:lpstr>4. Identifying BT Services</vt:lpstr>
      <vt:lpstr>4. Identifying BT Services</vt:lpstr>
      <vt:lpstr>5. Analyzing SDP Output</vt:lpstr>
      <vt:lpstr>5. Analyzing SDP Output</vt:lpstr>
      <vt:lpstr>6. Pairing Devices In Linux</vt:lpstr>
      <vt:lpstr>6. Pairing Devices In Linux</vt:lpstr>
      <vt:lpstr>6. Pairing Devices In Linux</vt:lpstr>
      <vt:lpstr>7. Sending Data Over Bluetooth</vt:lpstr>
      <vt:lpstr>7. Sending Data Over Bluetooth</vt:lpstr>
      <vt:lpstr>Bluetooth (BT) Information</vt:lpstr>
      <vt:lpstr>Bluetooth (BT) Information</vt:lpstr>
      <vt:lpstr>Bluetooth Security</vt:lpstr>
      <vt:lpstr>Bluetooth Vulnerabilities</vt:lpstr>
      <vt:lpstr>Bluetooth Low Energy (BLE) Information</vt:lpstr>
      <vt:lpstr>Bluetooth Low Energy (BLE) Security</vt:lpstr>
      <vt:lpstr>Bluetooth Tools</vt:lpstr>
      <vt:lpstr>Bluetooth 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9</cp:revision>
  <dcterms:created xsi:type="dcterms:W3CDTF">2026-03-11T18:02:03Z</dcterms:created>
  <dcterms:modified xsi:type="dcterms:W3CDTF">2026-09-04T13:21:47Z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
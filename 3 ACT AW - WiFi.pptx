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22"/>
  </p:notesMasterIdLst>
  <p:sldIdLst>
    <p:sldId id="742" r:id="rId6"/>
    <p:sldId id="303" r:id="rId7"/>
    <p:sldId id="395" r:id="rId8"/>
    <p:sldId id="396" r:id="rId9"/>
    <p:sldId id="776" r:id="rId10"/>
    <p:sldId id="313" r:id="rId11"/>
    <p:sldId id="775" r:id="rId12"/>
    <p:sldId id="304" r:id="rId13"/>
    <p:sldId id="305" r:id="rId14"/>
    <p:sldId id="306" r:id="rId15"/>
    <p:sldId id="735" r:id="rId16"/>
    <p:sldId id="733" r:id="rId17"/>
    <p:sldId id="774" r:id="rId18"/>
    <p:sldId id="770" r:id="rId19"/>
    <p:sldId id="758" r:id="rId20"/>
    <p:sldId id="737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iFi" id="{074B3C31-54E2-4065-AC58-8112E024755A}">
          <p14:sldIdLst>
            <p14:sldId id="742"/>
            <p14:sldId id="303"/>
          </p14:sldIdLst>
        </p14:section>
        <p14:section name="WiFi - Analyzer App" id="{DB79742B-9CBA-4F20-80DA-0FE921A8153D}">
          <p14:sldIdLst>
            <p14:sldId id="395"/>
            <p14:sldId id="396"/>
            <p14:sldId id="776"/>
            <p14:sldId id="313"/>
          </p14:sldIdLst>
        </p14:section>
        <p14:section name="WiFi Monitor Mode" id="{086194ED-8038-4FD3-8F40-53903EF8A712}">
          <p14:sldIdLst>
            <p14:sldId id="775"/>
            <p14:sldId id="304"/>
            <p14:sldId id="305"/>
            <p14:sldId id="306"/>
          </p14:sldIdLst>
        </p14:section>
        <p14:section name="Appendix" id="{340FE8AA-506D-4170-ADA5-773A420C167C}">
          <p14:sldIdLst>
            <p14:sldId id="735"/>
            <p14:sldId id="733"/>
            <p14:sldId id="774"/>
            <p14:sldId id="770"/>
            <p14:sldId id="758"/>
            <p14:sldId id="7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1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gs" Target="tags/tag1.xml"/><Relationship Id="rId28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134362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499852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59080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333831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1285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6689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268002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-fi.org/" TargetMode="External"/><Relationship Id="rId7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-Fi_Direct" TargetMode="External"/><Relationship Id="rId5" Type="http://schemas.openxmlformats.org/officeDocument/2006/relationships/hyperlink" Target="https://en.wikipedia.org/wiki/Wireless_security" TargetMode="External"/><Relationship Id="rId4" Type="http://schemas.openxmlformats.org/officeDocument/2006/relationships/hyperlink" Target="https://en.wikipedia.org/wiki/Wi-Fi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code.google.com/p/reaver-wp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ve.mitre.org/cgi-bin/cvekey.cgi?keyword=wifi" TargetMode="External"/><Relationship Id="rId5" Type="http://schemas.openxmlformats.org/officeDocument/2006/relationships/hyperlink" Target="https://www.krackattacks.com/" TargetMode="External"/><Relationship Id="rId4" Type="http://schemas.openxmlformats.org/officeDocument/2006/relationships/hyperlink" Target="https://en.wikipedia.org/wiki/KRACK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-cert.gov/sites/default/files/publications/A_Guide_to_Securing_Networks_for_Wi-Fi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ans.org/reading-room/whitepapers/wireless/bluetooth-inherent-security-issues-945" TargetMode="External"/><Relationship Id="rId4" Type="http://schemas.openxmlformats.org/officeDocument/2006/relationships/hyperlink" Target="https://csrc.nist.gov/csrc/media/publications/sp/800-121/rev-2/draft/documents/sp800_121_r2_draft.pdf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rylicwifi.com/e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etageek.com/products/inssider/" TargetMode="External"/><Relationship Id="rId4" Type="http://schemas.openxmlformats.org/officeDocument/2006/relationships/hyperlink" Target="https://www.netspotapp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iF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3" y="2200972"/>
            <a:ext cx="3881133" cy="229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small wifi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6349" y="250572"/>
            <a:ext cx="1343363" cy="136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8920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096000" y="-232"/>
            <a:ext cx="6096000" cy="6858000"/>
            <a:chOff x="4572000" y="-174"/>
            <a:chExt cx="4572000" cy="5143500"/>
          </a:xfrm>
        </p:grpSpPr>
        <p:sp>
          <p:nvSpPr>
            <p:cNvPr id="3" name="object 3"/>
            <p:cNvSpPr/>
            <p:nvPr/>
          </p:nvSpPr>
          <p:spPr>
            <a:xfrm>
              <a:off x="4572000" y="-174"/>
              <a:ext cx="4572000" cy="5143500"/>
            </a:xfrm>
            <a:custGeom>
              <a:avLst/>
              <a:gdLst/>
              <a:ahLst/>
              <a:cxnLst/>
              <a:rect l="l" t="t" r="r" b="b"/>
              <a:pathLst>
                <a:path w="4572000" h="5143500">
                  <a:moveTo>
                    <a:pt x="45719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4571999" y="0"/>
                  </a:lnTo>
                  <a:lnTo>
                    <a:pt x="4571999" y="5143499"/>
                  </a:lnTo>
                  <a:close/>
                </a:path>
              </a:pathLst>
            </a:custGeom>
            <a:solidFill>
              <a:srgbClr val="2A3890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5029675" y="4495499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299" y="0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11377941" y="6297871"/>
            <a:ext cx="298027" cy="3044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1867" kern="0" spc="-33" dirty="0">
                <a:solidFill>
                  <a:srgbClr val="FFFFFF"/>
                </a:solidFill>
                <a:latin typeface="Arial"/>
                <a:cs typeface="Arial"/>
              </a:rPr>
              <a:t>48</a:t>
            </a:r>
            <a:endParaRPr sz="1867" kern="0">
              <a:solidFill>
                <a:sysClr val="windowText" lastClr="000000"/>
              </a:solidFill>
              <a:latin typeface="Arial"/>
              <a:cs typeface="Arial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770188"/>
            <a:ext cx="4689475" cy="1266825"/>
          </a:xfrm>
          <a:prstGeom prst="rect">
            <a:avLst/>
          </a:prstGeom>
        </p:spPr>
        <p:txBody>
          <a:bodyPr vert="horz" wrap="square" lIns="0" tIns="22013" rIns="0" bIns="0" rtlCol="0">
            <a:spAutoFit/>
          </a:bodyPr>
          <a:lstStyle/>
          <a:p>
            <a:pPr algn="ctr">
              <a:spcBef>
                <a:spcPts val="173"/>
              </a:spcBef>
            </a:pPr>
            <a:r>
              <a:rPr sz="5000" spc="-13" dirty="0">
                <a:solidFill>
                  <a:srgbClr val="2A3890"/>
                </a:solidFill>
              </a:rPr>
              <a:t>Walkthrough</a:t>
            </a:r>
            <a:endParaRPr sz="5000"/>
          </a:p>
          <a:p>
            <a:pPr algn="ctr">
              <a:spcBef>
                <a:spcPts val="127"/>
              </a:spcBef>
            </a:pPr>
            <a:r>
              <a:rPr sz="3000" dirty="0">
                <a:solidFill>
                  <a:srgbClr val="2A3890"/>
                </a:solidFill>
              </a:rPr>
              <a:t>WPA2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dirty="0">
                <a:solidFill>
                  <a:srgbClr val="2A3890"/>
                </a:solidFill>
              </a:rPr>
              <a:t>Handshake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spc="-13" dirty="0">
                <a:solidFill>
                  <a:srgbClr val="2A3890"/>
                </a:solidFill>
              </a:rPr>
              <a:t>Cracking</a:t>
            </a:r>
            <a:endParaRPr sz="3000"/>
          </a:p>
        </p:txBody>
      </p:sp>
      <p:sp>
        <p:nvSpPr>
          <p:cNvPr id="7" name="object 7"/>
          <p:cNvSpPr txBox="1"/>
          <p:nvPr/>
        </p:nvSpPr>
        <p:spPr>
          <a:xfrm>
            <a:off x="6804067" y="2320883"/>
            <a:ext cx="3281680" cy="2569934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lang="en-US" sz="2400" kern="0" dirty="0">
                <a:solidFill>
                  <a:srgbClr val="FFFFFF"/>
                </a:solidFill>
                <a:latin typeface="Roboto"/>
                <a:cs typeface="Roboto"/>
              </a:rPr>
              <a:t>Analyzer Mode</a:t>
            </a:r>
          </a:p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Setup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Monitor</a:t>
            </a:r>
            <a:r>
              <a:rPr sz="2400" kern="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Mode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Find</a:t>
            </a:r>
            <a:r>
              <a:rPr sz="2400" kern="0" spc="-3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SSID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Attack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Deauth</a:t>
            </a:r>
            <a:r>
              <a:rPr sz="2400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Client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Capture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Crack</a:t>
            </a:r>
            <a:r>
              <a:rPr sz="2400" kern="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3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#01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486748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Analyzer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512967" y="1181159"/>
            <a:ext cx="4678158" cy="154328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lang="en-US" sz="2400" kern="0" dirty="0">
                <a:solidFill>
                  <a:srgbClr val="434343"/>
                </a:solidFill>
                <a:latin typeface="Roboto"/>
                <a:cs typeface="Roboto"/>
              </a:rPr>
              <a:t>Microsoft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lang="en-US" sz="2400" kern="0" dirty="0">
              <a:solidFill>
                <a:srgbClr val="434343"/>
              </a:solidFill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AE26C56-B41B-F829-23CF-CAD970EB1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151" y="1458836"/>
            <a:ext cx="5612786" cy="443904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21AF15-D5B6-16B1-32B8-9A2C831FA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AF12A05-1882-3B3E-3E79-4C71DFD00532}"/>
              </a:ext>
            </a:extLst>
          </p:cNvPr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640A5CC0-BE74-2541-81BD-DE984B14EB58}"/>
              </a:ext>
            </a:extLst>
          </p:cNvPr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EF2FF6D-D2D7-F731-2743-3A4FE1053A68}"/>
                </a:ext>
              </a:extLst>
            </p:cNvPr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09BF31C-FFF8-9311-42CE-D8228D632704}"/>
                </a:ext>
              </a:extLst>
            </p:cNvPr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0F81211-3E78-020E-9204-C3A15D7EE83F}"/>
                </a:ext>
              </a:extLst>
            </p:cNvPr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003B54E3-F7D3-07FE-6FC1-12A090B747E1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>
            <a:extLst>
              <a:ext uri="{FF2B5EF4-FFF2-40B4-BE49-F238E27FC236}">
                <a16:creationId xmlns:a16="http://schemas.microsoft.com/office/drawing/2014/main" id="{094AC921-CBEA-0ABB-E544-F7D4B85B89D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BB56E3D-71A5-B49F-F81D-86C1A758300A}"/>
              </a:ext>
            </a:extLst>
          </p:cNvPr>
          <p:cNvSpPr txBox="1"/>
          <p:nvPr/>
        </p:nvSpPr>
        <p:spPr>
          <a:xfrm>
            <a:off x="512967" y="1181159"/>
            <a:ext cx="6320367" cy="196391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Google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monitor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27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with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best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ratings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8FC8CAB0-EDF2-A017-153B-9560560BEE08}"/>
              </a:ext>
            </a:extLst>
          </p:cNvPr>
          <p:cNvGrpSpPr/>
          <p:nvPr/>
        </p:nvGrpSpPr>
        <p:grpSpPr>
          <a:xfrm>
            <a:off x="899200" y="3416297"/>
            <a:ext cx="5521960" cy="2789767"/>
            <a:chOff x="674400" y="2562222"/>
            <a:chExt cx="4141470" cy="2092325"/>
          </a:xfrm>
        </p:grpSpPr>
        <p:pic>
          <p:nvPicPr>
            <p:cNvPr id="10" name="object 10">
              <a:extLst>
                <a:ext uri="{FF2B5EF4-FFF2-40B4-BE49-F238E27FC236}">
                  <a16:creationId xmlns:a16="http://schemas.microsoft.com/office/drawing/2014/main" id="{B6781EC9-D642-19BF-0712-3E6F8C9300F6}"/>
                </a:ext>
              </a:extLst>
            </p:cNvPr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00046" y="2641420"/>
              <a:ext cx="4006178" cy="1950822"/>
            </a:xfrm>
            <a:prstGeom prst="rect">
              <a:avLst/>
            </a:prstGeom>
          </p:spPr>
        </p:pic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9EAB54B-0277-708B-CD90-916A91EF53C8}"/>
                </a:ext>
              </a:extLst>
            </p:cNvPr>
            <p:cNvSpPr/>
            <p:nvPr/>
          </p:nvSpPr>
          <p:spPr>
            <a:xfrm>
              <a:off x="679162" y="2566985"/>
              <a:ext cx="4131945" cy="2082800"/>
            </a:xfrm>
            <a:custGeom>
              <a:avLst/>
              <a:gdLst/>
              <a:ahLst/>
              <a:cxnLst/>
              <a:rect l="l" t="t" r="r" b="b"/>
              <a:pathLst>
                <a:path w="4131945" h="2082800">
                  <a:moveTo>
                    <a:pt x="0" y="0"/>
                  </a:moveTo>
                  <a:lnTo>
                    <a:pt x="4131824" y="0"/>
                  </a:lnTo>
                  <a:lnTo>
                    <a:pt x="4131824" y="2082274"/>
                  </a:lnTo>
                  <a:lnTo>
                    <a:pt x="0" y="20822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06364510-EAFB-0A72-FBDE-5A97BCADCA98}"/>
              </a:ext>
            </a:extLst>
          </p:cNvPr>
          <p:cNvGrpSpPr/>
          <p:nvPr/>
        </p:nvGrpSpPr>
        <p:grpSpPr>
          <a:xfrm>
            <a:off x="7358967" y="1479467"/>
            <a:ext cx="4257887" cy="4300220"/>
            <a:chOff x="5519225" y="1109600"/>
            <a:chExt cx="3193415" cy="3225165"/>
          </a:xfrm>
        </p:grpSpPr>
        <p:pic>
          <p:nvPicPr>
            <p:cNvPr id="13" name="object 13">
              <a:extLst>
                <a:ext uri="{FF2B5EF4-FFF2-40B4-BE49-F238E27FC236}">
                  <a16:creationId xmlns:a16="http://schemas.microsoft.com/office/drawing/2014/main" id="{3A7419A7-8E4B-BB24-0555-BB045E9015BB}"/>
                </a:ext>
              </a:extLst>
            </p:cNvPr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528750" y="1119125"/>
              <a:ext cx="3173745" cy="3205899"/>
            </a:xfrm>
            <a:prstGeom prst="rect">
              <a:avLst/>
            </a:prstGeom>
          </p:spPr>
        </p:pic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C49BB141-30AD-E024-0F1C-A83BF40782CF}"/>
                </a:ext>
              </a:extLst>
            </p:cNvPr>
            <p:cNvSpPr/>
            <p:nvPr/>
          </p:nvSpPr>
          <p:spPr>
            <a:xfrm>
              <a:off x="5523987" y="1114362"/>
              <a:ext cx="3183890" cy="3215640"/>
            </a:xfrm>
            <a:custGeom>
              <a:avLst/>
              <a:gdLst/>
              <a:ahLst/>
              <a:cxnLst/>
              <a:rect l="l" t="t" r="r" b="b"/>
              <a:pathLst>
                <a:path w="3183890" h="3215640">
                  <a:moveTo>
                    <a:pt x="0" y="0"/>
                  </a:moveTo>
                  <a:lnTo>
                    <a:pt x="3183270" y="0"/>
                  </a:lnTo>
                  <a:lnTo>
                    <a:pt x="3183270" y="3215425"/>
                  </a:lnTo>
                  <a:lnTo>
                    <a:pt x="0" y="32154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>
            <a:extLst>
              <a:ext uri="{FF2B5EF4-FFF2-40B4-BE49-F238E27FC236}">
                <a16:creationId xmlns:a16="http://schemas.microsoft.com/office/drawing/2014/main" id="{BBCABA85-9BD9-B8C0-4A6B-5BB9CCB9452C}"/>
              </a:ext>
            </a:extLst>
          </p:cNvPr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8793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01966" y="1668699"/>
            <a:ext cx="3990340" cy="5190067"/>
            <a:chOff x="6151474" y="1251524"/>
            <a:chExt cx="2992755" cy="389255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61000" y="1261049"/>
              <a:ext cx="2149250" cy="336339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156237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3"/>
                  </a:lnTo>
                  <a:lnTo>
                    <a:pt x="0" y="337292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3378"/>
            <a:ext cx="1010183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2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Check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the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Different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Views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dirty="0">
                <a:solidFill>
                  <a:srgbClr val="2A3890"/>
                </a:solidFill>
              </a:rPr>
              <a:t>Mobile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dirty="0">
                <a:solidFill>
                  <a:srgbClr val="2A3890"/>
                </a:solidFill>
              </a:rPr>
              <a:t>App: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27" dirty="0">
                <a:solidFill>
                  <a:srgbClr val="2A3890"/>
                </a:solidFill>
              </a:rPr>
              <a:t>Wi-</a:t>
            </a:r>
            <a:r>
              <a:rPr sz="2267" dirty="0">
                <a:solidFill>
                  <a:srgbClr val="2A3890"/>
                </a:solidFill>
              </a:rPr>
              <a:t>Fi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Analyzer</a:t>
            </a:r>
            <a:endParaRPr sz="2267" dirty="0"/>
          </a:p>
        </p:txBody>
      </p:sp>
      <p:grpSp>
        <p:nvGrpSpPr>
          <p:cNvPr id="10" name="object 10"/>
          <p:cNvGrpSpPr/>
          <p:nvPr/>
        </p:nvGrpSpPr>
        <p:grpSpPr>
          <a:xfrm>
            <a:off x="815099" y="1743634"/>
            <a:ext cx="2891367" cy="4510193"/>
            <a:chOff x="611324" y="1307725"/>
            <a:chExt cx="2168525" cy="3382645"/>
          </a:xfrm>
        </p:grpSpPr>
        <p:pic>
          <p:nvPicPr>
            <p:cNvPr id="11" name="object 11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0850" y="1317250"/>
              <a:ext cx="2149250" cy="3363401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6087" y="13124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4508533" y="1668700"/>
            <a:ext cx="2891367" cy="4510193"/>
            <a:chOff x="3381399" y="1251524"/>
            <a:chExt cx="2168525" cy="3382645"/>
          </a:xfrm>
        </p:grpSpPr>
        <p:pic>
          <p:nvPicPr>
            <p:cNvPr id="14" name="object 14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0924" y="1261049"/>
              <a:ext cx="2149250" cy="3363401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86162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605152" y="6218002"/>
            <a:ext cx="1310640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Channels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98683" y="6218002"/>
            <a:ext cx="2147147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Signal</a:t>
            </a:r>
            <a:r>
              <a:rPr sz="24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Strength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0A91C-0CE8-E01E-4764-1D9569120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E82D933-91AC-4052-07DB-97A46CA42ADB}"/>
              </a:ext>
            </a:extLst>
          </p:cNvPr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FE906E7-EF56-E2E5-6F6E-4E8CB25C2E06}"/>
                </a:ext>
              </a:extLst>
            </p:cNvPr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4B32003-69FB-A959-D16F-98F18E8F4E8C}"/>
                </a:ext>
              </a:extLst>
            </p:cNvPr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B8CE668-4A2F-21C9-9FD6-FF73191A5C64}"/>
                </a:ext>
              </a:extLst>
            </p:cNvPr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D3ABF03E-DE36-CA9D-BE04-030EFE38BC7E}"/>
                </a:ext>
              </a:extLst>
            </p:cNvPr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8BD458AE-631D-6115-C54C-4748F503577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7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>
            <a:extLst>
              <a:ext uri="{FF2B5EF4-FFF2-40B4-BE49-F238E27FC236}">
                <a16:creationId xmlns:a16="http://schemas.microsoft.com/office/drawing/2014/main" id="{44F56A17-37FA-6066-50BA-12EC45F9F5A3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2</a:t>
            </a:r>
            <a:endParaRPr sz="5600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2A18695-7272-ECD7-923B-C22E6DE8BB18}"/>
              </a:ext>
            </a:extLst>
          </p:cNvPr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5FEE7EE-DE19-67BB-4AB4-BC74D4D56BC3}"/>
              </a:ext>
            </a:extLst>
          </p:cNvPr>
          <p:cNvSpPr txBox="1"/>
          <p:nvPr/>
        </p:nvSpPr>
        <p:spPr>
          <a:xfrm>
            <a:off x="894834" y="3702351"/>
            <a:ext cx="6027174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lang="en-US" sz="3200" kern="0" spc="-13" dirty="0">
                <a:latin typeface="Roboto"/>
                <a:cs typeface="Roboto"/>
              </a:rPr>
              <a:t>Monitor Mode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4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3901" y="760814"/>
            <a:ext cx="101307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Setup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9569" y="1859448"/>
            <a:ext cx="3951304" cy="1963465"/>
          </a:xfrm>
          <a:prstGeom prst="rect">
            <a:avLst/>
          </a:prstGeom>
        </p:spPr>
        <p:txBody>
          <a:bodyPr vert="horz" wrap="square" lIns="0" tIns="65193" rIns="0" bIns="0" rtlCol="0">
            <a:spAutoFit/>
          </a:bodyPr>
          <a:lstStyle/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lang="en-US" sz="2133" kern="0" dirty="0" err="1">
                <a:solidFill>
                  <a:srgbClr val="434343"/>
                </a:solidFill>
                <a:latin typeface="Roboto"/>
                <a:cs typeface="Roboto"/>
              </a:rPr>
              <a:t>WiFi</a:t>
            </a: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 Analyzer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endParaRPr lang="en-US" sz="2133" kern="0" dirty="0">
              <a:solidFill>
                <a:srgbClr val="434343"/>
              </a:solidFill>
              <a:latin typeface="Roboto"/>
              <a:cs typeface="Roboto"/>
            </a:endParaRP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2.4Ghz band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5/5.8 </a:t>
            </a:r>
            <a:r>
              <a:rPr lang="en-US" sz="2133" kern="0" dirty="0" err="1">
                <a:solidFill>
                  <a:srgbClr val="434343"/>
                </a:solidFill>
                <a:latin typeface="Roboto"/>
                <a:cs typeface="Roboto"/>
              </a:rPr>
              <a:t>Ghz</a:t>
            </a: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 band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6Ghz band</a:t>
            </a:r>
            <a:endParaRPr sz="2133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FE1C7C-A48B-26D9-F2CE-70199AB50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1886880"/>
            <a:ext cx="6477000" cy="343219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026523"/>
            <a:ext cx="9716821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60" dirty="0"/>
              <a:t> </a:t>
            </a:r>
            <a:r>
              <a:rPr sz="3600" dirty="0"/>
              <a:t>2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Available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Networks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C0193C-79F1-3F8D-049B-9CD0F8A5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425" y="1840512"/>
            <a:ext cx="8715375" cy="461910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970556"/>
            <a:ext cx="10275086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3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Networks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on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Channel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F6FB67A-3612-9658-3E3B-7B83E4E04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764" y="1851348"/>
            <a:ext cx="8932154" cy="448711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2027238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756231"/>
            <a:ext cx="8699500" cy="5668382"/>
          </a:xfrm>
        </p:spPr>
        <p:txBody>
          <a:bodyPr>
            <a:normAutofit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Wireless Local Area Networking based on IEEE 802.11 standards</a:t>
            </a:r>
          </a:p>
          <a:p>
            <a:pPr lvl="1"/>
            <a:r>
              <a:rPr lang="en-US" sz="1400" dirty="0"/>
              <a:t>Wireless Ethernet link</a:t>
            </a:r>
          </a:p>
          <a:p>
            <a:pPr lvl="1"/>
            <a:r>
              <a:rPr lang="en-US" sz="1400" dirty="0"/>
              <a:t>Connect to WLAN from a wide range of devices via Access Point</a:t>
            </a:r>
          </a:p>
          <a:p>
            <a:pPr lvl="1"/>
            <a:r>
              <a:rPr lang="en-US" sz="1400" dirty="0"/>
              <a:t>WiFi-5: IEEE 802.11b/g (2.4Ghz band) and IEEE 802.11a (U-NII 5Ghz)</a:t>
            </a:r>
          </a:p>
          <a:p>
            <a:pPr lvl="1"/>
            <a:r>
              <a:rPr lang="en-US" sz="1400" dirty="0"/>
              <a:t>WiFi-6: IEEE 802.11n (2.4Ghz, 5.8Ghz), IEEE 802.11ac/ax (2.4Ghz, 5Ghz and 5.8Ghz)</a:t>
            </a:r>
          </a:p>
          <a:p>
            <a:pPr lvl="1"/>
            <a:r>
              <a:rPr lang="en-US" sz="1400" dirty="0"/>
              <a:t>WiFi-6E: Opens up IEEE 802.11ax to 6Ghz bands</a:t>
            </a:r>
          </a:p>
          <a:p>
            <a:pPr lvl="1"/>
            <a:r>
              <a:rPr lang="en-US" sz="1400" dirty="0"/>
              <a:t>WiFi-7: Adds Multi-Link Operation (MLO) across channels</a:t>
            </a:r>
          </a:p>
          <a:p>
            <a:pPr lvl="1"/>
            <a:r>
              <a:rPr lang="en-US" sz="1400" dirty="0"/>
              <a:t>Band allocation various by region, channels vary</a:t>
            </a:r>
          </a:p>
          <a:p>
            <a:pPr lvl="1"/>
            <a:r>
              <a:rPr lang="en-US" sz="1400" dirty="0"/>
              <a:t>Bandwidth ranges from 20Mhz (b) to 160Mhz (ac)</a:t>
            </a:r>
          </a:p>
          <a:p>
            <a:pPr lvl="1"/>
            <a:r>
              <a:rPr lang="en-US" sz="1400" dirty="0"/>
              <a:t>Wider channels results in shorter ranges</a:t>
            </a:r>
          </a:p>
          <a:p>
            <a:pPr lvl="1"/>
            <a:r>
              <a:rPr lang="en-US" sz="1400" dirty="0"/>
              <a:t>Vulnerable to eavesdropping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WiFi Alliance: </a:t>
            </a:r>
            <a:r>
              <a:rPr lang="en-US" sz="1400" dirty="0">
                <a:hlinkClick r:id="rId3"/>
              </a:rPr>
              <a:t>https://www.wi-fi.org/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https://en.wikipedia.org/wiki/Wi-Fi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https://en.wikipedia.org/wiki/Wireless_security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https://en.wikipedia.org/wiki/Wi-Fi_Direct</a:t>
            </a:r>
            <a:endParaRPr lang="en-US" sz="1400" dirty="0"/>
          </a:p>
          <a:p>
            <a:pPr lvl="1"/>
            <a:r>
              <a:rPr lang="en-US" sz="1400" dirty="0"/>
              <a:t>Mapping of known Access Points (APs) </a:t>
            </a:r>
            <a:r>
              <a:rPr lang="en-US" sz="1400" dirty="0">
                <a:hlinkClick r:id="rId7"/>
              </a:rPr>
              <a:t>https://wigle.net/</a:t>
            </a:r>
            <a:endParaRPr lang="en-US" sz="1400" dirty="0"/>
          </a:p>
          <a:p>
            <a:pPr lvl="1"/>
            <a:endParaRPr lang="en-US" sz="1400" dirty="0"/>
          </a:p>
          <a:p>
            <a:pPr marL="457200" lvl="1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4138554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Basics</a:t>
            </a:r>
          </a:p>
          <a:p>
            <a:pPr lvl="1"/>
            <a:r>
              <a:rPr lang="en-US" altLang="ja-JP" sz="1400" dirty="0"/>
              <a:t>WPA2-PSK is meant for consumer networks, not enterprise networks</a:t>
            </a:r>
          </a:p>
          <a:p>
            <a:pPr lvl="1"/>
            <a:r>
              <a:rPr lang="en-US" altLang="ja-JP" sz="1400" dirty="0"/>
              <a:t>Use 802.1X/EAP with WPA2+AES (WPA3 in the future)</a:t>
            </a:r>
          </a:p>
          <a:p>
            <a:pPr lvl="1"/>
            <a:r>
              <a:rPr lang="en-US" altLang="ja-JP" sz="1400" dirty="0"/>
              <a:t>Use at least 20 characters in passphrase</a:t>
            </a:r>
          </a:p>
          <a:p>
            <a:pPr lvl="1"/>
            <a:r>
              <a:rPr lang="en-US" altLang="ja-JP" sz="1400" dirty="0"/>
              <a:t>Use VPN over public WiFi</a:t>
            </a:r>
          </a:p>
          <a:p>
            <a:pPr lvl="1"/>
            <a:r>
              <a:rPr lang="en-US" altLang="ja-JP" sz="1400" dirty="0"/>
              <a:t>Keep WiFi equipment updated to latest firmware</a:t>
            </a:r>
          </a:p>
          <a:p>
            <a:pPr lvl="1"/>
            <a:r>
              <a:rPr lang="en-US" altLang="ja-JP" sz="1400" dirty="0"/>
              <a:t>Replace older equipment (no new updates) with newer models</a:t>
            </a:r>
          </a:p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802.11 specification has critical flaw and doesn’t secure frames</a:t>
            </a:r>
          </a:p>
          <a:p>
            <a:pPr lvl="1"/>
            <a:r>
              <a:rPr lang="en-US" sz="1400" dirty="0"/>
              <a:t>802.11i specification attempts to address security</a:t>
            </a:r>
          </a:p>
          <a:p>
            <a:pPr lvl="1"/>
            <a:r>
              <a:rPr lang="en-US" sz="1400" dirty="0"/>
              <a:t>WEP</a:t>
            </a:r>
          </a:p>
          <a:p>
            <a:pPr lvl="2"/>
            <a:r>
              <a:rPr lang="en-US" sz="1200" dirty="0"/>
              <a:t>Do not use</a:t>
            </a:r>
          </a:p>
          <a:p>
            <a:pPr lvl="2"/>
            <a:r>
              <a:rPr lang="en-US" sz="1200" dirty="0"/>
              <a:t>Easily breakable and hackable</a:t>
            </a:r>
          </a:p>
          <a:p>
            <a:pPr lvl="1"/>
            <a:r>
              <a:rPr lang="en-US" sz="1400" dirty="0"/>
              <a:t>WPA/WPA2 increases security</a:t>
            </a:r>
          </a:p>
          <a:p>
            <a:pPr lvl="2"/>
            <a:r>
              <a:rPr lang="en-US" sz="1200" dirty="0"/>
              <a:t>Choose WPA2 over WPA</a:t>
            </a:r>
          </a:p>
          <a:p>
            <a:pPr lvl="2"/>
            <a:r>
              <a:rPr lang="en-US" sz="1200" dirty="0"/>
              <a:t>WPA2 uses multiple keys: PSK, PMK (PSK or EAP), PTK</a:t>
            </a:r>
          </a:p>
          <a:p>
            <a:pPr lvl="2"/>
            <a:r>
              <a:rPr lang="en-US" sz="1200" dirty="0"/>
              <a:t>WPA2 is recommended with AES/CCMP, not TKIP</a:t>
            </a:r>
          </a:p>
          <a:p>
            <a:pPr lvl="2"/>
            <a:r>
              <a:rPr lang="en-US" sz="1200" dirty="0"/>
              <a:t>TKIP interferes with WPA/WPA2 QoS mechanism</a:t>
            </a:r>
          </a:p>
          <a:p>
            <a:pPr lvl="2"/>
            <a:r>
              <a:rPr lang="en-US" sz="1200" dirty="0"/>
              <a:t>Attack tools: </a:t>
            </a:r>
            <a:r>
              <a:rPr lang="en-US" sz="1200" dirty="0" err="1"/>
              <a:t>pyrit</a:t>
            </a:r>
            <a:r>
              <a:rPr lang="en-US" sz="1200" dirty="0"/>
              <a:t>, </a:t>
            </a:r>
            <a:r>
              <a:rPr lang="en-US" sz="1200" dirty="0" err="1"/>
              <a:t>hashcat</a:t>
            </a:r>
            <a:r>
              <a:rPr lang="en-US" sz="1200" dirty="0"/>
              <a:t>, </a:t>
            </a:r>
            <a:r>
              <a:rPr lang="en-US" sz="1200" dirty="0" err="1"/>
              <a:t>aircrack</a:t>
            </a:r>
            <a:r>
              <a:rPr lang="en-US" sz="1200" dirty="0"/>
              <a:t>-ng</a:t>
            </a:r>
          </a:p>
          <a:p>
            <a:pPr lvl="1"/>
            <a:r>
              <a:rPr lang="en-US" sz="1400" dirty="0" err="1"/>
              <a:t>WiFi</a:t>
            </a:r>
            <a:r>
              <a:rPr lang="en-US" sz="1400" dirty="0"/>
              <a:t> Protected Setup (WPS) has security flaw and is not recommended</a:t>
            </a:r>
          </a:p>
          <a:p>
            <a:pPr lvl="2"/>
            <a:r>
              <a:rPr lang="en-US" sz="1200" dirty="0"/>
              <a:t>PIN is printed on device label</a:t>
            </a:r>
          </a:p>
          <a:p>
            <a:pPr lvl="2"/>
            <a:r>
              <a:rPr lang="en-US" sz="1200" dirty="0"/>
              <a:t>Easy to brute force</a:t>
            </a:r>
          </a:p>
          <a:p>
            <a:pPr lvl="2"/>
            <a:r>
              <a:rPr lang="en-US" sz="1200" dirty="0" err="1"/>
              <a:t>Reaver</a:t>
            </a:r>
            <a:r>
              <a:rPr lang="en-US" sz="1200" dirty="0"/>
              <a:t> attack (</a:t>
            </a:r>
            <a:r>
              <a:rPr lang="en-US" sz="1200" dirty="0">
                <a:hlinkClick r:id="rId3"/>
              </a:rPr>
              <a:t>http://code.google.com/p/reaver-wps</a:t>
            </a:r>
            <a:r>
              <a:rPr lang="en-US" sz="1200" dirty="0"/>
              <a:t>)</a:t>
            </a:r>
          </a:p>
          <a:p>
            <a:pPr lvl="1"/>
            <a:r>
              <a:rPr lang="en-US" sz="1400" dirty="0"/>
              <a:t>WPA3 now the latest standard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76924518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sz="1400" dirty="0"/>
              <a:t>Weak access points easily identified by wardriving</a:t>
            </a:r>
          </a:p>
          <a:p>
            <a:pPr lvl="1"/>
            <a:r>
              <a:rPr lang="en-US" altLang="ja-JP" sz="1400" dirty="0"/>
              <a:t>Password cracking, built-in passwords</a:t>
            </a:r>
          </a:p>
          <a:p>
            <a:pPr lvl="1"/>
            <a:r>
              <a:rPr lang="en-US" altLang="ja-JP" sz="1400" dirty="0"/>
              <a:t>Firmware bugs leaves remote administration vulnerable</a:t>
            </a:r>
          </a:p>
          <a:p>
            <a:pPr lvl="1"/>
            <a:r>
              <a:rPr lang="en-US" altLang="ja-JP" sz="1400" dirty="0"/>
              <a:t>Open access </a:t>
            </a:r>
            <a:r>
              <a:rPr lang="en-US" altLang="ja-JP" sz="1400" dirty="0" err="1"/>
              <a:t>WiFi</a:t>
            </a:r>
            <a:r>
              <a:rPr lang="en-US" altLang="ja-JP" sz="1400" dirty="0"/>
              <a:t> is easily sniffed and hacked</a:t>
            </a:r>
          </a:p>
          <a:p>
            <a:pPr lvl="1"/>
            <a:r>
              <a:rPr lang="en-US" altLang="ja-JP" sz="1400" dirty="0"/>
              <a:t>Super-G is not a standard and will swamp 2.4Ghz</a:t>
            </a:r>
          </a:p>
          <a:p>
            <a:r>
              <a:rPr lang="en-US" altLang="ja-JP" sz="1600" dirty="0"/>
              <a:t>Hacking &amp; Cracking</a:t>
            </a:r>
          </a:p>
          <a:p>
            <a:pPr lvl="1"/>
            <a:r>
              <a:rPr lang="en-US" altLang="ja-JP" sz="1400" dirty="0"/>
              <a:t>Passwords under 20 characters are easily hacked</a:t>
            </a:r>
          </a:p>
          <a:p>
            <a:pPr lvl="1"/>
            <a:r>
              <a:rPr lang="en-US" altLang="ja-JP" sz="1400" dirty="0"/>
              <a:t>Pre-computed PMK hashes for top 1000 common SSIDs available at </a:t>
            </a:r>
            <a:r>
              <a:rPr lang="en-US" altLang="ja-JP" sz="1400" dirty="0">
                <a:hlinkClick r:id="rId3"/>
              </a:rPr>
              <a:t>https://wigle.net/</a:t>
            </a:r>
            <a:endParaRPr lang="en-US" altLang="ja-JP" sz="1400" dirty="0"/>
          </a:p>
          <a:p>
            <a:pPr lvl="1"/>
            <a:r>
              <a:rPr lang="en-US" altLang="ja-JP" sz="1400" dirty="0"/>
              <a:t>Tools to accelerate hash computation and WPA2-PSK cracking</a:t>
            </a:r>
          </a:p>
          <a:p>
            <a:pPr lvl="2"/>
            <a:r>
              <a:rPr lang="en-US" altLang="ja-JP" sz="1200" dirty="0"/>
              <a:t> Runs on ATI or NVIDIA GPUs (</a:t>
            </a:r>
            <a:r>
              <a:rPr lang="en-US" altLang="ja-JP" sz="1200" dirty="0" err="1"/>
              <a:t>Pyrit</a:t>
            </a:r>
            <a:r>
              <a:rPr lang="en-US" altLang="ja-JP" sz="1200" dirty="0"/>
              <a:t>, </a:t>
            </a:r>
            <a:r>
              <a:rPr lang="en-US" altLang="ja-JP" sz="1200" dirty="0" err="1"/>
              <a:t>hashcat</a:t>
            </a:r>
            <a:r>
              <a:rPr lang="en-US" altLang="ja-JP" sz="1200" dirty="0"/>
              <a:t>)</a:t>
            </a:r>
          </a:p>
          <a:p>
            <a:pPr lvl="1"/>
            <a:r>
              <a:rPr lang="en-US" altLang="ja-JP" sz="1400" dirty="0"/>
              <a:t>Can crack within seconds</a:t>
            </a:r>
          </a:p>
          <a:p>
            <a:pPr lvl="1"/>
            <a:r>
              <a:rPr lang="en-US" altLang="ja-JP" sz="1400" dirty="0"/>
              <a:t>PSK and PMK are stored on client devices, which can be stolen</a:t>
            </a:r>
          </a:p>
          <a:p>
            <a:r>
              <a:rPr lang="en-US" altLang="ja-JP" sz="1600" b="1" dirty="0">
                <a:solidFill>
                  <a:srgbClr val="FF0000"/>
                </a:solidFill>
              </a:rPr>
              <a:t>KRACK</a:t>
            </a:r>
            <a:endParaRPr lang="en-US" altLang="ja-JP" sz="1800" b="1" dirty="0">
              <a:solidFill>
                <a:srgbClr val="FF0000"/>
              </a:solidFill>
            </a:endParaRPr>
          </a:p>
          <a:p>
            <a:pPr lvl="1"/>
            <a:r>
              <a:rPr lang="en-US" altLang="ja-JP" sz="1400" dirty="0">
                <a:hlinkClick r:id="rId4"/>
              </a:rPr>
              <a:t>https://en.wikipedia.org/wiki/KRACK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5"/>
              </a:rPr>
              <a:t>https://www.krackattacks.com/</a:t>
            </a:r>
            <a:endParaRPr lang="en-US" altLang="ja-JP" sz="1400" dirty="0"/>
          </a:p>
          <a:p>
            <a:pPr lvl="1"/>
            <a:r>
              <a:rPr lang="en-US" altLang="ja-JP" sz="1400" dirty="0"/>
              <a:t>Against 802.11i/r</a:t>
            </a:r>
          </a:p>
          <a:p>
            <a:pPr lvl="1"/>
            <a:r>
              <a:rPr lang="en-US" altLang="ja-JP" sz="1400" dirty="0"/>
              <a:t>Uses replay attacks</a:t>
            </a:r>
          </a:p>
          <a:p>
            <a:pPr lvl="1"/>
            <a:r>
              <a:rPr lang="en-US" altLang="ja-JP" sz="1400" dirty="0"/>
              <a:t>TKIP, CCMP, or GCMP (</a:t>
            </a:r>
            <a:r>
              <a:rPr lang="en-US" altLang="ja-JP" sz="1400" dirty="0" err="1"/>
              <a:t>WiGig</a:t>
            </a:r>
            <a:r>
              <a:rPr lang="en-US" altLang="ja-JP" sz="1400" dirty="0"/>
              <a:t>) with 802.1X key distribution</a:t>
            </a:r>
          </a:p>
          <a:p>
            <a:pPr lvl="1"/>
            <a:r>
              <a:rPr lang="en-US" altLang="ja-JP" sz="1400" dirty="0"/>
              <a:t>Affects all current crypto and key derivation methods</a:t>
            </a:r>
          </a:p>
          <a:p>
            <a:pPr lvl="1"/>
            <a:r>
              <a:rPr lang="en-US" altLang="ja-JP" sz="1400" dirty="0"/>
              <a:t>Not in the wild (yet)</a:t>
            </a:r>
          </a:p>
          <a:p>
            <a:r>
              <a:rPr lang="en-US" sz="1600" dirty="0"/>
              <a:t>CERT CVE Lookup</a:t>
            </a:r>
          </a:p>
          <a:p>
            <a:pPr lvl="1"/>
            <a:r>
              <a:rPr lang="en-US" sz="1400" dirty="0">
                <a:hlinkClick r:id="rId6"/>
              </a:rPr>
              <a:t>http://cve.mitre.org/cgi-bin/cvekey.cgi?keyword=wifi</a:t>
            </a:r>
            <a:endParaRPr lang="en-US" sz="1400" dirty="0"/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6120403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Enterprise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Security</a:t>
            </a:r>
          </a:p>
          <a:p>
            <a:pPr lvl="1"/>
            <a:r>
              <a:rPr lang="en-US" altLang="ja-JP" sz="1400" dirty="0"/>
              <a:t>WPA2-Enterprise</a:t>
            </a:r>
          </a:p>
          <a:p>
            <a:pPr lvl="1"/>
            <a:r>
              <a:rPr lang="en-US" altLang="ja-JP" sz="1400" dirty="0"/>
              <a:t>TKIP or CCMP with 802.1X key distribution</a:t>
            </a:r>
          </a:p>
          <a:p>
            <a:pPr lvl="1"/>
            <a:r>
              <a:rPr lang="en-US" altLang="ja-JP" sz="1400" dirty="0"/>
              <a:t>EAPOL (PMK + PTK) 4-way with PMK</a:t>
            </a:r>
          </a:p>
          <a:p>
            <a:pPr lvl="1"/>
            <a:r>
              <a:rPr lang="en-US" altLang="ja-JP" sz="1400" dirty="0"/>
              <a:t>Encryption keys rotated every 216 packets</a:t>
            </a:r>
          </a:p>
          <a:p>
            <a:pPr lvl="1"/>
            <a:r>
              <a:rPr lang="en-US" altLang="ja-JP" sz="1400" dirty="0"/>
              <a:t>PEAP negotiation over TLS, new key every 64K packets</a:t>
            </a:r>
          </a:p>
          <a:p>
            <a:pPr lvl="2"/>
            <a:r>
              <a:rPr lang="en-US" altLang="ja-JP" sz="1200" dirty="0"/>
              <a:t>Subject to known TLS vulnerabilities</a:t>
            </a:r>
          </a:p>
          <a:p>
            <a:r>
              <a:rPr lang="en-US" altLang="ja-JP" sz="1600" dirty="0"/>
              <a:t>Vulnerabilities</a:t>
            </a:r>
          </a:p>
          <a:p>
            <a:pPr lvl="1"/>
            <a:r>
              <a:rPr lang="en-US" altLang="ja-JP" sz="1400" dirty="0"/>
              <a:t>Don’t always need to target WPA2 security</a:t>
            </a:r>
          </a:p>
          <a:p>
            <a:pPr lvl="1"/>
            <a:r>
              <a:rPr lang="en-US" altLang="ja-JP" sz="1400" dirty="0"/>
              <a:t>Impersonate open SSID with MiFi or AP</a:t>
            </a:r>
          </a:p>
          <a:p>
            <a:pPr lvl="2"/>
            <a:r>
              <a:rPr lang="en-US" altLang="ja-JP" sz="1200" dirty="0"/>
              <a:t>Can be leveraged for </a:t>
            </a:r>
            <a:r>
              <a:rPr lang="en-US" altLang="ja-JP" sz="1200" dirty="0" err="1"/>
              <a:t>DoS</a:t>
            </a:r>
            <a:r>
              <a:rPr lang="en-US" altLang="ja-JP" sz="1200" dirty="0"/>
              <a:t> attack to force roaming event to impersonating AP</a:t>
            </a:r>
          </a:p>
          <a:p>
            <a:pPr lvl="1"/>
            <a:r>
              <a:rPr lang="en-US" altLang="ja-JP" sz="1400" dirty="0"/>
              <a:t>Attacker looks for valid usernames by sniffing</a:t>
            </a:r>
          </a:p>
          <a:p>
            <a:pPr lvl="2"/>
            <a:r>
              <a:rPr lang="en-US" altLang="ja-JP" sz="1200" dirty="0"/>
              <a:t>Attacker attempts authentication using common weak passwords</a:t>
            </a:r>
          </a:p>
          <a:p>
            <a:pPr lvl="2"/>
            <a:r>
              <a:rPr lang="en-US" altLang="ja-JP" sz="1200" dirty="0"/>
              <a:t>Account lockout if policy is enabled</a:t>
            </a:r>
          </a:p>
          <a:p>
            <a:pPr lvl="1"/>
            <a:r>
              <a:rPr lang="en-US" altLang="ja-JP" sz="1400" dirty="0"/>
              <a:t>Many PEAP deployments fail to deploy properly</a:t>
            </a:r>
          </a:p>
          <a:p>
            <a:pPr lvl="2"/>
            <a:r>
              <a:rPr lang="en-US" altLang="ja-JP" sz="1200" dirty="0"/>
              <a:t>Fail to enable server certificate validation</a:t>
            </a:r>
          </a:p>
          <a:p>
            <a:pPr lvl="2"/>
            <a:r>
              <a:rPr lang="en-US" altLang="ja-JP" sz="1200" dirty="0"/>
              <a:t>Using CHAP/PAP (MS-CHAPv2), which can be cracked</a:t>
            </a:r>
          </a:p>
          <a:p>
            <a:pPr lvl="1"/>
            <a:r>
              <a:rPr lang="en-US" altLang="ja-JP" sz="1400" dirty="0"/>
              <a:t>Anyone can impersonate RADIUS server</a:t>
            </a:r>
          </a:p>
          <a:p>
            <a:pPr lvl="2"/>
            <a:r>
              <a:rPr lang="en-US" altLang="ja-JP" sz="1200" dirty="0"/>
              <a:t>Clients don’t always validate the CA certificate</a:t>
            </a:r>
          </a:p>
          <a:p>
            <a:pPr lvl="2"/>
            <a:r>
              <a:rPr lang="en-US" altLang="ja-JP" sz="1200" dirty="0"/>
              <a:t>Windows client ask for </a:t>
            </a:r>
            <a:r>
              <a:rPr lang="en-US" altLang="ja-JP" sz="1200" dirty="0" err="1"/>
              <a:t>userid</a:t>
            </a:r>
            <a:r>
              <a:rPr lang="en-US" altLang="ja-JP" sz="1200" dirty="0"/>
              <a:t>/password before validating certificate</a:t>
            </a:r>
          </a:p>
          <a:p>
            <a:pPr lvl="3"/>
            <a:r>
              <a:rPr lang="en-US" altLang="ja-JP" sz="1000" dirty="0"/>
              <a:t>Sends MS-CHAPv2 credentials to attacker</a:t>
            </a:r>
            <a:endParaRPr lang="en-US" altLang="ja-JP" sz="1200" dirty="0"/>
          </a:p>
          <a:p>
            <a:pPr lvl="2"/>
            <a:r>
              <a:rPr lang="en-US" altLang="ja-JP" sz="1200" dirty="0"/>
              <a:t>Users left to decide to trust or reject certificate (iOS)</a:t>
            </a:r>
          </a:p>
          <a:p>
            <a:pPr lvl="3"/>
            <a:r>
              <a:rPr lang="en-US" altLang="ja-JP" sz="1000" dirty="0"/>
              <a:t>Android unless specifically configured to trust a public CA</a:t>
            </a:r>
          </a:p>
        </p:txBody>
      </p:sp>
    </p:spTree>
    <p:extLst>
      <p:ext uri="{BB962C8B-B14F-4D97-AF65-F5344CB8AC3E}">
        <p14:creationId xmlns:p14="http://schemas.microsoft.com/office/powerpoint/2010/main" val="8396126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Guidelines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CERT Guide</a:t>
            </a:r>
          </a:p>
          <a:p>
            <a:pPr lvl="1"/>
            <a:r>
              <a:rPr lang="en-US" sz="1400" dirty="0">
                <a:hlinkClick r:id="rId3"/>
              </a:rPr>
              <a:t>https://www.us-cert.gov/sites/default/files/publications/A_Guide_to_Securing_Networks_for_Wi-Fi.pdf</a:t>
            </a:r>
            <a:endParaRPr lang="en-US" sz="1400" dirty="0"/>
          </a:p>
          <a:p>
            <a:r>
              <a:rPr lang="en-US" sz="1600" dirty="0"/>
              <a:t>NIST Guidelines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https://csrc.nist.gov/publications/detail/sp/800-97/final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https://csrc.nist.gov/publications/detail/sp/800-153/final</a:t>
            </a:r>
          </a:p>
          <a:p>
            <a:r>
              <a:rPr lang="en-US" sz="1600" dirty="0"/>
              <a:t>SANS Whitepaper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https://www.sans.org/reading-room/whitepapers/access/security-vulnerabilities-wireless-lan-technology-1629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https://www.sans.org/reading-room/whitepapers/wireless/security-guidelines-wireless-lan-implementation-1233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149052973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Tools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Tools</a:t>
            </a:r>
          </a:p>
          <a:p>
            <a:pPr lvl="1"/>
            <a:r>
              <a:rPr lang="en-US" altLang="ja-JP" sz="1400" dirty="0"/>
              <a:t>Too many to enumerate, available for all platforms</a:t>
            </a:r>
          </a:p>
          <a:p>
            <a:pPr lvl="1"/>
            <a:r>
              <a:rPr lang="en-US" altLang="ja-JP" sz="1400" dirty="0"/>
              <a:t>SANS SWAT Toolkit</a:t>
            </a:r>
          </a:p>
          <a:p>
            <a:r>
              <a:rPr lang="en-US" altLang="ja-JP" sz="1600" dirty="0"/>
              <a:t>Popular</a:t>
            </a:r>
          </a:p>
          <a:p>
            <a:pPr lvl="1"/>
            <a:r>
              <a:rPr lang="en-US" altLang="ja-JP" sz="1400" dirty="0"/>
              <a:t>Android</a:t>
            </a:r>
          </a:p>
          <a:p>
            <a:pPr lvl="2"/>
            <a:r>
              <a:rPr lang="en-US" altLang="ja-JP" sz="1200" dirty="0" err="1"/>
              <a:t>Wifi</a:t>
            </a:r>
            <a:r>
              <a:rPr lang="en-US" altLang="ja-JP" sz="1200" dirty="0"/>
              <a:t> Analyzer</a:t>
            </a:r>
          </a:p>
          <a:p>
            <a:pPr lvl="1"/>
            <a:r>
              <a:rPr lang="en-US" altLang="ja-JP" sz="1400" dirty="0"/>
              <a:t>Linux (usually included with Kali Linux)</a:t>
            </a:r>
          </a:p>
          <a:p>
            <a:pPr lvl="2"/>
            <a:r>
              <a:rPr lang="en-US" altLang="ja-JP" sz="1200" dirty="0"/>
              <a:t>Linux allows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 devices to be put into monitor mode good for sniffing</a:t>
            </a:r>
          </a:p>
          <a:p>
            <a:pPr lvl="2"/>
            <a:r>
              <a:rPr lang="en-US" altLang="ja-JP" sz="1200" dirty="0"/>
              <a:t>Command line tools</a:t>
            </a:r>
          </a:p>
          <a:p>
            <a:pPr lvl="3"/>
            <a:r>
              <a:rPr lang="en-US" altLang="ja-JP" sz="1000" dirty="0" err="1"/>
              <a:t>iwlist</a:t>
            </a:r>
            <a:endParaRPr lang="en-US" altLang="ja-JP" sz="1000" dirty="0"/>
          </a:p>
          <a:p>
            <a:pPr lvl="3"/>
            <a:r>
              <a:rPr lang="en-US" altLang="ja-JP" sz="1000" dirty="0" err="1"/>
              <a:t>wavemon</a:t>
            </a:r>
            <a:endParaRPr lang="en-US" altLang="ja-JP" sz="1000" dirty="0"/>
          </a:p>
          <a:p>
            <a:pPr lvl="2"/>
            <a:r>
              <a:rPr lang="en-US" altLang="ja-JP" sz="1200" dirty="0" err="1"/>
              <a:t>Aircrack</a:t>
            </a:r>
            <a:r>
              <a:rPr lang="en-US" altLang="ja-JP" sz="1200" dirty="0"/>
              <a:t>-NG Suite: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airmon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airdecap</a:t>
            </a:r>
            <a:r>
              <a:rPr lang="en-US" altLang="ja-JP" sz="1200" dirty="0"/>
              <a:t>-ng, …</a:t>
            </a:r>
          </a:p>
          <a:p>
            <a:pPr lvl="2"/>
            <a:r>
              <a:rPr lang="en-US" altLang="ja-JP" sz="1200" dirty="0" err="1"/>
              <a:t>Hashcat</a:t>
            </a:r>
            <a:endParaRPr lang="en-US" altLang="ja-JP" sz="1200" dirty="0"/>
          </a:p>
          <a:p>
            <a:pPr lvl="2"/>
            <a:r>
              <a:rPr lang="en-US" altLang="ja-JP" sz="1200" dirty="0"/>
              <a:t>Kismet</a:t>
            </a:r>
          </a:p>
          <a:p>
            <a:pPr lvl="2"/>
            <a:r>
              <a:rPr lang="en-US" altLang="ja-JP" sz="1200" dirty="0" err="1"/>
              <a:t>LinSSID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Wireshark, </a:t>
            </a:r>
            <a:r>
              <a:rPr lang="en-US" altLang="ja-JP" sz="1200" dirty="0" err="1"/>
              <a:t>tshark</a:t>
            </a:r>
            <a:endParaRPr lang="en-US" altLang="ja-JP" sz="1200" dirty="0"/>
          </a:p>
          <a:p>
            <a:pPr lvl="1"/>
            <a:r>
              <a:rPr lang="en-US" altLang="ja-JP" sz="1400" dirty="0"/>
              <a:t>Windows</a:t>
            </a:r>
          </a:p>
          <a:p>
            <a:pPr lvl="2"/>
            <a:r>
              <a:rPr lang="en-US" altLang="ja-JP" sz="1200" dirty="0"/>
              <a:t>Using 802.11n/ac dongle</a:t>
            </a:r>
          </a:p>
          <a:p>
            <a:pPr lvl="2"/>
            <a:r>
              <a:rPr lang="en-US" altLang="ja-JP" sz="1200" dirty="0"/>
              <a:t>Acrylic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3"/>
              </a:rPr>
              <a:t>https://www.acrylicwifi.com/en/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NetSpot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4"/>
              </a:rPr>
              <a:t>https://www.netspotapp.com/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InSSIDer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5"/>
              </a:rPr>
              <a:t>https://www.metageek.com/products/inssider/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</a:t>
            </a:r>
          </a:p>
          <a:p>
            <a:pPr lvl="2"/>
            <a:r>
              <a:rPr lang="en-US" altLang="ja-JP" sz="1200" dirty="0" err="1"/>
              <a:t>WirelessKeyView</a:t>
            </a:r>
            <a:r>
              <a:rPr lang="en-US" altLang="ja-JP" sz="1200" dirty="0"/>
              <a:t> (</a:t>
            </a:r>
            <a:r>
              <a:rPr lang="en-US" altLang="ja-JP" sz="1200" dirty="0" err="1"/>
              <a:t>NirSoft</a:t>
            </a:r>
            <a:r>
              <a:rPr lang="en-US" altLang="ja-JP" sz="1200" dirty="0"/>
              <a:t>)</a:t>
            </a:r>
          </a:p>
          <a:p>
            <a:pPr lvl="2"/>
            <a:endParaRPr lang="en-US" altLang="ja-JP" sz="1200" dirty="0"/>
          </a:p>
          <a:p>
            <a:pPr lvl="1"/>
            <a:endParaRPr lang="en-US" altLang="ja-JP" sz="1400" dirty="0"/>
          </a:p>
          <a:p>
            <a:pPr lvl="1"/>
            <a:endParaRPr lang="en-US" altLang="ja-JP" sz="12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8316074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1112</Words>
  <Application>Microsoft Office PowerPoint</Application>
  <PresentationFormat>Widescreen</PresentationFormat>
  <Paragraphs>187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Roboto</vt:lpstr>
      <vt:lpstr>Custom Design</vt:lpstr>
      <vt:lpstr>PowerPoint Presentation</vt:lpstr>
      <vt:lpstr>Walkthrough WPA2 Handshake Cracking</vt:lpstr>
      <vt:lpstr>Exercise #01</vt:lpstr>
      <vt:lpstr>Step 1 - Download Wi-Fi Analyzer App</vt:lpstr>
      <vt:lpstr>Step 1 - Download Wi-Fi Analyzer App</vt:lpstr>
      <vt:lpstr>Step 2 - Check the Different Views Mobile App: Wi-Fi Analyzer</vt:lpstr>
      <vt:lpstr>Exercise #02</vt:lpstr>
      <vt:lpstr>Step 1 - Setup Monitor Mode WPA2 Handshake Cracking</vt:lpstr>
      <vt:lpstr>Step 2 - Analyze Available Wi-Fi Networks</vt:lpstr>
      <vt:lpstr>Step 3 - Analyze Networks on a Speciﬁc Channel</vt:lpstr>
      <vt:lpstr>WiFi Information</vt:lpstr>
      <vt:lpstr>WiFi Security</vt:lpstr>
      <vt:lpstr>WiFi Vulnerabilities</vt:lpstr>
      <vt:lpstr>WiFi Enterprise</vt:lpstr>
      <vt:lpstr>WiFi Guidelines</vt:lpstr>
      <vt:lpstr>WiFi Tools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12</cp:revision>
  <dcterms:created xsi:type="dcterms:W3CDTF">2026-03-11T18:02:03Z</dcterms:created>
  <dcterms:modified xsi:type="dcterms:W3CDTF">2026-10-16T18:13:34Z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
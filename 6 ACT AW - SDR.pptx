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37"/>
  </p:notesMasterIdLst>
  <p:sldIdLst>
    <p:sldId id="320" r:id="rId6"/>
    <p:sldId id="321" r:id="rId7"/>
    <p:sldId id="322" r:id="rId8"/>
    <p:sldId id="323" r:id="rId9"/>
    <p:sldId id="324" r:id="rId10"/>
    <p:sldId id="325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48" r:id="rId21"/>
    <p:sldId id="349" r:id="rId22"/>
    <p:sldId id="350" r:id="rId23"/>
    <p:sldId id="351" r:id="rId24"/>
    <p:sldId id="352" r:id="rId25"/>
    <p:sldId id="353" r:id="rId26"/>
    <p:sldId id="354" r:id="rId27"/>
    <p:sldId id="355" r:id="rId28"/>
    <p:sldId id="356" r:id="rId29"/>
    <p:sldId id="357" r:id="rId30"/>
    <p:sldId id="358" r:id="rId31"/>
    <p:sldId id="359" r:id="rId32"/>
    <p:sldId id="360" r:id="rId33"/>
    <p:sldId id="361" r:id="rId34"/>
    <p:sldId id="362" r:id="rId35"/>
    <p:sldId id="363" r:id="rId36"/>
  </p:sldIdLst>
  <p:sldSz cx="12192000" cy="6858000"/>
  <p:notesSz cx="6858000" cy="9144000"/>
  <p:custDataLst>
    <p:tags r:id="rId3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DR - GQRX" id="{A7F41C88-17AA-4B6D-B05E-0A04F37A3536}">
          <p14:sldIdLst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SDR - GNU Radio - Keyfob record" id="{154B9B56-A423-4799-A91B-8B713321DC7B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</p14:sldIdLst>
        </p14:section>
        <p14:section name="SDR - GNU Radio - Keyfob replay" id="{D44BFE6D-3B0A-49E7-A48C-663B9C6BBFDD}">
          <p14:sldIdLst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</p14:sldIdLst>
        </p14:section>
        <p14:section name="SDR - GNU Radio - Keyfob decode" id="{039E7430-DF79-44AE-98C8-845E95BB49D1}">
          <p14:sldIdLst>
            <p14:sldId id="360"/>
            <p14:sldId id="361"/>
            <p14:sldId id="362"/>
            <p14:sldId id="3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6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presProps" Target="presProps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microsoft.com/office/2015/10/relationships/revisionInfo" Target="revisionInfo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microsoft.com/office/2016/11/relationships/changesInfo" Target="changesInfos/changesInfo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image" Target="../media/image1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33.png"/><Relationship Id="rId3" Type="http://schemas.openxmlformats.org/officeDocument/2006/relationships/image" Target="../media/image28.jpg"/><Relationship Id="rId7" Type="http://schemas.openxmlformats.org/officeDocument/2006/relationships/image" Target="../media/image29.png"/><Relationship Id="rId12" Type="http://schemas.openxmlformats.org/officeDocument/2006/relationships/image" Target="../media/image32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Relationship Id="rId6" Type="http://schemas.openxmlformats.org/officeDocument/2006/relationships/image" Target="../media/image20.png"/><Relationship Id="rId11" Type="http://schemas.openxmlformats.org/officeDocument/2006/relationships/image" Target="../media/image31.png"/><Relationship Id="rId5" Type="http://schemas.openxmlformats.org/officeDocument/2006/relationships/image" Target="../media/image19.png"/><Relationship Id="rId10" Type="http://schemas.openxmlformats.org/officeDocument/2006/relationships/image" Target="../media/image30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Relationship Id="rId4" Type="http://schemas.openxmlformats.org/officeDocument/2006/relationships/image" Target="../media/image35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9.xml"/><Relationship Id="rId4" Type="http://schemas.openxmlformats.org/officeDocument/2006/relationships/image" Target="../media/image34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2.xml"/><Relationship Id="rId4" Type="http://schemas.openxmlformats.org/officeDocument/2006/relationships/image" Target="../media/image9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4.xml"/><Relationship Id="rId4" Type="http://schemas.openxmlformats.org/officeDocument/2006/relationships/image" Target="../media/image11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7" Type="http://schemas.openxmlformats.org/officeDocument/2006/relationships/image" Target="../media/image4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5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7" Type="http://schemas.openxmlformats.org/officeDocument/2006/relationships/image" Target="../media/image4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6.xml"/><Relationship Id="rId6" Type="http://schemas.openxmlformats.org/officeDocument/2006/relationships/image" Target="../media/image42.png"/><Relationship Id="rId5" Type="http://schemas.openxmlformats.org/officeDocument/2006/relationships/image" Target="../media/image45.png"/><Relationship Id="rId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/>
          <p:cNvSpPr txBox="1"/>
          <p:nvPr/>
        </p:nvSpPr>
        <p:spPr>
          <a:xfrm>
            <a:off x="894833" y="3397551"/>
            <a:ext cx="673438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kern="0" dirty="0">
                <a:latin typeface="Roboto"/>
                <a:cs typeface="Roboto"/>
              </a:rPr>
              <a:t>GQRX:</a:t>
            </a:r>
            <a:r>
              <a:rPr sz="3200" b="1" kern="0" spc="-8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Find</a:t>
            </a:r>
            <a:r>
              <a:rPr sz="3200" kern="0" spc="-7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a</a:t>
            </a:r>
            <a:r>
              <a:rPr sz="3200" kern="0" spc="-7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Radio</a:t>
            </a:r>
            <a:r>
              <a:rPr sz="3200" kern="0" spc="-7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Station</a:t>
            </a:r>
            <a:r>
              <a:rPr sz="3200" kern="0" spc="-7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/</a:t>
            </a:r>
            <a:r>
              <a:rPr sz="3200" kern="0" spc="-8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Key</a:t>
            </a:r>
            <a:r>
              <a:rPr sz="3200" kern="0" spc="-73" dirty="0">
                <a:latin typeface="Roboto"/>
                <a:cs typeface="Roboto"/>
              </a:rPr>
              <a:t> </a:t>
            </a:r>
            <a:r>
              <a:rPr sz="3200" kern="0" spc="-33" dirty="0">
                <a:latin typeface="Roboto"/>
                <a:cs typeface="Roboto"/>
              </a:rPr>
              <a:t>Fob</a:t>
            </a:r>
            <a:endParaRPr sz="3200" kern="0" dirty="0">
              <a:latin typeface="Roboto"/>
              <a:cs typeface="Roboto"/>
            </a:endParaRPr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455863"/>
            <a:ext cx="9715500" cy="796925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dirty="0"/>
              <a:t>SDR</a:t>
            </a:r>
            <a:r>
              <a:rPr sz="5600" spc="-147" dirty="0"/>
              <a:t> </a:t>
            </a:r>
            <a:r>
              <a:rPr sz="5600" spc="-13" dirty="0"/>
              <a:t>Exercise</a:t>
            </a:r>
            <a:r>
              <a:rPr sz="5600" spc="-147" dirty="0"/>
              <a:t> </a:t>
            </a:r>
            <a:r>
              <a:rPr sz="5600" spc="-33" dirty="0"/>
              <a:t>#01</a:t>
            </a:r>
            <a:endParaRPr sz="5600" dirty="0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479464" y="3381231"/>
            <a:ext cx="6622627" cy="3011593"/>
            <a:chOff x="1860012" y="2550187"/>
            <a:chExt cx="4966970" cy="2258695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64775" y="2554950"/>
              <a:ext cx="4957250" cy="224865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860012" y="2550187"/>
              <a:ext cx="4966970" cy="2258695"/>
            </a:xfrm>
            <a:custGeom>
              <a:avLst/>
              <a:gdLst/>
              <a:ahLst/>
              <a:cxnLst/>
              <a:rect l="l" t="t" r="r" b="b"/>
              <a:pathLst>
                <a:path w="4966970" h="2258695">
                  <a:moveTo>
                    <a:pt x="0" y="0"/>
                  </a:moveTo>
                  <a:lnTo>
                    <a:pt x="4966775" y="0"/>
                  </a:lnTo>
                  <a:lnTo>
                    <a:pt x="4966775" y="2258175"/>
                  </a:lnTo>
                  <a:lnTo>
                    <a:pt x="0" y="225817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5342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#01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1</a:t>
            </a:r>
            <a:endParaRPr sz="3600"/>
          </a:p>
          <a:p>
            <a:pPr marL="16933"/>
            <a:r>
              <a:rPr sz="3600" dirty="0">
                <a:solidFill>
                  <a:srgbClr val="D13368"/>
                </a:solidFill>
              </a:rPr>
              <a:t>Plugin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and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ensure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HackRF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is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working</a:t>
            </a:r>
            <a:endParaRPr sz="3600"/>
          </a:p>
        </p:txBody>
      </p:sp>
      <p:sp>
        <p:nvSpPr>
          <p:cNvPr id="10" name="object 10"/>
          <p:cNvSpPr txBox="1"/>
          <p:nvPr/>
        </p:nvSpPr>
        <p:spPr>
          <a:xfrm>
            <a:off x="710241" y="1702444"/>
            <a:ext cx="4410287" cy="1528688"/>
          </a:xfrm>
          <a:prstGeom prst="rect">
            <a:avLst/>
          </a:prstGeom>
        </p:spPr>
        <p:txBody>
          <a:bodyPr vert="horz" wrap="square" lIns="0" tIns="220980" rIns="0" bIns="0" rtlCol="0">
            <a:spAutoFit/>
          </a:bodyPr>
          <a:lstStyle/>
          <a:p>
            <a:pPr marL="585031" indent="-568098" defTabSz="1219170">
              <a:spcBef>
                <a:spcPts val="1740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Plugin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61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Ensure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is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connected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defTabSz="1219170">
              <a:spcBef>
                <a:spcPts val="127"/>
              </a:spcBef>
            </a:pPr>
            <a:r>
              <a:rPr sz="2267" b="1" kern="0" spc="-13" dirty="0">
                <a:solidFill>
                  <a:srgbClr val="D13368"/>
                </a:solidFill>
                <a:latin typeface="Courier New"/>
                <a:cs typeface="Courier New"/>
              </a:rPr>
              <a:t>hackrf_info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body" idx="4294967295"/>
          </p:nvPr>
        </p:nvSpPr>
        <p:spPr>
          <a:xfrm>
            <a:off x="6234113" y="1878013"/>
            <a:ext cx="5957887" cy="2420937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6933">
              <a:spcBef>
                <a:spcPts val="960"/>
              </a:spcBef>
            </a:pPr>
            <a:r>
              <a:rPr spc="-33" dirty="0"/>
              <a:t>GUI</a:t>
            </a:r>
          </a:p>
          <a:p>
            <a:pPr marL="626518" marR="296326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spc="-13" dirty="0">
                <a:solidFill>
                  <a:srgbClr val="434343"/>
                </a:solidFill>
              </a:rPr>
              <a:t>“Application</a:t>
            </a:r>
            <a:r>
              <a:rPr sz="2000" b="0" spc="-40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Menu”</a:t>
            </a:r>
            <a:r>
              <a:rPr sz="2000" b="0" spc="-40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b="0" spc="13" dirty="0">
                <a:solidFill>
                  <a:srgbClr val="434343"/>
                </a:solidFill>
              </a:rPr>
              <a:t> </a:t>
            </a:r>
            <a:r>
              <a:rPr sz="2000" spc="-13" dirty="0">
                <a:solidFill>
                  <a:srgbClr val="434343"/>
                </a:solidFill>
              </a:rPr>
              <a:t>bottom </a:t>
            </a:r>
            <a:r>
              <a:rPr sz="2000" dirty="0">
                <a:solidFill>
                  <a:srgbClr val="434343"/>
                </a:solidFill>
              </a:rPr>
              <a:t>left</a:t>
            </a:r>
            <a:r>
              <a:rPr sz="2000" spc="-67" dirty="0">
                <a:solidFill>
                  <a:srgbClr val="434343"/>
                </a:solidFill>
              </a:rPr>
              <a:t> </a:t>
            </a:r>
            <a:r>
              <a:rPr sz="2000" spc="-13" dirty="0">
                <a:solidFill>
                  <a:srgbClr val="434343"/>
                </a:solidFill>
              </a:rPr>
              <a:t>corner</a:t>
            </a:r>
          </a:p>
          <a:p>
            <a:pPr marL="626518" marR="153243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box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000" dirty="0">
                <a:solidFill>
                  <a:srgbClr val="434343"/>
                </a:solidFill>
              </a:rPr>
              <a:t>gqrx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b="0" spc="-33" dirty="0">
                <a:solidFill>
                  <a:srgbClr val="434343"/>
                </a:solidFill>
              </a:rPr>
              <a:t> ﬁnd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20" dirty="0">
                <a:solidFill>
                  <a:srgbClr val="434343"/>
                </a:solidFill>
              </a:rPr>
              <a:t> </a:t>
            </a:r>
            <a:r>
              <a:rPr sz="2000" b="0" spc="-13" dirty="0">
                <a:solidFill>
                  <a:srgbClr val="434343"/>
                </a:solidFill>
              </a:rPr>
              <a:t>application</a:t>
            </a:r>
          </a:p>
          <a:p>
            <a:pPr marL="625671" indent="-568098">
              <a:spcBef>
                <a:spcPts val="833"/>
              </a:spcBef>
              <a:buFont typeface="Roboto"/>
              <a:buAutoNum type="arabicPeriod"/>
              <a:tabLst>
                <a:tab pos="625671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on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Gqrx</a:t>
            </a:r>
            <a:r>
              <a:rPr sz="2000" b="0" spc="-2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application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r>
              <a:rPr sz="2000" b="0" spc="-27" dirty="0">
                <a:solidFill>
                  <a:srgbClr val="434343"/>
                </a:solidFill>
              </a:rPr>
              <a:t> </a:t>
            </a:r>
            <a:r>
              <a:rPr sz="2000" b="0" spc="-33" dirty="0">
                <a:solidFill>
                  <a:srgbClr val="434343"/>
                </a:solidFill>
              </a:rPr>
              <a:t>it</a:t>
            </a: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957888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#01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2 </a:t>
            </a:r>
            <a:r>
              <a:rPr sz="3600" dirty="0">
                <a:solidFill>
                  <a:srgbClr val="D13368"/>
                </a:solidFill>
              </a:rPr>
              <a:t>Launch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the</a:t>
            </a:r>
            <a:r>
              <a:rPr sz="3600" spc="-2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GQRX</a:t>
            </a:r>
            <a:r>
              <a:rPr sz="3600" b="1" spc="-4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application</a:t>
            </a:r>
            <a:endParaRPr sz="3600"/>
          </a:p>
        </p:txBody>
      </p:sp>
      <p:sp>
        <p:nvSpPr>
          <p:cNvPr id="9" name="object 9"/>
          <p:cNvSpPr txBox="1"/>
          <p:nvPr/>
        </p:nvSpPr>
        <p:spPr>
          <a:xfrm>
            <a:off x="668867" y="1877613"/>
            <a:ext cx="124460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1" y="2257598"/>
            <a:ext cx="4083473" cy="74813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1.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command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below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>
              <a:spcBef>
                <a:spcPts val="127"/>
              </a:spcBef>
            </a:pPr>
            <a:r>
              <a:rPr sz="2267" b="1" kern="0" spc="-27" dirty="0">
                <a:solidFill>
                  <a:srgbClr val="D13368"/>
                </a:solidFill>
                <a:latin typeface="Courier New"/>
                <a:cs typeface="Courier New"/>
              </a:rPr>
              <a:t>gqrx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645499" y="4673001"/>
            <a:ext cx="2738119" cy="1426633"/>
            <a:chOff x="4984124" y="3504750"/>
            <a:chExt cx="2053589" cy="1069975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93650" y="3514275"/>
              <a:ext cx="2034099" cy="105057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988887" y="3509512"/>
              <a:ext cx="2044064" cy="1060450"/>
            </a:xfrm>
            <a:custGeom>
              <a:avLst/>
              <a:gdLst/>
              <a:ahLst/>
              <a:cxnLst/>
              <a:rect l="l" t="t" r="r" b="b"/>
              <a:pathLst>
                <a:path w="2044065" h="1060450">
                  <a:moveTo>
                    <a:pt x="0" y="0"/>
                  </a:moveTo>
                  <a:lnTo>
                    <a:pt x="2043624" y="0"/>
                  </a:lnTo>
                  <a:lnTo>
                    <a:pt x="2043624" y="1060099"/>
                  </a:lnTo>
                  <a:lnTo>
                    <a:pt x="0" y="10600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402899" y="3252466"/>
            <a:ext cx="5613400" cy="2322407"/>
            <a:chOff x="302174" y="2439349"/>
            <a:chExt cx="4210050" cy="1741805"/>
          </a:xfrm>
        </p:grpSpPr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1700" y="2448874"/>
              <a:ext cx="4190699" cy="17226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06937" y="2444112"/>
              <a:ext cx="4200525" cy="1732280"/>
            </a:xfrm>
            <a:custGeom>
              <a:avLst/>
              <a:gdLst/>
              <a:ahLst/>
              <a:cxnLst/>
              <a:rect l="l" t="t" r="r" b="b"/>
              <a:pathLst>
                <a:path w="4200525" h="1732279">
                  <a:moveTo>
                    <a:pt x="0" y="0"/>
                  </a:moveTo>
                  <a:lnTo>
                    <a:pt x="4200224" y="0"/>
                  </a:lnTo>
                  <a:lnTo>
                    <a:pt x="4200224" y="1732149"/>
                  </a:lnTo>
                  <a:lnTo>
                    <a:pt x="0" y="17321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654437" y="5648530"/>
            <a:ext cx="1109980" cy="3453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776460" y="6192575"/>
            <a:ext cx="475827" cy="3206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540"/>
              </a:lnSpc>
            </a:pP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GUI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5827884" y="1806217"/>
            <a:ext cx="3056467" cy="4687146"/>
            <a:chOff x="4370912" y="1354662"/>
            <a:chExt cx="2292350" cy="351536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75675" y="1359425"/>
              <a:ext cx="2282325" cy="350580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370912" y="1354662"/>
              <a:ext cx="2292350" cy="3515360"/>
            </a:xfrm>
            <a:custGeom>
              <a:avLst/>
              <a:gdLst/>
              <a:ahLst/>
              <a:cxnLst/>
              <a:rect l="l" t="t" r="r" b="b"/>
              <a:pathLst>
                <a:path w="2292350" h="3515360">
                  <a:moveTo>
                    <a:pt x="0" y="0"/>
                  </a:moveTo>
                  <a:lnTo>
                    <a:pt x="2291850" y="0"/>
                  </a:lnTo>
                  <a:lnTo>
                    <a:pt x="2291850" y="3515325"/>
                  </a:lnTo>
                  <a:lnTo>
                    <a:pt x="0" y="351532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371475"/>
            <a:ext cx="9337675" cy="1290638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#01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3</a:t>
            </a:r>
            <a:endParaRPr sz="3600" dirty="0"/>
          </a:p>
          <a:p>
            <a:pPr marL="131230"/>
            <a:r>
              <a:rPr sz="3600" spc="-13" dirty="0">
                <a:solidFill>
                  <a:srgbClr val="D13368"/>
                </a:solidFill>
              </a:rPr>
              <a:t>Conﬁgure</a:t>
            </a:r>
            <a:r>
              <a:rPr sz="3600" spc="-10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I/O</a:t>
            </a:r>
            <a:r>
              <a:rPr sz="3600" spc="-10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Devices</a:t>
            </a:r>
            <a:r>
              <a:rPr sz="3600" spc="-10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(GQRX</a:t>
            </a:r>
            <a:r>
              <a:rPr sz="3600" spc="-9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Settings)</a:t>
            </a:r>
            <a:endParaRPr sz="3600" dirty="0"/>
          </a:p>
        </p:txBody>
      </p:sp>
      <p:sp>
        <p:nvSpPr>
          <p:cNvPr id="10" name="object 10"/>
          <p:cNvSpPr txBox="1"/>
          <p:nvPr/>
        </p:nvSpPr>
        <p:spPr>
          <a:xfrm>
            <a:off x="710241" y="1906863"/>
            <a:ext cx="4627033" cy="172525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Set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Device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u="heavy" kern="0" spc="-13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hackrf=######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840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Set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Input</a:t>
            </a:r>
            <a:r>
              <a:rPr sz="2400" b="1" u="heavy" kern="0" spc="-53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Rate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8000000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/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(8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mega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samples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per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second)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/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This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is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the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Sample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rate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14363"/>
            <a:ext cx="15192375" cy="1292225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#01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4</a:t>
            </a:r>
            <a:endParaRPr sz="3600"/>
          </a:p>
          <a:p>
            <a:pPr marL="131230"/>
            <a:r>
              <a:rPr sz="3600" dirty="0">
                <a:solidFill>
                  <a:srgbClr val="D13368"/>
                </a:solidFill>
              </a:rPr>
              <a:t>Find</a:t>
            </a:r>
            <a:r>
              <a:rPr sz="3600" spc="-6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radio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station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/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Key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Fob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Signal</a:t>
            </a:r>
            <a:endParaRPr sz="3600"/>
          </a:p>
        </p:txBody>
      </p:sp>
      <p:sp>
        <p:nvSpPr>
          <p:cNvPr id="8" name="object 8"/>
          <p:cNvSpPr txBox="1"/>
          <p:nvPr/>
        </p:nvSpPr>
        <p:spPr>
          <a:xfrm>
            <a:off x="710240" y="1906863"/>
            <a:ext cx="6961293" cy="165344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Change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Mode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WFM</a:t>
            </a:r>
            <a:r>
              <a:rPr sz="2400" b="1" u="heavy" kern="0" spc="-40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 </a:t>
            </a:r>
            <a:r>
              <a:rPr sz="2400" b="1" u="heavy" kern="0" spc="-13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(stereo)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840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Tune</a:t>
            </a:r>
            <a:r>
              <a:rPr sz="2400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400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favorite</a:t>
            </a:r>
            <a:r>
              <a:rPr sz="2400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radio</a:t>
            </a:r>
            <a:r>
              <a:rPr sz="2400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station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>
              <a:spcBef>
                <a:spcPts val="27"/>
              </a:spcBef>
            </a:pP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100.3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MHz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/</a:t>
            </a:r>
            <a:r>
              <a:rPr sz="1600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95.5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MHz</a:t>
            </a:r>
            <a:r>
              <a:rPr sz="1600" kern="0" spc="3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/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97.9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MHz</a:t>
            </a:r>
            <a:r>
              <a:rPr sz="1600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/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106.7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MHz</a:t>
            </a:r>
            <a:r>
              <a:rPr sz="1600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/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92.3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spc="-33" dirty="0">
                <a:solidFill>
                  <a:srgbClr val="D13368"/>
                </a:solidFill>
                <a:latin typeface="Roboto"/>
                <a:cs typeface="Roboto"/>
              </a:rPr>
              <a:t>MHz</a:t>
            </a:r>
            <a:endParaRPr sz="16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6933" defTabSz="1219170">
              <a:spcBef>
                <a:spcPts val="37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3.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Play</a:t>
            </a:r>
            <a:r>
              <a:rPr sz="2400" b="1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icon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upper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left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hand</a:t>
            </a:r>
            <a:r>
              <a:rPr sz="2400" kern="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corner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90499" y="3657168"/>
            <a:ext cx="6891867" cy="2719493"/>
            <a:chOff x="667874" y="2742876"/>
            <a:chExt cx="5168900" cy="2039620"/>
          </a:xfrm>
        </p:grpSpPr>
        <p:pic>
          <p:nvPicPr>
            <p:cNvPr id="10" name="object 10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77400" y="2752401"/>
              <a:ext cx="5149349" cy="202014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72637" y="2747638"/>
              <a:ext cx="5159375" cy="2030095"/>
            </a:xfrm>
            <a:custGeom>
              <a:avLst/>
              <a:gdLst/>
              <a:ahLst/>
              <a:cxnLst/>
              <a:rect l="l" t="t" r="r" b="b"/>
              <a:pathLst>
                <a:path w="5159375" h="2030095">
                  <a:moveTo>
                    <a:pt x="0" y="0"/>
                  </a:moveTo>
                  <a:lnTo>
                    <a:pt x="5158874" y="0"/>
                  </a:lnTo>
                  <a:lnTo>
                    <a:pt x="5158874" y="2029674"/>
                  </a:lnTo>
                  <a:lnTo>
                    <a:pt x="0" y="20296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8350266" y="2118767"/>
            <a:ext cx="3355340" cy="2243667"/>
            <a:chOff x="6262699" y="1589075"/>
            <a:chExt cx="2516505" cy="1682750"/>
          </a:xfrm>
        </p:grpSpPr>
        <p:pic>
          <p:nvPicPr>
            <p:cNvPr id="13" name="object 13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272224" y="1598600"/>
              <a:ext cx="2497099" cy="1663500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6267462" y="1593837"/>
              <a:ext cx="2506980" cy="1673225"/>
            </a:xfrm>
            <a:custGeom>
              <a:avLst/>
              <a:gdLst/>
              <a:ahLst/>
              <a:cxnLst/>
              <a:rect l="l" t="t" r="r" b="b"/>
              <a:pathLst>
                <a:path w="2506979" h="1673225">
                  <a:moveTo>
                    <a:pt x="0" y="0"/>
                  </a:moveTo>
                  <a:lnTo>
                    <a:pt x="2506624" y="0"/>
                  </a:lnTo>
                  <a:lnTo>
                    <a:pt x="2506624" y="1673025"/>
                  </a:lnTo>
                  <a:lnTo>
                    <a:pt x="0" y="167302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8710064" y="4490730"/>
            <a:ext cx="2634827" cy="67356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999042" marR="6773" indent="-982955" defTabSz="1219170">
              <a:spcBef>
                <a:spcPts val="133"/>
              </a:spcBef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Find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a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Key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Fob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Signal [FSK]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152176" y="6469509"/>
            <a:ext cx="2367280" cy="3206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540"/>
              </a:lnSpc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Find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a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radio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station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985950" y="3641284"/>
            <a:ext cx="7592907" cy="3009054"/>
            <a:chOff x="739462" y="2730962"/>
            <a:chExt cx="5694680" cy="2256790"/>
          </a:xfrm>
        </p:grpSpPr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4225" y="2735725"/>
              <a:ext cx="5684898" cy="224669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739462" y="2730962"/>
              <a:ext cx="5694680" cy="2256790"/>
            </a:xfrm>
            <a:custGeom>
              <a:avLst/>
              <a:gdLst/>
              <a:ahLst/>
              <a:cxnLst/>
              <a:rect l="l" t="t" r="r" b="b"/>
              <a:pathLst>
                <a:path w="5694680" h="2256790">
                  <a:moveTo>
                    <a:pt x="0" y="0"/>
                  </a:moveTo>
                  <a:lnTo>
                    <a:pt x="5694423" y="0"/>
                  </a:lnTo>
                  <a:lnTo>
                    <a:pt x="5694423" y="2256224"/>
                  </a:lnTo>
                  <a:lnTo>
                    <a:pt x="0" y="22562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4260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#01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5 </a:t>
            </a:r>
            <a:r>
              <a:rPr sz="3600" dirty="0">
                <a:solidFill>
                  <a:srgbClr val="D13368"/>
                </a:solidFill>
              </a:rPr>
              <a:t>Tune</a:t>
            </a:r>
            <a:r>
              <a:rPr sz="3600" spc="-13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your</a:t>
            </a:r>
            <a:r>
              <a:rPr sz="3600" spc="-13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signal</a:t>
            </a:r>
            <a:endParaRPr sz="360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0" y="1906875"/>
            <a:ext cx="10229427" cy="1586759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Select</a:t>
            </a:r>
            <a:r>
              <a:rPr sz="2400" b="1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an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area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where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there's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signal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b="1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tune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into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(solid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line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blurbs)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840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Turn</a:t>
            </a:r>
            <a:r>
              <a:rPr sz="2400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up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Gain</a:t>
            </a:r>
            <a:r>
              <a:rPr sz="2400" b="1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(volume)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bottom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right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hand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corner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840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Under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Squelch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87" dirty="0">
                <a:solidFill>
                  <a:srgbClr val="434343"/>
                </a:solidFill>
                <a:latin typeface="Roboto"/>
                <a:cs typeface="Roboto"/>
              </a:rPr>
              <a:t>‘A’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then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down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arrow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few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remove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noise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/>
          <p:cNvSpPr txBox="1"/>
          <p:nvPr/>
        </p:nvSpPr>
        <p:spPr>
          <a:xfrm>
            <a:off x="151884" y="3407076"/>
            <a:ext cx="7272020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Record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a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Key</a:t>
            </a:r>
            <a:r>
              <a:rPr sz="3200" kern="0" spc="-9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Fob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Signal</a:t>
            </a:r>
            <a:r>
              <a:rPr sz="3200" kern="0" spc="-93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(basic_capture)</a:t>
            </a:r>
            <a:endParaRPr sz="3200" kern="0" dirty="0">
              <a:latin typeface="Roboto"/>
              <a:cs typeface="Robo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 dirty="0">
              <a:latin typeface="Roboto"/>
              <a:cs typeface="Roboto"/>
            </a:endParaRPr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784225" y="2462213"/>
            <a:ext cx="10664825" cy="879475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dirty="0">
                <a:solidFill>
                  <a:schemeClr val="tx1"/>
                </a:solidFill>
              </a:rPr>
              <a:t>SDR</a:t>
            </a:r>
            <a:r>
              <a:rPr sz="5600" spc="-147" dirty="0">
                <a:solidFill>
                  <a:schemeClr val="tx1"/>
                </a:solidFill>
              </a:rPr>
              <a:t> </a:t>
            </a:r>
            <a:r>
              <a:rPr sz="5600" spc="-13" dirty="0">
                <a:solidFill>
                  <a:schemeClr val="tx1"/>
                </a:solidFill>
              </a:rPr>
              <a:t>Exercise</a:t>
            </a:r>
            <a:r>
              <a:rPr sz="5600" spc="-147" dirty="0">
                <a:solidFill>
                  <a:schemeClr val="tx1"/>
                </a:solidFill>
              </a:rPr>
              <a:t> </a:t>
            </a:r>
            <a:r>
              <a:rPr sz="5600" spc="-33" dirty="0">
                <a:solidFill>
                  <a:schemeClr val="tx1"/>
                </a:solidFill>
              </a:rPr>
              <a:t>#02</a:t>
            </a:r>
            <a:endParaRPr sz="5600" dirty="0">
              <a:solidFill>
                <a:schemeClr val="tx1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473666" y="3393900"/>
            <a:ext cx="9718887" cy="3464560"/>
            <a:chOff x="1855249" y="2545425"/>
            <a:chExt cx="7289165" cy="259842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64775" y="2554950"/>
              <a:ext cx="4957250" cy="224865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860012" y="2550187"/>
              <a:ext cx="4966970" cy="2258695"/>
            </a:xfrm>
            <a:custGeom>
              <a:avLst/>
              <a:gdLst/>
              <a:ahLst/>
              <a:cxnLst/>
              <a:rect l="l" t="t" r="r" b="b"/>
              <a:pathLst>
                <a:path w="4966970" h="2258695">
                  <a:moveTo>
                    <a:pt x="0" y="0"/>
                  </a:moveTo>
                  <a:lnTo>
                    <a:pt x="4966775" y="0"/>
                  </a:lnTo>
                  <a:lnTo>
                    <a:pt x="4966775" y="2258175"/>
                  </a:lnTo>
                  <a:lnTo>
                    <a:pt x="0" y="225817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8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66675" y="679494"/>
            <a:ext cx="7467600" cy="1017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1</a:t>
            </a:r>
            <a:endParaRPr sz="3600" dirty="0"/>
          </a:p>
          <a:p>
            <a:pPr marL="16933"/>
            <a:r>
              <a:rPr sz="3600" dirty="0">
                <a:solidFill>
                  <a:srgbClr val="D13368"/>
                </a:solidFill>
              </a:rPr>
              <a:t>Plugin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and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ensure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HackRF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is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working</a:t>
            </a:r>
            <a:endParaRPr sz="3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1" y="1737529"/>
            <a:ext cx="4410287" cy="1442340"/>
          </a:xfrm>
          <a:prstGeom prst="rect">
            <a:avLst/>
          </a:prstGeom>
        </p:spPr>
        <p:txBody>
          <a:bodyPr vert="horz" wrap="square" lIns="0" tIns="186267" rIns="0" bIns="0" rtlCol="0">
            <a:spAutoFit/>
          </a:bodyPr>
          <a:lstStyle/>
          <a:p>
            <a:pPr marL="585031" indent="-568098" defTabSz="1219170">
              <a:spcBef>
                <a:spcPts val="1467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Plugin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3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Ensure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is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connected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defTabSz="1219170"/>
            <a:r>
              <a:rPr sz="2267" b="1" kern="0" spc="-13" dirty="0">
                <a:solidFill>
                  <a:srgbClr val="D13368"/>
                </a:solidFill>
                <a:latin typeface="Courier New"/>
                <a:cs typeface="Courier New"/>
              </a:rPr>
              <a:t>hackrf_info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9" name="object 19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9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4294967295"/>
          </p:nvPr>
        </p:nvSpPr>
        <p:spPr>
          <a:xfrm>
            <a:off x="6188802" y="2264043"/>
            <a:ext cx="5876089" cy="1944378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6933">
              <a:spcBef>
                <a:spcPts val="960"/>
              </a:spcBef>
            </a:pPr>
            <a:r>
              <a:rPr sz="2000" spc="-33" dirty="0"/>
              <a:t>GUI</a:t>
            </a:r>
          </a:p>
          <a:p>
            <a:pPr marL="626518" marR="296326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spc="-13" dirty="0">
                <a:solidFill>
                  <a:srgbClr val="434343"/>
                </a:solidFill>
              </a:rPr>
              <a:t>“Application</a:t>
            </a:r>
            <a:r>
              <a:rPr sz="2000" b="0" spc="-40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Menu”</a:t>
            </a:r>
            <a:r>
              <a:rPr sz="2000" b="0" spc="-40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b="0" spc="13" dirty="0">
                <a:solidFill>
                  <a:srgbClr val="434343"/>
                </a:solidFill>
              </a:rPr>
              <a:t> </a:t>
            </a:r>
            <a:r>
              <a:rPr sz="2000" spc="-13" dirty="0">
                <a:solidFill>
                  <a:srgbClr val="434343"/>
                </a:solidFill>
              </a:rPr>
              <a:t>bottom </a:t>
            </a:r>
            <a:r>
              <a:rPr sz="2000" dirty="0">
                <a:solidFill>
                  <a:srgbClr val="434343"/>
                </a:solidFill>
              </a:rPr>
              <a:t>left</a:t>
            </a:r>
            <a:r>
              <a:rPr sz="2000" spc="-67" dirty="0">
                <a:solidFill>
                  <a:srgbClr val="434343"/>
                </a:solidFill>
              </a:rPr>
              <a:t> </a:t>
            </a:r>
            <a:r>
              <a:rPr sz="2000" spc="-13" dirty="0">
                <a:solidFill>
                  <a:srgbClr val="434343"/>
                </a:solidFill>
              </a:rPr>
              <a:t>corner</a:t>
            </a:r>
          </a:p>
          <a:p>
            <a:pPr marL="626518" marR="138003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b="0" spc="-5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r>
              <a:rPr sz="2000" b="0" spc="-5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box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000" b="0" spc="-5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000" dirty="0">
                <a:solidFill>
                  <a:srgbClr val="434343"/>
                </a:solidFill>
              </a:rPr>
              <a:t>gnuradio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spc="-33" dirty="0">
                <a:solidFill>
                  <a:srgbClr val="434343"/>
                </a:solidFill>
              </a:rPr>
              <a:t>to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ﬁnd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20" dirty="0">
                <a:solidFill>
                  <a:srgbClr val="434343"/>
                </a:solidFill>
              </a:rPr>
              <a:t> </a:t>
            </a:r>
            <a:r>
              <a:rPr sz="2000" b="0" spc="-13" dirty="0">
                <a:solidFill>
                  <a:srgbClr val="434343"/>
                </a:solidFill>
              </a:rPr>
              <a:t>application</a:t>
            </a:r>
          </a:p>
          <a:p>
            <a:pPr marL="625671" indent="-568098">
              <a:spcBef>
                <a:spcPts val="833"/>
              </a:spcBef>
              <a:buFont typeface="Roboto"/>
              <a:buAutoNum type="arabicPeriod"/>
              <a:tabLst>
                <a:tab pos="625671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on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Gqrx</a:t>
            </a:r>
            <a:r>
              <a:rPr sz="2000" b="0" spc="-2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application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r>
              <a:rPr sz="2000" b="0" spc="-27" dirty="0">
                <a:solidFill>
                  <a:srgbClr val="434343"/>
                </a:solidFill>
              </a:rPr>
              <a:t> </a:t>
            </a:r>
            <a:r>
              <a:rPr sz="2000" b="0" spc="-33" dirty="0">
                <a:solidFill>
                  <a:srgbClr val="434343"/>
                </a:solidFill>
              </a:rPr>
              <a:t>it</a:t>
            </a: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31841"/>
            <a:ext cx="10398661" cy="1184213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2</a:t>
            </a:r>
            <a:endParaRPr sz="3600" dirty="0"/>
          </a:p>
          <a:p>
            <a:pPr marL="131230"/>
            <a:r>
              <a:rPr sz="3600" dirty="0">
                <a:solidFill>
                  <a:srgbClr val="D13368"/>
                </a:solidFill>
              </a:rPr>
              <a:t>Launch</a:t>
            </a:r>
            <a:r>
              <a:rPr sz="3600" spc="-8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the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GNU</a:t>
            </a:r>
            <a:r>
              <a:rPr sz="3600" b="1" spc="-8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Radio</a:t>
            </a:r>
            <a:r>
              <a:rPr sz="3600" b="1" spc="-7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Companion</a:t>
            </a:r>
            <a:r>
              <a:rPr sz="3600" b="1" spc="-7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application</a:t>
            </a:r>
            <a:endParaRPr sz="3600" dirty="0"/>
          </a:p>
        </p:txBody>
      </p:sp>
      <p:sp>
        <p:nvSpPr>
          <p:cNvPr id="9" name="object 9"/>
          <p:cNvSpPr txBox="1"/>
          <p:nvPr/>
        </p:nvSpPr>
        <p:spPr>
          <a:xfrm>
            <a:off x="668867" y="1877613"/>
            <a:ext cx="124460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1" y="2257598"/>
            <a:ext cx="4083473" cy="74813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1.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command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below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>
              <a:spcBef>
                <a:spcPts val="127"/>
              </a:spcBef>
            </a:pPr>
            <a:r>
              <a:rPr sz="2267" b="1" kern="0" spc="-33" dirty="0">
                <a:solidFill>
                  <a:srgbClr val="D13368"/>
                </a:solidFill>
                <a:latin typeface="Courier New"/>
                <a:cs typeface="Courier New"/>
              </a:rPr>
              <a:t>gnuradio-</a:t>
            </a:r>
            <a:r>
              <a:rPr sz="2267" b="1" kern="0" spc="-13" dirty="0">
                <a:solidFill>
                  <a:srgbClr val="D13368"/>
                </a:solidFill>
                <a:latin typeface="Courier New"/>
                <a:cs typeface="Courier New"/>
              </a:rPr>
              <a:t>companion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645503" y="4774601"/>
            <a:ext cx="2768600" cy="1374987"/>
            <a:chOff x="4984127" y="3580951"/>
            <a:chExt cx="2076450" cy="1031240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93652" y="3590477"/>
              <a:ext cx="2056899" cy="101212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988889" y="3585714"/>
              <a:ext cx="2066925" cy="1021715"/>
            </a:xfrm>
            <a:custGeom>
              <a:avLst/>
              <a:gdLst/>
              <a:ahLst/>
              <a:cxnLst/>
              <a:rect l="l" t="t" r="r" b="b"/>
              <a:pathLst>
                <a:path w="2066925" h="1021714">
                  <a:moveTo>
                    <a:pt x="0" y="0"/>
                  </a:moveTo>
                  <a:lnTo>
                    <a:pt x="2066424" y="0"/>
                  </a:lnTo>
                  <a:lnTo>
                    <a:pt x="2066424" y="1021649"/>
                  </a:lnTo>
                  <a:lnTo>
                    <a:pt x="0" y="10216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654437" y="5611728"/>
            <a:ext cx="1109980" cy="3453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02900" y="3354066"/>
            <a:ext cx="5613400" cy="2150533"/>
            <a:chOff x="302175" y="2515549"/>
            <a:chExt cx="4210050" cy="1612900"/>
          </a:xfrm>
        </p:grpSpPr>
        <p:pic>
          <p:nvPicPr>
            <p:cNvPr id="16" name="object 16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1700" y="2525074"/>
              <a:ext cx="4190700" cy="1593427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306938" y="2520312"/>
              <a:ext cx="4200525" cy="1603375"/>
            </a:xfrm>
            <a:custGeom>
              <a:avLst/>
              <a:gdLst/>
              <a:ahLst/>
              <a:cxnLst/>
              <a:rect l="l" t="t" r="r" b="b"/>
              <a:pathLst>
                <a:path w="4200525" h="1603375">
                  <a:moveTo>
                    <a:pt x="0" y="0"/>
                  </a:moveTo>
                  <a:lnTo>
                    <a:pt x="4200225" y="0"/>
                  </a:lnTo>
                  <a:lnTo>
                    <a:pt x="4200225" y="1602952"/>
                  </a:lnTo>
                  <a:lnTo>
                    <a:pt x="0" y="1602952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7791659" y="6217565"/>
            <a:ext cx="475827" cy="3206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540"/>
              </a:lnSpc>
            </a:pP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GUI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7" name="object 7" descr="$PPTXTitle"/>
          <p:cNvSpPr txBox="1"/>
          <p:nvPr/>
        </p:nvSpPr>
        <p:spPr>
          <a:xfrm>
            <a:off x="512967" y="625745"/>
            <a:ext cx="5426287" cy="112509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 defTabSz="1219170">
              <a:spcBef>
                <a:spcPts val="133"/>
              </a:spcBef>
            </a:pP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SDR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Exercise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#02</a:t>
            </a:r>
            <a:r>
              <a:rPr sz="3600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–</a:t>
            </a:r>
            <a:r>
              <a:rPr sz="3600" kern="0" spc="-2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212D73"/>
                </a:solidFill>
                <a:latin typeface="Roboto"/>
                <a:cs typeface="Roboto"/>
              </a:rPr>
              <a:t>Step</a:t>
            </a:r>
            <a:r>
              <a:rPr sz="3600" kern="0" spc="-67" dirty="0">
                <a:solidFill>
                  <a:srgbClr val="212D73"/>
                </a:solidFill>
                <a:latin typeface="Roboto"/>
                <a:cs typeface="Roboto"/>
              </a:rPr>
              <a:t> 3 </a:t>
            </a:r>
            <a:r>
              <a:rPr sz="3600" kern="0" dirty="0">
                <a:solidFill>
                  <a:srgbClr val="D13368"/>
                </a:solidFill>
                <a:latin typeface="Roboto"/>
                <a:cs typeface="Roboto"/>
              </a:rPr>
              <a:t>New</a:t>
            </a:r>
            <a:r>
              <a:rPr sz="3600" kern="0" spc="-9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D13368"/>
                </a:solidFill>
                <a:latin typeface="Roboto"/>
                <a:cs typeface="Roboto"/>
              </a:rPr>
              <a:t>project</a:t>
            </a:r>
            <a:r>
              <a:rPr sz="3600" kern="0" spc="-8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kern="0" spc="-13" dirty="0">
                <a:solidFill>
                  <a:srgbClr val="D13368"/>
                </a:solidFill>
                <a:latin typeface="Roboto"/>
                <a:cs typeface="Roboto"/>
              </a:rPr>
              <a:t>created</a:t>
            </a:r>
            <a:endParaRPr sz="36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0241" y="1877601"/>
            <a:ext cx="891286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1.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Once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GNU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Radio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launches,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it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will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create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new</a:t>
            </a:r>
            <a:r>
              <a:rPr sz="2400" kern="0" spc="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untitled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project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016000" y="2793567"/>
            <a:ext cx="10160000" cy="2743200"/>
            <a:chOff x="762000" y="2095175"/>
            <a:chExt cx="7620000" cy="2057400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1525" y="2104700"/>
              <a:ext cx="7600949" cy="203834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66762" y="2099937"/>
              <a:ext cx="7610475" cy="2047875"/>
            </a:xfrm>
            <a:custGeom>
              <a:avLst/>
              <a:gdLst/>
              <a:ahLst/>
              <a:cxnLst/>
              <a:rect l="l" t="t" r="r" b="b"/>
              <a:pathLst>
                <a:path w="7610475" h="2047875">
                  <a:moveTo>
                    <a:pt x="0" y="0"/>
                  </a:moveTo>
                  <a:lnTo>
                    <a:pt x="7610474" y="0"/>
                  </a:lnTo>
                  <a:lnTo>
                    <a:pt x="7610474" y="2047874"/>
                  </a:lnTo>
                  <a:lnTo>
                    <a:pt x="0" y="20478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10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079068" y="1906875"/>
            <a:ext cx="1161625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Variable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20441" y="2272633"/>
            <a:ext cx="2473113" cy="965222"/>
          </a:xfrm>
          <a:prstGeom prst="rect">
            <a:avLst/>
          </a:prstGeom>
        </p:spPr>
        <p:txBody>
          <a:bodyPr vert="horz" wrap="square" lIns="0" tIns="122767" rIns="0" bIns="0" rtlCol="0">
            <a:spAutoFit/>
          </a:bodyPr>
          <a:lstStyle/>
          <a:p>
            <a:pPr marL="585031" indent="-568098" defTabSz="1219170">
              <a:spcBef>
                <a:spcPts val="96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ID:</a:t>
            </a:r>
            <a:r>
              <a:rPr sz="2400" b="1" kern="0" spc="-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samp_rate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82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Value:</a:t>
            </a:r>
            <a:r>
              <a:rPr sz="2400" b="1" kern="0" spc="-1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4e6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11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4260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4 </a:t>
            </a:r>
            <a:r>
              <a:rPr sz="3600" dirty="0">
                <a:solidFill>
                  <a:srgbClr val="D13368"/>
                </a:solidFill>
              </a:rPr>
              <a:t>Edit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default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values</a:t>
            </a:r>
            <a:endParaRPr sz="3600"/>
          </a:p>
        </p:txBody>
      </p:sp>
      <p:sp>
        <p:nvSpPr>
          <p:cNvPr id="10" name="object 10"/>
          <p:cNvSpPr txBox="1"/>
          <p:nvPr/>
        </p:nvSpPr>
        <p:spPr>
          <a:xfrm>
            <a:off x="668867" y="1906875"/>
            <a:ext cx="109982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Options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0240" y="2323434"/>
            <a:ext cx="3266440" cy="1283258"/>
          </a:xfrm>
          <a:prstGeom prst="rect">
            <a:avLst/>
          </a:prstGeom>
        </p:spPr>
        <p:txBody>
          <a:bodyPr vert="horz" wrap="square" lIns="0" tIns="71967" rIns="0" bIns="0" rtlCol="0">
            <a:spAutoFit/>
          </a:bodyPr>
          <a:lstStyle/>
          <a:p>
            <a:pPr marL="585031" indent="-568098" defTabSz="1219170">
              <a:spcBef>
                <a:spcPts val="56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ID:</a:t>
            </a:r>
            <a:r>
              <a:rPr sz="2400" b="1" kern="0" spc="-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basic_capture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42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Title:</a:t>
            </a:r>
            <a:r>
              <a:rPr sz="2400" b="1" kern="0" spc="-6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Basic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Capture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433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Author:</a:t>
            </a:r>
            <a:r>
              <a:rPr sz="2400" b="1" kern="0" spc="-12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400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Name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523350" y="3416300"/>
            <a:ext cx="4733713" cy="1727200"/>
            <a:chOff x="4892512" y="2562225"/>
            <a:chExt cx="3550285" cy="1295400"/>
          </a:xfrm>
        </p:grpSpPr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02037" y="2571750"/>
              <a:ext cx="3530624" cy="1275924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4897275" y="2566987"/>
              <a:ext cx="3540760" cy="1285875"/>
            </a:xfrm>
            <a:custGeom>
              <a:avLst/>
              <a:gdLst/>
              <a:ahLst/>
              <a:cxnLst/>
              <a:rect l="l" t="t" r="r" b="b"/>
              <a:pathLst>
                <a:path w="3540759" h="1285875">
                  <a:moveTo>
                    <a:pt x="0" y="0"/>
                  </a:moveTo>
                  <a:lnTo>
                    <a:pt x="3540149" y="0"/>
                  </a:lnTo>
                  <a:lnTo>
                    <a:pt x="3540149" y="1285449"/>
                  </a:lnTo>
                  <a:lnTo>
                    <a:pt x="0" y="12854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673100" y="3841799"/>
            <a:ext cx="5051213" cy="2715260"/>
            <a:chOff x="504825" y="2881349"/>
            <a:chExt cx="3788410" cy="2036445"/>
          </a:xfrm>
        </p:grpSpPr>
        <p:pic>
          <p:nvPicPr>
            <p:cNvPr id="16" name="object 16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14350" y="2890875"/>
              <a:ext cx="3769159" cy="201695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509587" y="2886112"/>
              <a:ext cx="3778885" cy="2026920"/>
            </a:xfrm>
            <a:custGeom>
              <a:avLst/>
              <a:gdLst/>
              <a:ahLst/>
              <a:cxnLst/>
              <a:rect l="l" t="t" r="r" b="b"/>
              <a:pathLst>
                <a:path w="3778885" h="2026920">
                  <a:moveTo>
                    <a:pt x="0" y="0"/>
                  </a:moveTo>
                  <a:lnTo>
                    <a:pt x="3778684" y="0"/>
                  </a:lnTo>
                  <a:lnTo>
                    <a:pt x="3778684" y="2026475"/>
                  </a:lnTo>
                  <a:lnTo>
                    <a:pt x="0" y="202647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12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4260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5 </a:t>
            </a:r>
            <a:r>
              <a:rPr sz="3600" dirty="0">
                <a:solidFill>
                  <a:srgbClr val="D13368"/>
                </a:solidFill>
              </a:rPr>
              <a:t>Create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new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Variable</a:t>
            </a:r>
            <a:endParaRPr sz="3600"/>
          </a:p>
        </p:txBody>
      </p:sp>
      <p:sp>
        <p:nvSpPr>
          <p:cNvPr id="8" name="object 8"/>
          <p:cNvSpPr txBox="1"/>
          <p:nvPr/>
        </p:nvSpPr>
        <p:spPr>
          <a:xfrm>
            <a:off x="710240" y="1906863"/>
            <a:ext cx="9296400" cy="1291806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Function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Blocks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area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press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CTRL+F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/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r>
              <a:rPr sz="2400" b="1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prompt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333"/>
              </a:spcBef>
              <a:buFont typeface="Roboto"/>
              <a:buAutoNum type="arabicPeriod" startAt="2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variable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ﬁnd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variable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block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,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double-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add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0240" y="3004143"/>
            <a:ext cx="6631093" cy="1093462"/>
          </a:xfrm>
          <a:prstGeom prst="rect">
            <a:avLst/>
          </a:prstGeom>
        </p:spPr>
        <p:txBody>
          <a:bodyPr vert="horz" wrap="square" lIns="0" tIns="186267" rIns="0" bIns="0" rtlCol="0">
            <a:spAutoFit/>
          </a:bodyPr>
          <a:lstStyle/>
          <a:p>
            <a:pPr marL="585031" defTabSz="1219170">
              <a:spcBef>
                <a:spcPts val="1467"/>
              </a:spcBef>
            </a:pP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canvas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.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6933" defTabSz="1219170">
              <a:spcBef>
                <a:spcPts val="13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3.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Double-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new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Variable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edit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values.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23115" y="3968666"/>
            <a:ext cx="2377440" cy="964367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581645" indent="-557093" defTabSz="1219170">
              <a:spcBef>
                <a:spcPts val="960"/>
              </a:spcBef>
              <a:buClr>
                <a:srgbClr val="434343"/>
              </a:buClr>
              <a:buFontTx/>
              <a:buAutoNum type="alphaLcPeriod"/>
              <a:tabLst>
                <a:tab pos="581645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ID:</a:t>
            </a:r>
            <a:r>
              <a:rPr sz="2400" b="1" kern="0" spc="-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hw_freq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1645" indent="-564713" defTabSz="1219170">
              <a:spcBef>
                <a:spcPts val="833"/>
              </a:spcBef>
              <a:buClr>
                <a:srgbClr val="434343"/>
              </a:buClr>
              <a:buFontTx/>
              <a:buAutoNum type="alphaLcPeriod"/>
              <a:tabLst>
                <a:tab pos="581645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Value:</a:t>
            </a:r>
            <a:r>
              <a:rPr sz="2400" b="1" kern="0" spc="-1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433e6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350750" y="3361167"/>
            <a:ext cx="8674100" cy="3127587"/>
            <a:chOff x="2513062" y="2520875"/>
            <a:chExt cx="6505575" cy="2345690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130038" y="2530400"/>
              <a:ext cx="2879074" cy="1552399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6125275" y="2525637"/>
              <a:ext cx="2888615" cy="1562100"/>
            </a:xfrm>
            <a:custGeom>
              <a:avLst/>
              <a:gdLst/>
              <a:ahLst/>
              <a:cxnLst/>
              <a:rect l="l" t="t" r="r" b="b"/>
              <a:pathLst>
                <a:path w="2888615" h="1562100">
                  <a:moveTo>
                    <a:pt x="0" y="0"/>
                  </a:moveTo>
                  <a:lnTo>
                    <a:pt x="2888599" y="0"/>
                  </a:lnTo>
                  <a:lnTo>
                    <a:pt x="2888599" y="1561924"/>
                  </a:lnTo>
                  <a:lnTo>
                    <a:pt x="0" y="15619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22587" y="3807575"/>
              <a:ext cx="2824275" cy="1049374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517825" y="3802812"/>
              <a:ext cx="2834005" cy="1059180"/>
            </a:xfrm>
            <a:custGeom>
              <a:avLst/>
              <a:gdLst/>
              <a:ahLst/>
              <a:cxnLst/>
              <a:rect l="l" t="t" r="r" b="b"/>
              <a:pathLst>
                <a:path w="2834004" h="1059179">
                  <a:moveTo>
                    <a:pt x="0" y="0"/>
                  </a:moveTo>
                  <a:lnTo>
                    <a:pt x="2833800" y="0"/>
                  </a:lnTo>
                  <a:lnTo>
                    <a:pt x="2833800" y="1058899"/>
                  </a:lnTo>
                  <a:lnTo>
                    <a:pt x="0" y="10588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533371" y="3750800"/>
              <a:ext cx="686435" cy="131445"/>
            </a:xfrm>
            <a:custGeom>
              <a:avLst/>
              <a:gdLst/>
              <a:ahLst/>
              <a:cxnLst/>
              <a:rect l="l" t="t" r="r" b="b"/>
              <a:pathLst>
                <a:path w="686435" h="131445">
                  <a:moveTo>
                    <a:pt x="686303" y="0"/>
                  </a:moveTo>
                  <a:lnTo>
                    <a:pt x="0" y="131286"/>
                  </a:lnTo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7" name="object 1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391717" y="3821441"/>
              <a:ext cx="164809" cy="121290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13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32926" y="649535"/>
            <a:ext cx="9580847" cy="1184213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6</a:t>
            </a:r>
            <a:endParaRPr sz="3600" dirty="0"/>
          </a:p>
          <a:p>
            <a:pPr marL="131230"/>
            <a:r>
              <a:rPr sz="3600" dirty="0">
                <a:solidFill>
                  <a:srgbClr val="D13368"/>
                </a:solidFill>
              </a:rPr>
              <a:t>Add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SDR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as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</a:t>
            </a:r>
            <a:r>
              <a:rPr sz="3600" spc="-1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source</a:t>
            </a:r>
            <a:r>
              <a:rPr sz="3600" b="1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for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receiving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710240" y="1906875"/>
            <a:ext cx="10491893" cy="256651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Function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Blocks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area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press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CTRL+F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/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prompt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marR="9313" indent="-568946" defTabSz="1219170">
              <a:spcBef>
                <a:spcPts val="1333"/>
              </a:spcBef>
              <a:buFont typeface="Roboto"/>
              <a:buAutoNum type="arabicPeriod" startAt="2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osmocom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ﬁnd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osmocom</a:t>
            </a:r>
            <a:r>
              <a:rPr sz="2400" b="1" u="heavy" kern="0" spc="-4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source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block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,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double-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add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to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canvas.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Double-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again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edit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values.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marR="6773" indent="-568946" defTabSz="1219170">
              <a:spcBef>
                <a:spcPts val="1333"/>
              </a:spcBef>
              <a:buFont typeface="Roboto"/>
              <a:buAutoNum type="arabicPeriod" startAt="2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Edit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Ch0: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Frequency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(Hz)</a:t>
            </a:r>
            <a:r>
              <a:rPr sz="2400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hw_freq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variable,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samp_rate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should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be set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2332134" y="4540167"/>
            <a:ext cx="4982633" cy="2078567"/>
            <a:chOff x="1749100" y="3405125"/>
            <a:chExt cx="3736975" cy="1558925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58625" y="3414650"/>
              <a:ext cx="3717774" cy="153987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753862" y="3409887"/>
              <a:ext cx="3727450" cy="1549400"/>
            </a:xfrm>
            <a:custGeom>
              <a:avLst/>
              <a:gdLst/>
              <a:ahLst/>
              <a:cxnLst/>
              <a:rect l="l" t="t" r="r" b="b"/>
              <a:pathLst>
                <a:path w="3727450" h="1549400">
                  <a:moveTo>
                    <a:pt x="0" y="0"/>
                  </a:moveTo>
                  <a:lnTo>
                    <a:pt x="3727299" y="0"/>
                  </a:lnTo>
                  <a:lnTo>
                    <a:pt x="3727299" y="1549399"/>
                  </a:lnTo>
                  <a:lnTo>
                    <a:pt x="0" y="15493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14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4260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7 </a:t>
            </a:r>
            <a:r>
              <a:rPr sz="3600" dirty="0">
                <a:solidFill>
                  <a:srgbClr val="D13368"/>
                </a:solidFill>
              </a:rPr>
              <a:t>Continue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adding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blocks</a:t>
            </a:r>
            <a:endParaRPr sz="3600"/>
          </a:p>
        </p:txBody>
      </p:sp>
      <p:sp>
        <p:nvSpPr>
          <p:cNvPr id="8" name="object 8"/>
          <p:cNvSpPr txBox="1"/>
          <p:nvPr/>
        </p:nvSpPr>
        <p:spPr>
          <a:xfrm>
            <a:off x="710241" y="1906875"/>
            <a:ext cx="10453793" cy="2523105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Function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Blocks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area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press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CTRL+F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/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prompt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ﬁnd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following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blocks: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01214" defTabSz="1219170">
              <a:spcBef>
                <a:spcPts val="20"/>
              </a:spcBef>
              <a:buFontTx/>
              <a:buAutoNum type="alphaLcPeriod"/>
              <a:tabLst>
                <a:tab pos="1194617" algn="l"/>
              </a:tabLst>
            </a:pP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File</a:t>
            </a:r>
            <a:r>
              <a:rPr sz="1867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spc="-27" dirty="0">
                <a:solidFill>
                  <a:srgbClr val="D13368"/>
                </a:solidFill>
                <a:latin typeface="Roboto"/>
                <a:cs typeface="Roboto"/>
              </a:rPr>
              <a:t>Sink</a:t>
            </a:r>
            <a:endParaRPr sz="18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07141" defTabSz="1219170">
              <a:buFontTx/>
              <a:buAutoNum type="alphaLcPeriod"/>
              <a:tabLst>
                <a:tab pos="1194617" algn="l"/>
              </a:tabLst>
            </a:pP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QT</a:t>
            </a:r>
            <a:r>
              <a:rPr sz="1867" b="1" kern="0" spc="-10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GUI</a:t>
            </a:r>
            <a:r>
              <a:rPr sz="1867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spc="-13" dirty="0">
                <a:solidFill>
                  <a:srgbClr val="D13368"/>
                </a:solidFill>
                <a:latin typeface="Roboto"/>
                <a:cs typeface="Roboto"/>
              </a:rPr>
              <a:t>Frequency</a:t>
            </a:r>
            <a:r>
              <a:rPr sz="1867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spc="-27" dirty="0">
                <a:solidFill>
                  <a:srgbClr val="D13368"/>
                </a:solidFill>
                <a:latin typeface="Roboto"/>
                <a:cs typeface="Roboto"/>
              </a:rPr>
              <a:t>Sink</a:t>
            </a:r>
            <a:endParaRPr sz="18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497828" defTabSz="1219170">
              <a:buFontTx/>
              <a:buAutoNum type="alphaLcPeriod"/>
              <a:tabLst>
                <a:tab pos="1194617" algn="l"/>
              </a:tabLst>
            </a:pP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QT</a:t>
            </a:r>
            <a:r>
              <a:rPr sz="1867" b="1" kern="0" spc="-10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GUI</a:t>
            </a:r>
            <a:r>
              <a:rPr sz="1867" b="1" kern="0" spc="-10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Time</a:t>
            </a:r>
            <a:r>
              <a:rPr sz="1867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spc="-27" dirty="0">
                <a:solidFill>
                  <a:srgbClr val="D13368"/>
                </a:solidFill>
                <a:latin typeface="Roboto"/>
                <a:cs typeface="Roboto"/>
              </a:rPr>
              <a:t>Sink</a:t>
            </a:r>
            <a:endParaRPr sz="18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marR="6773" indent="-568946" defTabSz="1219170">
              <a:spcBef>
                <a:spcPts val="1313"/>
              </a:spcBef>
              <a:buFontTx/>
              <a:buAutoNum type="arabicPeriod" startAt="2"/>
              <a:tabLst>
                <a:tab pos="585031" algn="l"/>
              </a:tabLst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Create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replica</a:t>
            </a:r>
            <a:r>
              <a:rPr sz="2400" b="1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of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GNU</a:t>
            </a:r>
            <a:r>
              <a:rPr sz="2400" b="1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Radio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project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called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basic_capture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shown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on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next</a:t>
            </a:r>
            <a:r>
              <a:rPr sz="2400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page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.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007199" y="4612534"/>
            <a:ext cx="2177627" cy="1641687"/>
          </a:xfrm>
          <a:custGeom>
            <a:avLst/>
            <a:gdLst/>
            <a:ahLst/>
            <a:cxnLst/>
            <a:rect l="l" t="t" r="r" b="b"/>
            <a:pathLst>
              <a:path w="1633220" h="1231264">
                <a:moveTo>
                  <a:pt x="1325399" y="1231199"/>
                </a:moveTo>
                <a:lnTo>
                  <a:pt x="1325399" y="1077299"/>
                </a:lnTo>
                <a:lnTo>
                  <a:pt x="538649" y="1077299"/>
                </a:lnTo>
                <a:lnTo>
                  <a:pt x="489621" y="1075098"/>
                </a:lnTo>
                <a:lnTo>
                  <a:pt x="441826" y="1068621"/>
                </a:lnTo>
                <a:lnTo>
                  <a:pt x="395455" y="1058058"/>
                </a:lnTo>
                <a:lnTo>
                  <a:pt x="350697" y="1043600"/>
                </a:lnTo>
                <a:lnTo>
                  <a:pt x="307743" y="1025437"/>
                </a:lnTo>
                <a:lnTo>
                  <a:pt x="266782" y="1003758"/>
                </a:lnTo>
                <a:lnTo>
                  <a:pt x="228006" y="978754"/>
                </a:lnTo>
                <a:lnTo>
                  <a:pt x="191604" y="950616"/>
                </a:lnTo>
                <a:lnTo>
                  <a:pt x="157766" y="919533"/>
                </a:lnTo>
                <a:lnTo>
                  <a:pt x="126683" y="885695"/>
                </a:lnTo>
                <a:lnTo>
                  <a:pt x="98545" y="849293"/>
                </a:lnTo>
                <a:lnTo>
                  <a:pt x="73541" y="810516"/>
                </a:lnTo>
                <a:lnTo>
                  <a:pt x="51838" y="769499"/>
                </a:lnTo>
                <a:lnTo>
                  <a:pt x="33699" y="726602"/>
                </a:lnTo>
                <a:lnTo>
                  <a:pt x="19241" y="681844"/>
                </a:lnTo>
                <a:lnTo>
                  <a:pt x="8678" y="635473"/>
                </a:lnTo>
                <a:lnTo>
                  <a:pt x="2201" y="587678"/>
                </a:lnTo>
                <a:lnTo>
                  <a:pt x="0" y="538649"/>
                </a:lnTo>
                <a:lnTo>
                  <a:pt x="0" y="0"/>
                </a:lnTo>
                <a:lnTo>
                  <a:pt x="307799" y="0"/>
                </a:lnTo>
                <a:lnTo>
                  <a:pt x="307799" y="538649"/>
                </a:lnTo>
                <a:lnTo>
                  <a:pt x="312490" y="585174"/>
                </a:lnTo>
                <a:lnTo>
                  <a:pt x="325941" y="628507"/>
                </a:lnTo>
                <a:lnTo>
                  <a:pt x="347225" y="667720"/>
                </a:lnTo>
                <a:lnTo>
                  <a:pt x="375414" y="701885"/>
                </a:lnTo>
                <a:lnTo>
                  <a:pt x="409579" y="730074"/>
                </a:lnTo>
                <a:lnTo>
                  <a:pt x="448792" y="751358"/>
                </a:lnTo>
                <a:lnTo>
                  <a:pt x="492125" y="764809"/>
                </a:lnTo>
                <a:lnTo>
                  <a:pt x="538649" y="769499"/>
                </a:lnTo>
                <a:lnTo>
                  <a:pt x="1479299" y="769499"/>
                </a:lnTo>
                <a:lnTo>
                  <a:pt x="1633199" y="923399"/>
                </a:lnTo>
                <a:lnTo>
                  <a:pt x="1325399" y="1231199"/>
                </a:lnTo>
                <a:close/>
              </a:path>
              <a:path w="1633220" h="1231264">
                <a:moveTo>
                  <a:pt x="1479299" y="769499"/>
                </a:moveTo>
                <a:lnTo>
                  <a:pt x="1325399" y="769499"/>
                </a:lnTo>
                <a:lnTo>
                  <a:pt x="1325399" y="615599"/>
                </a:lnTo>
                <a:lnTo>
                  <a:pt x="1479299" y="769499"/>
                </a:lnTo>
                <a:close/>
              </a:path>
            </a:pathLst>
          </a:custGeom>
          <a:solidFill>
            <a:srgbClr val="D13368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2347801" y="1733665"/>
            <a:ext cx="8826500" cy="5099472"/>
            <a:chOff x="1760850" y="1300249"/>
            <a:chExt cx="6619875" cy="3824604"/>
          </a:xfrm>
        </p:grpSpPr>
        <p:pic>
          <p:nvPicPr>
            <p:cNvPr id="8" name="object 8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875350" y="1403624"/>
              <a:ext cx="4567250" cy="200512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099000" y="1851673"/>
              <a:ext cx="1216674" cy="72007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7094237" y="1846910"/>
              <a:ext cx="1226820" cy="729615"/>
            </a:xfrm>
            <a:custGeom>
              <a:avLst/>
              <a:gdLst/>
              <a:ahLst/>
              <a:cxnLst/>
              <a:rect l="l" t="t" r="r" b="b"/>
              <a:pathLst>
                <a:path w="1226820" h="729614">
                  <a:moveTo>
                    <a:pt x="0" y="0"/>
                  </a:moveTo>
                  <a:lnTo>
                    <a:pt x="1226199" y="0"/>
                  </a:lnTo>
                  <a:lnTo>
                    <a:pt x="1226199" y="729599"/>
                  </a:lnTo>
                  <a:lnTo>
                    <a:pt x="0" y="7295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17575" y="1314667"/>
              <a:ext cx="989849" cy="420732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6812812" y="1305012"/>
              <a:ext cx="999490" cy="435609"/>
            </a:xfrm>
            <a:custGeom>
              <a:avLst/>
              <a:gdLst/>
              <a:ahLst/>
              <a:cxnLst/>
              <a:rect l="l" t="t" r="r" b="b"/>
              <a:pathLst>
                <a:path w="999490" h="435610">
                  <a:moveTo>
                    <a:pt x="0" y="0"/>
                  </a:moveTo>
                  <a:lnTo>
                    <a:pt x="999374" y="0"/>
                  </a:lnTo>
                  <a:lnTo>
                    <a:pt x="999374" y="435149"/>
                  </a:lnTo>
                  <a:lnTo>
                    <a:pt x="0" y="4351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70375" y="3283637"/>
              <a:ext cx="1052500" cy="503666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765612" y="3278874"/>
              <a:ext cx="1062355" cy="541655"/>
            </a:xfrm>
            <a:custGeom>
              <a:avLst/>
              <a:gdLst/>
              <a:ahLst/>
              <a:cxnLst/>
              <a:rect l="l" t="t" r="r" b="b"/>
              <a:pathLst>
                <a:path w="1062355" h="541654">
                  <a:moveTo>
                    <a:pt x="0" y="0"/>
                  </a:moveTo>
                  <a:lnTo>
                    <a:pt x="1062025" y="0"/>
                  </a:lnTo>
                  <a:lnTo>
                    <a:pt x="1062025" y="541099"/>
                  </a:lnTo>
                  <a:lnTo>
                    <a:pt x="0" y="5410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5" name="object 15"/>
            <p:cNvPicPr/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486750" y="3549425"/>
              <a:ext cx="2123676" cy="156559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481987" y="3544662"/>
              <a:ext cx="2133600" cy="1575435"/>
            </a:xfrm>
            <a:custGeom>
              <a:avLst/>
              <a:gdLst/>
              <a:ahLst/>
              <a:cxnLst/>
              <a:rect l="l" t="t" r="r" b="b"/>
              <a:pathLst>
                <a:path w="2133600" h="1575435">
                  <a:moveTo>
                    <a:pt x="0" y="0"/>
                  </a:moveTo>
                  <a:lnTo>
                    <a:pt x="2133201" y="0"/>
                  </a:lnTo>
                  <a:lnTo>
                    <a:pt x="2133201" y="1575124"/>
                  </a:lnTo>
                  <a:lnTo>
                    <a:pt x="0" y="15751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3486750" y="4723853"/>
              <a:ext cx="2124075" cy="250825"/>
            </a:xfrm>
            <a:custGeom>
              <a:avLst/>
              <a:gdLst/>
              <a:ahLst/>
              <a:cxnLst/>
              <a:rect l="l" t="t" r="r" b="b"/>
              <a:pathLst>
                <a:path w="2124075" h="250825">
                  <a:moveTo>
                    <a:pt x="0" y="0"/>
                  </a:moveTo>
                  <a:lnTo>
                    <a:pt x="2123699" y="0"/>
                  </a:lnTo>
                  <a:lnTo>
                    <a:pt x="2123699" y="250499"/>
                  </a:lnTo>
                  <a:lnTo>
                    <a:pt x="0" y="2504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099000" y="2875860"/>
              <a:ext cx="1271774" cy="1560826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7094237" y="2839537"/>
              <a:ext cx="1281430" cy="1607820"/>
            </a:xfrm>
            <a:custGeom>
              <a:avLst/>
              <a:gdLst/>
              <a:ahLst/>
              <a:cxnLst/>
              <a:rect l="l" t="t" r="r" b="b"/>
              <a:pathLst>
                <a:path w="1281429" h="1607820">
                  <a:moveTo>
                    <a:pt x="0" y="0"/>
                  </a:moveTo>
                  <a:lnTo>
                    <a:pt x="1281299" y="0"/>
                  </a:lnTo>
                  <a:lnTo>
                    <a:pt x="1281299" y="1607650"/>
                  </a:lnTo>
                  <a:lnTo>
                    <a:pt x="0" y="16076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5216075" y="1897274"/>
              <a:ext cx="921385" cy="136525"/>
            </a:xfrm>
            <a:custGeom>
              <a:avLst/>
              <a:gdLst/>
              <a:ahLst/>
              <a:cxnLst/>
              <a:rect l="l" t="t" r="r" b="b"/>
              <a:pathLst>
                <a:path w="921385" h="136525">
                  <a:moveTo>
                    <a:pt x="0" y="0"/>
                  </a:moveTo>
                  <a:lnTo>
                    <a:pt x="920999" y="0"/>
                  </a:lnTo>
                  <a:lnTo>
                    <a:pt x="920999" y="135899"/>
                  </a:lnTo>
                  <a:lnTo>
                    <a:pt x="0" y="135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1" name="object 21"/>
            <p:cNvPicPr/>
            <p:nvPr/>
          </p:nvPicPr>
          <p:blipFill>
            <a:blip r:embed="rId9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813350" y="3290079"/>
              <a:ext cx="256656" cy="26887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0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34049" y="3277936"/>
              <a:ext cx="81106" cy="241551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6272152" y="1577024"/>
              <a:ext cx="545465" cy="153035"/>
            </a:xfrm>
            <a:custGeom>
              <a:avLst/>
              <a:gdLst/>
              <a:ahLst/>
              <a:cxnLst/>
              <a:rect l="l" t="t" r="r" b="b"/>
              <a:pathLst>
                <a:path w="545465" h="153035">
                  <a:moveTo>
                    <a:pt x="545422" y="0"/>
                  </a:moveTo>
                  <a:lnTo>
                    <a:pt x="0" y="152518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4" name="object 24"/>
            <p:cNvPicPr/>
            <p:nvPr/>
          </p:nvPicPr>
          <p:blipFill>
            <a:blip r:embed="rId11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179370" y="1689715"/>
              <a:ext cx="110780" cy="79656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6535865" y="2401924"/>
              <a:ext cx="563245" cy="125730"/>
            </a:xfrm>
            <a:custGeom>
              <a:avLst/>
              <a:gdLst/>
              <a:ahLst/>
              <a:cxnLst/>
              <a:rect l="l" t="t" r="r" b="b"/>
              <a:pathLst>
                <a:path w="563245" h="125730">
                  <a:moveTo>
                    <a:pt x="563134" y="0"/>
                  </a:moveTo>
                  <a:lnTo>
                    <a:pt x="0" y="125446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6" name="object 26"/>
            <p:cNvPicPr/>
            <p:nvPr/>
          </p:nvPicPr>
          <p:blipFill>
            <a:blip r:embed="rId1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441957" y="2487134"/>
              <a:ext cx="110274" cy="80475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6340177" y="3341666"/>
              <a:ext cx="758825" cy="763905"/>
            </a:xfrm>
            <a:custGeom>
              <a:avLst/>
              <a:gdLst/>
              <a:ahLst/>
              <a:cxnLst/>
              <a:rect l="l" t="t" r="r" b="b"/>
              <a:pathLst>
                <a:path w="758825" h="763904">
                  <a:moveTo>
                    <a:pt x="758822" y="763433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8" name="object 28"/>
            <p:cNvPicPr/>
            <p:nvPr/>
          </p:nvPicPr>
          <p:blipFill>
            <a:blip r:embed="rId1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269707" y="3270826"/>
              <a:ext cx="102310" cy="102546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3755575" y="1668674"/>
              <a:ext cx="549275" cy="136525"/>
            </a:xfrm>
            <a:custGeom>
              <a:avLst/>
              <a:gdLst/>
              <a:ahLst/>
              <a:cxnLst/>
              <a:rect l="l" t="t" r="r" b="b"/>
              <a:pathLst>
                <a:path w="549275" h="136525">
                  <a:moveTo>
                    <a:pt x="0" y="0"/>
                  </a:moveTo>
                  <a:lnTo>
                    <a:pt x="548699" y="0"/>
                  </a:lnTo>
                  <a:lnTo>
                    <a:pt x="548699" y="135899"/>
                  </a:lnTo>
                  <a:lnTo>
                    <a:pt x="0" y="135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30" name="object 30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477000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8 </a:t>
            </a:r>
            <a:r>
              <a:rPr sz="3600" dirty="0">
                <a:solidFill>
                  <a:srgbClr val="D13368"/>
                </a:solidFill>
              </a:rPr>
              <a:t>Duplicate</a:t>
            </a:r>
            <a:r>
              <a:rPr sz="3600" spc="-10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2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0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sp>
        <p:nvSpPr>
          <p:cNvPr id="31" name="object 31"/>
          <p:cNvSpPr txBox="1"/>
          <p:nvPr/>
        </p:nvSpPr>
        <p:spPr>
          <a:xfrm>
            <a:off x="367542" y="6071612"/>
            <a:ext cx="3516207" cy="4744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3740"/>
              </a:lnSpc>
            </a:pPr>
            <a:r>
              <a:rPr sz="3200" b="1" u="heavy" kern="0" spc="-2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WITHOUT</a:t>
            </a:r>
            <a:r>
              <a:rPr sz="3200" b="1" u="heavy" kern="0" spc="-14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88077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963333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4" name="object 4"/>
          <p:cNvSpPr/>
          <p:nvPr/>
        </p:nvSpPr>
        <p:spPr>
          <a:xfrm>
            <a:off x="10885182" y="6233243"/>
            <a:ext cx="1307253" cy="624840"/>
          </a:xfrm>
          <a:custGeom>
            <a:avLst/>
            <a:gdLst/>
            <a:ahLst/>
            <a:cxnLst/>
            <a:rect l="l" t="t" r="r" b="b"/>
            <a:pathLst>
              <a:path w="980440" h="468629">
                <a:moveTo>
                  <a:pt x="980114" y="468567"/>
                </a:moveTo>
                <a:lnTo>
                  <a:pt x="963319" y="468567"/>
                </a:lnTo>
                <a:lnTo>
                  <a:pt x="0" y="0"/>
                </a:lnTo>
                <a:lnTo>
                  <a:pt x="980114" y="0"/>
                </a:lnTo>
                <a:lnTo>
                  <a:pt x="980114" y="468567"/>
                </a:lnTo>
                <a:close/>
              </a:path>
            </a:pathLst>
          </a:custGeom>
          <a:solidFill>
            <a:srgbClr val="9B254D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572536" y="6233234"/>
            <a:ext cx="1319107" cy="307841"/>
          </a:xfrm>
          <a:prstGeom prst="rect">
            <a:avLst/>
          </a:prstGeom>
          <a:solidFill>
            <a:srgbClr val="D13368"/>
          </a:solidFill>
        </p:spPr>
        <p:txBody>
          <a:bodyPr vert="horz" wrap="square" lIns="0" tIns="142240" rIns="0" bIns="0" rtlCol="0">
            <a:spAutoFit/>
          </a:bodyPr>
          <a:lstStyle/>
          <a:p>
            <a:pPr marL="113450" defTabSz="1219170">
              <a:spcBef>
                <a:spcPts val="1120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09133" y="1733666"/>
            <a:ext cx="10664612" cy="4979247"/>
            <a:chOff x="381849" y="1300249"/>
            <a:chExt cx="7998459" cy="3734435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45862" y="1403625"/>
              <a:ext cx="5452567" cy="2452577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098999" y="1851673"/>
              <a:ext cx="1216674" cy="720074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094237" y="1846910"/>
              <a:ext cx="1226820" cy="729615"/>
            </a:xfrm>
            <a:custGeom>
              <a:avLst/>
              <a:gdLst/>
              <a:ahLst/>
              <a:cxnLst/>
              <a:rect l="l" t="t" r="r" b="b"/>
              <a:pathLst>
                <a:path w="1226820" h="729614">
                  <a:moveTo>
                    <a:pt x="0" y="0"/>
                  </a:moveTo>
                  <a:lnTo>
                    <a:pt x="1226199" y="0"/>
                  </a:lnTo>
                  <a:lnTo>
                    <a:pt x="1226199" y="729599"/>
                  </a:lnTo>
                  <a:lnTo>
                    <a:pt x="0" y="7295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17574" y="1314667"/>
              <a:ext cx="989849" cy="42073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812812" y="1305012"/>
              <a:ext cx="999490" cy="435609"/>
            </a:xfrm>
            <a:custGeom>
              <a:avLst/>
              <a:gdLst/>
              <a:ahLst/>
              <a:cxnLst/>
              <a:rect l="l" t="t" r="r" b="b"/>
              <a:pathLst>
                <a:path w="999490" h="435610">
                  <a:moveTo>
                    <a:pt x="0" y="0"/>
                  </a:moveTo>
                  <a:lnTo>
                    <a:pt x="999374" y="0"/>
                  </a:lnTo>
                  <a:lnTo>
                    <a:pt x="999374" y="435149"/>
                  </a:lnTo>
                  <a:lnTo>
                    <a:pt x="0" y="4351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2" name="object 12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1374" y="3734862"/>
              <a:ext cx="1052500" cy="503666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6612" y="3730099"/>
              <a:ext cx="1062355" cy="541655"/>
            </a:xfrm>
            <a:custGeom>
              <a:avLst/>
              <a:gdLst/>
              <a:ahLst/>
              <a:cxnLst/>
              <a:rect l="l" t="t" r="r" b="b"/>
              <a:pathLst>
                <a:path w="1062355" h="541654">
                  <a:moveTo>
                    <a:pt x="0" y="0"/>
                  </a:moveTo>
                  <a:lnTo>
                    <a:pt x="1062025" y="0"/>
                  </a:lnTo>
                  <a:lnTo>
                    <a:pt x="1062025" y="541099"/>
                  </a:lnTo>
                  <a:lnTo>
                    <a:pt x="0" y="5410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397348" y="3459350"/>
              <a:ext cx="1554275" cy="1565599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3392585" y="3454587"/>
              <a:ext cx="1564005" cy="1575435"/>
            </a:xfrm>
            <a:custGeom>
              <a:avLst/>
              <a:gdLst/>
              <a:ahLst/>
              <a:cxnLst/>
              <a:rect l="l" t="t" r="r" b="b"/>
              <a:pathLst>
                <a:path w="1564004" h="1575435">
                  <a:moveTo>
                    <a:pt x="0" y="0"/>
                  </a:moveTo>
                  <a:lnTo>
                    <a:pt x="1563800" y="0"/>
                  </a:lnTo>
                  <a:lnTo>
                    <a:pt x="1563800" y="1575124"/>
                  </a:lnTo>
                  <a:lnTo>
                    <a:pt x="0" y="15751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3397350" y="4627979"/>
              <a:ext cx="1554480" cy="265430"/>
            </a:xfrm>
            <a:custGeom>
              <a:avLst/>
              <a:gdLst/>
              <a:ahLst/>
              <a:cxnLst/>
              <a:rect l="l" t="t" r="r" b="b"/>
              <a:pathLst>
                <a:path w="1554479" h="265429">
                  <a:moveTo>
                    <a:pt x="0" y="0"/>
                  </a:moveTo>
                  <a:lnTo>
                    <a:pt x="1554299" y="0"/>
                  </a:lnTo>
                  <a:lnTo>
                    <a:pt x="1554299" y="264899"/>
                  </a:lnTo>
                  <a:lnTo>
                    <a:pt x="0" y="264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7" name="object 17"/>
            <p:cNvPicPr/>
            <p:nvPr/>
          </p:nvPicPr>
          <p:blipFill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098999" y="2875860"/>
              <a:ext cx="1271774" cy="1560826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7094237" y="2839537"/>
              <a:ext cx="1281430" cy="1607820"/>
            </a:xfrm>
            <a:custGeom>
              <a:avLst/>
              <a:gdLst/>
              <a:ahLst/>
              <a:cxnLst/>
              <a:rect l="l" t="t" r="r" b="b"/>
              <a:pathLst>
                <a:path w="1281429" h="1607820">
                  <a:moveTo>
                    <a:pt x="0" y="0"/>
                  </a:moveTo>
                  <a:lnTo>
                    <a:pt x="1281299" y="0"/>
                  </a:lnTo>
                  <a:lnTo>
                    <a:pt x="1281299" y="1607650"/>
                  </a:lnTo>
                  <a:lnTo>
                    <a:pt x="0" y="16076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388425" y="2287495"/>
              <a:ext cx="989965" cy="136525"/>
            </a:xfrm>
            <a:custGeom>
              <a:avLst/>
              <a:gdLst/>
              <a:ahLst/>
              <a:cxnLst/>
              <a:rect l="l" t="t" r="r" b="b"/>
              <a:pathLst>
                <a:path w="989964" h="136525">
                  <a:moveTo>
                    <a:pt x="0" y="0"/>
                  </a:moveTo>
                  <a:lnTo>
                    <a:pt x="989699" y="0"/>
                  </a:lnTo>
                  <a:lnTo>
                    <a:pt x="989699" y="135899"/>
                  </a:lnTo>
                  <a:lnTo>
                    <a:pt x="0" y="135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0" name="object 20"/>
            <p:cNvPicPr/>
            <p:nvPr/>
          </p:nvPicPr>
          <p:blipFill>
            <a:blip r:embed="rId9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434350" y="3741304"/>
              <a:ext cx="256657" cy="26887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794063" y="3738300"/>
              <a:ext cx="497205" cy="223520"/>
            </a:xfrm>
            <a:custGeom>
              <a:avLst/>
              <a:gdLst/>
              <a:ahLst/>
              <a:cxnLst/>
              <a:rect l="l" t="t" r="r" b="b"/>
              <a:pathLst>
                <a:path w="497204" h="223520">
                  <a:moveTo>
                    <a:pt x="0" y="0"/>
                  </a:moveTo>
                  <a:lnTo>
                    <a:pt x="496932" y="223172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2" name="object 22"/>
            <p:cNvPicPr/>
            <p:nvPr/>
          </p:nvPicPr>
          <p:blipFill>
            <a:blip r:embed="rId10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68579" y="3923244"/>
              <a:ext cx="110803" cy="83170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6454877" y="1577024"/>
              <a:ext cx="363220" cy="482600"/>
            </a:xfrm>
            <a:custGeom>
              <a:avLst/>
              <a:gdLst/>
              <a:ahLst/>
              <a:cxnLst/>
              <a:rect l="l" t="t" r="r" b="b"/>
              <a:pathLst>
                <a:path w="363220" h="482600">
                  <a:moveTo>
                    <a:pt x="362697" y="0"/>
                  </a:moveTo>
                  <a:lnTo>
                    <a:pt x="0" y="482251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4" name="object 24"/>
            <p:cNvPicPr/>
            <p:nvPr/>
          </p:nvPicPr>
          <p:blipFill>
            <a:blip r:embed="rId11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393389" y="2030838"/>
              <a:ext cx="96159" cy="107054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6762046" y="2402062"/>
              <a:ext cx="337185" cy="340360"/>
            </a:xfrm>
            <a:custGeom>
              <a:avLst/>
              <a:gdLst/>
              <a:ahLst/>
              <a:cxnLst/>
              <a:rect l="l" t="t" r="r" b="b"/>
              <a:pathLst>
                <a:path w="337184" h="340360">
                  <a:moveTo>
                    <a:pt x="336883" y="0"/>
                  </a:moveTo>
                  <a:lnTo>
                    <a:pt x="0" y="340273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6" name="object 26"/>
            <p:cNvPicPr/>
            <p:nvPr/>
          </p:nvPicPr>
          <p:blipFill>
            <a:blip r:embed="rId1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691699" y="2710673"/>
              <a:ext cx="102233" cy="102622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6614094" y="3895204"/>
              <a:ext cx="485140" cy="210185"/>
            </a:xfrm>
            <a:custGeom>
              <a:avLst/>
              <a:gdLst/>
              <a:ahLst/>
              <a:cxnLst/>
              <a:rect l="l" t="t" r="r" b="b"/>
              <a:pathLst>
                <a:path w="485140" h="210185">
                  <a:moveTo>
                    <a:pt x="484905" y="209895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8" name="object 28"/>
            <p:cNvPicPr/>
            <p:nvPr/>
          </p:nvPicPr>
          <p:blipFill>
            <a:blip r:embed="rId1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525232" y="3851338"/>
              <a:ext cx="110885" cy="82267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3444900" y="1817899"/>
              <a:ext cx="888365" cy="136525"/>
            </a:xfrm>
            <a:custGeom>
              <a:avLst/>
              <a:gdLst/>
              <a:ahLst/>
              <a:cxnLst/>
              <a:rect l="l" t="t" r="r" b="b"/>
              <a:pathLst>
                <a:path w="888364" h="136525">
                  <a:moveTo>
                    <a:pt x="0" y="0"/>
                  </a:moveTo>
                  <a:lnTo>
                    <a:pt x="888299" y="0"/>
                  </a:lnTo>
                  <a:lnTo>
                    <a:pt x="888299" y="135899"/>
                  </a:lnTo>
                  <a:lnTo>
                    <a:pt x="0" y="135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30" name="object 30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477000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8 </a:t>
            </a:r>
            <a:r>
              <a:rPr sz="3600" dirty="0">
                <a:solidFill>
                  <a:srgbClr val="D13368"/>
                </a:solidFill>
              </a:rPr>
              <a:t>Duplicate</a:t>
            </a:r>
            <a:r>
              <a:rPr sz="3600" spc="-10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2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0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sp>
        <p:nvSpPr>
          <p:cNvPr id="32" name="object 32"/>
          <p:cNvSpPr txBox="1"/>
          <p:nvPr/>
        </p:nvSpPr>
        <p:spPr>
          <a:xfrm>
            <a:off x="9669716" y="6530881"/>
            <a:ext cx="806027" cy="171051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defTabSz="1219170">
              <a:spcBef>
                <a:spcPts val="53"/>
              </a:spcBef>
            </a:pP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67542" y="6042243"/>
            <a:ext cx="2729652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</a:t>
            </a:r>
            <a:r>
              <a:rPr sz="3200" b="1" u="heavy" kern="0" spc="-14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173788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9 </a:t>
            </a:r>
            <a:r>
              <a:rPr sz="3600" dirty="0">
                <a:solidFill>
                  <a:srgbClr val="D13368"/>
                </a:solidFill>
              </a:rPr>
              <a:t>Execute</a:t>
            </a:r>
            <a:r>
              <a:rPr sz="3600" spc="-14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4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2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grpSp>
        <p:nvGrpSpPr>
          <p:cNvPr id="8" name="object 8"/>
          <p:cNvGrpSpPr/>
          <p:nvPr/>
        </p:nvGrpSpPr>
        <p:grpSpPr>
          <a:xfrm>
            <a:off x="7105296" y="2130527"/>
            <a:ext cx="4786205" cy="3208020"/>
            <a:chOff x="5328972" y="1597895"/>
            <a:chExt cx="3589654" cy="2406015"/>
          </a:xfrm>
        </p:grpSpPr>
        <p:pic>
          <p:nvPicPr>
            <p:cNvPr id="9" name="object 9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444274" y="1607420"/>
              <a:ext cx="3464221" cy="2320725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333734" y="1602657"/>
              <a:ext cx="3580129" cy="2396490"/>
            </a:xfrm>
            <a:custGeom>
              <a:avLst/>
              <a:gdLst/>
              <a:ahLst/>
              <a:cxnLst/>
              <a:rect l="l" t="t" r="r" b="b"/>
              <a:pathLst>
                <a:path w="3580129" h="2396490">
                  <a:moveTo>
                    <a:pt x="0" y="0"/>
                  </a:moveTo>
                  <a:lnTo>
                    <a:pt x="3579523" y="0"/>
                  </a:lnTo>
                  <a:lnTo>
                    <a:pt x="3579523" y="2396179"/>
                  </a:lnTo>
                  <a:lnTo>
                    <a:pt x="0" y="239617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72C4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8313823" y="5543910"/>
            <a:ext cx="351620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u="heavy" kern="0" spc="-2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WITHOUT</a:t>
            </a:r>
            <a:r>
              <a:rPr sz="3200" b="1" u="heavy" kern="0" spc="-14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1551283" y="1907432"/>
            <a:ext cx="4619413" cy="4718472"/>
            <a:chOff x="1163462" y="1430574"/>
            <a:chExt cx="3464560" cy="3538854"/>
          </a:xfrm>
        </p:grpSpPr>
        <p:pic>
          <p:nvPicPr>
            <p:cNvPr id="13" name="object 13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172987" y="1440100"/>
              <a:ext cx="3445219" cy="3519250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168225" y="1435337"/>
              <a:ext cx="3455035" cy="3529329"/>
            </a:xfrm>
            <a:custGeom>
              <a:avLst/>
              <a:gdLst/>
              <a:ahLst/>
              <a:cxnLst/>
              <a:rect l="l" t="t" r="r" b="b"/>
              <a:pathLst>
                <a:path w="3455035" h="3529329">
                  <a:moveTo>
                    <a:pt x="0" y="0"/>
                  </a:moveTo>
                  <a:lnTo>
                    <a:pt x="3454744" y="0"/>
                  </a:lnTo>
                  <a:lnTo>
                    <a:pt x="3454744" y="3528775"/>
                  </a:lnTo>
                  <a:lnTo>
                    <a:pt x="0" y="352877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510404" y="1891484"/>
            <a:ext cx="4701539" cy="4814993"/>
            <a:chOff x="1132803" y="1418612"/>
            <a:chExt cx="3526154" cy="3611245"/>
          </a:xfrm>
        </p:grpSpPr>
        <p:pic>
          <p:nvPicPr>
            <p:cNvPr id="8" name="object 8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142328" y="1428138"/>
              <a:ext cx="3506549" cy="3591824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137565" y="1423375"/>
              <a:ext cx="3516629" cy="3601720"/>
            </a:xfrm>
            <a:custGeom>
              <a:avLst/>
              <a:gdLst/>
              <a:ahLst/>
              <a:cxnLst/>
              <a:rect l="l" t="t" r="r" b="b"/>
              <a:pathLst>
                <a:path w="3516629" h="3601720">
                  <a:moveTo>
                    <a:pt x="0" y="0"/>
                  </a:moveTo>
                  <a:lnTo>
                    <a:pt x="3516074" y="0"/>
                  </a:lnTo>
                  <a:lnTo>
                    <a:pt x="3516074" y="3601349"/>
                  </a:lnTo>
                  <a:lnTo>
                    <a:pt x="0" y="36013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173788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9 </a:t>
            </a:r>
            <a:r>
              <a:rPr sz="3600" dirty="0">
                <a:solidFill>
                  <a:srgbClr val="D13368"/>
                </a:solidFill>
              </a:rPr>
              <a:t>Execute</a:t>
            </a:r>
            <a:r>
              <a:rPr sz="3600" spc="-14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4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2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grpSp>
        <p:nvGrpSpPr>
          <p:cNvPr id="11" name="object 11"/>
          <p:cNvGrpSpPr/>
          <p:nvPr/>
        </p:nvGrpSpPr>
        <p:grpSpPr>
          <a:xfrm>
            <a:off x="7105296" y="2130527"/>
            <a:ext cx="4786205" cy="3208020"/>
            <a:chOff x="5328972" y="1597895"/>
            <a:chExt cx="3589654" cy="2406015"/>
          </a:xfrm>
        </p:grpSpPr>
        <p:pic>
          <p:nvPicPr>
            <p:cNvPr id="12" name="object 12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444274" y="1607420"/>
              <a:ext cx="3464221" cy="232072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333734" y="1602657"/>
              <a:ext cx="3580129" cy="2396490"/>
            </a:xfrm>
            <a:custGeom>
              <a:avLst/>
              <a:gdLst/>
              <a:ahLst/>
              <a:cxnLst/>
              <a:rect l="l" t="t" r="r" b="b"/>
              <a:pathLst>
                <a:path w="3580129" h="2396490">
                  <a:moveTo>
                    <a:pt x="0" y="0"/>
                  </a:moveTo>
                  <a:lnTo>
                    <a:pt x="3579523" y="0"/>
                  </a:lnTo>
                  <a:lnTo>
                    <a:pt x="3579523" y="2396179"/>
                  </a:lnTo>
                  <a:lnTo>
                    <a:pt x="0" y="239617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72C4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9101422" y="5543910"/>
            <a:ext cx="2729652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</a:t>
            </a:r>
            <a:r>
              <a:rPr sz="3200" b="1" u="heavy" kern="0" spc="-14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594699" y="398536"/>
              <a:ext cx="1068549" cy="1068524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894834" y="4197651"/>
            <a:ext cx="6918113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Replay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a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Key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Fob</a:t>
            </a:r>
            <a:r>
              <a:rPr sz="3200" kern="0" spc="-9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Signal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(basic_replay)</a:t>
            </a:r>
            <a:endParaRPr sz="3200" kern="0" dirty="0">
              <a:latin typeface="Roboto"/>
              <a:cs typeface="Roboto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19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3312727"/>
            <a:ext cx="9915525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dirty="0"/>
              <a:t>SDR</a:t>
            </a:r>
            <a:r>
              <a:rPr sz="5600" spc="-147" dirty="0"/>
              <a:t> </a:t>
            </a:r>
            <a:r>
              <a:rPr sz="5600" spc="-13" dirty="0"/>
              <a:t>Exercise</a:t>
            </a:r>
            <a:r>
              <a:rPr sz="5600" spc="-147" dirty="0"/>
              <a:t> </a:t>
            </a:r>
            <a:r>
              <a:rPr sz="5600" spc="-33" dirty="0"/>
              <a:t>#03</a:t>
            </a:r>
            <a:endParaRPr sz="5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473666" y="3393900"/>
            <a:ext cx="9718887" cy="3464560"/>
            <a:chOff x="1855249" y="2545425"/>
            <a:chExt cx="7289165" cy="259842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64775" y="2554950"/>
              <a:ext cx="4957250" cy="224865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860012" y="2550187"/>
              <a:ext cx="4966970" cy="2258695"/>
            </a:xfrm>
            <a:custGeom>
              <a:avLst/>
              <a:gdLst/>
              <a:ahLst/>
              <a:cxnLst/>
              <a:rect l="l" t="t" r="r" b="b"/>
              <a:pathLst>
                <a:path w="4966970" h="2258695">
                  <a:moveTo>
                    <a:pt x="0" y="0"/>
                  </a:moveTo>
                  <a:lnTo>
                    <a:pt x="4966775" y="0"/>
                  </a:lnTo>
                  <a:lnTo>
                    <a:pt x="4966775" y="2258175"/>
                  </a:lnTo>
                  <a:lnTo>
                    <a:pt x="0" y="225817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20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5342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1</a:t>
            </a:r>
            <a:endParaRPr sz="3600"/>
          </a:p>
          <a:p>
            <a:pPr marL="16933"/>
            <a:r>
              <a:rPr sz="3600" dirty="0">
                <a:solidFill>
                  <a:srgbClr val="D13368"/>
                </a:solidFill>
              </a:rPr>
              <a:t>Plugin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and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ensure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HackRF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is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working</a:t>
            </a:r>
            <a:endParaRPr sz="360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1" y="1737529"/>
            <a:ext cx="4410287" cy="1442340"/>
          </a:xfrm>
          <a:prstGeom prst="rect">
            <a:avLst/>
          </a:prstGeom>
        </p:spPr>
        <p:txBody>
          <a:bodyPr vert="horz" wrap="square" lIns="0" tIns="186267" rIns="0" bIns="0" rtlCol="0">
            <a:spAutoFit/>
          </a:bodyPr>
          <a:lstStyle/>
          <a:p>
            <a:pPr marL="585031" indent="-568098" defTabSz="1219170">
              <a:spcBef>
                <a:spcPts val="1467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Plugin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3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Ensure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is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connected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defTabSz="1219170"/>
            <a:r>
              <a:rPr sz="2267" b="1" kern="0" spc="-13" dirty="0">
                <a:solidFill>
                  <a:srgbClr val="D13368"/>
                </a:solidFill>
                <a:latin typeface="Courier New"/>
                <a:cs typeface="Courier New"/>
              </a:rPr>
              <a:t>hackrf_info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9" name="object 19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21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4294967295"/>
          </p:nvPr>
        </p:nvSpPr>
        <p:spPr>
          <a:xfrm>
            <a:off x="4711700" y="2401888"/>
            <a:ext cx="7480300" cy="2341562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6933">
              <a:spcBef>
                <a:spcPts val="960"/>
              </a:spcBef>
            </a:pPr>
            <a:r>
              <a:rPr spc="-33" dirty="0"/>
              <a:t>GUI</a:t>
            </a:r>
          </a:p>
          <a:p>
            <a:pPr marL="626518" marR="296326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b="0" spc="-47" dirty="0">
                <a:solidFill>
                  <a:srgbClr val="434343"/>
                </a:solidFill>
              </a:rPr>
              <a:t> </a:t>
            </a:r>
            <a:r>
              <a:rPr b="0" spc="-13" dirty="0">
                <a:solidFill>
                  <a:srgbClr val="434343"/>
                </a:solidFill>
              </a:rPr>
              <a:t>“Application</a:t>
            </a:r>
            <a:r>
              <a:rPr b="0" spc="-40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Menu”</a:t>
            </a:r>
            <a:r>
              <a:rPr b="0" spc="-40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b="0" spc="13" dirty="0">
                <a:solidFill>
                  <a:srgbClr val="434343"/>
                </a:solidFill>
              </a:rPr>
              <a:t> </a:t>
            </a:r>
            <a:r>
              <a:rPr spc="-13" dirty="0">
                <a:solidFill>
                  <a:srgbClr val="434343"/>
                </a:solidFill>
              </a:rPr>
              <a:t>bottom </a:t>
            </a:r>
            <a:r>
              <a:rPr dirty="0">
                <a:solidFill>
                  <a:srgbClr val="434343"/>
                </a:solidFill>
              </a:rPr>
              <a:t>left</a:t>
            </a:r>
            <a:r>
              <a:rPr spc="-67" dirty="0">
                <a:solidFill>
                  <a:srgbClr val="434343"/>
                </a:solidFill>
              </a:rPr>
              <a:t> </a:t>
            </a:r>
            <a:r>
              <a:rPr spc="-13" dirty="0">
                <a:solidFill>
                  <a:srgbClr val="434343"/>
                </a:solidFill>
              </a:rPr>
              <a:t>corner</a:t>
            </a:r>
          </a:p>
          <a:p>
            <a:pPr marL="626518" marR="138003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b="0" spc="-5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b="0" spc="-47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r>
              <a:rPr b="0" spc="-5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box</a:t>
            </a:r>
            <a:r>
              <a:rPr b="0" spc="-47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b="0" spc="-5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dirty="0">
                <a:solidFill>
                  <a:srgbClr val="434343"/>
                </a:solidFill>
              </a:rPr>
              <a:t>gnuradio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r>
              <a:rPr b="0" spc="-47" dirty="0">
                <a:solidFill>
                  <a:srgbClr val="434343"/>
                </a:solidFill>
              </a:rPr>
              <a:t> </a:t>
            </a:r>
            <a:r>
              <a:rPr b="0" spc="-33" dirty="0">
                <a:solidFill>
                  <a:srgbClr val="434343"/>
                </a:solidFill>
              </a:rPr>
              <a:t>to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ﬁnd</a:t>
            </a:r>
            <a:r>
              <a:rPr b="0" spc="-3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b="0" spc="-20" dirty="0">
                <a:solidFill>
                  <a:srgbClr val="434343"/>
                </a:solidFill>
              </a:rPr>
              <a:t> </a:t>
            </a:r>
            <a:r>
              <a:rPr b="0" spc="-13" dirty="0">
                <a:solidFill>
                  <a:srgbClr val="434343"/>
                </a:solidFill>
              </a:rPr>
              <a:t>application</a:t>
            </a:r>
          </a:p>
          <a:p>
            <a:pPr marL="625671" indent="-568098">
              <a:spcBef>
                <a:spcPts val="833"/>
              </a:spcBef>
              <a:buFont typeface="Roboto"/>
              <a:buAutoNum type="arabicPeriod"/>
              <a:tabLst>
                <a:tab pos="625671" algn="l"/>
              </a:tabLst>
            </a:pP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b="0" spc="-47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on</a:t>
            </a:r>
            <a:r>
              <a:rPr b="0" spc="-3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b="0" spc="-3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Gqrx</a:t>
            </a:r>
            <a:r>
              <a:rPr b="0" spc="-27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application</a:t>
            </a:r>
            <a:r>
              <a:rPr b="0" spc="-3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b="0" spc="-3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r>
              <a:rPr b="0" spc="-27" dirty="0">
                <a:solidFill>
                  <a:srgbClr val="434343"/>
                </a:solidFill>
              </a:rPr>
              <a:t> </a:t>
            </a:r>
            <a:r>
              <a:rPr b="0" spc="-33" dirty="0">
                <a:solidFill>
                  <a:srgbClr val="434343"/>
                </a:solidFill>
              </a:rPr>
              <a:t>it</a:t>
            </a: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579922"/>
            <a:ext cx="11727280" cy="1184213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2</a:t>
            </a:r>
            <a:endParaRPr sz="3600" dirty="0"/>
          </a:p>
          <a:p>
            <a:pPr marL="131230"/>
            <a:r>
              <a:rPr sz="3600" dirty="0">
                <a:solidFill>
                  <a:srgbClr val="D13368"/>
                </a:solidFill>
              </a:rPr>
              <a:t>Launch</a:t>
            </a:r>
            <a:r>
              <a:rPr sz="3600" spc="-8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the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GNU</a:t>
            </a:r>
            <a:r>
              <a:rPr sz="3600" b="1" spc="-8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Radio</a:t>
            </a:r>
            <a:r>
              <a:rPr sz="3600" b="1" spc="-7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Companion</a:t>
            </a:r>
            <a:r>
              <a:rPr sz="3600" b="1" spc="-7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application</a:t>
            </a:r>
            <a:endParaRPr sz="3600" dirty="0"/>
          </a:p>
        </p:txBody>
      </p:sp>
      <p:sp>
        <p:nvSpPr>
          <p:cNvPr id="9" name="object 9"/>
          <p:cNvSpPr txBox="1"/>
          <p:nvPr/>
        </p:nvSpPr>
        <p:spPr>
          <a:xfrm>
            <a:off x="668867" y="1877613"/>
            <a:ext cx="124460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1" y="2257598"/>
            <a:ext cx="4083473" cy="74813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1.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command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below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>
              <a:spcBef>
                <a:spcPts val="127"/>
              </a:spcBef>
            </a:pPr>
            <a:r>
              <a:rPr sz="2267" b="1" kern="0" spc="-33" dirty="0">
                <a:solidFill>
                  <a:srgbClr val="D13368"/>
                </a:solidFill>
                <a:latin typeface="Courier New"/>
                <a:cs typeface="Courier New"/>
              </a:rPr>
              <a:t>gnuradio-</a:t>
            </a:r>
            <a:r>
              <a:rPr sz="2267" b="1" kern="0" spc="-13" dirty="0">
                <a:solidFill>
                  <a:srgbClr val="D13368"/>
                </a:solidFill>
                <a:latin typeface="Courier New"/>
                <a:cs typeface="Courier New"/>
              </a:rPr>
              <a:t>companion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645503" y="4774601"/>
            <a:ext cx="2768600" cy="1374987"/>
            <a:chOff x="4984127" y="3580951"/>
            <a:chExt cx="2076450" cy="1031240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93652" y="3590477"/>
              <a:ext cx="2056899" cy="101212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988889" y="3585714"/>
              <a:ext cx="2066925" cy="1021715"/>
            </a:xfrm>
            <a:custGeom>
              <a:avLst/>
              <a:gdLst/>
              <a:ahLst/>
              <a:cxnLst/>
              <a:rect l="l" t="t" r="r" b="b"/>
              <a:pathLst>
                <a:path w="2066925" h="1021714">
                  <a:moveTo>
                    <a:pt x="0" y="0"/>
                  </a:moveTo>
                  <a:lnTo>
                    <a:pt x="2066424" y="0"/>
                  </a:lnTo>
                  <a:lnTo>
                    <a:pt x="2066424" y="1021649"/>
                  </a:lnTo>
                  <a:lnTo>
                    <a:pt x="0" y="10216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654437" y="5611728"/>
            <a:ext cx="1109980" cy="3453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02900" y="3354066"/>
            <a:ext cx="5613400" cy="2150533"/>
            <a:chOff x="302175" y="2515549"/>
            <a:chExt cx="4210050" cy="1612900"/>
          </a:xfrm>
        </p:grpSpPr>
        <p:pic>
          <p:nvPicPr>
            <p:cNvPr id="16" name="object 16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1700" y="2525074"/>
              <a:ext cx="4190700" cy="1593427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306938" y="2520312"/>
              <a:ext cx="4200525" cy="1603375"/>
            </a:xfrm>
            <a:custGeom>
              <a:avLst/>
              <a:gdLst/>
              <a:ahLst/>
              <a:cxnLst/>
              <a:rect l="l" t="t" r="r" b="b"/>
              <a:pathLst>
                <a:path w="4200525" h="1603375">
                  <a:moveTo>
                    <a:pt x="0" y="0"/>
                  </a:moveTo>
                  <a:lnTo>
                    <a:pt x="4200225" y="0"/>
                  </a:lnTo>
                  <a:lnTo>
                    <a:pt x="4200225" y="1602952"/>
                  </a:lnTo>
                  <a:lnTo>
                    <a:pt x="0" y="1602952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7791659" y="6217565"/>
            <a:ext cx="475827" cy="3206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540"/>
              </a:lnSpc>
            </a:pP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GUI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7" name="object 7" descr="$PPTXTitle"/>
          <p:cNvSpPr txBox="1"/>
          <p:nvPr/>
        </p:nvSpPr>
        <p:spPr>
          <a:xfrm>
            <a:off x="512967" y="625745"/>
            <a:ext cx="5426287" cy="112509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 defTabSz="1219170">
              <a:spcBef>
                <a:spcPts val="133"/>
              </a:spcBef>
            </a:pP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SDR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Exercise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#03</a:t>
            </a:r>
            <a:r>
              <a:rPr sz="3600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–</a:t>
            </a:r>
            <a:r>
              <a:rPr sz="3600" kern="0" spc="-2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212D73"/>
                </a:solidFill>
                <a:latin typeface="Roboto"/>
                <a:cs typeface="Roboto"/>
              </a:rPr>
              <a:t>Step</a:t>
            </a:r>
            <a:r>
              <a:rPr sz="3600" kern="0" spc="-67" dirty="0">
                <a:solidFill>
                  <a:srgbClr val="212D73"/>
                </a:solidFill>
                <a:latin typeface="Roboto"/>
                <a:cs typeface="Roboto"/>
              </a:rPr>
              <a:t> 3 </a:t>
            </a:r>
            <a:r>
              <a:rPr sz="3600" kern="0" dirty="0">
                <a:solidFill>
                  <a:srgbClr val="D13368"/>
                </a:solidFill>
                <a:latin typeface="Roboto"/>
                <a:cs typeface="Roboto"/>
              </a:rPr>
              <a:t>New</a:t>
            </a:r>
            <a:r>
              <a:rPr sz="3600" kern="0" spc="-9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D13368"/>
                </a:solidFill>
                <a:latin typeface="Roboto"/>
                <a:cs typeface="Roboto"/>
              </a:rPr>
              <a:t>project</a:t>
            </a:r>
            <a:r>
              <a:rPr sz="3600" kern="0" spc="-8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kern="0" spc="-13" dirty="0">
                <a:solidFill>
                  <a:srgbClr val="D13368"/>
                </a:solidFill>
                <a:latin typeface="Roboto"/>
                <a:cs typeface="Roboto"/>
              </a:rPr>
              <a:t>created</a:t>
            </a:r>
            <a:endParaRPr sz="36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0241" y="1877601"/>
            <a:ext cx="891286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1.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Once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GNU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Radio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launches,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it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will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create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new</a:t>
            </a:r>
            <a:r>
              <a:rPr sz="2400" kern="0" spc="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untitled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project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016000" y="2793567"/>
            <a:ext cx="10160000" cy="2743200"/>
            <a:chOff x="762000" y="2095175"/>
            <a:chExt cx="7620000" cy="2057400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1525" y="2104700"/>
              <a:ext cx="7600949" cy="203834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66762" y="2099937"/>
              <a:ext cx="7610475" cy="2047875"/>
            </a:xfrm>
            <a:custGeom>
              <a:avLst/>
              <a:gdLst/>
              <a:ahLst/>
              <a:cxnLst/>
              <a:rect l="l" t="t" r="r" b="b"/>
              <a:pathLst>
                <a:path w="7610475" h="2047875">
                  <a:moveTo>
                    <a:pt x="0" y="0"/>
                  </a:moveTo>
                  <a:lnTo>
                    <a:pt x="7610474" y="0"/>
                  </a:lnTo>
                  <a:lnTo>
                    <a:pt x="7610474" y="2047874"/>
                  </a:lnTo>
                  <a:lnTo>
                    <a:pt x="0" y="20478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22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7" name="object 7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800" y="3854501"/>
            <a:ext cx="5041336" cy="2689833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6079068" y="1906875"/>
            <a:ext cx="1161625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Variable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120441" y="2272633"/>
            <a:ext cx="2473113" cy="965222"/>
          </a:xfrm>
          <a:prstGeom prst="rect">
            <a:avLst/>
          </a:prstGeom>
        </p:spPr>
        <p:txBody>
          <a:bodyPr vert="horz" wrap="square" lIns="0" tIns="122767" rIns="0" bIns="0" rtlCol="0">
            <a:spAutoFit/>
          </a:bodyPr>
          <a:lstStyle/>
          <a:p>
            <a:pPr marL="585031" indent="-568098" defTabSz="1219170">
              <a:spcBef>
                <a:spcPts val="96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ID:</a:t>
            </a:r>
            <a:r>
              <a:rPr sz="2400" b="1" kern="0" spc="-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samp_rate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82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Value:</a:t>
            </a:r>
            <a:r>
              <a:rPr sz="2400" b="1" kern="0" spc="-1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4e6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23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4260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4 </a:t>
            </a:r>
            <a:r>
              <a:rPr sz="3600" dirty="0">
                <a:solidFill>
                  <a:srgbClr val="D13368"/>
                </a:solidFill>
              </a:rPr>
              <a:t>Edit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default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values</a:t>
            </a:r>
            <a:endParaRPr sz="3600"/>
          </a:p>
        </p:txBody>
      </p:sp>
      <p:sp>
        <p:nvSpPr>
          <p:cNvPr id="11" name="object 11"/>
          <p:cNvSpPr txBox="1"/>
          <p:nvPr/>
        </p:nvSpPr>
        <p:spPr>
          <a:xfrm>
            <a:off x="668867" y="1906875"/>
            <a:ext cx="109982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Options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10240" y="2323433"/>
            <a:ext cx="3198707" cy="1283258"/>
          </a:xfrm>
          <a:prstGeom prst="rect">
            <a:avLst/>
          </a:prstGeom>
        </p:spPr>
        <p:txBody>
          <a:bodyPr vert="horz" wrap="square" lIns="0" tIns="71967" rIns="0" bIns="0" rtlCol="0">
            <a:spAutoFit/>
          </a:bodyPr>
          <a:lstStyle/>
          <a:p>
            <a:pPr marL="585031" indent="-568098" defTabSz="1219170">
              <a:spcBef>
                <a:spcPts val="56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ID:</a:t>
            </a:r>
            <a:r>
              <a:rPr sz="2400" b="1" kern="0" spc="-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basic_replay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42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Title:</a:t>
            </a:r>
            <a:r>
              <a:rPr sz="2400" b="1" kern="0" spc="-6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Basic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Replay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433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Author:</a:t>
            </a:r>
            <a:r>
              <a:rPr sz="2400" b="1" kern="0" spc="-12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400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Name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523350" y="3416300"/>
            <a:ext cx="4733713" cy="1727200"/>
            <a:chOff x="4892512" y="2562225"/>
            <a:chExt cx="3550285" cy="1295400"/>
          </a:xfrm>
        </p:grpSpPr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02037" y="2571750"/>
              <a:ext cx="3530624" cy="1275924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897275" y="2566987"/>
              <a:ext cx="3540760" cy="1285875"/>
            </a:xfrm>
            <a:custGeom>
              <a:avLst/>
              <a:gdLst/>
              <a:ahLst/>
              <a:cxnLst/>
              <a:rect l="l" t="t" r="r" b="b"/>
              <a:pathLst>
                <a:path w="3540759" h="1285875">
                  <a:moveTo>
                    <a:pt x="0" y="0"/>
                  </a:moveTo>
                  <a:lnTo>
                    <a:pt x="3540149" y="0"/>
                  </a:lnTo>
                  <a:lnTo>
                    <a:pt x="3540149" y="1285449"/>
                  </a:lnTo>
                  <a:lnTo>
                    <a:pt x="0" y="12854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243638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5 </a:t>
            </a:r>
            <a:r>
              <a:rPr sz="3600" dirty="0">
                <a:solidFill>
                  <a:srgbClr val="D13368"/>
                </a:solidFill>
              </a:rPr>
              <a:t>Duplicate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1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Replay</a:t>
            </a:r>
            <a:r>
              <a:rPr sz="3600" b="1" spc="-100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grpSp>
        <p:nvGrpSpPr>
          <p:cNvPr id="8" name="object 8"/>
          <p:cNvGrpSpPr/>
          <p:nvPr/>
        </p:nvGrpSpPr>
        <p:grpSpPr>
          <a:xfrm>
            <a:off x="721383" y="1799733"/>
            <a:ext cx="10442787" cy="5064760"/>
            <a:chOff x="541037" y="1349800"/>
            <a:chExt cx="7832090" cy="379857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41037" y="1349800"/>
              <a:ext cx="7832066" cy="2868175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716023" y="3046600"/>
              <a:ext cx="1051549" cy="20968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711260" y="3041837"/>
              <a:ext cx="1061085" cy="2101850"/>
            </a:xfrm>
            <a:custGeom>
              <a:avLst/>
              <a:gdLst/>
              <a:ahLst/>
              <a:cxnLst/>
              <a:rect l="l" t="t" r="r" b="b"/>
              <a:pathLst>
                <a:path w="1061085" h="2101850">
                  <a:moveTo>
                    <a:pt x="0" y="2101662"/>
                  </a:moveTo>
                  <a:lnTo>
                    <a:pt x="0" y="0"/>
                  </a:lnTo>
                  <a:lnTo>
                    <a:pt x="1061074" y="0"/>
                  </a:lnTo>
                  <a:lnTo>
                    <a:pt x="1061074" y="2101662"/>
                  </a:lnTo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2540473" y="3002772"/>
              <a:ext cx="226060" cy="2103120"/>
            </a:xfrm>
            <a:custGeom>
              <a:avLst/>
              <a:gdLst/>
              <a:ahLst/>
              <a:cxnLst/>
              <a:rect l="l" t="t" r="r" b="b"/>
              <a:pathLst>
                <a:path w="226060" h="2103120">
                  <a:moveTo>
                    <a:pt x="225701" y="2102752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3" name="object 13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499662" y="2907290"/>
              <a:ext cx="81621" cy="10836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16550" y="3611625"/>
              <a:ext cx="1315599" cy="153187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511787" y="3606862"/>
              <a:ext cx="1325245" cy="1536700"/>
            </a:xfrm>
            <a:custGeom>
              <a:avLst/>
              <a:gdLst/>
              <a:ahLst/>
              <a:cxnLst/>
              <a:rect l="l" t="t" r="r" b="b"/>
              <a:pathLst>
                <a:path w="1325245" h="1536700">
                  <a:moveTo>
                    <a:pt x="0" y="1536637"/>
                  </a:moveTo>
                  <a:lnTo>
                    <a:pt x="0" y="0"/>
                  </a:lnTo>
                  <a:lnTo>
                    <a:pt x="1325124" y="0"/>
                  </a:lnTo>
                  <a:lnTo>
                    <a:pt x="1325124" y="1536637"/>
                  </a:lnTo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324305" y="3370815"/>
              <a:ext cx="346710" cy="1677670"/>
            </a:xfrm>
            <a:custGeom>
              <a:avLst/>
              <a:gdLst/>
              <a:ahLst/>
              <a:cxnLst/>
              <a:rect l="l" t="t" r="r" b="b"/>
              <a:pathLst>
                <a:path w="346710" h="1677670">
                  <a:moveTo>
                    <a:pt x="346194" y="1677259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7" name="object 17"/>
            <p:cNvPicPr/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283964" y="3276624"/>
              <a:ext cx="80681" cy="110076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9157123" y="5718243"/>
            <a:ext cx="2936240" cy="982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3140"/>
              </a:lnSpc>
            </a:pPr>
            <a:r>
              <a:rPr sz="2667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WITHOUT</a:t>
            </a:r>
            <a:r>
              <a:rPr sz="2667" b="1" u="heavy" kern="0" spc="-1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2667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26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29153" marR="1318226" defTabSz="1219170">
              <a:spcBef>
                <a:spcPts val="203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18901" y="1741134"/>
            <a:ext cx="11128999" cy="4119033"/>
          </a:xfrm>
          <a:prstGeom prst="rect">
            <a:avLst/>
          </a:prstGeom>
        </p:spPr>
      </p:pic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243638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5 </a:t>
            </a:r>
            <a:r>
              <a:rPr sz="3600" dirty="0">
                <a:solidFill>
                  <a:srgbClr val="D13368"/>
                </a:solidFill>
              </a:rPr>
              <a:t>Duplicate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1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Replay</a:t>
            </a:r>
            <a:r>
              <a:rPr sz="3600" b="1" spc="-100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grpSp>
        <p:nvGrpSpPr>
          <p:cNvPr id="9" name="object 9"/>
          <p:cNvGrpSpPr/>
          <p:nvPr/>
        </p:nvGrpSpPr>
        <p:grpSpPr>
          <a:xfrm>
            <a:off x="3281459" y="3953093"/>
            <a:ext cx="4507653" cy="2911687"/>
            <a:chOff x="2461094" y="2964819"/>
            <a:chExt cx="3380740" cy="2183765"/>
          </a:xfrm>
        </p:grpSpPr>
        <p:pic>
          <p:nvPicPr>
            <p:cNvPr id="10" name="object 10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716023" y="3046600"/>
              <a:ext cx="1051549" cy="20968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711260" y="3041837"/>
              <a:ext cx="1061085" cy="2101850"/>
            </a:xfrm>
            <a:custGeom>
              <a:avLst/>
              <a:gdLst/>
              <a:ahLst/>
              <a:cxnLst/>
              <a:rect l="l" t="t" r="r" b="b"/>
              <a:pathLst>
                <a:path w="1061085" h="2101850">
                  <a:moveTo>
                    <a:pt x="0" y="2101662"/>
                  </a:moveTo>
                  <a:lnTo>
                    <a:pt x="0" y="0"/>
                  </a:lnTo>
                  <a:lnTo>
                    <a:pt x="1061074" y="0"/>
                  </a:lnTo>
                  <a:lnTo>
                    <a:pt x="1061074" y="2101662"/>
                  </a:lnTo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2501825" y="3060082"/>
              <a:ext cx="264795" cy="2045970"/>
            </a:xfrm>
            <a:custGeom>
              <a:avLst/>
              <a:gdLst/>
              <a:ahLst/>
              <a:cxnLst/>
              <a:rect l="l" t="t" r="r" b="b"/>
              <a:pathLst>
                <a:path w="264794" h="2045970">
                  <a:moveTo>
                    <a:pt x="264349" y="2045442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3" name="object 13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461094" y="2964819"/>
              <a:ext cx="81461" cy="10882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16550" y="3611625"/>
              <a:ext cx="1315599" cy="153187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511787" y="3606862"/>
              <a:ext cx="1325245" cy="1536700"/>
            </a:xfrm>
            <a:custGeom>
              <a:avLst/>
              <a:gdLst/>
              <a:ahLst/>
              <a:cxnLst/>
              <a:rect l="l" t="t" r="r" b="b"/>
              <a:pathLst>
                <a:path w="1325245" h="1536700">
                  <a:moveTo>
                    <a:pt x="0" y="1536637"/>
                  </a:moveTo>
                  <a:lnTo>
                    <a:pt x="0" y="0"/>
                  </a:lnTo>
                  <a:lnTo>
                    <a:pt x="1325124" y="0"/>
                  </a:lnTo>
                  <a:lnTo>
                    <a:pt x="1325124" y="1536637"/>
                  </a:lnTo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271203" y="3443591"/>
              <a:ext cx="399415" cy="1604645"/>
            </a:xfrm>
            <a:custGeom>
              <a:avLst/>
              <a:gdLst/>
              <a:ahLst/>
              <a:cxnLst/>
              <a:rect l="l" t="t" r="r" b="b"/>
              <a:pathLst>
                <a:path w="399414" h="1604645">
                  <a:moveTo>
                    <a:pt x="399296" y="1604483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7" name="object 17"/>
            <p:cNvPicPr/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231144" y="3350174"/>
              <a:ext cx="80118" cy="110540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9669717" y="5718243"/>
            <a:ext cx="2424007" cy="982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0015" defTabSz="1219170">
              <a:lnSpc>
                <a:spcPts val="3140"/>
              </a:lnSpc>
            </a:pPr>
            <a:r>
              <a:rPr sz="2667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</a:t>
            </a:r>
            <a:r>
              <a:rPr sz="2667" b="1" u="heavy" kern="0" spc="-1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2667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26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6933" marR="1317380" defTabSz="1219170">
              <a:spcBef>
                <a:spcPts val="203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088597" y="1831266"/>
            <a:ext cx="10104120" cy="5027505"/>
            <a:chOff x="1566448" y="1373449"/>
            <a:chExt cx="7578090" cy="3770629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5974" y="1382975"/>
              <a:ext cx="4608780" cy="366182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571211" y="1378212"/>
              <a:ext cx="4618355" cy="3671570"/>
            </a:xfrm>
            <a:custGeom>
              <a:avLst/>
              <a:gdLst/>
              <a:ahLst/>
              <a:cxnLst/>
              <a:rect l="l" t="t" r="r" b="b"/>
              <a:pathLst>
                <a:path w="4618355" h="3671570">
                  <a:moveTo>
                    <a:pt x="0" y="0"/>
                  </a:moveTo>
                  <a:lnTo>
                    <a:pt x="4618305" y="0"/>
                  </a:lnTo>
                  <a:lnTo>
                    <a:pt x="4618305" y="3671349"/>
                  </a:lnTo>
                  <a:lnTo>
                    <a:pt x="0" y="36713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942013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6 </a:t>
            </a:r>
            <a:r>
              <a:rPr sz="3600" dirty="0">
                <a:solidFill>
                  <a:srgbClr val="D13368"/>
                </a:solidFill>
              </a:rPr>
              <a:t>Execute</a:t>
            </a:r>
            <a:r>
              <a:rPr sz="3600" spc="-12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3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Replay</a:t>
            </a:r>
            <a:r>
              <a:rPr sz="3600" b="1" spc="-11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sp>
        <p:nvSpPr>
          <p:cNvPr id="10" name="object 10"/>
          <p:cNvSpPr txBox="1"/>
          <p:nvPr/>
        </p:nvSpPr>
        <p:spPr>
          <a:xfrm>
            <a:off x="8313823" y="5573279"/>
            <a:ext cx="3516207" cy="113633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3740"/>
              </a:lnSpc>
            </a:pPr>
            <a:r>
              <a:rPr sz="3200" b="1" u="heavy" kern="0" spc="-2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WITHOUT</a:t>
            </a:r>
            <a:r>
              <a:rPr sz="3200" b="1" u="heavy" kern="0" spc="-14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372412" marR="1054074" defTabSz="1219170">
              <a:spcBef>
                <a:spcPts val="257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088600" y="1831266"/>
            <a:ext cx="10104120" cy="5027505"/>
            <a:chOff x="1566450" y="1373449"/>
            <a:chExt cx="7578090" cy="3770629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5975" y="1382975"/>
              <a:ext cx="4615851" cy="366182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571212" y="1378212"/>
              <a:ext cx="4625975" cy="3671570"/>
            </a:xfrm>
            <a:custGeom>
              <a:avLst/>
              <a:gdLst/>
              <a:ahLst/>
              <a:cxnLst/>
              <a:rect l="l" t="t" r="r" b="b"/>
              <a:pathLst>
                <a:path w="4625975" h="3671570">
                  <a:moveTo>
                    <a:pt x="0" y="0"/>
                  </a:moveTo>
                  <a:lnTo>
                    <a:pt x="4625376" y="0"/>
                  </a:lnTo>
                  <a:lnTo>
                    <a:pt x="4625376" y="3671349"/>
                  </a:lnTo>
                  <a:lnTo>
                    <a:pt x="0" y="36713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 descr="$PPTXTitle"/>
          <p:cNvSpPr txBox="1"/>
          <p:nvPr/>
        </p:nvSpPr>
        <p:spPr>
          <a:xfrm>
            <a:off x="0" y="625745"/>
            <a:ext cx="6454027" cy="112509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 defTabSz="1219170">
              <a:spcBef>
                <a:spcPts val="133"/>
              </a:spcBef>
            </a:pP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SDR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Exercise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#03</a:t>
            </a:r>
            <a:r>
              <a:rPr sz="3600" kern="0" spc="-33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212D73"/>
                </a:solidFill>
                <a:latin typeface="Roboto"/>
                <a:cs typeface="Roboto"/>
              </a:rPr>
              <a:t>–</a:t>
            </a:r>
            <a:r>
              <a:rPr sz="3600" kern="0" spc="-60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212D73"/>
                </a:solidFill>
                <a:latin typeface="Roboto"/>
                <a:cs typeface="Roboto"/>
              </a:rPr>
              <a:t>Step</a:t>
            </a:r>
            <a:r>
              <a:rPr sz="3600" kern="0" spc="-67" dirty="0">
                <a:solidFill>
                  <a:srgbClr val="212D73"/>
                </a:solidFill>
                <a:latin typeface="Roboto"/>
                <a:cs typeface="Roboto"/>
              </a:rPr>
              <a:t> 6 </a:t>
            </a:r>
            <a:r>
              <a:rPr sz="3600" kern="0" dirty="0">
                <a:solidFill>
                  <a:srgbClr val="D13368"/>
                </a:solidFill>
                <a:latin typeface="Roboto"/>
                <a:cs typeface="Roboto"/>
              </a:rPr>
              <a:t>Execute</a:t>
            </a:r>
            <a:r>
              <a:rPr sz="3600" kern="0" spc="-1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b="1" kern="0" dirty="0">
                <a:solidFill>
                  <a:srgbClr val="D13368"/>
                </a:solidFill>
                <a:latin typeface="Roboto"/>
                <a:cs typeface="Roboto"/>
              </a:rPr>
              <a:t>Basic</a:t>
            </a:r>
            <a:r>
              <a:rPr sz="3600" b="1" kern="0" spc="-1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b="1" kern="0" dirty="0">
                <a:solidFill>
                  <a:srgbClr val="D13368"/>
                </a:solidFill>
                <a:latin typeface="Roboto"/>
                <a:cs typeface="Roboto"/>
              </a:rPr>
              <a:t>Replay</a:t>
            </a:r>
            <a:r>
              <a:rPr sz="3600" b="1" kern="0" spc="-1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kern="0" spc="-13" dirty="0">
                <a:solidFill>
                  <a:srgbClr val="D13368"/>
                </a:solidFill>
                <a:latin typeface="Roboto"/>
                <a:cs typeface="Roboto"/>
              </a:rPr>
              <a:t>Project</a:t>
            </a:r>
            <a:endParaRPr sz="3600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01422" y="5543910"/>
            <a:ext cx="2729652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</a:t>
            </a:r>
            <a:r>
              <a:rPr sz="3200" b="1" u="heavy" kern="0" spc="-14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894834" y="4311951"/>
            <a:ext cx="782404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Decode</a:t>
            </a:r>
            <a:r>
              <a:rPr sz="3200" kern="0" spc="-12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Key</a:t>
            </a:r>
            <a:r>
              <a:rPr sz="3200" kern="0" spc="-12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Fob</a:t>
            </a:r>
            <a:r>
              <a:rPr sz="3200" kern="0" spc="-12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Signal</a:t>
            </a:r>
            <a:r>
              <a:rPr sz="3200" kern="0" spc="-120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(advanced_capture)</a:t>
            </a:r>
            <a:endParaRPr sz="3200" kern="0" dirty="0">
              <a:latin typeface="Roboto"/>
              <a:cs typeface="Roboto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28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3363254"/>
            <a:ext cx="9594850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dirty="0"/>
              <a:t>SDR</a:t>
            </a:r>
            <a:r>
              <a:rPr sz="5600" spc="-147" dirty="0"/>
              <a:t> </a:t>
            </a:r>
            <a:r>
              <a:rPr sz="5600" spc="-13" dirty="0"/>
              <a:t>Exercise</a:t>
            </a:r>
            <a:r>
              <a:rPr sz="5600" spc="-147" dirty="0"/>
              <a:t> </a:t>
            </a:r>
            <a:r>
              <a:rPr sz="5600" spc="-33" dirty="0"/>
              <a:t>#04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88077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963333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4583" y="1806234"/>
            <a:ext cx="11397827" cy="5052060"/>
            <a:chOff x="595937" y="1354675"/>
            <a:chExt cx="8548370" cy="3789045"/>
          </a:xfrm>
        </p:grpSpPr>
        <p:sp>
          <p:nvSpPr>
            <p:cNvPr id="5" name="object 5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95937" y="1354675"/>
              <a:ext cx="7952123" cy="3690124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216053" y="4674933"/>
              <a:ext cx="2911475" cy="468630"/>
            </a:xfrm>
            <a:custGeom>
              <a:avLst/>
              <a:gdLst/>
              <a:ahLst/>
              <a:cxnLst/>
              <a:rect l="l" t="t" r="r" b="b"/>
              <a:pathLst>
                <a:path w="2911475" h="468629">
                  <a:moveTo>
                    <a:pt x="963333" y="0"/>
                  </a:moveTo>
                  <a:lnTo>
                    <a:pt x="0" y="468566"/>
                  </a:lnTo>
                  <a:lnTo>
                    <a:pt x="963333" y="468566"/>
                  </a:lnTo>
                  <a:lnTo>
                    <a:pt x="963333" y="0"/>
                  </a:lnTo>
                  <a:close/>
                </a:path>
                <a:path w="2911475" h="468629">
                  <a:moveTo>
                    <a:pt x="2911297" y="468566"/>
                  </a:moveTo>
                  <a:lnTo>
                    <a:pt x="1947964" y="0"/>
                  </a:lnTo>
                  <a:lnTo>
                    <a:pt x="1947964" y="468566"/>
                  </a:lnTo>
                  <a:lnTo>
                    <a:pt x="2911297" y="46856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29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3818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#04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1</a:t>
            </a:r>
            <a:r>
              <a:rPr sz="3600" spc="90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Duplicate</a:t>
            </a:r>
            <a:r>
              <a:rPr sz="3600" spc="-12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Advanced</a:t>
            </a:r>
            <a:r>
              <a:rPr sz="3600" b="1" spc="-14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1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sp>
        <p:nvSpPr>
          <p:cNvPr id="11" name="object 11"/>
          <p:cNvSpPr txBox="1"/>
          <p:nvPr/>
        </p:nvSpPr>
        <p:spPr>
          <a:xfrm>
            <a:off x="9686650" y="6385255"/>
            <a:ext cx="1078653" cy="3181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1219170">
              <a:lnSpc>
                <a:spcPts val="1200"/>
              </a:lnSpc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defTabSz="1219170"/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147850" y="1770633"/>
            <a:ext cx="9044940" cy="5087620"/>
            <a:chOff x="2360887" y="1327974"/>
            <a:chExt cx="6783705" cy="381571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70412" y="1337499"/>
              <a:ext cx="4403174" cy="364982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365649" y="1332737"/>
              <a:ext cx="4413250" cy="3659504"/>
            </a:xfrm>
            <a:custGeom>
              <a:avLst/>
              <a:gdLst/>
              <a:ahLst/>
              <a:cxnLst/>
              <a:rect l="l" t="t" r="r" b="b"/>
              <a:pathLst>
                <a:path w="4413250" h="3659504">
                  <a:moveTo>
                    <a:pt x="0" y="0"/>
                  </a:moveTo>
                  <a:lnTo>
                    <a:pt x="4412699" y="0"/>
                  </a:lnTo>
                  <a:lnTo>
                    <a:pt x="4412699" y="3659350"/>
                  </a:lnTo>
                  <a:lnTo>
                    <a:pt x="0" y="36593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30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078663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#04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2</a:t>
            </a:r>
            <a:r>
              <a:rPr sz="3600" spc="90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Execute</a:t>
            </a:r>
            <a:r>
              <a:rPr sz="3600" spc="-152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Advanced</a:t>
            </a:r>
            <a:r>
              <a:rPr sz="3600" b="1" spc="-16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3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143599" y="4045664"/>
            <a:ext cx="11049000" cy="2812627"/>
            <a:chOff x="857699" y="3034248"/>
            <a:chExt cx="8286750" cy="210947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7225" y="3043773"/>
              <a:ext cx="6419849" cy="158112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862462" y="3039011"/>
              <a:ext cx="6429375" cy="1590675"/>
            </a:xfrm>
            <a:custGeom>
              <a:avLst/>
              <a:gdLst/>
              <a:ahLst/>
              <a:cxnLst/>
              <a:rect l="l" t="t" r="r" b="b"/>
              <a:pathLst>
                <a:path w="6429375" h="1590675">
                  <a:moveTo>
                    <a:pt x="0" y="0"/>
                  </a:moveTo>
                  <a:lnTo>
                    <a:pt x="6429374" y="0"/>
                  </a:lnTo>
                  <a:lnTo>
                    <a:pt x="6429374" y="1590650"/>
                  </a:lnTo>
                  <a:lnTo>
                    <a:pt x="0" y="15906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31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14363"/>
            <a:ext cx="15192375" cy="1292225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#04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3</a:t>
            </a:r>
            <a:endParaRPr sz="3600"/>
          </a:p>
          <a:p>
            <a:pPr marL="131230"/>
            <a:r>
              <a:rPr sz="3600" dirty="0">
                <a:solidFill>
                  <a:srgbClr val="D13368"/>
                </a:solidFill>
              </a:rPr>
              <a:t>View</a:t>
            </a:r>
            <a:r>
              <a:rPr sz="3600" spc="-6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Binary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data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feed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from</a:t>
            </a:r>
            <a:r>
              <a:rPr sz="3600" spc="-1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Advanced</a:t>
            </a:r>
            <a:r>
              <a:rPr sz="3600" b="1" spc="-60" dirty="0">
                <a:solidFill>
                  <a:srgbClr val="D13368"/>
                </a:solidFill>
              </a:rPr>
              <a:t> </a:t>
            </a:r>
            <a:r>
              <a:rPr sz="3600" b="1" spc="-13" dirty="0">
                <a:solidFill>
                  <a:srgbClr val="D13368"/>
                </a:solidFill>
              </a:rPr>
              <a:t>Capture</a:t>
            </a:r>
            <a:endParaRPr sz="360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78265" y="1877602"/>
            <a:ext cx="8469207" cy="201508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16454" indent="-499521" defTabSz="1219170">
              <a:lnSpc>
                <a:spcPts val="2733"/>
              </a:lnSpc>
              <a:spcBef>
                <a:spcPts val="133"/>
              </a:spcBef>
              <a:buSzPct val="77777"/>
              <a:buFontTx/>
              <a:buAutoNum type="arabicPeriod"/>
              <a:tabLst>
                <a:tab pos="516454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terminal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window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16454" indent="-499521" defTabSz="1219170">
              <a:lnSpc>
                <a:spcPts val="2733"/>
              </a:lnSpc>
              <a:buSzPct val="77777"/>
              <a:buFontTx/>
              <a:buAutoNum type="arabicPeriod"/>
              <a:tabLst>
                <a:tab pos="516454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following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commands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view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data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feed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of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signal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26039" defTabSz="1219170">
              <a:lnSpc>
                <a:spcPts val="2585"/>
              </a:lnSpc>
              <a:spcBef>
                <a:spcPts val="1325"/>
              </a:spcBef>
            </a:pP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nc</a:t>
            </a:r>
            <a:r>
              <a:rPr sz="2267" b="1" kern="0" spc="-87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127.0.0.1</a:t>
            </a:r>
            <a:r>
              <a:rPr sz="2267" b="1" kern="0" spc="-87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12345</a:t>
            </a:r>
            <a:r>
              <a:rPr sz="2267" b="1" kern="0" spc="-87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|</a:t>
            </a:r>
            <a:r>
              <a:rPr sz="2267" b="1" kern="0" spc="-87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spc="-33" dirty="0">
                <a:solidFill>
                  <a:srgbClr val="D13368"/>
                </a:solidFill>
                <a:latin typeface="Courier New"/>
                <a:cs typeface="Courier New"/>
              </a:rPr>
              <a:t>xxd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  <a:p>
            <a:pPr marL="1126039" defTabSz="1219170">
              <a:lnSpc>
                <a:spcPts val="2585"/>
              </a:lnSpc>
            </a:pP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nc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127.0.0.1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12345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|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xxd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|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grep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spc="-33" dirty="0">
                <a:solidFill>
                  <a:srgbClr val="D13368"/>
                </a:solidFill>
                <a:latin typeface="Courier New"/>
                <a:cs typeface="Courier New"/>
              </a:rPr>
              <a:t>101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  <a:p>
            <a:pPr marL="516454" indent="-499521" defTabSz="1219170">
              <a:spcBef>
                <a:spcPts val="780"/>
              </a:spcBef>
              <a:buSzPct val="77777"/>
              <a:buFontTx/>
              <a:buAutoNum type="arabicPeriod" startAt="3"/>
              <a:tabLst>
                <a:tab pos="516454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Press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button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key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fob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see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binary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data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feed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3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1303</TotalTime>
  <Words>1090</Words>
  <Application>Microsoft Office PowerPoint</Application>
  <PresentationFormat>Widescreen</PresentationFormat>
  <Paragraphs>186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Courier New</vt:lpstr>
      <vt:lpstr>Roboto</vt:lpstr>
      <vt:lpstr>Custom Design</vt:lpstr>
      <vt:lpstr>SDR Exercise #01</vt:lpstr>
      <vt:lpstr>SDR Exercise #01 – Step 1 Plugin and ensure HackRF is working</vt:lpstr>
      <vt:lpstr>SDR Exercise #01 – Step 2 Launch the GQRX application</vt:lpstr>
      <vt:lpstr>SDR Exercise #01 – Step 3 Conﬁgure I/O Devices (GQRX Settings)</vt:lpstr>
      <vt:lpstr>SDR Exercise #01 – Step 4 Find radio station / Key Fob Signal</vt:lpstr>
      <vt:lpstr>SDR Exercise #01 – Step 5 Tune your signal</vt:lpstr>
      <vt:lpstr>SDR Exercise #02</vt:lpstr>
      <vt:lpstr>SDR Exercise #02 – Step 1 Plugin and ensure HackRF is working</vt:lpstr>
      <vt:lpstr>SDR Exercise #02 – Step 2 Launch the GNU Radio Companion application</vt:lpstr>
      <vt:lpstr>PowerPoint Presentation</vt:lpstr>
      <vt:lpstr>SDR Exercise #02 – Step 4 Edit default values</vt:lpstr>
      <vt:lpstr>SDR Exercise #02 – Step 5 Create a new Variable</vt:lpstr>
      <vt:lpstr>SDR Exercise #02 – Step 6 Add a SDR as a source for receiving</vt:lpstr>
      <vt:lpstr>SDR Exercise #02 – Step 7 Continue adding blocks</vt:lpstr>
      <vt:lpstr>SDR Exercise #02 – Step 8 Duplicate Basic Capture Project</vt:lpstr>
      <vt:lpstr>SDR Exercise #02 – Step 8 Duplicate Basic Capture Project</vt:lpstr>
      <vt:lpstr>SDR Exercise #02 – Step 9 Execute Basic Capture Project</vt:lpstr>
      <vt:lpstr>SDR Exercise #02 – Step 9 Execute Basic Capture Project</vt:lpstr>
      <vt:lpstr>SDR Exercise #03</vt:lpstr>
      <vt:lpstr>SDR Exercise #03 – Step 1 Plugin and ensure HackRF is working</vt:lpstr>
      <vt:lpstr>SDR Exercise #03 – Step 2 Launch the GNU Radio Companion application</vt:lpstr>
      <vt:lpstr>PowerPoint Presentation</vt:lpstr>
      <vt:lpstr>SDR Exercise #03 – Step 4 Edit default values</vt:lpstr>
      <vt:lpstr>SDR Exercise #03 – Step 5 Duplicate Basic Replay Project</vt:lpstr>
      <vt:lpstr>SDR Exercise #03 – Step 5 Duplicate Basic Replay Project</vt:lpstr>
      <vt:lpstr>SDR Exercise #03 – Step 6 Execute Basic Replay Project</vt:lpstr>
      <vt:lpstr>PowerPoint Presentation</vt:lpstr>
      <vt:lpstr>SDR Exercise #04</vt:lpstr>
      <vt:lpstr>SDR Exercise #04 – Step 1 Duplicate Advanced Capture Project</vt:lpstr>
      <vt:lpstr>SDR Exercise #04 – Step 2 Execute Advanced Capture Project</vt:lpstr>
      <vt:lpstr>SDR Exercise #04 – Step 3 View Binary data feed from Advanced Capture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7</cp:revision>
  <dcterms:created xsi:type="dcterms:W3CDTF">2026-03-11T18:02:03Z</dcterms:created>
  <dcterms:modified xsi:type="dcterms:W3CDTF">2026-04-29T14:10:58Z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
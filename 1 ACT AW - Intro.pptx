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15"/>
  </p:notesMasterIdLst>
  <p:sldIdLst>
    <p:sldId id="506" r:id="rId6"/>
    <p:sldId id="778" r:id="rId7"/>
    <p:sldId id="780" r:id="rId8"/>
    <p:sldId id="312" r:id="rId9"/>
    <p:sldId id="310" r:id="rId10"/>
    <p:sldId id="311" r:id="rId11"/>
    <p:sldId id="781" r:id="rId12"/>
    <p:sldId id="507" r:id="rId13"/>
    <p:sldId id="779" r:id="rId14"/>
  </p:sldIdLst>
  <p:sldSz cx="12192000" cy="6858000"/>
  <p:notesSz cx="6858000" cy="9144000"/>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40EEF03E-46C1-4B91-8015-EA960149133A}">
          <p14:sldIdLst>
            <p14:sldId id="506"/>
          </p14:sldIdLst>
        </p14:section>
        <p14:section name="US Laws" id="{40BC4D5D-0A57-4E8C-BB64-0F5BDF1B8E4A}">
          <p14:sldIdLst>
            <p14:sldId id="778"/>
          </p14:sldIdLst>
        </p14:section>
        <p14:section name="Radio Modulation" id="{785EFAC1-38B5-4EBD-9C39-E3D4D03853B7}">
          <p14:sldIdLst>
            <p14:sldId id="780"/>
          </p14:sldIdLst>
        </p14:section>
        <p14:section name="FCC ID" id="{996098ED-F625-41E8-8BD8-06E6CC46322C}">
          <p14:sldIdLst>
            <p14:sldId id="312"/>
            <p14:sldId id="310"/>
            <p14:sldId id="311"/>
          </p14:sldIdLst>
        </p14:section>
        <p14:section name="MAC ID" id="{FEDD5FBB-3FE3-4B83-A476-335840C7ACD6}">
          <p14:sldIdLst>
            <p14:sldId id="781"/>
          </p14:sldIdLst>
        </p14:section>
        <p14:section name="Syllabus" id="{A31229EC-853B-4205-8E31-6B44F371A12E}">
          <p14:sldIdLst>
            <p14:sldId id="507"/>
          </p14:sldIdLst>
        </p14:section>
        <p14:section name="Appendix" id="{1A876553-7A3B-47A2-BDE9-1B0757EF4186}">
          <p14:sldIdLst>
            <p14:sldId id="7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1.xml"/><Relationship Id="rId15"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10/19/2026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10/19/2026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defRPr sz="2400"/>
            </a:lvl1pPr>
            <a:lvl2pPr>
              <a:defRPr sz="2000"/>
            </a:lvl2pPr>
            <a:lvl3pPr>
              <a:defRPr sz="1800"/>
            </a:lvl3pPr>
            <a:lvl4pPr>
              <a:defRPr sz="16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279451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10/19/2026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hyperlink" Target="https://www.fcc.gov/engineering-technology/policy-and-rules-division/general/radio-spectrum-allocation" TargetMode="External"/><Relationship Id="rId7" Type="http://schemas.openxmlformats.org/officeDocument/2006/relationships/hyperlink" Target="https://fccid.io/" TargetMode="External"/><Relationship Id="rId2" Type="http://schemas.openxmlformats.org/officeDocument/2006/relationships/hyperlink" Target="https://www.fcc.gov/media/radio/low-power-radio-general-information" TargetMode="External"/><Relationship Id="rId1" Type="http://schemas.openxmlformats.org/officeDocument/2006/relationships/slideLayout" Target="../slideLayouts/slideLayout3.xml"/><Relationship Id="rId6" Type="http://schemas.openxmlformats.org/officeDocument/2006/relationships/hyperlink" Target="https://www.fcc.gov/oet/ea/fccid" TargetMode="External"/><Relationship Id="rId5" Type="http://schemas.openxmlformats.org/officeDocument/2006/relationships/hyperlink" Target="https://www.fcc.gov/general/jammer-enforcement" TargetMode="External"/><Relationship Id="rId4" Type="http://schemas.openxmlformats.org/officeDocument/2006/relationships/hyperlink" Target="https://www.fcc.gov/consumers/guides/unauthorized-radio-operation"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6.jpeg"/><Relationship Id="rId4" Type="http://schemas.openxmlformats.org/officeDocument/2006/relationships/image" Target="../media/image5.jpeg"/></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Layout" Target="../slideLayouts/slideLayout1.xml"/><Relationship Id="rId1" Type="http://schemas.openxmlformats.org/officeDocument/2006/relationships/tags" Target="../tags/tag4.xml"/><Relationship Id="rId5" Type="http://schemas.openxmlformats.org/officeDocument/2006/relationships/image" Target="../media/image10.jpeg"/><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3" Type="http://schemas.openxmlformats.org/officeDocument/2006/relationships/hyperlink" Target="https://maclookup.app/" TargetMode="External"/><Relationship Id="rId2" Type="http://schemas.openxmlformats.org/officeDocument/2006/relationships/hyperlink" Target="https://en.wikipedia.org/wiki/MAC_address" TargetMode="Externa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sans.org/cyber-security-courses/wireless-penetration-testing-ethical-hacking" TargetMode="External"/><Relationship Id="rId7" Type="http://schemas.openxmlformats.org/officeDocument/2006/relationships/hyperlink" Target="https://www.gnuradio.org/" TargetMode="External"/><Relationship Id="rId2" Type="http://schemas.openxmlformats.org/officeDocument/2006/relationships/hyperlink" Target="https://github.com/nprobert/AutoISAC-ACT-AdvWireless" TargetMode="External"/><Relationship Id="rId1" Type="http://schemas.openxmlformats.org/officeDocument/2006/relationships/slideLayout" Target="../slideLayouts/slideLayout2.xml"/><Relationship Id="rId6" Type="http://schemas.openxmlformats.org/officeDocument/2006/relationships/hyperlink" Target="https://freewili.com/" TargetMode="External"/><Relationship Id="rId5" Type="http://schemas.openxmlformats.org/officeDocument/2006/relationships/hyperlink" Target="https://flipper.net/" TargetMode="External"/><Relationship Id="rId4" Type="http://schemas.openxmlformats.org/officeDocument/2006/relationships/hyperlink" Target="https://greatscottgadgets.com/hackr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618167"/>
          </a:xfrm>
        </p:spPr>
        <p:txBody>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Auto-ISAC PoC for Nissan</a:t>
            </a: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698304"/>
          </a:xfrm>
        </p:spPr>
        <p:txBody>
          <a:bodyPr>
            <a:normAutofit fontScale="90000"/>
          </a:bodyPr>
          <a:lstStyle/>
          <a:p>
            <a:pPr algn="ctr"/>
            <a:r>
              <a:rPr lang="en-US" b="1" dirty="0"/>
              <a:t>US Laws, Guidelines &amp; Rules</a:t>
            </a:r>
          </a:p>
        </p:txBody>
      </p:sp>
      <p:sp>
        <p:nvSpPr>
          <p:cNvPr id="3" name="Content Placeholder 2"/>
          <p:cNvSpPr>
            <a:spLocks noGrp="1"/>
          </p:cNvSpPr>
          <p:nvPr>
            <p:ph idx="1"/>
          </p:nvPr>
        </p:nvSpPr>
        <p:spPr>
          <a:xfrm>
            <a:off x="1981200" y="900706"/>
            <a:ext cx="8229600" cy="5562248"/>
          </a:xfrm>
        </p:spPr>
        <p:txBody>
          <a:bodyPr>
            <a:normAutofit fontScale="92500" lnSpcReduction="10000"/>
          </a:bodyPr>
          <a:lstStyle/>
          <a:p>
            <a:r>
              <a:rPr lang="en-US" dirty="0"/>
              <a:t>FCC</a:t>
            </a:r>
          </a:p>
          <a:p>
            <a:pPr lvl="1"/>
            <a:r>
              <a:rPr lang="en-US" dirty="0"/>
              <a:t>General Radio</a:t>
            </a:r>
          </a:p>
          <a:p>
            <a:pPr lvl="2"/>
            <a:r>
              <a:rPr lang="en-US" dirty="0">
                <a:hlinkClick r:id="rId2"/>
              </a:rPr>
              <a:t>https://www.fcc.gov/media/radio/low-power-radio-general-information</a:t>
            </a:r>
            <a:endParaRPr lang="en-US" dirty="0"/>
          </a:p>
          <a:p>
            <a:pPr lvl="1"/>
            <a:r>
              <a:rPr lang="en-US" dirty="0"/>
              <a:t>Spectrum Allocation</a:t>
            </a:r>
          </a:p>
          <a:p>
            <a:pPr lvl="2"/>
            <a:r>
              <a:rPr lang="en-US" dirty="0"/>
              <a:t>Many of the devices mentioned use unlicensed bands</a:t>
            </a:r>
          </a:p>
          <a:p>
            <a:pPr lvl="2"/>
            <a:r>
              <a:rPr lang="en-US" dirty="0">
                <a:hlinkClick r:id="rId3"/>
              </a:rPr>
              <a:t>https://www.fcc.gov/engineering-technology/policy-and-rules-division/general/radio-spectrum-allocation</a:t>
            </a:r>
            <a:endParaRPr lang="en-US" dirty="0"/>
          </a:p>
          <a:p>
            <a:pPr lvl="1"/>
            <a:r>
              <a:rPr lang="en-US" dirty="0"/>
              <a:t>Unauthorized Radio Operation</a:t>
            </a:r>
          </a:p>
          <a:p>
            <a:pPr lvl="2"/>
            <a:r>
              <a:rPr lang="en-US" dirty="0"/>
              <a:t>There are restrictions on band usage and power levels</a:t>
            </a:r>
          </a:p>
          <a:p>
            <a:pPr lvl="2"/>
            <a:r>
              <a:rPr lang="en-US" dirty="0"/>
              <a:t>Violation of these rules are against the law</a:t>
            </a:r>
          </a:p>
          <a:p>
            <a:pPr lvl="2"/>
            <a:r>
              <a:rPr lang="en-US" dirty="0">
                <a:hlinkClick r:id="rId4"/>
              </a:rPr>
              <a:t>https://www.fcc.gov/consumers/guides/unauthorized-radio-operation</a:t>
            </a:r>
            <a:endParaRPr lang="en-US" dirty="0"/>
          </a:p>
          <a:p>
            <a:pPr lvl="1"/>
            <a:r>
              <a:rPr lang="en-US" dirty="0"/>
              <a:t>Jammer Enforcement</a:t>
            </a:r>
          </a:p>
          <a:p>
            <a:pPr lvl="2"/>
            <a:r>
              <a:rPr lang="en-US" dirty="0"/>
              <a:t>Jammers are against the law</a:t>
            </a:r>
          </a:p>
          <a:p>
            <a:pPr lvl="2"/>
            <a:r>
              <a:rPr lang="en-US" dirty="0">
                <a:hlinkClick r:id="rId5"/>
              </a:rPr>
              <a:t>https://www.fcc.gov/general/jammer-enforcement</a:t>
            </a:r>
            <a:endParaRPr lang="en-US" dirty="0"/>
          </a:p>
          <a:p>
            <a:pPr lvl="1"/>
            <a:r>
              <a:rPr lang="en-US" dirty="0"/>
              <a:t>Device Lookup</a:t>
            </a:r>
          </a:p>
          <a:p>
            <a:pPr lvl="2"/>
            <a:r>
              <a:rPr lang="en-US" dirty="0"/>
              <a:t>Transmitting Devices in the US must be FCC certified and labeled</a:t>
            </a:r>
          </a:p>
          <a:p>
            <a:pPr lvl="2"/>
            <a:r>
              <a:rPr lang="en-US" dirty="0">
                <a:hlinkClick r:id="rId6"/>
              </a:rPr>
              <a:t>https://www.fcc.gov/oet/ea/fccid</a:t>
            </a:r>
            <a:endParaRPr lang="en-US" dirty="0"/>
          </a:p>
          <a:p>
            <a:pPr lvl="2"/>
            <a:r>
              <a:rPr lang="en-US" dirty="0">
                <a:hlinkClick r:id="rId7"/>
              </a:rPr>
              <a:t>https://fccid.io/</a:t>
            </a:r>
            <a:endParaRPr lang="en-US" dirty="0"/>
          </a:p>
          <a:p>
            <a:pPr lvl="2"/>
            <a:r>
              <a:rPr lang="en-US" dirty="0"/>
              <a:t>Useful for obtaining additional information on wireless devices</a:t>
            </a:r>
          </a:p>
          <a:p>
            <a:pPr marL="914400" lvl="2" indent="0">
              <a:buNone/>
            </a:pPr>
            <a:endParaRPr lang="en-US" dirty="0"/>
          </a:p>
        </p:txBody>
      </p:sp>
    </p:spTree>
    <p:extLst>
      <p:ext uri="{BB962C8B-B14F-4D97-AF65-F5344CB8AC3E}">
        <p14:creationId xmlns:p14="http://schemas.microsoft.com/office/powerpoint/2010/main" val="4007756786"/>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Radio Modulation Explained: Carrier Changes and Sidebands | Dahiru Ohida  posted on the topic | LinkedIn">
            <a:extLst>
              <a:ext uri="{FF2B5EF4-FFF2-40B4-BE49-F238E27FC236}">
                <a16:creationId xmlns:a16="http://schemas.microsoft.com/office/drawing/2014/main" id="{2DE009B5-8E18-E8D1-5552-5F4FAAEF0916}"/>
              </a:ext>
            </a:extLst>
          </p:cNvPr>
          <p:cNvPicPr>
            <a:picLocks noChangeAspect="1"/>
          </p:cNvPicPr>
          <p:nvPr/>
        </p:nvPicPr>
        <p:blipFill>
          <a:blip r:embed="rId2"/>
          <a:stretch>
            <a:fillRect/>
          </a:stretch>
        </p:blipFill>
        <p:spPr>
          <a:xfrm>
            <a:off x="219074" y="96821"/>
            <a:ext cx="5305425" cy="6664358"/>
          </a:xfrm>
          <a:prstGeom prst="rect">
            <a:avLst/>
          </a:prstGeom>
        </p:spPr>
      </p:pic>
      <p:pic>
        <p:nvPicPr>
          <p:cNvPr id="5" name="Picture 4" descr="Waterfall Displays—What Information Do They Provide?">
            <a:extLst>
              <a:ext uri="{FF2B5EF4-FFF2-40B4-BE49-F238E27FC236}">
                <a16:creationId xmlns:a16="http://schemas.microsoft.com/office/drawing/2014/main" id="{F2929E58-5667-CD8A-B800-D0C6DDE7C602}"/>
              </a:ext>
            </a:extLst>
          </p:cNvPr>
          <p:cNvPicPr>
            <a:picLocks noChangeAspect="1"/>
          </p:cNvPicPr>
          <p:nvPr/>
        </p:nvPicPr>
        <p:blipFill>
          <a:blip r:embed="rId3"/>
          <a:stretch>
            <a:fillRect/>
          </a:stretch>
        </p:blipFill>
        <p:spPr>
          <a:xfrm>
            <a:off x="6239158" y="495667"/>
            <a:ext cx="4533333" cy="2933333"/>
          </a:xfrm>
          <a:prstGeom prst="rect">
            <a:avLst/>
          </a:prstGeom>
        </p:spPr>
      </p:pic>
    </p:spTree>
    <p:extLst>
      <p:ext uri="{BB962C8B-B14F-4D97-AF65-F5344CB8AC3E}">
        <p14:creationId xmlns:p14="http://schemas.microsoft.com/office/powerpoint/2010/main" val="71731013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933440"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FCCID</a:t>
            </a:r>
            <a:r>
              <a:rPr sz="4000" kern="0" spc="-80" dirty="0">
                <a:solidFill>
                  <a:srgbClr val="595959"/>
                </a:solidFill>
                <a:latin typeface="Roboto"/>
                <a:cs typeface="Roboto"/>
              </a:rPr>
              <a:t> </a:t>
            </a:r>
            <a:r>
              <a:rPr sz="4000" kern="0" dirty="0">
                <a:solidFill>
                  <a:srgbClr val="595959"/>
                </a:solidFill>
                <a:latin typeface="Roboto"/>
                <a:cs typeface="Roboto"/>
              </a:rPr>
              <a:t>Lookup</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80" dirty="0">
                <a:solidFill>
                  <a:srgbClr val="2A3890"/>
                </a:solidFill>
                <a:latin typeface="Roboto"/>
                <a:cs typeface="Roboto"/>
              </a:rPr>
              <a:t> </a:t>
            </a:r>
            <a:r>
              <a:rPr sz="4000" kern="0" spc="-13" dirty="0">
                <a:solidFill>
                  <a:srgbClr val="2A3890"/>
                </a:solidFill>
                <a:latin typeface="Roboto"/>
                <a:cs typeface="Roboto"/>
              </a:rPr>
              <a:t>Research</a:t>
            </a:r>
            <a:endParaRPr sz="4000" kern="0">
              <a:solidFill>
                <a:sysClr val="windowText" lastClr="000000"/>
              </a:solidFill>
              <a:latin typeface="Roboto"/>
              <a:cs typeface="Roboto"/>
            </a:endParaRPr>
          </a:p>
        </p:txBody>
      </p:sp>
      <p:grpSp>
        <p:nvGrpSpPr>
          <p:cNvPr id="3" name="object 3"/>
          <p:cNvGrpSpPr/>
          <p:nvPr/>
        </p:nvGrpSpPr>
        <p:grpSpPr>
          <a:xfrm>
            <a:off x="791449" y="1292220"/>
            <a:ext cx="2337647" cy="4785360"/>
            <a:chOff x="593586" y="969165"/>
            <a:chExt cx="1753235" cy="358902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745021" y="1049646"/>
              <a:ext cx="1490060" cy="3334896"/>
            </a:xfrm>
            <a:prstGeom prst="rect">
              <a:avLst/>
            </a:prstGeom>
          </p:spPr>
        </p:pic>
        <p:sp>
          <p:nvSpPr>
            <p:cNvPr id="5" name="object 5"/>
            <p:cNvSpPr/>
            <p:nvPr/>
          </p:nvSpPr>
          <p:spPr>
            <a:xfrm>
              <a:off x="598348" y="973928"/>
              <a:ext cx="1743710" cy="3579495"/>
            </a:xfrm>
            <a:custGeom>
              <a:avLst/>
              <a:gdLst/>
              <a:ahLst/>
              <a:cxnLst/>
              <a:rect l="l" t="t" r="r" b="b"/>
              <a:pathLst>
                <a:path w="1743710" h="3579495">
                  <a:moveTo>
                    <a:pt x="0" y="0"/>
                  </a:moveTo>
                  <a:lnTo>
                    <a:pt x="1743493" y="0"/>
                  </a:lnTo>
                  <a:lnTo>
                    <a:pt x="1743493"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6" name="object 6"/>
          <p:cNvGrpSpPr/>
          <p:nvPr/>
        </p:nvGrpSpPr>
        <p:grpSpPr>
          <a:xfrm>
            <a:off x="3669344" y="1292220"/>
            <a:ext cx="2101427" cy="4785360"/>
            <a:chOff x="2752008" y="969165"/>
            <a:chExt cx="1576070" cy="3589020"/>
          </a:xfrm>
        </p:grpSpPr>
        <p:pic>
          <p:nvPicPr>
            <p:cNvPr id="7" name="object 7"/>
            <p:cNvPicPr/>
            <p:nvPr/>
          </p:nvPicPr>
          <p:blipFill>
            <a:blip r:embed="rId4" cstate="email">
              <a:extLst>
                <a:ext uri="{28A0092B-C50C-407E-A947-70E740481C1C}">
                  <a14:useLocalDpi xmlns:a14="http://schemas.microsoft.com/office/drawing/2010/main"/>
                </a:ext>
              </a:extLst>
            </a:blip>
            <a:stretch>
              <a:fillRect/>
            </a:stretch>
          </p:blipFill>
          <p:spPr>
            <a:xfrm>
              <a:off x="2832489" y="978690"/>
              <a:ext cx="1419104" cy="3476806"/>
            </a:xfrm>
            <a:prstGeom prst="rect">
              <a:avLst/>
            </a:prstGeom>
          </p:spPr>
        </p:pic>
        <p:sp>
          <p:nvSpPr>
            <p:cNvPr id="8" name="object 8"/>
            <p:cNvSpPr/>
            <p:nvPr/>
          </p:nvSpPr>
          <p:spPr>
            <a:xfrm>
              <a:off x="2756771" y="973928"/>
              <a:ext cx="1566545" cy="3579495"/>
            </a:xfrm>
            <a:custGeom>
              <a:avLst/>
              <a:gdLst/>
              <a:ahLst/>
              <a:cxnLst/>
              <a:rect l="l" t="t" r="r" b="b"/>
              <a:pathLst>
                <a:path w="1566545" h="3579495">
                  <a:moveTo>
                    <a:pt x="0" y="0"/>
                  </a:moveTo>
                  <a:lnTo>
                    <a:pt x="1566105" y="0"/>
                  </a:lnTo>
                  <a:lnTo>
                    <a:pt x="1566105"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9" name="object 9"/>
          <p:cNvGrpSpPr/>
          <p:nvPr/>
        </p:nvGrpSpPr>
        <p:grpSpPr>
          <a:xfrm>
            <a:off x="6158684" y="2116186"/>
            <a:ext cx="5779347" cy="2810933"/>
            <a:chOff x="4619013" y="1587139"/>
            <a:chExt cx="4334510" cy="2108200"/>
          </a:xfrm>
        </p:grpSpPr>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4628538" y="1596664"/>
              <a:ext cx="4315358" cy="2033148"/>
            </a:xfrm>
            <a:prstGeom prst="rect">
              <a:avLst/>
            </a:prstGeom>
          </p:spPr>
        </p:pic>
        <p:sp>
          <p:nvSpPr>
            <p:cNvPr id="11" name="object 11"/>
            <p:cNvSpPr/>
            <p:nvPr/>
          </p:nvSpPr>
          <p:spPr>
            <a:xfrm>
              <a:off x="4623775" y="1591901"/>
              <a:ext cx="4324985" cy="2098675"/>
            </a:xfrm>
            <a:custGeom>
              <a:avLst/>
              <a:gdLst/>
              <a:ahLst/>
              <a:cxnLst/>
              <a:rect l="l" t="t" r="r" b="b"/>
              <a:pathLst>
                <a:path w="4324984" h="2098675">
                  <a:moveTo>
                    <a:pt x="0" y="0"/>
                  </a:moveTo>
                  <a:lnTo>
                    <a:pt x="4324883" y="0"/>
                  </a:lnTo>
                  <a:lnTo>
                    <a:pt x="4324883" y="2098585"/>
                  </a:lnTo>
                  <a:lnTo>
                    <a:pt x="0" y="209858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6243370" y="1756718"/>
            <a:ext cx="2613660" cy="304421"/>
          </a:xfrm>
          <a:prstGeom prst="rect">
            <a:avLst/>
          </a:prstGeom>
        </p:spPr>
        <p:txBody>
          <a:bodyPr vert="horz" wrap="square" lIns="0" tIns="16933" rIns="0" bIns="0" rtlCol="0">
            <a:spAutoFit/>
          </a:bodyPr>
          <a:lstStyle/>
          <a:p>
            <a:pPr marL="16933" defTabSz="1219170">
              <a:spcBef>
                <a:spcPts val="133"/>
              </a:spcBef>
            </a:pPr>
            <a:r>
              <a:rPr sz="1867" b="1" kern="0" dirty="0">
                <a:solidFill>
                  <a:srgbClr val="2A3890"/>
                </a:solidFill>
                <a:latin typeface="Arial"/>
                <a:cs typeface="Arial"/>
              </a:rPr>
              <a:t>Operating</a:t>
            </a:r>
            <a:r>
              <a:rPr sz="1867" b="1" kern="0" spc="-60" dirty="0">
                <a:solidFill>
                  <a:srgbClr val="2A3890"/>
                </a:solidFill>
                <a:latin typeface="Arial"/>
                <a:cs typeface="Arial"/>
              </a:rPr>
              <a:t> </a:t>
            </a:r>
            <a:r>
              <a:rPr sz="1867" b="1" kern="0" spc="-13" dirty="0">
                <a:solidFill>
                  <a:srgbClr val="2A3890"/>
                </a:solidFill>
                <a:latin typeface="Arial"/>
                <a:cs typeface="Arial"/>
              </a:rPr>
              <a:t>Frequencies</a:t>
            </a:r>
            <a:endParaRPr sz="1867" kern="0">
              <a:solidFill>
                <a:sysClr val="windowText" lastClr="000000"/>
              </a:solidFill>
              <a:latin typeface="Arial"/>
              <a:cs typeface="Arial"/>
            </a:endParaRPr>
          </a:p>
        </p:txBody>
      </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4</a:t>
            </a:fld>
            <a:endParaRPr kern="0" spc="-33" dirty="0"/>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30487" y="2636519"/>
            <a:ext cx="3136900" cy="359073"/>
          </a:xfrm>
          <a:prstGeom prst="rect">
            <a:avLst/>
          </a:prstGeom>
          <a:solidFill>
            <a:srgbClr val="FFFF00"/>
          </a:solidFill>
        </p:spPr>
        <p:txBody>
          <a:bodyPr vert="horz" wrap="square" lIns="0" tIns="0" rIns="0" bIns="0" rtlCol="0">
            <a:spAutoFit/>
          </a:bodyPr>
          <a:lstStyle/>
          <a:p>
            <a:pPr defTabSz="1219170">
              <a:lnSpc>
                <a:spcPts val="2787"/>
              </a:lnSpc>
            </a:pPr>
            <a:r>
              <a:rPr sz="2400" kern="0" dirty="0">
                <a:solidFill>
                  <a:srgbClr val="434343"/>
                </a:solidFill>
                <a:latin typeface="Roboto"/>
                <a:cs typeface="Roboto"/>
              </a:rPr>
              <a:t>FCCID</a:t>
            </a:r>
            <a:r>
              <a:rPr sz="2400" kern="0" spc="-53" dirty="0">
                <a:solidFill>
                  <a:srgbClr val="434343"/>
                </a:solidFill>
                <a:latin typeface="Roboto"/>
                <a:cs typeface="Roboto"/>
              </a:rPr>
              <a:t> </a:t>
            </a:r>
            <a:r>
              <a:rPr sz="2400" kern="0" dirty="0">
                <a:solidFill>
                  <a:srgbClr val="434343"/>
                </a:solidFill>
                <a:latin typeface="Roboto"/>
                <a:cs typeface="Roboto"/>
              </a:rPr>
              <a:t>[ID</a:t>
            </a:r>
            <a:r>
              <a:rPr sz="2400" kern="0" spc="-47" dirty="0">
                <a:solidFill>
                  <a:srgbClr val="434343"/>
                </a:solidFill>
                <a:latin typeface="Roboto"/>
                <a:cs typeface="Roboto"/>
              </a:rPr>
              <a:t> </a:t>
            </a:r>
            <a:r>
              <a:rPr sz="2400" kern="0" dirty="0">
                <a:solidFill>
                  <a:srgbClr val="434343"/>
                </a:solidFill>
                <a:latin typeface="Roboto"/>
                <a:cs typeface="Roboto"/>
              </a:rPr>
              <a:t>ON</a:t>
            </a:r>
            <a:r>
              <a:rPr sz="2400" kern="0" spc="-47" dirty="0">
                <a:solidFill>
                  <a:srgbClr val="434343"/>
                </a:solidFill>
                <a:latin typeface="Roboto"/>
                <a:cs typeface="Roboto"/>
              </a:rPr>
              <a:t> </a:t>
            </a:r>
            <a:r>
              <a:rPr sz="2400" kern="0" dirty="0">
                <a:solidFill>
                  <a:srgbClr val="434343"/>
                </a:solidFill>
                <a:latin typeface="Roboto"/>
                <a:cs typeface="Roboto"/>
              </a:rPr>
              <a:t>KEY</a:t>
            </a:r>
            <a:r>
              <a:rPr sz="2400" kern="0" spc="-47" dirty="0">
                <a:solidFill>
                  <a:srgbClr val="434343"/>
                </a:solidFill>
                <a:latin typeface="Roboto"/>
                <a:cs typeface="Roboto"/>
              </a:rPr>
              <a:t> </a:t>
            </a:r>
            <a:r>
              <a:rPr sz="2400" kern="0" spc="-27" dirty="0">
                <a:solidFill>
                  <a:srgbClr val="434343"/>
                </a:solidFill>
                <a:latin typeface="Roboto"/>
                <a:cs typeface="Roboto"/>
              </a:rPr>
              <a:t>FOB]</a:t>
            </a:r>
            <a:endParaRPr sz="2400" kern="0">
              <a:solidFill>
                <a:sysClr val="windowText" lastClr="000000"/>
              </a:solidFill>
              <a:latin typeface="Roboto"/>
              <a:cs typeface="Roboto"/>
            </a:endParaRPr>
          </a:p>
        </p:txBody>
      </p:sp>
      <p:sp>
        <p:nvSpPr>
          <p:cNvPr id="3" name="object 3"/>
          <p:cNvSpPr txBox="1"/>
          <p:nvPr/>
        </p:nvSpPr>
        <p:spPr>
          <a:xfrm>
            <a:off x="646095" y="1875874"/>
            <a:ext cx="6189980" cy="1494426"/>
          </a:xfrm>
          <a:prstGeom prst="rect">
            <a:avLst/>
          </a:prstGeom>
        </p:spPr>
        <p:txBody>
          <a:bodyPr vert="horz" wrap="square" lIns="0" tIns="16933" rIns="0" bIns="0" rtlCol="0">
            <a:spAutoFit/>
          </a:bodyPr>
          <a:lstStyle/>
          <a:p>
            <a:pPr marL="572331" indent="-555398" defTabSz="1219170">
              <a:spcBef>
                <a:spcPts val="133"/>
              </a:spcBef>
              <a:buFontTx/>
              <a:buAutoNum type="arabicPeriod"/>
              <a:tabLst>
                <a:tab pos="572331" algn="l"/>
              </a:tabLst>
            </a:pPr>
            <a:r>
              <a:rPr sz="2400" kern="0" spc="-27" dirty="0">
                <a:solidFill>
                  <a:srgbClr val="434343"/>
                </a:solidFill>
                <a:latin typeface="Roboto"/>
                <a:cs typeface="Roboto"/>
              </a:rPr>
              <a:t>Take</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dirty="0">
                <a:solidFill>
                  <a:srgbClr val="434343"/>
                </a:solidFill>
                <a:latin typeface="Roboto"/>
                <a:cs typeface="Roboto"/>
              </a:rPr>
              <a:t>fob</a:t>
            </a:r>
            <a:r>
              <a:rPr sz="2400" kern="0" spc="-47" dirty="0">
                <a:solidFill>
                  <a:srgbClr val="434343"/>
                </a:solidFill>
                <a:latin typeface="Roboto"/>
                <a:cs typeface="Roboto"/>
              </a:rPr>
              <a:t> </a:t>
            </a:r>
            <a:r>
              <a:rPr sz="2400" kern="0" dirty="0">
                <a:solidFill>
                  <a:srgbClr val="434343"/>
                </a:solidFill>
                <a:latin typeface="Roboto"/>
                <a:cs typeface="Roboto"/>
              </a:rPr>
              <a:t>/</a:t>
            </a:r>
            <a:r>
              <a:rPr sz="2400" kern="0" spc="-40" dirty="0">
                <a:solidFill>
                  <a:srgbClr val="434343"/>
                </a:solidFill>
                <a:latin typeface="Roboto"/>
                <a:cs typeface="Roboto"/>
              </a:rPr>
              <a:t> </a:t>
            </a:r>
            <a:r>
              <a:rPr sz="2400" kern="0" dirty="0">
                <a:solidFill>
                  <a:srgbClr val="434343"/>
                </a:solidFill>
                <a:latin typeface="Roboto"/>
                <a:cs typeface="Roboto"/>
              </a:rPr>
              <a:t>Use</a:t>
            </a:r>
            <a:r>
              <a:rPr sz="2400" kern="0" spc="-40" dirty="0">
                <a:solidFill>
                  <a:srgbClr val="434343"/>
                </a:solidFill>
                <a:latin typeface="Roboto"/>
                <a:cs typeface="Roboto"/>
              </a:rPr>
              <a:t> </a:t>
            </a:r>
            <a:r>
              <a:rPr sz="2400" kern="0" dirty="0">
                <a:solidFill>
                  <a:srgbClr val="434343"/>
                </a:solidFill>
                <a:latin typeface="Roboto"/>
                <a:cs typeface="Roboto"/>
              </a:rPr>
              <a:t>your</a:t>
            </a:r>
            <a:r>
              <a:rPr sz="2400" kern="0" spc="-47" dirty="0">
                <a:solidFill>
                  <a:srgbClr val="434343"/>
                </a:solidFill>
                <a:latin typeface="Roboto"/>
                <a:cs typeface="Roboto"/>
              </a:rPr>
              <a:t> </a:t>
            </a:r>
            <a:r>
              <a:rPr sz="2400" kern="0" dirty="0">
                <a:solidFill>
                  <a:srgbClr val="434343"/>
                </a:solidFill>
                <a:latin typeface="Roboto"/>
                <a:cs typeface="Roboto"/>
              </a:rPr>
              <a:t>own</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FCCID</a:t>
            </a:r>
            <a:r>
              <a:rPr sz="2400" kern="0" spc="-40" dirty="0">
                <a:solidFill>
                  <a:srgbClr val="434343"/>
                </a:solidFill>
                <a:latin typeface="Roboto"/>
                <a:cs typeface="Roboto"/>
              </a:rPr>
              <a:t> </a:t>
            </a:r>
            <a:r>
              <a:rPr sz="2400" kern="0" dirty="0">
                <a:solidFill>
                  <a:srgbClr val="434343"/>
                </a:solidFill>
                <a:latin typeface="Roboto"/>
                <a:cs typeface="Roboto"/>
              </a:rPr>
              <a:t>on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 pos="4795400" algn="l"/>
              </a:tabLst>
            </a:pPr>
            <a:r>
              <a:rPr sz="2400" kern="0" spc="-13" dirty="0">
                <a:solidFill>
                  <a:srgbClr val="434343"/>
                </a:solidFill>
                <a:latin typeface="Roboto"/>
                <a:cs typeface="Roboto"/>
              </a:rPr>
              <a:t>Search</a:t>
            </a:r>
            <a:r>
              <a:rPr lang="en-US" sz="2400" kern="0" dirty="0">
                <a:solidFill>
                  <a:srgbClr val="434343"/>
                </a:solidFill>
                <a:latin typeface="Roboto"/>
                <a:cs typeface="Roboto"/>
              </a:rPr>
              <a:t>	</a:t>
            </a:r>
            <a:r>
              <a:rPr sz="2400" kern="0" dirty="0">
                <a:solidFill>
                  <a:srgbClr val="434343"/>
                </a:solidFill>
                <a:latin typeface="Roboto"/>
                <a:cs typeface="Roboto"/>
              </a:rPr>
              <a:t>on</a:t>
            </a:r>
            <a:r>
              <a:rPr sz="2400" kern="0" spc="-27" dirty="0">
                <a:solidFill>
                  <a:srgbClr val="434343"/>
                </a:solidFill>
                <a:latin typeface="Roboto"/>
                <a:cs typeface="Roboto"/>
              </a:rPr>
              <a:t> </a:t>
            </a:r>
            <a:r>
              <a:rPr sz="2400" kern="0" spc="-13" dirty="0">
                <a:solidFill>
                  <a:srgbClr val="434343"/>
                </a:solidFill>
                <a:latin typeface="Roboto"/>
                <a:cs typeface="Roboto"/>
              </a:rPr>
              <a:t>Google</a:t>
            </a:r>
            <a:endParaRPr lang="en-US" sz="2400" kern="0" spc="-13" dirty="0">
              <a:solidFill>
                <a:srgbClr val="434343"/>
              </a:solidFill>
              <a:latin typeface="Roboto"/>
              <a:cs typeface="Roboto"/>
            </a:endParaRPr>
          </a:p>
          <a:p>
            <a:pPr marL="572331" indent="-555398" defTabSz="1219170">
              <a:buFontTx/>
              <a:buAutoNum type="arabicPeriod"/>
              <a:tabLst>
                <a:tab pos="572331" algn="l"/>
                <a:tab pos="4795400" algn="l"/>
              </a:tabLst>
            </a:pPr>
            <a:r>
              <a:rPr lang="en-US" sz="2400" kern="0" dirty="0">
                <a:solidFill>
                  <a:sysClr val="windowText" lastClr="000000"/>
                </a:solidFill>
                <a:latin typeface="Roboto"/>
                <a:cs typeface="Roboto"/>
              </a:rPr>
              <a:t>https://www.fcc.gov/oet/ea/fccid</a:t>
            </a:r>
            <a:endParaRPr sz="2400" kern="0" dirty="0">
              <a:solidFill>
                <a:sysClr val="windowText" lastClr="000000"/>
              </a:solidFill>
              <a:latin typeface="Roboto"/>
              <a:cs typeface="Roboto"/>
            </a:endParaRPr>
          </a:p>
        </p:txBody>
      </p:sp>
      <p:sp>
        <p:nvSpPr>
          <p:cNvPr id="4" name="object 4"/>
          <p:cNvSpPr txBox="1"/>
          <p:nvPr/>
        </p:nvSpPr>
        <p:spPr>
          <a:xfrm>
            <a:off x="604886" y="3743960"/>
            <a:ext cx="6833447" cy="427532"/>
          </a:xfrm>
          <a:prstGeom prst="rect">
            <a:avLst/>
          </a:prstGeom>
        </p:spPr>
        <p:txBody>
          <a:bodyPr vert="horz" wrap="square" lIns="0" tIns="16933" rIns="0" bIns="0" rtlCol="0">
            <a:spAutoFit/>
          </a:bodyPr>
          <a:lstStyle/>
          <a:p>
            <a:pPr marL="16933" defTabSz="1219170">
              <a:spcBef>
                <a:spcPts val="133"/>
              </a:spcBef>
              <a:tabLst>
                <a:tab pos="613818" algn="l"/>
              </a:tabLst>
            </a:pPr>
            <a:r>
              <a:rPr sz="2667" b="1" kern="0" spc="-33" dirty="0">
                <a:solidFill>
                  <a:srgbClr val="D13368"/>
                </a:solidFill>
                <a:latin typeface="Roboto"/>
                <a:cs typeface="Roboto"/>
              </a:rPr>
              <a:t>4.</a:t>
            </a:r>
            <a:r>
              <a:rPr sz="2667" b="1" kern="0" dirty="0">
                <a:solidFill>
                  <a:srgbClr val="D13368"/>
                </a:solidFill>
                <a:latin typeface="Roboto"/>
                <a:cs typeface="Roboto"/>
              </a:rPr>
              <a:t>	What</a:t>
            </a:r>
            <a:r>
              <a:rPr sz="2667" b="1" kern="0" spc="-53" dirty="0">
                <a:solidFill>
                  <a:srgbClr val="D13368"/>
                </a:solidFill>
                <a:latin typeface="Roboto"/>
                <a:cs typeface="Roboto"/>
              </a:rPr>
              <a:t> </a:t>
            </a:r>
            <a:r>
              <a:rPr sz="2667" b="1" kern="0" dirty="0">
                <a:solidFill>
                  <a:srgbClr val="D13368"/>
                </a:solidFill>
                <a:latin typeface="Roboto"/>
                <a:cs typeface="Roboto"/>
              </a:rPr>
              <a:t>frequency</a:t>
            </a:r>
            <a:r>
              <a:rPr sz="2667" b="1" kern="0" spc="-47" dirty="0">
                <a:solidFill>
                  <a:srgbClr val="D13368"/>
                </a:solidFill>
                <a:latin typeface="Roboto"/>
                <a:cs typeface="Roboto"/>
              </a:rPr>
              <a:t> </a:t>
            </a:r>
            <a:r>
              <a:rPr sz="2667" b="1" kern="0" dirty="0">
                <a:solidFill>
                  <a:srgbClr val="D13368"/>
                </a:solidFill>
                <a:latin typeface="Roboto"/>
                <a:cs typeface="Roboto"/>
              </a:rPr>
              <a:t>does</a:t>
            </a:r>
            <a:r>
              <a:rPr sz="2667" b="1" kern="0" spc="-53" dirty="0">
                <a:solidFill>
                  <a:srgbClr val="D13368"/>
                </a:solidFill>
                <a:latin typeface="Roboto"/>
                <a:cs typeface="Roboto"/>
              </a:rPr>
              <a:t> </a:t>
            </a:r>
            <a:r>
              <a:rPr sz="2667" b="1" kern="0" dirty="0">
                <a:solidFill>
                  <a:srgbClr val="D13368"/>
                </a:solidFill>
                <a:latin typeface="Roboto"/>
                <a:cs typeface="Roboto"/>
              </a:rPr>
              <a:t>the</a:t>
            </a:r>
            <a:r>
              <a:rPr sz="2667" b="1" kern="0" spc="-47" dirty="0">
                <a:solidFill>
                  <a:srgbClr val="D13368"/>
                </a:solidFill>
                <a:latin typeface="Roboto"/>
                <a:cs typeface="Roboto"/>
              </a:rPr>
              <a:t> </a:t>
            </a:r>
            <a:r>
              <a:rPr sz="2667" b="1" kern="0" dirty="0">
                <a:solidFill>
                  <a:srgbClr val="D13368"/>
                </a:solidFill>
                <a:latin typeface="Roboto"/>
                <a:cs typeface="Roboto"/>
              </a:rPr>
              <a:t>key</a:t>
            </a:r>
            <a:r>
              <a:rPr sz="2667" b="1" kern="0" spc="-53" dirty="0">
                <a:solidFill>
                  <a:srgbClr val="D13368"/>
                </a:solidFill>
                <a:latin typeface="Roboto"/>
                <a:cs typeface="Roboto"/>
              </a:rPr>
              <a:t> </a:t>
            </a:r>
            <a:r>
              <a:rPr sz="2667" b="1" kern="0" dirty="0">
                <a:solidFill>
                  <a:srgbClr val="D13368"/>
                </a:solidFill>
                <a:latin typeface="Roboto"/>
                <a:cs typeface="Roboto"/>
              </a:rPr>
              <a:t>fob</a:t>
            </a:r>
            <a:r>
              <a:rPr sz="2667" b="1" kern="0" spc="-47" dirty="0">
                <a:solidFill>
                  <a:srgbClr val="D13368"/>
                </a:solidFill>
                <a:latin typeface="Roboto"/>
                <a:cs typeface="Roboto"/>
              </a:rPr>
              <a:t> </a:t>
            </a:r>
            <a:r>
              <a:rPr sz="2667" b="1" kern="0" dirty="0">
                <a:solidFill>
                  <a:srgbClr val="D13368"/>
                </a:solidFill>
                <a:latin typeface="Roboto"/>
                <a:cs typeface="Roboto"/>
              </a:rPr>
              <a:t>run</a:t>
            </a:r>
            <a:r>
              <a:rPr sz="2667" b="1" kern="0" spc="-53" dirty="0">
                <a:solidFill>
                  <a:srgbClr val="D13368"/>
                </a:solidFill>
                <a:latin typeface="Roboto"/>
                <a:cs typeface="Roboto"/>
              </a:rPr>
              <a:t> </a:t>
            </a:r>
            <a:r>
              <a:rPr sz="2667" b="1" kern="0" spc="-33" dirty="0">
                <a:solidFill>
                  <a:srgbClr val="D13368"/>
                </a:solidFill>
                <a:latin typeface="Roboto"/>
                <a:cs typeface="Roboto"/>
              </a:rPr>
              <a:t>on?</a:t>
            </a:r>
            <a:endParaRPr sz="26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5</a:t>
            </a:fld>
            <a:endParaRPr kern="0" spc="-33" dirty="0"/>
          </a:p>
        </p:txBody>
      </p:sp>
      <p:sp>
        <p:nvSpPr>
          <p:cNvPr id="5" name="object 5" descr="$PPTXTitle"/>
          <p:cNvSpPr txBox="1">
            <a:spLocks noGrp="1"/>
          </p:cNvSpPr>
          <p:nvPr>
            <p:ph type="title" idx="4294967295"/>
          </p:nvPr>
        </p:nvSpPr>
        <p:spPr>
          <a:xfrm>
            <a:off x="0" y="557213"/>
            <a:ext cx="6330950" cy="631825"/>
          </a:xfrm>
          <a:prstGeom prst="rect">
            <a:avLst/>
          </a:prstGeom>
        </p:spPr>
        <p:txBody>
          <a:bodyPr vert="horz" wrap="square" lIns="0" tIns="16933" rIns="0" bIns="0" rtlCol="0">
            <a:spAutoFit/>
          </a:bodyPr>
          <a:lstStyle/>
          <a:p>
            <a:pPr marL="16933">
              <a:spcBef>
                <a:spcPts val="133"/>
              </a:spcBef>
            </a:pPr>
            <a:r>
              <a:rPr dirty="0"/>
              <a:t>FCCID</a:t>
            </a:r>
            <a:r>
              <a:rPr spc="-80" dirty="0"/>
              <a:t> </a:t>
            </a:r>
            <a:r>
              <a:rPr dirty="0"/>
              <a:t>Lookup</a:t>
            </a:r>
            <a:r>
              <a:rPr spc="-60" dirty="0"/>
              <a:t> </a:t>
            </a:r>
            <a:r>
              <a:rPr dirty="0">
                <a:solidFill>
                  <a:srgbClr val="2A3890"/>
                </a:solidFill>
              </a:rPr>
              <a:t>–</a:t>
            </a:r>
            <a:r>
              <a:rPr spc="-80" dirty="0">
                <a:solidFill>
                  <a:srgbClr val="2A3890"/>
                </a:solidFill>
              </a:rPr>
              <a:t> </a:t>
            </a:r>
            <a:r>
              <a:rPr spc="-13" dirty="0">
                <a:solidFill>
                  <a:srgbClr val="2A3890"/>
                </a:solidFill>
              </a:rPr>
              <a:t>Exercise</a:t>
            </a: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8112132" y="814367"/>
            <a:ext cx="3368832" cy="5692767"/>
          </a:xfrm>
          <a:prstGeom prst="rect">
            <a:avLst/>
          </a:prstGeom>
        </p:spPr>
      </p:pic>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613363"/>
            <a:ext cx="8370771" cy="631825"/>
          </a:xfrm>
          <a:prstGeom prst="rect">
            <a:avLst/>
          </a:prstGeom>
        </p:spPr>
        <p:txBody>
          <a:bodyPr vert="horz" wrap="square" lIns="0" tIns="16933" rIns="0" bIns="0" rtlCol="0">
            <a:spAutoFit/>
          </a:bodyPr>
          <a:lstStyle/>
          <a:p>
            <a:pPr marL="16933">
              <a:spcBef>
                <a:spcPts val="133"/>
              </a:spcBef>
            </a:pPr>
            <a:r>
              <a:rPr dirty="0"/>
              <a:t>FCCID</a:t>
            </a:r>
            <a:r>
              <a:rPr spc="-73" dirty="0"/>
              <a:t> </a:t>
            </a:r>
            <a:r>
              <a:rPr dirty="0"/>
              <a:t>Lookup</a:t>
            </a:r>
            <a:r>
              <a:rPr spc="-47" dirty="0"/>
              <a:t> </a:t>
            </a:r>
            <a:r>
              <a:rPr dirty="0">
                <a:solidFill>
                  <a:srgbClr val="2A3890"/>
                </a:solidFill>
              </a:rPr>
              <a:t>–</a:t>
            </a:r>
            <a:r>
              <a:rPr spc="-67" dirty="0">
                <a:solidFill>
                  <a:srgbClr val="2A3890"/>
                </a:solidFill>
              </a:rPr>
              <a:t> </a:t>
            </a:r>
            <a:r>
              <a:rPr dirty="0">
                <a:solidFill>
                  <a:srgbClr val="2A3890"/>
                </a:solidFill>
              </a:rPr>
              <a:t>Other</a:t>
            </a:r>
            <a:r>
              <a:rPr spc="-67" dirty="0">
                <a:solidFill>
                  <a:srgbClr val="2A3890"/>
                </a:solidFill>
              </a:rPr>
              <a:t> </a:t>
            </a:r>
            <a:r>
              <a:rPr spc="-13" dirty="0">
                <a:solidFill>
                  <a:srgbClr val="2A3890"/>
                </a:solidFill>
              </a:rPr>
              <a:t>Examples</a:t>
            </a:r>
          </a:p>
        </p:txBody>
      </p:sp>
      <p:grpSp>
        <p:nvGrpSpPr>
          <p:cNvPr id="3" name="object 3"/>
          <p:cNvGrpSpPr/>
          <p:nvPr/>
        </p:nvGrpSpPr>
        <p:grpSpPr>
          <a:xfrm>
            <a:off x="1341934" y="1509400"/>
            <a:ext cx="3553460" cy="2198793"/>
            <a:chOff x="1006450" y="1132049"/>
            <a:chExt cx="2665095" cy="1649095"/>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015975" y="1141574"/>
              <a:ext cx="2645450" cy="1629425"/>
            </a:xfrm>
            <a:prstGeom prst="rect">
              <a:avLst/>
            </a:prstGeom>
          </p:spPr>
        </p:pic>
        <p:sp>
          <p:nvSpPr>
            <p:cNvPr id="5" name="object 5"/>
            <p:cNvSpPr/>
            <p:nvPr/>
          </p:nvSpPr>
          <p:spPr>
            <a:xfrm>
              <a:off x="1011212" y="1136812"/>
              <a:ext cx="2655570" cy="1639570"/>
            </a:xfrm>
            <a:custGeom>
              <a:avLst/>
              <a:gdLst/>
              <a:ahLst/>
              <a:cxnLst/>
              <a:rect l="l" t="t" r="r" b="b"/>
              <a:pathLst>
                <a:path w="2655570" h="1639570">
                  <a:moveTo>
                    <a:pt x="0" y="0"/>
                  </a:moveTo>
                  <a:lnTo>
                    <a:pt x="2654975" y="0"/>
                  </a:lnTo>
                  <a:lnTo>
                    <a:pt x="2654975" y="1638950"/>
                  </a:lnTo>
                  <a:lnTo>
                    <a:pt x="0" y="16389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6" name="object 6"/>
          <p:cNvSpPr txBox="1"/>
          <p:nvPr/>
        </p:nvSpPr>
        <p:spPr>
          <a:xfrm>
            <a:off x="2159102" y="3779841"/>
            <a:ext cx="1916007"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iPhone</a:t>
            </a:r>
            <a:r>
              <a:rPr sz="2400" b="1" kern="0" spc="-12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7" name="object 7"/>
          <p:cNvGrpSpPr/>
          <p:nvPr/>
        </p:nvGrpSpPr>
        <p:grpSpPr>
          <a:xfrm>
            <a:off x="7028999" y="1509401"/>
            <a:ext cx="4030133" cy="2198793"/>
            <a:chOff x="5271749" y="1132050"/>
            <a:chExt cx="3022600" cy="1649095"/>
          </a:xfrm>
        </p:grpSpPr>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5281274" y="1141575"/>
              <a:ext cx="3003418" cy="1629424"/>
            </a:xfrm>
            <a:prstGeom prst="rect">
              <a:avLst/>
            </a:prstGeom>
          </p:spPr>
        </p:pic>
        <p:sp>
          <p:nvSpPr>
            <p:cNvPr id="9" name="object 9"/>
            <p:cNvSpPr/>
            <p:nvPr/>
          </p:nvSpPr>
          <p:spPr>
            <a:xfrm>
              <a:off x="5276512" y="1136812"/>
              <a:ext cx="3013075" cy="1639570"/>
            </a:xfrm>
            <a:custGeom>
              <a:avLst/>
              <a:gdLst/>
              <a:ahLst/>
              <a:cxnLst/>
              <a:rect l="l" t="t" r="r" b="b"/>
              <a:pathLst>
                <a:path w="3013075" h="1639570">
                  <a:moveTo>
                    <a:pt x="0" y="0"/>
                  </a:moveTo>
                  <a:lnTo>
                    <a:pt x="3012943" y="0"/>
                  </a:lnTo>
                  <a:lnTo>
                    <a:pt x="3012943" y="1638949"/>
                  </a:lnTo>
                  <a:lnTo>
                    <a:pt x="0" y="16389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p:nvPr/>
        </p:nvSpPr>
        <p:spPr>
          <a:xfrm>
            <a:off x="8018145" y="3779841"/>
            <a:ext cx="204978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Key</a:t>
            </a:r>
            <a:r>
              <a:rPr sz="2400" b="1" kern="0" spc="-67" dirty="0">
                <a:solidFill>
                  <a:srgbClr val="212D73"/>
                </a:solidFill>
                <a:latin typeface="Roboto"/>
                <a:cs typeface="Roboto"/>
              </a:rPr>
              <a:t> </a:t>
            </a:r>
            <a:r>
              <a:rPr sz="2400" b="1" kern="0" dirty="0">
                <a:solidFill>
                  <a:srgbClr val="212D73"/>
                </a:solidFill>
                <a:latin typeface="Roboto"/>
                <a:cs typeface="Roboto"/>
              </a:rPr>
              <a:t>Fob</a:t>
            </a:r>
            <a:r>
              <a:rPr sz="2400" b="1" kern="0" spc="-6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11" name="object 11"/>
          <p:cNvGrpSpPr/>
          <p:nvPr/>
        </p:nvGrpSpPr>
        <p:grpSpPr>
          <a:xfrm>
            <a:off x="4689667" y="4281966"/>
            <a:ext cx="2786380" cy="1943100"/>
            <a:chOff x="3517250" y="3211474"/>
            <a:chExt cx="2089785" cy="1457325"/>
          </a:xfrm>
        </p:grpSpPr>
        <p:pic>
          <p:nvPicPr>
            <p:cNvPr id="12" name="object 12"/>
            <p:cNvPicPr/>
            <p:nvPr/>
          </p:nvPicPr>
          <p:blipFill>
            <a:blip r:embed="rId5" cstate="email">
              <a:extLst>
                <a:ext uri="{28A0092B-C50C-407E-A947-70E740481C1C}">
                  <a14:useLocalDpi xmlns:a14="http://schemas.microsoft.com/office/drawing/2010/main"/>
                </a:ext>
              </a:extLst>
            </a:blip>
            <a:stretch>
              <a:fillRect/>
            </a:stretch>
          </p:blipFill>
          <p:spPr>
            <a:xfrm>
              <a:off x="3526775" y="3220999"/>
              <a:ext cx="2070324" cy="1437749"/>
            </a:xfrm>
            <a:prstGeom prst="rect">
              <a:avLst/>
            </a:prstGeom>
          </p:spPr>
        </p:pic>
        <p:sp>
          <p:nvSpPr>
            <p:cNvPr id="13" name="object 13"/>
            <p:cNvSpPr/>
            <p:nvPr/>
          </p:nvSpPr>
          <p:spPr>
            <a:xfrm>
              <a:off x="3522012" y="3216237"/>
              <a:ext cx="2080260" cy="1447800"/>
            </a:xfrm>
            <a:custGeom>
              <a:avLst/>
              <a:gdLst/>
              <a:ahLst/>
              <a:cxnLst/>
              <a:rect l="l" t="t" r="r" b="b"/>
              <a:pathLst>
                <a:path w="2080260" h="1447800">
                  <a:moveTo>
                    <a:pt x="0" y="0"/>
                  </a:moveTo>
                  <a:lnTo>
                    <a:pt x="2079849" y="0"/>
                  </a:lnTo>
                  <a:lnTo>
                    <a:pt x="2079849" y="1447274"/>
                  </a:lnTo>
                  <a:lnTo>
                    <a:pt x="0" y="1447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4603347" y="6318869"/>
            <a:ext cx="2954867" cy="359073"/>
          </a:xfrm>
          <a:prstGeom prst="rect">
            <a:avLst/>
          </a:prstGeom>
        </p:spPr>
        <p:txBody>
          <a:bodyPr vert="horz" wrap="square" lIns="0" tIns="0" rIns="0" bIns="0" rtlCol="0">
            <a:spAutoFit/>
          </a:bodyPr>
          <a:lstStyle/>
          <a:p>
            <a:pPr marL="16933" defTabSz="1219170">
              <a:lnSpc>
                <a:spcPts val="2840"/>
              </a:lnSpc>
            </a:pPr>
            <a:r>
              <a:rPr sz="2400" b="1" kern="0" dirty="0">
                <a:solidFill>
                  <a:srgbClr val="212D73"/>
                </a:solidFill>
                <a:latin typeface="Roboto"/>
                <a:cs typeface="Roboto"/>
              </a:rPr>
              <a:t>PS5</a:t>
            </a:r>
            <a:r>
              <a:rPr sz="2400" b="1" kern="0" spc="-53" dirty="0">
                <a:solidFill>
                  <a:srgbClr val="212D73"/>
                </a:solidFill>
                <a:latin typeface="Roboto"/>
                <a:cs typeface="Roboto"/>
              </a:rPr>
              <a:t> </a:t>
            </a:r>
            <a:r>
              <a:rPr sz="2400" b="1" kern="0" spc="-13" dirty="0">
                <a:solidFill>
                  <a:srgbClr val="212D73"/>
                </a:solidFill>
                <a:latin typeface="Roboto"/>
                <a:cs typeface="Roboto"/>
              </a:rPr>
              <a:t>Controller</a:t>
            </a:r>
            <a:r>
              <a:rPr sz="2400" b="1" kern="0" spc="-47"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sp>
        <p:nvSpPr>
          <p:cNvPr id="15" name="object 15"/>
          <p:cNvSpPr txBox="1"/>
          <p:nvPr/>
        </p:nvSpPr>
        <p:spPr>
          <a:xfrm>
            <a:off x="11377941" y="6320327"/>
            <a:ext cx="298027" cy="282129"/>
          </a:xfrm>
          <a:prstGeom prst="rect">
            <a:avLst/>
          </a:prstGeom>
        </p:spPr>
        <p:txBody>
          <a:bodyPr vert="horz" wrap="square" lIns="0" tIns="0" rIns="0" bIns="0" rtlCol="0">
            <a:spAutoFit/>
          </a:bodyPr>
          <a:lstStyle/>
          <a:p>
            <a:pPr marL="16933" defTabSz="1219170">
              <a:lnSpc>
                <a:spcPts val="2193"/>
              </a:lnSpc>
            </a:pPr>
            <a:r>
              <a:rPr sz="1867" kern="0" spc="-33" dirty="0">
                <a:solidFill>
                  <a:srgbClr val="434343"/>
                </a:solidFill>
                <a:latin typeface="Arial"/>
                <a:cs typeface="Arial"/>
              </a:rPr>
              <a:t>38</a:t>
            </a:r>
            <a:endParaRPr sz="1867" kern="0">
              <a:solidFill>
                <a:sysClr val="windowText" lastClr="000000"/>
              </a:solidFill>
              <a:latin typeface="Arial"/>
              <a:cs typeface="Arial"/>
            </a:endParaRP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65F03D4-C60F-BCC2-00B2-3FC5A2869F43}"/>
              </a:ext>
            </a:extLst>
          </p:cNvPr>
          <p:cNvSpPr>
            <a:spLocks noGrp="1"/>
          </p:cNvSpPr>
          <p:nvPr>
            <p:ph type="body" sz="quarter" idx="10"/>
          </p:nvPr>
        </p:nvSpPr>
        <p:spPr/>
        <p:txBody>
          <a:bodyPr/>
          <a:lstStyle/>
          <a:p>
            <a:r>
              <a:rPr lang="en-US" dirty="0"/>
              <a:t>MAC ID Lookup</a:t>
            </a:r>
          </a:p>
        </p:txBody>
      </p:sp>
      <p:sp>
        <p:nvSpPr>
          <p:cNvPr id="4" name="Text Placeholder 3">
            <a:extLst>
              <a:ext uri="{FF2B5EF4-FFF2-40B4-BE49-F238E27FC236}">
                <a16:creationId xmlns:a16="http://schemas.microsoft.com/office/drawing/2014/main" id="{6CBFDCB8-2683-8890-D373-3B0A01A29E9D}"/>
              </a:ext>
            </a:extLst>
          </p:cNvPr>
          <p:cNvSpPr>
            <a:spLocks noGrp="1"/>
          </p:cNvSpPr>
          <p:nvPr>
            <p:ph type="body" sz="quarter" idx="12"/>
          </p:nvPr>
        </p:nvSpPr>
        <p:spPr>
          <a:xfrm>
            <a:off x="270415" y="771556"/>
            <a:ext cx="11658059" cy="5273644"/>
          </a:xfrm>
        </p:spPr>
        <p:txBody>
          <a:bodyPr/>
          <a:lstStyle/>
          <a:p>
            <a:pPr marL="285750" indent="-285750">
              <a:buFont typeface="Arial" panose="020B0604020202020204" pitchFamily="34" charset="0"/>
              <a:buChar char="•"/>
            </a:pPr>
            <a:r>
              <a:rPr lang="en-US" dirty="0">
                <a:hlinkClick r:id="rId2"/>
              </a:rPr>
              <a:t>https://en.wikipedia.org/wiki/MAC_address</a:t>
            </a:r>
            <a:endParaRPr lang="en-US" dirty="0"/>
          </a:p>
          <a:p>
            <a:pPr marL="285750" indent="-285750">
              <a:buFont typeface="Arial" panose="020B0604020202020204" pitchFamily="34" charset="0"/>
              <a:buChar char="•"/>
            </a:pPr>
            <a:r>
              <a:rPr lang="en-US" dirty="0"/>
              <a:t>Looking up the Medium Access Control (MAC) address</a:t>
            </a:r>
          </a:p>
          <a:p>
            <a:pPr marL="285750" indent="-285750">
              <a:buFont typeface="Arial" panose="020B0604020202020204" pitchFamily="34" charset="0"/>
              <a:buChar char="•"/>
            </a:pPr>
            <a:r>
              <a:rPr lang="en-US" dirty="0"/>
              <a:t>Important identification of device on local networks, wired or wireless</a:t>
            </a:r>
          </a:p>
          <a:p>
            <a:pPr marL="285750" indent="-285750">
              <a:buFont typeface="Arial" panose="020B0604020202020204" pitchFamily="34" charset="0"/>
              <a:buChar char="•"/>
            </a:pPr>
            <a:r>
              <a:rPr lang="en-US" dirty="0"/>
              <a:t>Works with Ethernet, </a:t>
            </a:r>
            <a:r>
              <a:rPr lang="en-US" dirty="0" err="1"/>
              <a:t>WiFi</a:t>
            </a:r>
            <a:r>
              <a:rPr lang="en-US" dirty="0"/>
              <a:t> and Bluetooth devices</a:t>
            </a:r>
          </a:p>
          <a:p>
            <a:pPr marL="285750" indent="-285750">
              <a:buFont typeface="Arial" panose="020B0604020202020204" pitchFamily="34" charset="0"/>
              <a:buChar char="•"/>
            </a:pPr>
            <a:r>
              <a:rPr lang="en-US" dirty="0"/>
              <a:t>Gives </a:t>
            </a:r>
            <a:r>
              <a:rPr lang="en-US" dirty="0" err="1"/>
              <a:t>Manfacturer</a:t>
            </a:r>
            <a:r>
              <a:rPr lang="en-US" dirty="0"/>
              <a:t> Organizationally Unique Identifier (OUI)</a:t>
            </a:r>
          </a:p>
          <a:p>
            <a:pPr marL="285750" indent="-285750">
              <a:buFont typeface="Arial" panose="020B0604020202020204" pitchFamily="34" charset="0"/>
              <a:buChar char="•"/>
            </a:pPr>
            <a:r>
              <a:rPr lang="en-US" dirty="0">
                <a:hlinkClick r:id="rId3"/>
              </a:rPr>
              <a:t>https://maclookup.app/</a:t>
            </a:r>
            <a:r>
              <a:rPr lang="en-US" dirty="0"/>
              <a:t> </a:t>
            </a:r>
          </a:p>
          <a:p>
            <a:pPr marL="285750" indent="-285750">
              <a:buFont typeface="Arial" panose="020B0604020202020204" pitchFamily="34" charset="0"/>
              <a:buChar char="•"/>
            </a:pPr>
            <a:endParaRPr lang="en-US" dirty="0"/>
          </a:p>
        </p:txBody>
      </p:sp>
      <p:pic>
        <p:nvPicPr>
          <p:cNvPr id="6" name="Picture 5">
            <a:extLst>
              <a:ext uri="{FF2B5EF4-FFF2-40B4-BE49-F238E27FC236}">
                <a16:creationId xmlns:a16="http://schemas.microsoft.com/office/drawing/2014/main" id="{17233AFC-FA66-F154-7C50-1D6B83AEC69F}"/>
              </a:ext>
            </a:extLst>
          </p:cNvPr>
          <p:cNvPicPr>
            <a:picLocks noChangeAspect="1"/>
          </p:cNvPicPr>
          <p:nvPr/>
        </p:nvPicPr>
        <p:blipFill>
          <a:blip r:embed="rId4"/>
          <a:stretch>
            <a:fillRect/>
          </a:stretch>
        </p:blipFill>
        <p:spPr>
          <a:xfrm>
            <a:off x="3219199" y="3865691"/>
            <a:ext cx="5753599" cy="2179509"/>
          </a:xfrm>
          <a:prstGeom prst="rect">
            <a:avLst/>
          </a:prstGeom>
        </p:spPr>
      </p:pic>
    </p:spTree>
    <p:extLst>
      <p:ext uri="{BB962C8B-B14F-4D97-AF65-F5344CB8AC3E}">
        <p14:creationId xmlns:p14="http://schemas.microsoft.com/office/powerpoint/2010/main" val="4027383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8CC41A-92DC-4526-9165-E4D3020A5F9A}"/>
              </a:ext>
            </a:extLst>
          </p:cNvPr>
          <p:cNvSpPr>
            <a:spLocks noGrp="1"/>
          </p:cNvSpPr>
          <p:nvPr>
            <p:ph type="body" sz="quarter" idx="10"/>
          </p:nvPr>
        </p:nvSpPr>
        <p:spPr/>
        <p:txBody>
          <a:bodyPr/>
          <a:lstStyle/>
          <a:p>
            <a:r>
              <a:rPr lang="en-US" dirty="0"/>
              <a:t>Auto-ISAC ACT Advanced Wireless Lab – 2026 Syllabus</a:t>
            </a:r>
          </a:p>
        </p:txBody>
      </p:sp>
      <p:sp>
        <p:nvSpPr>
          <p:cNvPr id="4" name="Text Placeholder 3">
            <a:extLst>
              <a:ext uri="{FF2B5EF4-FFF2-40B4-BE49-F238E27FC236}">
                <a16:creationId xmlns:a16="http://schemas.microsoft.com/office/drawing/2014/main" id="{37CF222F-449F-AEF7-61FD-D75CFCD9EC5D}"/>
              </a:ext>
            </a:extLst>
          </p:cNvPr>
          <p:cNvSpPr>
            <a:spLocks noGrp="1"/>
          </p:cNvSpPr>
          <p:nvPr>
            <p:ph type="body" sz="quarter" idx="12"/>
          </p:nvPr>
        </p:nvSpPr>
        <p:spPr>
          <a:xfrm>
            <a:off x="270415" y="717259"/>
            <a:ext cx="11658059" cy="5848133"/>
          </a:xfrm>
        </p:spPr>
        <p:txBody>
          <a:bodyPr>
            <a:normAutofit fontScale="92500" lnSpcReduction="10000"/>
          </a:bodyPr>
          <a:lstStyle/>
          <a:p>
            <a:pPr marL="285750" indent="-285750">
              <a:buFont typeface="Arial" panose="020B0604020202020204" pitchFamily="34" charset="0"/>
              <a:buChar char="•"/>
            </a:pPr>
            <a:r>
              <a:rPr lang="en-US" sz="1600" b="1" dirty="0"/>
              <a:t>Intro</a:t>
            </a:r>
          </a:p>
          <a:p>
            <a:pPr marL="971550" lvl="1" indent="-285750"/>
            <a:r>
              <a:rPr lang="en-US" sz="1400" dirty="0"/>
              <a:t>FCC ID Lookup</a:t>
            </a:r>
          </a:p>
          <a:p>
            <a:pPr marL="971550" lvl="1" indent="-285750"/>
            <a:r>
              <a:rPr lang="en-US" sz="1400" dirty="0"/>
              <a:t>MAC ID Lookup</a:t>
            </a:r>
          </a:p>
          <a:p>
            <a:pPr marL="285750" indent="-285750">
              <a:buFont typeface="Arial" panose="020B0604020202020204" pitchFamily="34" charset="0"/>
              <a:buChar char="•"/>
            </a:pPr>
            <a:r>
              <a:rPr lang="en-US" sz="1600" b="1" dirty="0"/>
              <a:t>Bluetooth</a:t>
            </a:r>
          </a:p>
          <a:p>
            <a:pPr marL="971550" lvl="1" indent="-285750"/>
            <a:r>
              <a:rPr lang="en-US" sz="1400" dirty="0"/>
              <a:t>Scanning</a:t>
            </a:r>
          </a:p>
          <a:p>
            <a:pPr marL="971550" lvl="1" indent="-285750"/>
            <a:r>
              <a:rPr lang="en-US" sz="1400" dirty="0"/>
              <a:t>Enumerating</a:t>
            </a:r>
          </a:p>
          <a:p>
            <a:pPr marL="971550" lvl="1" indent="-285750"/>
            <a:r>
              <a:rPr lang="en-US" sz="1400" dirty="0"/>
              <a:t>Identifying</a:t>
            </a:r>
          </a:p>
          <a:p>
            <a:pPr marL="971550" lvl="1" indent="-285750"/>
            <a:r>
              <a:rPr lang="en-US" sz="1400" dirty="0"/>
              <a:t>Analyzing</a:t>
            </a:r>
          </a:p>
          <a:p>
            <a:pPr marL="971550" lvl="1" indent="-285750"/>
            <a:r>
              <a:rPr lang="en-US" sz="1400" dirty="0"/>
              <a:t>Pairing</a:t>
            </a:r>
          </a:p>
          <a:p>
            <a:pPr marL="971550" lvl="1" indent="-285750"/>
            <a:r>
              <a:rPr lang="en-US" sz="1400" dirty="0"/>
              <a:t>Data</a:t>
            </a:r>
          </a:p>
          <a:p>
            <a:pPr marL="285750" indent="-285750">
              <a:buFont typeface="Arial" panose="020B0604020202020204" pitchFamily="34" charset="0"/>
              <a:buChar char="•"/>
            </a:pPr>
            <a:r>
              <a:rPr lang="en-US" sz="1600" b="1" dirty="0" err="1"/>
              <a:t>WiFi</a:t>
            </a:r>
            <a:endParaRPr lang="en-US" sz="1600" b="1" dirty="0"/>
          </a:p>
          <a:p>
            <a:pPr marL="971550" lvl="1" indent="-285750"/>
            <a:r>
              <a:rPr lang="en-US" sz="1400" dirty="0"/>
              <a:t>Analyzer</a:t>
            </a:r>
          </a:p>
          <a:p>
            <a:pPr marL="971550" lvl="1" indent="-285750"/>
            <a:r>
              <a:rPr lang="en-US" sz="1400" dirty="0" err="1"/>
              <a:t>WiFite</a:t>
            </a:r>
            <a:endParaRPr lang="en-US" sz="1400" dirty="0"/>
          </a:p>
          <a:p>
            <a:pPr marL="971550" lvl="1" indent="-285750"/>
            <a:r>
              <a:rPr lang="en-US" sz="1400" dirty="0" err="1"/>
              <a:t>HackISAC</a:t>
            </a:r>
            <a:endParaRPr lang="en-US" sz="1400" dirty="0"/>
          </a:p>
          <a:p>
            <a:pPr marL="285750" indent="-285750">
              <a:buFont typeface="Arial" panose="020B0604020202020204" pitchFamily="34" charset="0"/>
              <a:buChar char="•"/>
            </a:pPr>
            <a:r>
              <a:rPr lang="en-US" sz="1600" b="1" dirty="0"/>
              <a:t>GPS</a:t>
            </a:r>
          </a:p>
          <a:p>
            <a:pPr marL="971550" lvl="1" indent="-285750"/>
            <a:r>
              <a:rPr lang="en-US" sz="1400" dirty="0"/>
              <a:t>Viewing</a:t>
            </a:r>
            <a:endParaRPr lang="en-US" sz="800" dirty="0"/>
          </a:p>
          <a:p>
            <a:pPr marL="285750" indent="-285750">
              <a:buFont typeface="Arial" panose="020B0604020202020204" pitchFamily="34" charset="0"/>
              <a:buChar char="•"/>
            </a:pPr>
            <a:r>
              <a:rPr lang="en-US" sz="1600" b="1" dirty="0"/>
              <a:t>Cellular</a:t>
            </a:r>
          </a:p>
          <a:p>
            <a:pPr marL="971550" lvl="1" indent="-285750"/>
            <a:r>
              <a:rPr lang="en-US" sz="1400" dirty="0"/>
              <a:t>Overview</a:t>
            </a:r>
            <a:endParaRPr lang="en-US" sz="1400" b="1" dirty="0"/>
          </a:p>
          <a:p>
            <a:pPr marL="285750" indent="-285750">
              <a:buFont typeface="Arial" panose="020B0604020202020204" pitchFamily="34" charset="0"/>
              <a:buChar char="•"/>
            </a:pPr>
            <a:r>
              <a:rPr lang="en-US" sz="1600" b="1" dirty="0"/>
              <a:t>SDR</a:t>
            </a:r>
          </a:p>
          <a:p>
            <a:pPr marL="971550" lvl="1" indent="-285750"/>
            <a:r>
              <a:rPr lang="en-US" sz="1400" dirty="0"/>
              <a:t>FM Radio</a:t>
            </a:r>
          </a:p>
          <a:p>
            <a:pPr marL="971550" lvl="1" indent="-285750"/>
            <a:r>
              <a:rPr lang="en-US" sz="1400" dirty="0" err="1"/>
              <a:t>Keyfob</a:t>
            </a:r>
            <a:r>
              <a:rPr lang="en-US" sz="1400" dirty="0"/>
              <a:t> record</a:t>
            </a:r>
          </a:p>
          <a:p>
            <a:pPr marL="971550" lvl="1" indent="-285750"/>
            <a:r>
              <a:rPr lang="en-US" sz="1400" dirty="0" err="1"/>
              <a:t>Keyfob</a:t>
            </a:r>
            <a:r>
              <a:rPr lang="en-US" sz="1400" dirty="0"/>
              <a:t> replay</a:t>
            </a:r>
          </a:p>
          <a:p>
            <a:pPr marL="971550" lvl="1" indent="-285750"/>
            <a:r>
              <a:rPr lang="en-US" sz="1400" dirty="0" err="1"/>
              <a:t>Keyfob</a:t>
            </a:r>
            <a:r>
              <a:rPr lang="en-US" sz="1400" dirty="0"/>
              <a:t> decode</a:t>
            </a:r>
          </a:p>
          <a:p>
            <a:pPr marL="285750" indent="-285750"/>
            <a:endParaRPr lang="en-US" sz="800" dirty="0"/>
          </a:p>
        </p:txBody>
      </p:sp>
    </p:spTree>
    <p:extLst>
      <p:ext uri="{BB962C8B-B14F-4D97-AF65-F5344CB8AC3E}">
        <p14:creationId xmlns:p14="http://schemas.microsoft.com/office/powerpoint/2010/main" val="1194985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8296D6-69DD-EFB3-27C5-5BB0CA443216}"/>
              </a:ext>
            </a:extLst>
          </p:cNvPr>
          <p:cNvSpPr>
            <a:spLocks noGrp="1"/>
          </p:cNvSpPr>
          <p:nvPr>
            <p:ph type="body" sz="quarter" idx="10"/>
          </p:nvPr>
        </p:nvSpPr>
        <p:spPr/>
        <p:txBody>
          <a:bodyPr/>
          <a:lstStyle/>
          <a:p>
            <a:r>
              <a:rPr lang="en-US" dirty="0"/>
              <a:t>Appendix</a:t>
            </a:r>
          </a:p>
        </p:txBody>
      </p:sp>
      <p:sp>
        <p:nvSpPr>
          <p:cNvPr id="4" name="Text Placeholder 3">
            <a:extLst>
              <a:ext uri="{FF2B5EF4-FFF2-40B4-BE49-F238E27FC236}">
                <a16:creationId xmlns:a16="http://schemas.microsoft.com/office/drawing/2014/main" id="{FBD158A4-E09F-9C63-2A15-EC5A41F8B727}"/>
              </a:ext>
            </a:extLst>
          </p:cNvPr>
          <p:cNvSpPr>
            <a:spLocks noGrp="1"/>
          </p:cNvSpPr>
          <p:nvPr>
            <p:ph type="body" sz="quarter" idx="12"/>
          </p:nvPr>
        </p:nvSpPr>
        <p:spPr>
          <a:xfrm>
            <a:off x="270415" y="694944"/>
            <a:ext cx="11658059" cy="5350256"/>
          </a:xfrm>
        </p:spPr>
        <p:txBody>
          <a:bodyPr/>
          <a:lstStyle/>
          <a:p>
            <a:pPr marL="285750" indent="-285750">
              <a:buFont typeface="Arial" panose="020B0604020202020204" pitchFamily="34" charset="0"/>
              <a:buChar char="•"/>
            </a:pPr>
            <a:r>
              <a:rPr lang="en-US" dirty="0"/>
              <a:t>Neal’s </a:t>
            </a:r>
            <a:r>
              <a:rPr lang="en-US" dirty="0" err="1"/>
              <a:t>Github</a:t>
            </a:r>
            <a:r>
              <a:rPr lang="en-US" dirty="0"/>
              <a:t> repository for the lab:  </a:t>
            </a:r>
            <a:r>
              <a:rPr lang="en-US" u="sng" dirty="0">
                <a:hlinkClick r:id="rId2"/>
              </a:rPr>
              <a:t>https://github.com/nprobert/AutoISAC-ACT-AdvWireless</a:t>
            </a:r>
            <a:endParaRPr lang="en-US" u="sng"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you want serious Wireless Training take the SANS 617 Wireless Penetration Testing and Ethical Hacking class: </a:t>
            </a:r>
            <a:r>
              <a:rPr lang="en-US" dirty="0">
                <a:hlinkClick r:id="rId3"/>
              </a:rPr>
              <a:t>https://www.sans.org/cyber-security-courses/wireless-penetration-testing-ethical-hacking</a:t>
            </a:r>
            <a:r>
              <a:rPr lang="en-US" dirty="0"/>
              <a:t> as it was just recently updated.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Well known RF tools:</a:t>
            </a:r>
          </a:p>
          <a:p>
            <a:pPr marL="971550" lvl="1" indent="-285750"/>
            <a:r>
              <a:rPr lang="en-US" sz="1600" dirty="0" err="1"/>
              <a:t>HackRF</a:t>
            </a:r>
            <a:r>
              <a:rPr lang="en-US" sz="1600" dirty="0"/>
              <a:t>: </a:t>
            </a:r>
            <a:r>
              <a:rPr lang="en-US" sz="1600" dirty="0">
                <a:hlinkClick r:id="rId4"/>
              </a:rPr>
              <a:t>https://greatscottgadgets.com/hackrf/</a:t>
            </a:r>
            <a:r>
              <a:rPr lang="en-US" sz="1600" dirty="0"/>
              <a:t> is a popular SDR</a:t>
            </a:r>
          </a:p>
          <a:p>
            <a:pPr marL="971550" lvl="1" indent="-285750"/>
            <a:r>
              <a:rPr lang="en-US" sz="1600" dirty="0"/>
              <a:t>Flipper Zero: </a:t>
            </a:r>
            <a:r>
              <a:rPr lang="en-US" sz="1600" dirty="0">
                <a:hlinkClick r:id="rId5"/>
              </a:rPr>
              <a:t>https://flipper.net/</a:t>
            </a:r>
            <a:r>
              <a:rPr lang="en-US" sz="1600" dirty="0"/>
              <a:t> for Low Frequency (LF) work under 1Ghz</a:t>
            </a:r>
          </a:p>
          <a:p>
            <a:pPr marL="971550" lvl="1" indent="-285750"/>
            <a:r>
              <a:rPr lang="en-US" sz="1600" dirty="0" err="1"/>
              <a:t>FreeWILI</a:t>
            </a:r>
            <a:r>
              <a:rPr lang="en-US" sz="1600" dirty="0"/>
              <a:t>: </a:t>
            </a:r>
            <a:r>
              <a:rPr lang="en-US" sz="1600" dirty="0">
                <a:hlinkClick r:id="rId6"/>
              </a:rPr>
              <a:t>https://freewili.com/</a:t>
            </a:r>
            <a:r>
              <a:rPr lang="en-US" sz="1600" dirty="0"/>
              <a:t> useful for car hacking.</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 great tool for using with Software Defined Radios (SDR) is GNU Radio: </a:t>
            </a:r>
            <a:r>
              <a:rPr lang="en-US" dirty="0">
                <a:hlinkClick r:id="rId7"/>
              </a:rPr>
              <a:t>https://www.gnuradio.org/</a:t>
            </a:r>
            <a:r>
              <a:rPr lang="en-US" dirty="0"/>
              <a:t> </a:t>
            </a:r>
          </a:p>
        </p:txBody>
      </p:sp>
    </p:spTree>
    <p:extLst>
      <p:ext uri="{BB962C8B-B14F-4D97-AF65-F5344CB8AC3E}">
        <p14:creationId xmlns:p14="http://schemas.microsoft.com/office/powerpoint/2010/main" val="36181022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2.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customXml/itemProps3.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4EE72F3-C956-4A5B-833F-E761B5D8ACD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1377</TotalTime>
  <Words>618</Words>
  <Application>Microsoft Office PowerPoint</Application>
  <PresentationFormat>Widescreen</PresentationFormat>
  <Paragraphs>95</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ＭＳ Ｐゴシック</vt:lpstr>
      <vt:lpstr>Aptos</vt:lpstr>
      <vt:lpstr>Aptos Display</vt:lpstr>
      <vt:lpstr>Arial</vt:lpstr>
      <vt:lpstr>Roboto</vt:lpstr>
      <vt:lpstr>Wingdings</vt:lpstr>
      <vt:lpstr>Custom Design</vt:lpstr>
      <vt:lpstr>PowerPoint Presentation</vt:lpstr>
      <vt:lpstr>US Laws, Guidelines &amp; Rules</vt:lpstr>
      <vt:lpstr>PowerPoint Presentation</vt:lpstr>
      <vt:lpstr>PowerPoint Presentation</vt:lpstr>
      <vt:lpstr>FCCID Lookup – Exercise</vt:lpstr>
      <vt:lpstr>FCCID Lookup – Other Examples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Neal Probert</cp:lastModifiedBy>
  <cp:revision>30</cp:revision>
  <dcterms:created xsi:type="dcterms:W3CDTF">2026-03-11T18:02:03Z</dcterms:created>
  <dcterms:modified xsi:type="dcterms:W3CDTF">2026-10-19T14:47:35Z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
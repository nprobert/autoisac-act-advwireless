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5"/>
  </p:sldMasterIdLst>
  <p:notesMasterIdLst>
    <p:notesMasterId r:id="rId8"/>
  </p:notesMasterIdLst>
  <p:sldIdLst>
    <p:sldId id="763" r:id="rId6"/>
    <p:sldId id="766" r:id="rId7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0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C2648E-2733-4EC8-BEDA-1577DE2D3D0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CA796C-48E4-4AB2-BF9A-20773E9CD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3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1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37169267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2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1193206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A380C-F67F-EFBA-3B70-375AF924B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61943-3342-4554-8403-118C8C1529D5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4AFDB8-8FC5-F48F-B4AE-DA7846B5D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2BEB7-8480-87E5-785A-0C311E8BB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23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4444030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5542D-E5F5-D09D-EEA0-06051D45B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2CF76-9965-422C-D7AA-934E02A1E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11D16-F5A9-231C-545E-6906C5F1D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61943-3342-4554-8403-118C8C1529D5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8B990-6EF6-E39E-EF31-38B044D069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0DDA7-C73D-4678-0FED-6404D4AF2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1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emote_keyless_syste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ired.com/2017/04/just-pair-11-radio-gadgets-can-steal-car/" TargetMode="External"/><Relationship Id="rId5" Type="http://schemas.openxmlformats.org/officeDocument/2006/relationships/hyperlink" Target="https://www.wired.com/2016/03/study-finds-24-car-models-open-unlocking-ignition-hack/" TargetMode="External"/><Relationship Id="rId4" Type="http://schemas.openxmlformats.org/officeDocument/2006/relationships/hyperlink" Target="http://www.wired.com/2015/08/hackers-tiny-device-unlocks-cars-opens-garages/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opsci.com/g00/hackers-can-trick-lidar-used-in-autonomous-cars-with-laser-pointer?i10c.encReferrer=aHR0cHM6Ly93d3cuZ29vZ2xlLmNvbS8%3D&amp;i10c.ua=1" TargetMode="External"/><Relationship Id="rId3" Type="http://schemas.openxmlformats.org/officeDocument/2006/relationships/hyperlink" Target="https://www.accuweather.com/en/weather-news/self-driving-cars-will-they-be-safe-during-bad-weathr/60524998" TargetMode="External"/><Relationship Id="rId7" Type="http://schemas.openxmlformats.org/officeDocument/2006/relationships/hyperlink" Target="https://spectrum.ieee.org/cars-that-think/transportation/self-driving/researcher-hacks-selfdriving-car-sensor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ifehacker.com/six-car-safety-sensors-you-should-always-keep-clean-dur-1756940742" TargetMode="External"/><Relationship Id="rId5" Type="http://schemas.openxmlformats.org/officeDocument/2006/relationships/hyperlink" Target="https://www.consumerreports.org/car-safety/how-to-keep-your-car-sensors-clean-in-winter/" TargetMode="External"/><Relationship Id="rId4" Type="http://schemas.openxmlformats.org/officeDocument/2006/relationships/hyperlink" Target="https://www.nytimes.com/interactive/2016/06/06/automobiles/autonomous-cars-problems.html" TargetMode="External"/><Relationship Id="rId9" Type="http://schemas.openxmlformats.org/officeDocument/2006/relationships/hyperlink" Target="https://arstechnica.com/cars/2017/09/hacking-street-signs-with-stickers-could-confuse-self-driving-car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Keyfobs</a:t>
            </a:r>
            <a:r>
              <a:rPr lang="en-US" dirty="0"/>
              <a:t> (Remote keyless system)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 fontScale="92500" lnSpcReduction="10000"/>
          </a:bodyPr>
          <a:lstStyle/>
          <a:p>
            <a:r>
              <a:rPr lang="en-US" altLang="ja-JP" sz="1600" dirty="0"/>
              <a:t>Basics</a:t>
            </a:r>
          </a:p>
          <a:p>
            <a:pPr lvl="1"/>
            <a:r>
              <a:rPr lang="en-US" altLang="ja-JP" sz="1400" dirty="0"/>
              <a:t>Wireless keyless entry systems</a:t>
            </a:r>
          </a:p>
          <a:p>
            <a:pPr lvl="1"/>
            <a:r>
              <a:rPr lang="en-US" altLang="ja-JP" sz="1400" dirty="0"/>
              <a:t>415Khz or typical RFID frequencies</a:t>
            </a:r>
          </a:p>
          <a:p>
            <a:r>
              <a:rPr lang="en-US" altLang="ja-JP" sz="1600" dirty="0"/>
              <a:t>Links</a:t>
            </a:r>
          </a:p>
          <a:p>
            <a:pPr lvl="1"/>
            <a:r>
              <a:rPr lang="en-US" altLang="ja-JP" sz="1400" dirty="0">
                <a:hlinkClick r:id="rId3"/>
              </a:rPr>
              <a:t>https://en.wikipedia.org/wiki/Remote_keyless_system</a:t>
            </a:r>
            <a:endParaRPr lang="en-US" altLang="ja-JP" sz="1400" dirty="0"/>
          </a:p>
          <a:p>
            <a:r>
              <a:rPr lang="en-US" altLang="ja-JP" sz="1600" dirty="0"/>
              <a:t>Known Exploits/Vulnerabilities</a:t>
            </a:r>
          </a:p>
          <a:p>
            <a:pPr lvl="1"/>
            <a:r>
              <a:rPr lang="en-US" altLang="ja-JP" sz="1200" dirty="0" err="1"/>
              <a:t>Samy</a:t>
            </a:r>
            <a:r>
              <a:rPr lang="en-US" altLang="ja-JP" sz="1200" dirty="0"/>
              <a:t> </a:t>
            </a:r>
            <a:r>
              <a:rPr lang="en-US" altLang="ja-JP" sz="1200" dirty="0" err="1"/>
              <a:t>Kamkar</a:t>
            </a:r>
            <a:endParaRPr lang="en-US" altLang="ja-JP" sz="1200" dirty="0"/>
          </a:p>
          <a:p>
            <a:pPr lvl="1"/>
            <a:r>
              <a:rPr lang="en-US" altLang="ja-JP" sz="1200" dirty="0" err="1"/>
              <a:t>Rolljam</a:t>
            </a:r>
            <a:r>
              <a:rPr lang="en-US" altLang="ja-JP" sz="1200" dirty="0"/>
              <a:t>: </a:t>
            </a:r>
            <a:r>
              <a:rPr lang="en-US" altLang="ja-JP" sz="1200" dirty="0">
                <a:hlinkClick r:id="rId4"/>
              </a:rPr>
              <a:t>http://www.wired.com/2015/08/hackers-tiny-device-unlocks-cars-opens-garages/</a:t>
            </a:r>
            <a:endParaRPr lang="en-US" altLang="ja-JP" sz="1200" dirty="0"/>
          </a:p>
          <a:p>
            <a:pPr lvl="1"/>
            <a:r>
              <a:rPr lang="en-US" altLang="ja-JP" sz="1200" dirty="0">
                <a:hlinkClick r:id="rId5"/>
              </a:rPr>
              <a:t>https://www.wired.com/2016/03/study-finds-24-car-models-open-unlocking-ignition-hack/</a:t>
            </a:r>
            <a:endParaRPr lang="en-US" altLang="ja-JP" sz="1200" dirty="0"/>
          </a:p>
          <a:p>
            <a:pPr lvl="1"/>
            <a:r>
              <a:rPr lang="en-US" altLang="ja-JP" sz="1200" dirty="0">
                <a:hlinkClick r:id="rId6"/>
              </a:rPr>
              <a:t>https://www.wired.com/2017/04/just-pair-11-radio-gadgets-can-steal-car/</a:t>
            </a:r>
            <a:endParaRPr lang="en-US" altLang="ja-JP" sz="1200" dirty="0"/>
          </a:p>
          <a:p>
            <a:r>
              <a:rPr lang="en-US" sz="1600" dirty="0"/>
              <a:t>Security</a:t>
            </a:r>
          </a:p>
          <a:p>
            <a:pPr lvl="1"/>
            <a:r>
              <a:rPr lang="en-US" sz="1400" dirty="0"/>
              <a:t>Older </a:t>
            </a:r>
            <a:r>
              <a:rPr lang="en-US" sz="1400" dirty="0" err="1"/>
              <a:t>keyfobs</a:t>
            </a:r>
            <a:r>
              <a:rPr lang="en-US" sz="1400" dirty="0"/>
              <a:t> are more vulnerable, susceptible to replay or relay attacks</a:t>
            </a:r>
          </a:p>
          <a:p>
            <a:pPr lvl="1"/>
            <a:r>
              <a:rPr lang="en-US" sz="1400" dirty="0"/>
              <a:t>Should have rolling key algorithm which guards against replay attacks</a:t>
            </a:r>
          </a:p>
          <a:p>
            <a:pPr lvl="2"/>
            <a:r>
              <a:rPr lang="en-US" sz="1200" dirty="0"/>
              <a:t>Attacker can jam vehicle and capture next message from </a:t>
            </a:r>
            <a:r>
              <a:rPr lang="en-US" sz="1200" dirty="0" err="1"/>
              <a:t>keyfob</a:t>
            </a:r>
            <a:r>
              <a:rPr lang="en-US" sz="1200" dirty="0"/>
              <a:t> for replay</a:t>
            </a:r>
          </a:p>
          <a:p>
            <a:pPr lvl="2"/>
            <a:r>
              <a:rPr lang="en-US" sz="1200" dirty="0"/>
              <a:t>Mitigate with 2-way communications using challenge/response authentication</a:t>
            </a:r>
          </a:p>
          <a:p>
            <a:pPr lvl="1"/>
            <a:r>
              <a:rPr lang="en-US" sz="1400" dirty="0"/>
              <a:t>Relay attacks are done by using a pair of devices</a:t>
            </a:r>
          </a:p>
          <a:p>
            <a:pPr lvl="2"/>
            <a:r>
              <a:rPr lang="en-US" sz="1200" dirty="0"/>
              <a:t>One near vehicle, one near </a:t>
            </a:r>
            <a:r>
              <a:rPr lang="en-US" sz="1200" dirty="0" err="1"/>
              <a:t>keyfob</a:t>
            </a:r>
            <a:endParaRPr lang="en-US" sz="1200" dirty="0"/>
          </a:p>
          <a:p>
            <a:pPr lvl="2"/>
            <a:r>
              <a:rPr lang="en-US" sz="1200" dirty="0"/>
              <a:t>Communicate at long distance over wireless</a:t>
            </a:r>
          </a:p>
          <a:p>
            <a:pPr lvl="2"/>
            <a:r>
              <a:rPr lang="en-US" sz="1200" dirty="0"/>
              <a:t>Store </a:t>
            </a:r>
            <a:r>
              <a:rPr lang="en-US" sz="1200" dirty="0" err="1"/>
              <a:t>keyfobs</a:t>
            </a:r>
            <a:r>
              <a:rPr lang="en-US" sz="1200" dirty="0"/>
              <a:t> in metal box (faraday cage) </a:t>
            </a:r>
          </a:p>
          <a:p>
            <a:pPr lvl="1"/>
            <a:r>
              <a:rPr lang="en-US" sz="1400" dirty="0"/>
              <a:t>Jamming attack could be detected</a:t>
            </a:r>
          </a:p>
          <a:p>
            <a:pPr lvl="1"/>
            <a:r>
              <a:rPr lang="en-US" sz="1400" dirty="0" err="1"/>
              <a:t>Keyfob</a:t>
            </a:r>
            <a:r>
              <a:rPr lang="en-US" sz="1400" dirty="0"/>
              <a:t> proximity?</a:t>
            </a:r>
          </a:p>
          <a:p>
            <a:r>
              <a:rPr lang="en-US" sz="1600" dirty="0"/>
              <a:t>Future</a:t>
            </a:r>
          </a:p>
          <a:p>
            <a:pPr lvl="1"/>
            <a:r>
              <a:rPr lang="en-US" sz="1300" dirty="0"/>
              <a:t>OEMs have used Bluetooth and some are migrating to Ultra Wide Band (UWB)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6497527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Vehicle Sensors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 fontScale="92500" lnSpcReduction="20000"/>
          </a:bodyPr>
          <a:lstStyle/>
          <a:p>
            <a:r>
              <a:rPr lang="en-US" altLang="ja-JP" sz="1600" dirty="0"/>
              <a:t>General</a:t>
            </a:r>
          </a:p>
          <a:p>
            <a:pPr lvl="1"/>
            <a:r>
              <a:rPr lang="en-US" altLang="ja-JP" sz="1400" dirty="0"/>
              <a:t>Bad weather can negatively impact and disable sensors</a:t>
            </a:r>
          </a:p>
          <a:p>
            <a:pPr lvl="2"/>
            <a:r>
              <a:rPr lang="en-US" altLang="ja-JP" sz="1200" dirty="0">
                <a:hlinkClick r:id="rId3"/>
              </a:rPr>
              <a:t>https://www.accuweather.com/en/weather-news/self-driving-cars-will-they-be-safe-during-bad-weathr/60524998</a:t>
            </a:r>
            <a:endParaRPr lang="en-US" altLang="ja-JP" sz="1200" dirty="0"/>
          </a:p>
          <a:p>
            <a:pPr lvl="2"/>
            <a:r>
              <a:rPr lang="en-US" altLang="ja-JP" sz="1200" dirty="0">
                <a:hlinkClick r:id="rId4"/>
              </a:rPr>
              <a:t>https://www.nytimes.com/interactive/2016/06/06/automobiles/autonomous-cars-problems.html</a:t>
            </a:r>
            <a:endParaRPr lang="en-US" altLang="ja-JP" sz="1200" dirty="0"/>
          </a:p>
          <a:p>
            <a:pPr lvl="1"/>
            <a:r>
              <a:rPr lang="en-US" altLang="ja-JP" sz="1400" dirty="0"/>
              <a:t>Keeping sensors clean</a:t>
            </a:r>
          </a:p>
          <a:p>
            <a:pPr lvl="2"/>
            <a:r>
              <a:rPr lang="en-US" altLang="ja-JP" sz="1200" dirty="0">
                <a:hlinkClick r:id="rId5"/>
              </a:rPr>
              <a:t>https://www.consumerreports.org/car-safety/how-to-keep-your-car-sensors-clean-in-winter/</a:t>
            </a:r>
            <a:endParaRPr lang="en-US" altLang="ja-JP" sz="1200" dirty="0"/>
          </a:p>
          <a:p>
            <a:pPr lvl="2"/>
            <a:r>
              <a:rPr lang="en-US" altLang="ja-JP" sz="1200" dirty="0">
                <a:hlinkClick r:id="rId6"/>
              </a:rPr>
              <a:t>https://lifehacker.com/six-car-safety-sensors-you-should-always-keep-clean-dur-1756940742</a:t>
            </a:r>
            <a:endParaRPr lang="en-US" altLang="ja-JP" sz="1200" dirty="0"/>
          </a:p>
          <a:p>
            <a:pPr lvl="1"/>
            <a:r>
              <a:rPr lang="en-US" altLang="ja-JP" sz="1400" dirty="0"/>
              <a:t>Unexpected road changes, construction</a:t>
            </a:r>
          </a:p>
          <a:p>
            <a:r>
              <a:rPr lang="en-US" altLang="ja-JP" sz="1800" dirty="0"/>
              <a:t>Lidar</a:t>
            </a:r>
          </a:p>
          <a:p>
            <a:pPr lvl="1"/>
            <a:r>
              <a:rPr lang="en-US" altLang="ja-JP" sz="1400" dirty="0"/>
              <a:t>High detail, shorter range</a:t>
            </a:r>
          </a:p>
          <a:p>
            <a:pPr lvl="1"/>
            <a:r>
              <a:rPr lang="en-US" altLang="ja-JP" sz="1400" dirty="0"/>
              <a:t>Rain or snow can confuse sensor</a:t>
            </a:r>
          </a:p>
          <a:p>
            <a:pPr lvl="1"/>
            <a:r>
              <a:rPr lang="en-US" altLang="ja-JP" sz="1400" dirty="0"/>
              <a:t>Can be confused by laser pens</a:t>
            </a:r>
          </a:p>
          <a:p>
            <a:pPr lvl="2"/>
            <a:r>
              <a:rPr lang="en-US" altLang="ja-JP" sz="1200" dirty="0">
                <a:hlinkClick r:id="rId7"/>
              </a:rPr>
              <a:t>https://spectrum.ieee.org/cars-that-think/transportation/self-driving/researcher-hacks-selfdriving-car-sensors</a:t>
            </a:r>
            <a:endParaRPr lang="en-US" altLang="ja-JP" sz="1200" dirty="0"/>
          </a:p>
          <a:p>
            <a:pPr lvl="2"/>
            <a:r>
              <a:rPr lang="en-US" altLang="ja-JP" sz="1200" dirty="0">
                <a:hlinkClick r:id="rId8"/>
              </a:rPr>
              <a:t>https://www.popsci.com/g00/hackers-can-trick-lidar-used-in-autonomous-cars-with-laser-pointer?i10c.encReferrer=aHR0cHM6Ly93d3cuZ29vZ2xlLmNvbS8%3D&amp;i10c.ua=1</a:t>
            </a:r>
            <a:endParaRPr lang="en-US" altLang="ja-JP" sz="1200" dirty="0"/>
          </a:p>
          <a:p>
            <a:r>
              <a:rPr lang="en-US" altLang="ja-JP" sz="1800" dirty="0"/>
              <a:t>Radar</a:t>
            </a:r>
          </a:p>
          <a:p>
            <a:pPr lvl="1"/>
            <a:r>
              <a:rPr lang="en-US" altLang="ja-JP" sz="1400" dirty="0"/>
              <a:t>Low detail, longer range</a:t>
            </a:r>
          </a:p>
          <a:p>
            <a:pPr lvl="1"/>
            <a:r>
              <a:rPr lang="en-US" altLang="ja-JP" sz="1400" dirty="0"/>
              <a:t>Can be confused by chaff and large metal obstructions</a:t>
            </a:r>
          </a:p>
          <a:p>
            <a:r>
              <a:rPr lang="en-US" altLang="ja-JP" sz="1800" dirty="0"/>
              <a:t>Vision (Camera)</a:t>
            </a:r>
          </a:p>
          <a:p>
            <a:pPr lvl="1"/>
            <a:r>
              <a:rPr lang="en-US" altLang="ja-JP" sz="1400" dirty="0"/>
              <a:t>Varying detail and ranges, depending upon lens focus</a:t>
            </a:r>
          </a:p>
          <a:p>
            <a:pPr lvl="1"/>
            <a:r>
              <a:rPr lang="en-US" altLang="ja-JP" sz="1400" dirty="0"/>
              <a:t>Image recognition is computationally intensive and not always accurate</a:t>
            </a:r>
          </a:p>
          <a:p>
            <a:pPr lvl="1"/>
            <a:r>
              <a:rPr lang="en-US" altLang="ja-JP" sz="1400" dirty="0"/>
              <a:t>Can be confused by darkness or bright lighting, coloring of objects</a:t>
            </a:r>
          </a:p>
          <a:p>
            <a:pPr lvl="1"/>
            <a:r>
              <a:rPr lang="en-US" altLang="ja-JP" sz="1400" dirty="0"/>
              <a:t>Road signs can be obfuscated easily</a:t>
            </a:r>
          </a:p>
          <a:p>
            <a:pPr lvl="2"/>
            <a:r>
              <a:rPr lang="en-US" altLang="ja-JP" sz="1200" dirty="0">
                <a:hlinkClick r:id="rId9"/>
              </a:rPr>
              <a:t>https://arstechnica.com/cars/2017/09/hacking-street-signs-with-stickers-could-confuse-self-driving-cars/</a:t>
            </a:r>
            <a:endParaRPr lang="en-US" altLang="ja-JP" sz="1200" dirty="0"/>
          </a:p>
          <a:p>
            <a:pPr lvl="1"/>
            <a:endParaRPr lang="en-US" altLang="ja-JP" sz="1400" dirty="0"/>
          </a:p>
          <a:p>
            <a:pPr lvl="1"/>
            <a:endParaRPr lang="en-US" altLang="ja-JP" sz="1400" dirty="0"/>
          </a:p>
        </p:txBody>
      </p:sp>
    </p:spTree>
    <p:extLst>
      <p:ext uri="{BB962C8B-B14F-4D97-AF65-F5344CB8AC3E}">
        <p14:creationId xmlns:p14="http://schemas.microsoft.com/office/powerpoint/2010/main" val="334648412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55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c7a77415-c4a3-4262-8430-671f3e8707b6">7J4PPY27XH2W-901365475-257158</_dlc_DocId>
    <_dlc_DocIdUrl xmlns="c7a77415-c4a3-4262-8430-671f3e8707b6">
      <Url>https://automotivei.sharepoint.com/sites/PMO/_layouts/15/DocIdRedir.aspx?ID=7J4PPY27XH2W-901365475-257158</Url>
      <Description>7J4PPY27XH2W-901365475-257158</Description>
    </_dlc_DocIdUrl>
    <TaxCatchAll xmlns="c7a77415-c4a3-4262-8430-671f3e8707b6" xsi:nil="true"/>
    <lcf76f155ced4ddcb4097134ff3c332f xmlns="69a7259e-7a2c-42d5-bc84-25eccf0dce8b">
      <Terms xmlns="http://schemas.microsoft.com/office/infopath/2007/PartnerControls"/>
    </lcf76f155ced4ddcb4097134ff3c332f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B86F8708159745A0B6896184DE9576" ma:contentTypeVersion="19" ma:contentTypeDescription="Create a new document." ma:contentTypeScope="" ma:versionID="493bf26d373952ea1ae3b9e24cd19b33">
  <xsd:schema xmlns:xsd="http://www.w3.org/2001/XMLSchema" xmlns:xs="http://www.w3.org/2001/XMLSchema" xmlns:p="http://schemas.microsoft.com/office/2006/metadata/properties" xmlns:ns2="c7a77415-c4a3-4262-8430-671f3e8707b6" xmlns:ns3="69a7259e-7a2c-42d5-bc84-25eccf0dce8b" targetNamespace="http://schemas.microsoft.com/office/2006/metadata/properties" ma:root="true" ma:fieldsID="69c00e31f84d56e19bb090b7ea67ab52" ns2:_="" ns3:_="">
    <xsd:import namespace="c7a77415-c4a3-4262-8430-671f3e8707b6"/>
    <xsd:import namespace="69a7259e-7a2c-42d5-bc84-25eccf0dce8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2:SharedWithUsers" minOccurs="0"/>
                <xsd:element ref="ns2:SharedWithDetail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a77415-c4a3-4262-8430-671f3e8707b6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d3a045ce-0abc-407a-a385-daab9685d46b}" ma:internalName="TaxCatchAll" ma:showField="CatchAllData" ma:web="c7a77415-c4a3-4262-8430-671f3e8707b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7259e-7a2c-42d5-bc84-25eccf0dce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ca126d71-af09-421f-972c-d16e59c14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EE72F3-C956-4A5B-833F-E761B5D8ACD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4C592EF-85C1-482B-896B-DED434B6FCCC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E71A463F-9F4B-47AC-91AA-3962FD8F3CE5}">
  <ds:schemaRefs>
    <ds:schemaRef ds:uri="http://schemas.microsoft.com/office/2006/metadata/properties"/>
    <ds:schemaRef ds:uri="http://schemas.microsoft.com/office/infopath/2007/PartnerControls"/>
    <ds:schemaRef ds:uri="c7a77415-c4a3-4262-8430-671f3e8707b6"/>
    <ds:schemaRef ds:uri="69a7259e-7a2c-42d5-bc84-25eccf0dce8b"/>
  </ds:schemaRefs>
</ds:datastoreItem>
</file>

<file path=customXml/itemProps4.xml><?xml version="1.0" encoding="utf-8"?>
<ds:datastoreItem xmlns:ds="http://schemas.openxmlformats.org/officeDocument/2006/customXml" ds:itemID="{8FEF19B7-7529-453B-A7D5-A8465340F1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a77415-c4a3-4262-8430-671f3e8707b6"/>
    <ds:schemaRef ds:uri="69a7259e-7a2c-42d5-bc84-25eccf0dce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1337</TotalTime>
  <Words>371</Words>
  <Application>Microsoft Office PowerPoint</Application>
  <PresentationFormat>Widescreen</PresentationFormat>
  <Paragraphs>50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Custom Design</vt:lpstr>
      <vt:lpstr>Keyfobs (Remote keyless system)</vt:lpstr>
      <vt:lpstr>Vehicle Sensors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Carey Garback</dc:creator>
  <cp:lastModifiedBy>Probert, Neal</cp:lastModifiedBy>
  <cp:revision>24</cp:revision>
  <dcterms:created xsi:type="dcterms:W3CDTF">2026-03-11T18:02:03Z</dcterms:created>
  <dcterms:modified xsi:type="dcterms:W3CDTF">2026-09-04T13:41:04Z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9C55993E-2489-4B16-A624-642EE1CF50C1</vt:lpwstr>
  </property>
  <property fmtid="{D5CDD505-2E9C-101B-9397-08002B2CF9AE}" pid="3" name="ArticulatePath">
    <vt:lpwstr>Presentation1</vt:lpwstr>
  </property>
  <property fmtid="{D5CDD505-2E9C-101B-9397-08002B2CF9AE}" pid="4" name="_dlc_DocIdItemGuid">
    <vt:lpwstr>93579079-5068-410a-b208-65d154b95cd0</vt:lpwstr>
  </property>
  <property fmtid="{D5CDD505-2E9C-101B-9397-08002B2CF9AE}" pid="5" name="ContentTypeId">
    <vt:lpwstr>0x01010067B86F8708159745A0B6896184DE9576</vt:lpwstr>
  </property>
  <property fmtid="{D5CDD505-2E9C-101B-9397-08002B2CF9AE}" pid="6" name="MediaServiceImageTags">
    <vt:lpwstr/>
  </property>
</Properties>
</file>
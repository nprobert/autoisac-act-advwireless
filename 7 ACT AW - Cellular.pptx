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35"/>
  </p:notesMasterIdLst>
  <p:sldIdLst>
    <p:sldId id="741" r:id="rId6"/>
    <p:sldId id="404" r:id="rId7"/>
    <p:sldId id="405" r:id="rId8"/>
    <p:sldId id="406" r:id="rId9"/>
    <p:sldId id="407" r:id="rId10"/>
    <p:sldId id="326" r:id="rId11"/>
    <p:sldId id="327" r:id="rId12"/>
    <p:sldId id="328" r:id="rId13"/>
    <p:sldId id="329" r:id="rId14"/>
    <p:sldId id="330" r:id="rId15"/>
    <p:sldId id="331" r:id="rId16"/>
    <p:sldId id="332" r:id="rId17"/>
    <p:sldId id="333" r:id="rId18"/>
    <p:sldId id="334" r:id="rId19"/>
    <p:sldId id="335" r:id="rId20"/>
    <p:sldId id="336" r:id="rId21"/>
    <p:sldId id="337" r:id="rId22"/>
    <p:sldId id="338" r:id="rId23"/>
    <p:sldId id="408" r:id="rId24"/>
    <p:sldId id="409" r:id="rId25"/>
    <p:sldId id="410" r:id="rId26"/>
    <p:sldId id="411" r:id="rId27"/>
    <p:sldId id="412" r:id="rId28"/>
    <p:sldId id="413" r:id="rId29"/>
    <p:sldId id="743" r:id="rId30"/>
    <p:sldId id="750" r:id="rId31"/>
    <p:sldId id="749" r:id="rId32"/>
    <p:sldId id="754" r:id="rId33"/>
    <p:sldId id="744" r:id="rId34"/>
  </p:sldIdLst>
  <p:sldSz cx="12192000" cy="6858000"/>
  <p:notesSz cx="6858000" cy="9144000"/>
  <p:custDataLst>
    <p:tags r:id="rId3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ellular" id="{25C6303D-1F66-4394-9550-8A6018EDAB0A}">
          <p14:sldIdLst>
            <p14:sldId id="741"/>
            <p14:sldId id="404"/>
            <p14:sldId id="405"/>
            <p14:sldId id="406"/>
            <p14:sldId id="407"/>
            <p14:sldId id="326"/>
          </p14:sldIdLst>
        </p14:section>
        <p14:section name="Cellular - srsRAN" id="{FB62652E-D7E0-472B-B534-6309AEE11FE8}">
          <p14:sldIdLst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408"/>
            <p14:sldId id="409"/>
            <p14:sldId id="410"/>
            <p14:sldId id="411"/>
            <p14:sldId id="412"/>
            <p14:sldId id="413"/>
          </p14:sldIdLst>
        </p14:section>
        <p14:section name="Appendix" id="{1C8C7FA0-7507-43B0-B21C-888ECECB6C8A}">
          <p14:sldIdLst>
            <p14:sldId id="743"/>
            <p14:sldId id="750"/>
            <p14:sldId id="749"/>
            <p14:sldId id="754"/>
            <p14:sldId id="74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theme" Target="theme/theme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microsoft.com/office/2015/10/relationships/revisionInfo" Target="revisionInfo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ags" Target="tags/tag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25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0643719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26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867332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27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7909435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28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87362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29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36521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9324432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ellmapper.net/" TargetMode="Externa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tia.org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Wi-Fi" TargetMode="External"/><Relationship Id="rId4" Type="http://schemas.openxmlformats.org/officeDocument/2006/relationships/hyperlink" Target="https://en.wikipedia.org/wiki/CTIA_(organization)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ripwire.com/state-of-security/security-data-protection/rogue-cell-towers/" TargetMode="External"/><Relationship Id="rId13" Type="http://schemas.openxmlformats.org/officeDocument/2006/relationships/hyperlink" Target="https://hackaday.com/2016/08/09/how-to-detect-and-find-rogue-cell-towers/" TargetMode="External"/><Relationship Id="rId3" Type="http://schemas.openxmlformats.org/officeDocument/2006/relationships/hyperlink" Target="https://www.movzio.com/howto/cell-phone-cloning-guide/" TargetMode="External"/><Relationship Id="rId7" Type="http://schemas.openxmlformats.org/officeDocument/2006/relationships/hyperlink" Target="https://assets.documentcloud.org/documents/4392401/4G-LTE-attacks-paper.pdf" TargetMode="External"/><Relationship Id="rId12" Type="http://schemas.openxmlformats.org/officeDocument/2006/relationships/hyperlink" Target="https://www.digitaltrends.com/mobile/femtocell-verizon-hack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ech.slashdot.org/story/18/03/04/193225/new-lte-attacks-can-snoop-on-messages-track-locations-and-spoof-emergency-alerts" TargetMode="External"/><Relationship Id="rId11" Type="http://schemas.openxmlformats.org/officeDocument/2006/relationships/hyperlink" Target="https://en.wikipedia.org/wiki/Man-in-the-middle_attack" TargetMode="External"/><Relationship Id="rId5" Type="http://schemas.openxmlformats.org/officeDocument/2006/relationships/hyperlink" Target="http://www.zdnet.com/article/new-lte-attacks-eavesdrop-on-messages-track-locations-spoof-alerts/" TargetMode="External"/><Relationship Id="rId10" Type="http://schemas.openxmlformats.org/officeDocument/2006/relationships/hyperlink" Target="https://thehackernews.com/2014/09/fake-cell-phone-towers-could-be_4.html" TargetMode="External"/><Relationship Id="rId4" Type="http://schemas.openxmlformats.org/officeDocument/2006/relationships/hyperlink" Target="https://www.wired.com/2014/07/hackers-can-control-your-phone-using-a-tool-thats-already-built-into-it/" TargetMode="External"/><Relationship Id="rId9" Type="http://schemas.openxmlformats.org/officeDocument/2006/relationships/hyperlink" Target="https://www.wired.com/2014/09/cryptophone-firewall-identifies-rogue-cell-towers/" TargetMode="External"/><Relationship Id="rId14" Type="http://schemas.openxmlformats.org/officeDocument/2006/relationships/hyperlink" Target="https://www.evilsocket.net/2016/03/31/how-to-build-your-own-rogue-gsm-bts-for-fun-and-profit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threatpost.com/sim-card-vulnerability-could-affect-hundreds-of-millions-of-cell-phones/101430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ellusys.com/2015/10/20/8-ss7-vulnerabilities-you-need-to-know-about/" TargetMode="External"/><Relationship Id="rId5" Type="http://schemas.openxmlformats.org/officeDocument/2006/relationships/hyperlink" Target="https://www.sans.org/reading-room/whitepapers/critical/fall-ss7--critical-security-controls-help-36225" TargetMode="External"/><Relationship Id="rId4" Type="http://schemas.openxmlformats.org/officeDocument/2006/relationships/hyperlink" Target="https://srlabs.de/bites/rooting-sim-cards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resources.sei.cmu.edu/library/asset-view.cfm?assetid=34990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src.nist.gov/csrc/media/publications/sp/800-121/rev-2/draft/documents/sp800_121_r2_draft.pdf" TargetMode="External"/><Relationship Id="rId4" Type="http://schemas.openxmlformats.org/officeDocument/2006/relationships/hyperlink" Target="https://www.nist.gov/news-events/news/2012/07/nist-updates-guidelines-mobile-device-securit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2582863" y="2990851"/>
            <a:ext cx="7046912" cy="911225"/>
          </a:xfrm>
        </p:spPr>
        <p:txBody>
          <a:bodyPr>
            <a:normAutofit fontScale="90000"/>
          </a:bodyPr>
          <a:lstStyle/>
          <a:p>
            <a:pPr algn="ctr"/>
            <a:br>
              <a:rPr lang="en-US" b="1" dirty="0"/>
            </a:br>
            <a:r>
              <a:rPr lang="en-US" b="1" dirty="0"/>
              <a:t>Cellular</a:t>
            </a:r>
          </a:p>
        </p:txBody>
      </p:sp>
      <p:pic>
        <p:nvPicPr>
          <p:cNvPr id="1028" name="Picture 4" descr="Related imag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7585" y="1"/>
            <a:ext cx="2004075" cy="200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s For  Cell Phone Logo 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2215" y="1482628"/>
            <a:ext cx="1928209" cy="1928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44693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6960" y="4139492"/>
            <a:ext cx="10841355" cy="160401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3020"/>
              </a:lnSpc>
              <a:spcBef>
                <a:spcPts val="48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easiest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way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survey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surrounding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environment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cellular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towers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is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sng" strike="noStrike" kern="0" cap="none" spc="-25" normalizeH="0" baseline="0" noProof="0" dirty="0">
                <a:ln>
                  <a:noFill/>
                </a:ln>
                <a:solidFill>
                  <a:srgbClr val="2F87CC"/>
                </a:solidFill>
                <a:effectLst/>
                <a:uLnTx/>
                <a:uFill>
                  <a:solidFill>
                    <a:srgbClr val="2F87CC"/>
                  </a:solidFill>
                </a:uFill>
                <a:latin typeface="Arial"/>
                <a:cs typeface="Arial"/>
                <a:hlinkClick r:id="rId3"/>
              </a:rPr>
              <a:t>https://www.cellmapper.net/.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2F87CC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This</a:t>
            </a:r>
            <a:r>
              <a:rPr kumimoji="0" sz="28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site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will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allow</a:t>
            </a:r>
            <a:r>
              <a:rPr kumimoji="0" sz="28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view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defined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geographical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location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towers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their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values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that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are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being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broadcasted.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Surveying</a:t>
            </a:r>
            <a:r>
              <a:rPr spc="-75" dirty="0"/>
              <a:t> </a:t>
            </a:r>
            <a:r>
              <a:rPr spc="-10" dirty="0"/>
              <a:t>Your</a:t>
            </a:r>
            <a:r>
              <a:rPr spc="-80" dirty="0"/>
              <a:t> </a:t>
            </a:r>
            <a:r>
              <a:rPr spc="-10" dirty="0"/>
              <a:t>Environment</a:t>
            </a:r>
          </a:p>
        </p:txBody>
      </p:sp>
      <p:pic>
        <p:nvPicPr>
          <p:cNvPr id="4" name="object 4"/>
          <p:cNvPicPr/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28316" y="1501140"/>
            <a:ext cx="6350507" cy="240182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60742" y="6508431"/>
            <a:ext cx="162560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66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6960" y="1522624"/>
            <a:ext cx="10687050" cy="1730375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240029" marR="593090" lvl="0" indent="-227329" defTabSz="914400" eaLnBrk="1" fontAlgn="auto" latinLnBrk="0" hangingPunct="1">
              <a:lnSpc>
                <a:spcPts val="3030"/>
              </a:lnSpc>
              <a:spcBef>
                <a:spcPts val="470"/>
              </a:spcBef>
              <a:spcAft>
                <a:spcPts val="0"/>
              </a:spcAft>
              <a:buClr>
                <a:srgbClr val="1A3762"/>
              </a:buClr>
              <a:buSzTx/>
              <a:buFont typeface="Arial"/>
              <a:buChar char="•"/>
              <a:tabLst>
                <a:tab pos="24130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Find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local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tower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here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record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downlink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frequency 	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associated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tower.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029" marR="5080" lvl="0" indent="-227329" defTabSz="914400" eaLnBrk="1" fontAlgn="auto" latinLnBrk="0" hangingPunct="1">
              <a:lnSpc>
                <a:spcPts val="3030"/>
              </a:lnSpc>
              <a:spcBef>
                <a:spcPts val="98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will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use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this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information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tune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our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SDR's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view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waterfall 	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representation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LTE</a:t>
            </a:r>
            <a:r>
              <a:rPr kumimoji="0" sz="28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data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program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called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gqrx.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67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Surveying</a:t>
            </a:r>
            <a:r>
              <a:rPr spc="-75" dirty="0"/>
              <a:t> </a:t>
            </a:r>
            <a:r>
              <a:rPr spc="-10" dirty="0"/>
              <a:t>Your</a:t>
            </a:r>
            <a:r>
              <a:rPr spc="-80" dirty="0"/>
              <a:t> </a:t>
            </a:r>
            <a:r>
              <a:rPr spc="-10" dirty="0"/>
              <a:t>Environment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6960" y="4406134"/>
            <a:ext cx="10180320" cy="1673225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4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Issue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following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command</a:t>
            </a:r>
            <a:r>
              <a:rPr kumimoji="0" sz="26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launch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gqrx: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Gqrx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ts val="2500"/>
              </a:lnSpc>
              <a:spcBef>
                <a:spcPts val="9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Click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devices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option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show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list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plugged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devices.</a:t>
            </a:r>
            <a:r>
              <a:rPr kumimoji="0" sz="26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should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window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shown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above.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68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Surveying</a:t>
            </a:r>
            <a:r>
              <a:rPr spc="-75" dirty="0"/>
              <a:t> </a:t>
            </a:r>
            <a:r>
              <a:rPr spc="-10" dirty="0"/>
              <a:t>Your</a:t>
            </a:r>
            <a:r>
              <a:rPr spc="-80" dirty="0"/>
              <a:t> </a:t>
            </a:r>
            <a:r>
              <a:rPr spc="-10" dirty="0"/>
              <a:t>Environment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4400" y="1502664"/>
            <a:ext cx="2743199" cy="286815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6960" y="4529984"/>
            <a:ext cx="10729595" cy="1346200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240029" marR="5080" lvl="0" indent="-227329" defTabSz="914400" eaLnBrk="1" fontAlgn="auto" latinLnBrk="0" hangingPunct="1">
              <a:lnSpc>
                <a:spcPts val="3030"/>
              </a:lnSpc>
              <a:spcBef>
                <a:spcPts val="470"/>
              </a:spcBef>
              <a:spcAft>
                <a:spcPts val="0"/>
              </a:spcAft>
              <a:buClr>
                <a:srgbClr val="1A3762"/>
              </a:buClr>
              <a:buSzTx/>
              <a:buFont typeface="Arial"/>
              <a:buChar char="•"/>
              <a:tabLst>
                <a:tab pos="24130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Select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device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that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matches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what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have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plugged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click 	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OK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button.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029" marR="0" lvl="0" indent="-227329" defTabSz="914400" eaLnBrk="1" fontAlgn="auto" latinLnBrk="0" hangingPunct="1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029" algn="l"/>
              </a:tabLst>
              <a:defRPr/>
            </a:pP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should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screen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like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one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above.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69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Surveying</a:t>
            </a:r>
            <a:r>
              <a:rPr spc="-75" dirty="0"/>
              <a:t> </a:t>
            </a:r>
            <a:r>
              <a:rPr spc="-10" dirty="0"/>
              <a:t>Your</a:t>
            </a:r>
            <a:r>
              <a:rPr spc="-80" dirty="0"/>
              <a:t> </a:t>
            </a:r>
            <a:r>
              <a:rPr spc="-10" dirty="0"/>
              <a:t>Environment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36292" y="1589532"/>
            <a:ext cx="6330695" cy="262127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6960" y="4431432"/>
            <a:ext cx="10335895" cy="1492250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241300" marR="5080" lvl="0" indent="-228600" defTabSz="914400" eaLnBrk="1" fontAlgn="auto" latinLnBrk="0" hangingPunct="1">
              <a:lnSpc>
                <a:spcPts val="2810"/>
              </a:lnSpc>
              <a:spcBef>
                <a:spcPts val="455"/>
              </a:spcBef>
              <a:spcAft>
                <a:spcPts val="0"/>
              </a:spcAft>
              <a:buClr>
                <a:srgbClr val="1A3762"/>
              </a:buClr>
              <a:buSzTx/>
              <a:buFont typeface="Arial"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Using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your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mouse</a:t>
            </a:r>
            <a:r>
              <a:rPr kumimoji="0" sz="26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scroll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wheel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set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frequency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at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top</a:t>
            </a: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application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one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wrote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down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earlier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while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looking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local tower.</a:t>
            </a:r>
            <a:r>
              <a:rPr kumimoji="0" sz="26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Once</a:t>
            </a:r>
            <a:r>
              <a:rPr kumimoji="0" sz="26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tuned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should</a:t>
            </a:r>
            <a:r>
              <a:rPr kumimoji="0" sz="26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</a:t>
            </a:r>
            <a:r>
              <a:rPr kumimoji="0" sz="26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LTE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data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26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shown</a:t>
            </a:r>
            <a:r>
              <a:rPr kumimoji="0" sz="26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picture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above.</a:t>
            </a:r>
            <a:r>
              <a:rPr kumimoji="0" sz="26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may</a:t>
            </a:r>
            <a:r>
              <a:rPr kumimoji="0" sz="26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need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adjust</a:t>
            </a:r>
            <a:r>
              <a:rPr kumimoji="0" sz="26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gain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data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clearly.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70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Surveying</a:t>
            </a:r>
            <a:r>
              <a:rPr spc="-75" dirty="0"/>
              <a:t> </a:t>
            </a:r>
            <a:r>
              <a:rPr spc="-10" dirty="0"/>
              <a:t>Your</a:t>
            </a:r>
            <a:r>
              <a:rPr spc="-80" dirty="0"/>
              <a:t> </a:t>
            </a:r>
            <a:r>
              <a:rPr spc="-10" dirty="0"/>
              <a:t>Environment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23972" y="1397508"/>
            <a:ext cx="6544055" cy="287425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1325561"/>
            <a:ext cx="10221913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dirty="0"/>
              <a:t>Lab</a:t>
            </a:r>
            <a:r>
              <a:rPr sz="5400" spc="-10" dirty="0"/>
              <a:t> </a:t>
            </a:r>
            <a:r>
              <a:rPr sz="5400" dirty="0"/>
              <a:t>2</a:t>
            </a:r>
            <a:r>
              <a:rPr sz="5400" spc="-20" dirty="0"/>
              <a:t> </a:t>
            </a:r>
            <a:r>
              <a:rPr sz="5400" dirty="0"/>
              <a:t>–</a:t>
            </a:r>
            <a:r>
              <a:rPr sz="5400" spc="-10" dirty="0"/>
              <a:t> </a:t>
            </a:r>
            <a:r>
              <a:rPr sz="5400" dirty="0"/>
              <a:t>Configuring</a:t>
            </a:r>
            <a:r>
              <a:rPr sz="5400" spc="-20" dirty="0"/>
              <a:t> </a:t>
            </a:r>
            <a:r>
              <a:rPr sz="5400" dirty="0"/>
              <a:t>srsRAN</a:t>
            </a:r>
            <a:r>
              <a:rPr sz="5400" spc="-20" dirty="0"/>
              <a:t> </a:t>
            </a:r>
            <a:r>
              <a:rPr sz="5400" spc="-10" dirty="0"/>
              <a:t>Components</a:t>
            </a:r>
            <a:endParaRPr sz="5400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72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Configuring</a:t>
            </a:r>
            <a:r>
              <a:rPr spc="-155" dirty="0"/>
              <a:t> </a:t>
            </a:r>
            <a:r>
              <a:rPr spc="-10" dirty="0"/>
              <a:t>srsRAN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8967" y="1575751"/>
            <a:ext cx="10496550" cy="448183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240665" marR="5080" lvl="0" indent="-228600" defTabSz="914400" eaLnBrk="1" fontAlgn="auto" latinLnBrk="0" hangingPunct="1">
              <a:lnSpc>
                <a:spcPts val="25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When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configuring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srsRAN</a:t>
            </a:r>
            <a:r>
              <a:rPr kumimoji="0" sz="26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software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there</a:t>
            </a: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are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couple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parameters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that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will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need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be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modified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ensure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do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not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interrupt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any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surrounding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signals.</a:t>
            </a:r>
            <a:r>
              <a:rPr kumimoji="0" sz="26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These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parameters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are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also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important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being</a:t>
            </a: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able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connect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TCU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cellular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tower.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These</a:t>
            </a:r>
            <a:r>
              <a:rPr kumimoji="0" sz="26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include: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MCC</a:t>
            </a:r>
            <a:r>
              <a:rPr kumimoji="0" sz="26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(Mobile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Country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Code)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84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MNC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(Mobile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Network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Code)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APN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(Access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Point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Name)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EARFCN</a:t>
            </a:r>
            <a:r>
              <a:rPr kumimoji="0" sz="26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(Pre-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defined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Uplink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Downlink</a:t>
            </a:r>
            <a:r>
              <a:rPr kumimoji="0" sz="26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Frequency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pairs)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8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Tx</a:t>
            </a:r>
            <a:r>
              <a:rPr kumimoji="0" sz="26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Gain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Rx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Gain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73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Configuring</a:t>
            </a:r>
            <a:r>
              <a:rPr spc="-155" dirty="0"/>
              <a:t> </a:t>
            </a:r>
            <a:r>
              <a:rPr spc="-10" dirty="0"/>
              <a:t>srsRAN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8967" y="1612327"/>
            <a:ext cx="10513695" cy="4286885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241300" marR="5080" lvl="0" indent="-229235" algn="just" defTabSz="914400" eaLnBrk="1" fontAlgn="auto" latinLnBrk="0" hangingPunct="1">
              <a:lnSpc>
                <a:spcPts val="3030"/>
              </a:lnSpc>
              <a:spcBef>
                <a:spcPts val="4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All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configuration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files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that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will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need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to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be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modified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can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be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found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in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the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directory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below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along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with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all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relevant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config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files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that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we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will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be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modifying.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cs typeface="Segoe UI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Directory: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7212965" lvl="0" indent="-635" defTabSz="914400" eaLnBrk="1" fontAlgn="auto" latinLnBrk="0" hangingPunct="1">
              <a:lnSpc>
                <a:spcPct val="119700"/>
              </a:lnSpc>
              <a:spcBef>
                <a:spcPts val="1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12700" algn="l"/>
                <a:tab pos="239395" algn="l"/>
              </a:tabLst>
              <a:defRPr/>
            </a:pP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	/root/.config/srsran/ Files: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029" marR="0" lvl="0" indent="-227329" defTabSz="914400" eaLnBrk="1" fontAlgn="auto" latinLnBrk="0" hangingPunct="1">
              <a:lnSpc>
                <a:spcPct val="100000"/>
              </a:lnSpc>
              <a:spcBef>
                <a:spcPts val="66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029" algn="l"/>
              </a:tabLst>
              <a:defRPr/>
            </a:pP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epc.conf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029" marR="0" lvl="0" indent="-227329" defTabSz="91440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029" algn="l"/>
              </a:tabLst>
              <a:defRPr/>
            </a:pP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enb.conf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029" marR="0" lvl="0" indent="-227329" defTabSz="914400" eaLnBrk="1" fontAlgn="auto" latinLnBrk="0" hangingPunct="1">
              <a:lnSpc>
                <a:spcPct val="100000"/>
              </a:lnSpc>
              <a:spcBef>
                <a:spcPts val="66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029" algn="l"/>
              </a:tabLst>
              <a:defRPr/>
            </a:pP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user_db.csv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74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Configuring</a:t>
            </a:r>
            <a:r>
              <a:rPr spc="-155" dirty="0"/>
              <a:t> </a:t>
            </a:r>
            <a:r>
              <a:rPr spc="-10" dirty="0"/>
              <a:t>srsEPC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9599" y="4753987"/>
            <a:ext cx="6588125" cy="110934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Issue</a:t>
            </a:r>
            <a:r>
              <a:rPr kumimoji="0" sz="22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2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following</a:t>
            </a:r>
            <a:r>
              <a:rPr kumimoji="0" sz="22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command</a:t>
            </a:r>
            <a:r>
              <a:rPr kumimoji="0" sz="22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2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edit</a:t>
            </a:r>
            <a:r>
              <a:rPr kumimoji="0" sz="22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2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epc.conf</a:t>
            </a:r>
            <a:r>
              <a:rPr kumimoji="0" sz="22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file:</a:t>
            </a:r>
            <a:endParaRPr kumimoji="0" sz="2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sudo</a:t>
            </a:r>
            <a:r>
              <a:rPr kumimoji="0" sz="22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nano</a:t>
            </a:r>
            <a:r>
              <a:rPr kumimoji="0" sz="22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/root/.config/srsran/epc.conf</a:t>
            </a:r>
            <a:endParaRPr kumimoji="0" sz="2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20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2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should</a:t>
            </a:r>
            <a:r>
              <a:rPr kumimoji="0" sz="22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</a:t>
            </a:r>
            <a:r>
              <a:rPr kumimoji="0" sz="22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2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config</a:t>
            </a:r>
            <a:r>
              <a:rPr kumimoji="0" sz="22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file</a:t>
            </a:r>
            <a:r>
              <a:rPr kumimoji="0" sz="22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22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shown</a:t>
            </a:r>
            <a:r>
              <a:rPr kumimoji="0" sz="22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2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above</a:t>
            </a:r>
            <a:endParaRPr kumimoji="0" sz="2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6128" y="1522475"/>
            <a:ext cx="8188450" cy="324154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75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Configuring</a:t>
            </a:r>
            <a:r>
              <a:rPr spc="-155" dirty="0"/>
              <a:t> </a:t>
            </a:r>
            <a:r>
              <a:rPr spc="-10" dirty="0"/>
              <a:t>srsEPC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8967" y="2036934"/>
            <a:ext cx="8202295" cy="3604260"/>
          </a:xfrm>
          <a:prstGeom prst="rect">
            <a:avLst/>
          </a:prstGeom>
        </p:spPr>
        <p:txBody>
          <a:bodyPr vert="horz" wrap="square" lIns="0" tIns="97790" rIns="0" bIns="0" rtlCol="0">
            <a:spAutoFit/>
          </a:bodyPr>
          <a:lstStyle/>
          <a:p>
            <a:pPr marL="240029" marR="0" lvl="0" indent="-227329" defTabSz="914400" eaLnBrk="1" fontAlgn="auto" latinLnBrk="0" hangingPunct="1">
              <a:lnSpc>
                <a:spcPct val="100000"/>
              </a:lnSpc>
              <a:spcBef>
                <a:spcPts val="77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029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Edit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dns_addr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field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so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it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points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8.8.8.8.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029" marR="0" lvl="0" indent="-227329" defTabSz="91440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029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Edit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MCC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say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999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MNC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say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70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029" marR="0" lvl="0" indent="-227329" defTabSz="914400" eaLnBrk="1" fontAlgn="auto" latinLnBrk="0" hangingPunct="1">
              <a:lnSpc>
                <a:spcPct val="100000"/>
              </a:lnSpc>
              <a:spcBef>
                <a:spcPts val="660"/>
              </a:spcBef>
              <a:spcAft>
                <a:spcPts val="0"/>
              </a:spcAft>
              <a:buClr>
                <a:srgbClr val="1A3762"/>
              </a:buClr>
              <a:buSzTx/>
              <a:buFont typeface="Arial"/>
              <a:buChar char="•"/>
              <a:tabLst>
                <a:tab pos="240029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Set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apn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to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Segoe UI"/>
                <a:cs typeface="Segoe UI"/>
              </a:rPr>
              <a:t>srsapn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cs typeface="Segoe UI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Now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save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close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file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using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key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sequence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029" marR="0" lvl="0" indent="-227329" defTabSz="914400" eaLnBrk="1" fontAlgn="auto" latinLnBrk="0" hangingPunct="1">
              <a:lnSpc>
                <a:spcPct val="100000"/>
              </a:lnSpc>
              <a:spcBef>
                <a:spcPts val="67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029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Ctrl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+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x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029" marR="0" lvl="0" indent="-227329" defTabSz="914400" eaLnBrk="1" fontAlgn="auto" latinLnBrk="0" hangingPunct="1">
              <a:lnSpc>
                <a:spcPct val="100000"/>
              </a:lnSpc>
              <a:spcBef>
                <a:spcPts val="66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029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Press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save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same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name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029" marR="0" lvl="0" indent="-227329" defTabSz="914400" eaLnBrk="1" fontAlgn="auto" latinLnBrk="0" hangingPunct="1">
              <a:lnSpc>
                <a:spcPct val="100000"/>
              </a:lnSpc>
              <a:spcBef>
                <a:spcPts val="66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029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Hit</a:t>
            </a:r>
            <a:r>
              <a:rPr kumimoji="0" sz="28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enter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76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Configuring</a:t>
            </a:r>
            <a:r>
              <a:rPr spc="-155" dirty="0"/>
              <a:t> </a:t>
            </a:r>
            <a:r>
              <a:rPr spc="-10" dirty="0"/>
              <a:t>srsENb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08580" y="5124716"/>
            <a:ext cx="5989955" cy="1046480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Issue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following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command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edit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enb.conf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file: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sudo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nano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/root/.config/srsran/enb.conf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2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should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config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file</a:t>
            </a:r>
            <a:r>
              <a:rPr kumimoji="0" sz="2000" b="0" i="0" u="none" strike="noStrike" kern="0" cap="none" spc="-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shown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above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06296" y="1467611"/>
            <a:ext cx="7746491" cy="338175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77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Configuring</a:t>
            </a:r>
            <a:r>
              <a:rPr spc="-155" dirty="0"/>
              <a:t> </a:t>
            </a:r>
            <a:r>
              <a:rPr spc="-10" dirty="0"/>
              <a:t>srsENb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8386" y="1529121"/>
            <a:ext cx="9904095" cy="4465320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47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Edit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MCC</a:t>
            </a:r>
            <a:r>
              <a:rPr kumimoji="0" sz="26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MNC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match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what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entered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epc.conf</a:t>
            </a:r>
            <a:r>
              <a:rPr kumimoji="0" sz="26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file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935" marR="0" lvl="0" indent="-228600" defTabSz="914400" eaLnBrk="1" fontAlgn="auto" latinLnBrk="0" hangingPunct="1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935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Scroll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down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[rf]</a:t>
            </a:r>
            <a:r>
              <a:rPr kumimoji="0" sz="26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header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935" marR="0" lvl="0" indent="-228600" defTabSz="91440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935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Edit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dl_earfcn</a:t>
            </a:r>
            <a:r>
              <a:rPr kumimoji="0" sz="26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say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3400(need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more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them)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8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tx_gain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=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40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(still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finding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lowest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number)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rx_gain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=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40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(still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finding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lowest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number)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885"/>
              </a:spcBef>
              <a:spcAft>
                <a:spcPts val="0"/>
              </a:spcAft>
              <a:buClr>
                <a:srgbClr val="1A3762"/>
              </a:buClr>
              <a:buSzTx/>
              <a:buFont typeface="Arial"/>
              <a:buChar char="•"/>
              <a:tabLst/>
              <a:defRPr/>
            </a:pP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Now</a:t>
            </a:r>
            <a:r>
              <a:rPr kumimoji="0" sz="26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save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close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file</a:t>
            </a:r>
            <a:r>
              <a:rPr kumimoji="0" sz="26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using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6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key</a:t>
            </a:r>
            <a:r>
              <a:rPr kumimoji="0" sz="26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sequence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Ctrl</a:t>
            </a:r>
            <a:r>
              <a:rPr kumimoji="0" sz="26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+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x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Press</a:t>
            </a:r>
            <a:r>
              <a:rPr kumimoji="0" sz="26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1300" marR="0" lvl="0" indent="-228600" defTabSz="914400" eaLnBrk="1" fontAlgn="auto" latinLnBrk="0" hangingPunct="1">
              <a:lnSpc>
                <a:spcPct val="100000"/>
              </a:lnSpc>
              <a:spcBef>
                <a:spcPts val="38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Hit</a:t>
            </a:r>
            <a:r>
              <a:rPr kumimoji="0" sz="26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6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enter</a:t>
            </a:r>
            <a:endParaRPr kumimoji="0" sz="2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78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Configuring</a:t>
            </a:r>
            <a:r>
              <a:rPr spc="-155" dirty="0"/>
              <a:t> </a:t>
            </a:r>
            <a:r>
              <a:rPr spc="-25" dirty="0"/>
              <a:t>HSS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48950" y="4818180"/>
            <a:ext cx="10738485" cy="1225550"/>
          </a:xfrm>
          <a:prstGeom prst="rect">
            <a:avLst/>
          </a:prstGeom>
        </p:spPr>
        <p:txBody>
          <a:bodyPr vert="horz" wrap="square" lIns="0" tIns="104139" rIns="0" bIns="0" rtlCol="0">
            <a:spAutoFit/>
          </a:bodyPr>
          <a:lstStyle/>
          <a:p>
            <a:pPr marL="241300" marR="5080" lvl="0" indent="-228600" defTabSz="914400" eaLnBrk="1" fontAlgn="auto" latinLnBrk="0" hangingPunct="1">
              <a:lnSpc>
                <a:spcPct val="70000"/>
              </a:lnSpc>
              <a:spcBef>
                <a:spcPts val="81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file</a:t>
            </a:r>
            <a:r>
              <a:rPr kumimoji="0" sz="20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user_db.csv</a:t>
            </a:r>
            <a:r>
              <a:rPr kumimoji="0" sz="20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hold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authentication</a:t>
            </a:r>
            <a:r>
              <a:rPr kumimoji="0" sz="20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authorization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information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allowed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UE.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Issue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following</a:t>
            </a:r>
            <a:r>
              <a:rPr kumimoji="0" sz="20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command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edit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epc.conf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file: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516880" lvl="0" indent="228600" defTabSz="914400" eaLnBrk="1" fontAlgn="auto" latinLnBrk="0" hangingPunct="1">
              <a:lnSpc>
                <a:spcPts val="2690"/>
              </a:lnSpc>
              <a:spcBef>
                <a:spcPts val="8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130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sudo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nano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/root/.config/srsran/user_db.csv 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should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config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file</a:t>
            </a:r>
            <a:r>
              <a:rPr kumimoji="0" sz="2000" b="0" i="0" u="none" strike="noStrike" kern="0" cap="none" spc="-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shown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above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5172" y="1574291"/>
            <a:ext cx="9861802" cy="284835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79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Configuring</a:t>
            </a:r>
            <a:r>
              <a:rPr spc="-155" dirty="0"/>
              <a:t> </a:t>
            </a:r>
            <a:r>
              <a:rPr spc="-25" dirty="0"/>
              <a:t>HSS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53343" y="1801802"/>
            <a:ext cx="9549765" cy="2834640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8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Enter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your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SIM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cards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information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following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&lt;values&gt;: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7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&lt;unique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name&gt;,mil,&lt;IMSI&gt;,&lt;Ki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key&gt;,opc,&lt;OPC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key&gt;,9000,0000000063af,9,dynamic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1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Now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save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close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file</a:t>
            </a:r>
            <a:r>
              <a:rPr kumimoji="0" sz="20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using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key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sequence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665" marR="0" lvl="0" indent="-227965" defTabSz="914400" eaLnBrk="1" fontAlgn="auto" latinLnBrk="0" hangingPunct="1">
              <a:lnSpc>
                <a:spcPct val="100000"/>
              </a:lnSpc>
              <a:spcBef>
                <a:spcPts val="75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665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Ctrl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+</a:t>
            </a:r>
            <a:r>
              <a:rPr kumimoji="0" sz="20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x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665" marR="0" lvl="0" indent="-227965" defTabSz="914400" eaLnBrk="1" fontAlgn="auto" latinLnBrk="0" hangingPunct="1">
              <a:lnSpc>
                <a:spcPct val="100000"/>
              </a:lnSpc>
              <a:spcBef>
                <a:spcPts val="770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665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Press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240665" marR="0" lvl="0" indent="-227965" defTabSz="914400" eaLnBrk="1" fontAlgn="auto" latinLnBrk="0" hangingPunct="1">
              <a:lnSpc>
                <a:spcPct val="100000"/>
              </a:lnSpc>
              <a:spcBef>
                <a:spcPts val="755"/>
              </a:spcBef>
              <a:spcAft>
                <a:spcPts val="0"/>
              </a:spcAft>
              <a:buClr>
                <a:srgbClr val="1A3762"/>
              </a:buClr>
              <a:buSzTx/>
              <a:buFontTx/>
              <a:buChar char="•"/>
              <a:tabLst>
                <a:tab pos="240665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Hit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enter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1741059"/>
            <a:ext cx="9239250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dirty="0"/>
              <a:t>Lab</a:t>
            </a:r>
            <a:r>
              <a:rPr sz="5400" spc="-35" dirty="0"/>
              <a:t> </a:t>
            </a:r>
            <a:r>
              <a:rPr sz="5400" dirty="0"/>
              <a:t>3</a:t>
            </a:r>
            <a:r>
              <a:rPr sz="5400" spc="-45" dirty="0"/>
              <a:t> </a:t>
            </a:r>
            <a:r>
              <a:rPr sz="5400" dirty="0"/>
              <a:t>–</a:t>
            </a:r>
            <a:r>
              <a:rPr sz="5400" spc="-40" dirty="0"/>
              <a:t> </a:t>
            </a:r>
            <a:r>
              <a:rPr sz="5400" dirty="0"/>
              <a:t>Programming</a:t>
            </a:r>
            <a:r>
              <a:rPr sz="5400" spc="-40" dirty="0"/>
              <a:t> </a:t>
            </a:r>
            <a:r>
              <a:rPr sz="5400" dirty="0"/>
              <a:t>a</a:t>
            </a:r>
            <a:r>
              <a:rPr sz="5400" spc="-40" dirty="0"/>
              <a:t> </a:t>
            </a:r>
            <a:r>
              <a:rPr sz="5400" dirty="0"/>
              <a:t>SIM</a:t>
            </a:r>
            <a:r>
              <a:rPr sz="5400" spc="-35" dirty="0"/>
              <a:t> </a:t>
            </a:r>
            <a:r>
              <a:rPr sz="5400" spc="-20" dirty="0"/>
              <a:t>Card</a:t>
            </a:r>
            <a:endParaRPr sz="5400" dirty="0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4608" y="2487167"/>
            <a:ext cx="8668511" cy="3738371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81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411163"/>
            <a:ext cx="704532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Programming</a:t>
            </a:r>
            <a:r>
              <a:rPr spc="-55" dirty="0"/>
              <a:t> </a:t>
            </a:r>
            <a:r>
              <a:rPr dirty="0"/>
              <a:t>SIM</a:t>
            </a:r>
            <a:r>
              <a:rPr spc="-85" dirty="0"/>
              <a:t> </a:t>
            </a:r>
            <a:r>
              <a:rPr spc="-10" dirty="0"/>
              <a:t>Cards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58967" y="1534054"/>
            <a:ext cx="10132695" cy="824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346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Connect</a:t>
            </a:r>
            <a:r>
              <a:rPr kumimoji="0" sz="13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your</a:t>
            </a:r>
            <a:r>
              <a:rPr kumimoji="0" sz="13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SIM</a:t>
            </a:r>
            <a:r>
              <a:rPr kumimoji="0" sz="13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card</a:t>
            </a:r>
            <a:r>
              <a:rPr kumimoji="0" sz="13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reader,</a:t>
            </a:r>
            <a:r>
              <a:rPr kumimoji="0" sz="13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insert</a:t>
            </a:r>
            <a:r>
              <a:rPr kumimoji="0" sz="13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3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programmable SIM</a:t>
            </a:r>
            <a:r>
              <a:rPr kumimoji="0" sz="13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card,</a:t>
            </a:r>
            <a:r>
              <a:rPr kumimoji="0" sz="13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3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check</a:t>
            </a:r>
            <a:r>
              <a:rPr kumimoji="0" sz="13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connectivity</a:t>
            </a:r>
            <a:r>
              <a:rPr kumimoji="0" sz="1300" b="0" i="0" u="none" strike="noStrike" kern="0" cap="none" spc="-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by</a:t>
            </a:r>
            <a:r>
              <a:rPr kumimoji="0" sz="13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running</a:t>
            </a:r>
            <a:r>
              <a:rPr kumimoji="0" sz="13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3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following</a:t>
            </a:r>
            <a:r>
              <a:rPr kumimoji="0" sz="1300" b="0" i="0" u="none" strike="noStrike" kern="0" cap="none" spc="-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command</a:t>
            </a:r>
            <a:r>
              <a:rPr kumimoji="0" sz="13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3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3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terminal: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sudo</a:t>
            </a:r>
            <a:r>
              <a:rPr kumimoji="0" sz="13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pcsc_scan</a:t>
            </a:r>
            <a:endParaRPr kumimoji="0" sz="13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5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If</a:t>
            </a:r>
            <a:r>
              <a:rPr kumimoji="0" sz="13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your</a:t>
            </a:r>
            <a:r>
              <a:rPr kumimoji="0" sz="13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reader</a:t>
            </a:r>
            <a:r>
              <a:rPr kumimoji="0" sz="1300" b="0" i="0" u="none" strike="noStrike" kern="0" cap="none" spc="-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3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card</a:t>
            </a:r>
            <a:r>
              <a:rPr kumimoji="0" sz="13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is</a:t>
            </a:r>
            <a:r>
              <a:rPr kumimoji="0" sz="13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recognized,</a:t>
            </a:r>
            <a:r>
              <a:rPr kumimoji="0" sz="1300" b="0" i="0" u="none" strike="noStrike" kern="0" cap="none" spc="-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3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end</a:t>
            </a:r>
            <a:r>
              <a:rPr kumimoji="0" sz="13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3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your</a:t>
            </a:r>
            <a:r>
              <a:rPr kumimoji="0" sz="13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output</a:t>
            </a:r>
            <a:r>
              <a:rPr kumimoji="0" sz="1300" b="0" i="0" u="none" strike="noStrike" kern="0" cap="none" spc="-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will</a:t>
            </a:r>
            <a:r>
              <a:rPr kumimoji="0" sz="13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look</a:t>
            </a:r>
            <a:r>
              <a:rPr kumimoji="0" sz="13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similar</a:t>
            </a:r>
            <a:r>
              <a:rPr kumimoji="0" sz="13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3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3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below:</a:t>
            </a:r>
            <a:endParaRPr kumimoji="0" sz="13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82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Programming</a:t>
            </a:r>
            <a:r>
              <a:rPr spc="-55" dirty="0"/>
              <a:t> </a:t>
            </a:r>
            <a:r>
              <a:rPr dirty="0"/>
              <a:t>SIM</a:t>
            </a:r>
            <a:r>
              <a:rPr spc="-85" dirty="0"/>
              <a:t> </a:t>
            </a:r>
            <a:r>
              <a:rPr spc="-10" dirty="0"/>
              <a:t>Cards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4294967295"/>
          </p:nvPr>
        </p:nvSpPr>
        <p:spPr>
          <a:xfrm>
            <a:off x="0" y="1381125"/>
            <a:ext cx="10733088" cy="3670300"/>
          </a:xfrm>
          <a:prstGeom prst="rect">
            <a:avLst/>
          </a:prstGeom>
        </p:spPr>
        <p:txBody>
          <a:bodyPr vert="horz" wrap="square" lIns="0" tIns="284878" rIns="0" bIns="0" rtlCol="0">
            <a:spAutoFit/>
          </a:bodyPr>
          <a:lstStyle/>
          <a:p>
            <a:pPr marL="242570" marR="5080" indent="-228600">
              <a:lnSpc>
                <a:spcPts val="2500"/>
              </a:lnSpc>
              <a:spcBef>
                <a:spcPts val="705"/>
              </a:spcBef>
            </a:pPr>
            <a:r>
              <a:rPr sz="2600" dirty="0"/>
              <a:t>Next</a:t>
            </a:r>
            <a:r>
              <a:rPr sz="2600" spc="-55" dirty="0"/>
              <a:t> </a:t>
            </a:r>
            <a:r>
              <a:rPr sz="2600" dirty="0"/>
              <a:t>we</a:t>
            </a:r>
            <a:r>
              <a:rPr sz="2600" spc="-40" dirty="0"/>
              <a:t> </a:t>
            </a:r>
            <a:r>
              <a:rPr sz="2600" dirty="0"/>
              <a:t>need</a:t>
            </a:r>
            <a:r>
              <a:rPr sz="2600" spc="-35" dirty="0"/>
              <a:t> </a:t>
            </a:r>
            <a:r>
              <a:rPr sz="2600" dirty="0"/>
              <a:t>to</a:t>
            </a:r>
            <a:r>
              <a:rPr sz="2600" spc="-35" dirty="0"/>
              <a:t> </a:t>
            </a:r>
            <a:r>
              <a:rPr sz="2600" dirty="0"/>
              <a:t>test</a:t>
            </a:r>
            <a:r>
              <a:rPr sz="2600" spc="-30" dirty="0"/>
              <a:t> </a:t>
            </a:r>
            <a:r>
              <a:rPr sz="2600" dirty="0"/>
              <a:t>the</a:t>
            </a:r>
            <a:r>
              <a:rPr sz="2600" spc="-35" dirty="0"/>
              <a:t> </a:t>
            </a:r>
            <a:r>
              <a:rPr sz="2600" dirty="0"/>
              <a:t>SIM</a:t>
            </a:r>
            <a:r>
              <a:rPr sz="2600" spc="-35" dirty="0"/>
              <a:t> </a:t>
            </a:r>
            <a:r>
              <a:rPr sz="2600" dirty="0"/>
              <a:t>programming</a:t>
            </a:r>
            <a:r>
              <a:rPr sz="2600" spc="-70" dirty="0"/>
              <a:t> </a:t>
            </a:r>
            <a:r>
              <a:rPr sz="2600" dirty="0"/>
              <a:t>application</a:t>
            </a:r>
            <a:r>
              <a:rPr sz="2600" spc="-45" dirty="0"/>
              <a:t> </a:t>
            </a:r>
            <a:r>
              <a:rPr sz="2600" dirty="0"/>
              <a:t>in</a:t>
            </a:r>
            <a:r>
              <a:rPr sz="2600" spc="-25" dirty="0"/>
              <a:t> </a:t>
            </a:r>
            <a:r>
              <a:rPr sz="2600" dirty="0"/>
              <a:t>order</a:t>
            </a:r>
            <a:r>
              <a:rPr sz="2600" spc="-55" dirty="0"/>
              <a:t> </a:t>
            </a:r>
            <a:r>
              <a:rPr sz="2600" dirty="0"/>
              <a:t>to</a:t>
            </a:r>
            <a:r>
              <a:rPr sz="2600" spc="-30" dirty="0"/>
              <a:t> </a:t>
            </a:r>
            <a:r>
              <a:rPr sz="2600" dirty="0"/>
              <a:t>find</a:t>
            </a:r>
            <a:r>
              <a:rPr sz="2600" spc="-35" dirty="0"/>
              <a:t> </a:t>
            </a:r>
            <a:r>
              <a:rPr sz="2600" spc="-25" dirty="0"/>
              <a:t>the </a:t>
            </a:r>
            <a:r>
              <a:rPr sz="2600" dirty="0"/>
              <a:t>correct</a:t>
            </a:r>
            <a:r>
              <a:rPr sz="2600" spc="-45" dirty="0"/>
              <a:t> </a:t>
            </a:r>
            <a:r>
              <a:rPr sz="2600" dirty="0"/>
              <a:t>port</a:t>
            </a:r>
            <a:r>
              <a:rPr sz="2600" spc="-35" dirty="0"/>
              <a:t> </a:t>
            </a:r>
            <a:r>
              <a:rPr sz="2600" dirty="0"/>
              <a:t>assignment</a:t>
            </a:r>
            <a:r>
              <a:rPr sz="2600" spc="-55" dirty="0"/>
              <a:t> </a:t>
            </a:r>
            <a:r>
              <a:rPr sz="2600" dirty="0"/>
              <a:t>that</a:t>
            </a:r>
            <a:r>
              <a:rPr sz="2600" spc="-25" dirty="0"/>
              <a:t> </a:t>
            </a:r>
            <a:r>
              <a:rPr sz="2600" dirty="0"/>
              <a:t>was</a:t>
            </a:r>
            <a:r>
              <a:rPr sz="2600" spc="-35" dirty="0"/>
              <a:t> </a:t>
            </a:r>
            <a:r>
              <a:rPr sz="2600" dirty="0"/>
              <a:t>given</a:t>
            </a:r>
            <a:r>
              <a:rPr sz="2600" spc="-35" dirty="0"/>
              <a:t> </a:t>
            </a:r>
            <a:r>
              <a:rPr sz="2600" dirty="0"/>
              <a:t>to</a:t>
            </a:r>
            <a:r>
              <a:rPr sz="2600" spc="-15" dirty="0"/>
              <a:t> </a:t>
            </a:r>
            <a:r>
              <a:rPr sz="2600" dirty="0"/>
              <a:t>the</a:t>
            </a:r>
            <a:r>
              <a:rPr sz="2600" spc="-25" dirty="0"/>
              <a:t> </a:t>
            </a:r>
            <a:r>
              <a:rPr sz="2600" dirty="0"/>
              <a:t>SIM</a:t>
            </a:r>
            <a:r>
              <a:rPr sz="2600" spc="-25" dirty="0"/>
              <a:t> </a:t>
            </a:r>
            <a:r>
              <a:rPr sz="2600" dirty="0"/>
              <a:t>card</a:t>
            </a:r>
            <a:r>
              <a:rPr sz="2600" spc="-35" dirty="0"/>
              <a:t> </a:t>
            </a:r>
            <a:r>
              <a:rPr sz="2600" spc="-20" dirty="0"/>
              <a:t>reader.</a:t>
            </a:r>
            <a:r>
              <a:rPr sz="2600" spc="-80" dirty="0"/>
              <a:t> </a:t>
            </a:r>
            <a:r>
              <a:rPr sz="2600" dirty="0"/>
              <a:t>This</a:t>
            </a:r>
            <a:r>
              <a:rPr sz="2600" spc="-35" dirty="0"/>
              <a:t> </a:t>
            </a:r>
            <a:r>
              <a:rPr sz="2600" spc="-25" dirty="0"/>
              <a:t>is </a:t>
            </a:r>
            <a:r>
              <a:rPr sz="2600" dirty="0"/>
              <a:t>done</a:t>
            </a:r>
            <a:r>
              <a:rPr sz="2600" spc="-40" dirty="0"/>
              <a:t> </a:t>
            </a:r>
            <a:r>
              <a:rPr sz="2600" dirty="0"/>
              <a:t>by</a:t>
            </a:r>
            <a:r>
              <a:rPr sz="2600" spc="-45" dirty="0"/>
              <a:t> </a:t>
            </a:r>
            <a:r>
              <a:rPr sz="2600" dirty="0"/>
              <a:t>issuing</a:t>
            </a:r>
            <a:r>
              <a:rPr sz="2600" spc="-40" dirty="0"/>
              <a:t> </a:t>
            </a:r>
            <a:r>
              <a:rPr sz="2600" dirty="0"/>
              <a:t>the</a:t>
            </a:r>
            <a:r>
              <a:rPr sz="2600" spc="-40" dirty="0"/>
              <a:t> </a:t>
            </a:r>
            <a:r>
              <a:rPr sz="2600" dirty="0"/>
              <a:t>following</a:t>
            </a:r>
            <a:r>
              <a:rPr sz="2600" spc="-40" dirty="0"/>
              <a:t> </a:t>
            </a:r>
            <a:r>
              <a:rPr sz="2600" dirty="0"/>
              <a:t>command</a:t>
            </a:r>
            <a:r>
              <a:rPr sz="2600" spc="-60" dirty="0"/>
              <a:t> </a:t>
            </a:r>
            <a:r>
              <a:rPr sz="2600" dirty="0"/>
              <a:t>from</a:t>
            </a:r>
            <a:r>
              <a:rPr sz="2600" spc="-35" dirty="0"/>
              <a:t> </a:t>
            </a:r>
            <a:r>
              <a:rPr sz="2600" dirty="0"/>
              <a:t>the</a:t>
            </a:r>
            <a:r>
              <a:rPr sz="2600" spc="-35" dirty="0"/>
              <a:t> </a:t>
            </a:r>
            <a:r>
              <a:rPr sz="2600" dirty="0"/>
              <a:t>~/pysim</a:t>
            </a:r>
            <a:r>
              <a:rPr sz="2600" spc="-60" dirty="0"/>
              <a:t> </a:t>
            </a:r>
            <a:r>
              <a:rPr sz="2600" spc="-10" dirty="0"/>
              <a:t>directory:</a:t>
            </a:r>
            <a:endParaRPr sz="2600"/>
          </a:p>
          <a:p>
            <a:pPr marL="14604">
              <a:lnSpc>
                <a:spcPct val="100000"/>
              </a:lnSpc>
              <a:spcBef>
                <a:spcPts val="385"/>
              </a:spcBef>
            </a:pPr>
            <a:r>
              <a:rPr sz="2600" spc="-10" dirty="0"/>
              <a:t>./pySim-read.py</a:t>
            </a:r>
            <a:endParaRPr sz="2600"/>
          </a:p>
          <a:p>
            <a:pPr marL="242570" marR="241935" indent="-228600">
              <a:lnSpc>
                <a:spcPts val="2500"/>
              </a:lnSpc>
              <a:spcBef>
                <a:spcPts val="969"/>
              </a:spcBef>
            </a:pPr>
            <a:r>
              <a:rPr sz="2600" dirty="0"/>
              <a:t>If</a:t>
            </a:r>
            <a:r>
              <a:rPr sz="2600" spc="-30" dirty="0"/>
              <a:t> </a:t>
            </a:r>
            <a:r>
              <a:rPr sz="2600" dirty="0"/>
              <a:t>everything</a:t>
            </a:r>
            <a:r>
              <a:rPr sz="2600" spc="-40" dirty="0"/>
              <a:t> </a:t>
            </a:r>
            <a:r>
              <a:rPr sz="2600" dirty="0"/>
              <a:t>is</a:t>
            </a:r>
            <a:r>
              <a:rPr sz="2600" spc="-40" dirty="0"/>
              <a:t> </a:t>
            </a:r>
            <a:r>
              <a:rPr sz="2600" dirty="0"/>
              <a:t>setup</a:t>
            </a:r>
            <a:r>
              <a:rPr sz="2600" spc="-30" dirty="0"/>
              <a:t> </a:t>
            </a:r>
            <a:r>
              <a:rPr sz="2600" dirty="0"/>
              <a:t>correctly</a:t>
            </a:r>
            <a:r>
              <a:rPr sz="2600" spc="-55" dirty="0"/>
              <a:t> </a:t>
            </a:r>
            <a:r>
              <a:rPr sz="2600" dirty="0"/>
              <a:t>and</a:t>
            </a:r>
            <a:r>
              <a:rPr sz="2600" spc="-30" dirty="0"/>
              <a:t> </a:t>
            </a:r>
            <a:r>
              <a:rPr sz="2600" dirty="0"/>
              <a:t>the</a:t>
            </a:r>
            <a:r>
              <a:rPr sz="2600" spc="-20" dirty="0"/>
              <a:t> </a:t>
            </a:r>
            <a:r>
              <a:rPr sz="2600" dirty="0"/>
              <a:t>port</a:t>
            </a:r>
            <a:r>
              <a:rPr sz="2600" spc="-40" dirty="0"/>
              <a:t> </a:t>
            </a:r>
            <a:r>
              <a:rPr sz="2600" dirty="0"/>
              <a:t>is</a:t>
            </a:r>
            <a:r>
              <a:rPr sz="2600" spc="-30" dirty="0"/>
              <a:t> </a:t>
            </a:r>
            <a:r>
              <a:rPr sz="2600" dirty="0"/>
              <a:t>on</a:t>
            </a:r>
            <a:r>
              <a:rPr sz="2600" spc="-30" dirty="0"/>
              <a:t> </a:t>
            </a:r>
            <a:r>
              <a:rPr sz="2600" dirty="0"/>
              <a:t>the</a:t>
            </a:r>
            <a:r>
              <a:rPr sz="2600" spc="-30" dirty="0"/>
              <a:t> </a:t>
            </a:r>
            <a:r>
              <a:rPr sz="2600" dirty="0"/>
              <a:t>default</a:t>
            </a:r>
            <a:r>
              <a:rPr sz="2600" spc="-25" dirty="0"/>
              <a:t> </a:t>
            </a:r>
            <a:r>
              <a:rPr sz="2600" dirty="0"/>
              <a:t>of</a:t>
            </a:r>
            <a:r>
              <a:rPr sz="2600" spc="-40" dirty="0"/>
              <a:t> </a:t>
            </a:r>
            <a:r>
              <a:rPr sz="2600" dirty="0"/>
              <a:t>0</a:t>
            </a:r>
            <a:r>
              <a:rPr sz="2600" spc="-25" dirty="0"/>
              <a:t> </a:t>
            </a:r>
            <a:r>
              <a:rPr sz="2600" dirty="0"/>
              <a:t>you</a:t>
            </a:r>
            <a:r>
              <a:rPr sz="2600" spc="-40" dirty="0"/>
              <a:t> </a:t>
            </a:r>
            <a:r>
              <a:rPr sz="2600" spc="-20" dirty="0"/>
              <a:t>will </a:t>
            </a:r>
            <a:r>
              <a:rPr sz="2600" dirty="0"/>
              <a:t>see</a:t>
            </a:r>
            <a:r>
              <a:rPr sz="2600" spc="-45" dirty="0"/>
              <a:t> </a:t>
            </a:r>
            <a:r>
              <a:rPr sz="2600" dirty="0"/>
              <a:t>output</a:t>
            </a:r>
            <a:r>
              <a:rPr sz="2600" spc="-30" dirty="0"/>
              <a:t> </a:t>
            </a:r>
            <a:r>
              <a:rPr sz="2600" dirty="0"/>
              <a:t>similar</a:t>
            </a:r>
            <a:r>
              <a:rPr sz="2600" spc="-65" dirty="0"/>
              <a:t> </a:t>
            </a:r>
            <a:r>
              <a:rPr sz="2600" dirty="0"/>
              <a:t>to</a:t>
            </a:r>
            <a:r>
              <a:rPr sz="2600" spc="-25" dirty="0"/>
              <a:t> </a:t>
            </a:r>
            <a:r>
              <a:rPr sz="2600" spc="-10" dirty="0"/>
              <a:t>below:</a:t>
            </a:r>
            <a:endParaRPr sz="2600"/>
          </a:p>
        </p:txBody>
      </p:sp>
      <p:pic>
        <p:nvPicPr>
          <p:cNvPr id="4" name="object 4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94816" y="3928871"/>
            <a:ext cx="9020555" cy="224789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83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Programming</a:t>
            </a:r>
            <a:r>
              <a:rPr spc="-55" dirty="0"/>
              <a:t> </a:t>
            </a:r>
            <a:r>
              <a:rPr dirty="0"/>
              <a:t>SIM</a:t>
            </a:r>
            <a:r>
              <a:rPr spc="-85" dirty="0"/>
              <a:t> </a:t>
            </a:r>
            <a:r>
              <a:rPr spc="-10" dirty="0"/>
              <a:t>Cards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4294967295"/>
          </p:nvPr>
        </p:nvSpPr>
        <p:spPr>
          <a:xfrm>
            <a:off x="0" y="1381125"/>
            <a:ext cx="10733088" cy="3670300"/>
          </a:xfrm>
          <a:prstGeom prst="rect">
            <a:avLst/>
          </a:prstGeom>
        </p:spPr>
        <p:txBody>
          <a:bodyPr vert="horz" wrap="square" lIns="0" tIns="285894" rIns="0" bIns="0" rtlCol="0">
            <a:spAutoFit/>
          </a:bodyPr>
          <a:lstStyle/>
          <a:p>
            <a:pPr marL="243204" marR="5080" indent="-229235">
              <a:lnSpc>
                <a:spcPts val="2110"/>
              </a:lnSpc>
              <a:spcBef>
                <a:spcPts val="605"/>
              </a:spcBef>
            </a:pPr>
            <a:r>
              <a:rPr sz="2200" dirty="0"/>
              <a:t>Now</a:t>
            </a:r>
            <a:r>
              <a:rPr sz="2200" spc="-40" dirty="0"/>
              <a:t> </a:t>
            </a:r>
            <a:r>
              <a:rPr sz="2200" dirty="0"/>
              <a:t>we</a:t>
            </a:r>
            <a:r>
              <a:rPr sz="2200" spc="-45" dirty="0"/>
              <a:t> </a:t>
            </a:r>
            <a:r>
              <a:rPr sz="2200" dirty="0"/>
              <a:t>have</a:t>
            </a:r>
            <a:r>
              <a:rPr sz="2200" spc="-35" dirty="0"/>
              <a:t> </a:t>
            </a:r>
            <a:r>
              <a:rPr sz="2200" dirty="0"/>
              <a:t>to</a:t>
            </a:r>
            <a:r>
              <a:rPr sz="2200" spc="-50" dirty="0"/>
              <a:t> </a:t>
            </a:r>
            <a:r>
              <a:rPr sz="2200" dirty="0"/>
              <a:t>program</a:t>
            </a:r>
            <a:r>
              <a:rPr sz="2200" spc="-15" dirty="0"/>
              <a:t> </a:t>
            </a:r>
            <a:r>
              <a:rPr sz="2200" dirty="0"/>
              <a:t>the</a:t>
            </a:r>
            <a:r>
              <a:rPr sz="2200" spc="-50" dirty="0"/>
              <a:t> </a:t>
            </a:r>
            <a:r>
              <a:rPr sz="2200" dirty="0"/>
              <a:t>SIM</a:t>
            </a:r>
            <a:r>
              <a:rPr sz="2200" spc="-40" dirty="0"/>
              <a:t> </a:t>
            </a:r>
            <a:r>
              <a:rPr sz="2200" dirty="0"/>
              <a:t>to</a:t>
            </a:r>
            <a:r>
              <a:rPr sz="2200" spc="-45" dirty="0"/>
              <a:t> </a:t>
            </a:r>
            <a:r>
              <a:rPr sz="2200" dirty="0"/>
              <a:t>be</a:t>
            </a:r>
            <a:r>
              <a:rPr sz="2200" spc="-45" dirty="0"/>
              <a:t> </a:t>
            </a:r>
            <a:r>
              <a:rPr sz="2200" dirty="0"/>
              <a:t>able</a:t>
            </a:r>
            <a:r>
              <a:rPr sz="2200" spc="-50" dirty="0"/>
              <a:t> </a:t>
            </a:r>
            <a:r>
              <a:rPr sz="2200" dirty="0"/>
              <a:t>to</a:t>
            </a:r>
            <a:r>
              <a:rPr sz="2200" spc="-45" dirty="0"/>
              <a:t> </a:t>
            </a:r>
            <a:r>
              <a:rPr sz="2200" dirty="0"/>
              <a:t>connect</a:t>
            </a:r>
            <a:r>
              <a:rPr sz="2200" spc="-45" dirty="0"/>
              <a:t> </a:t>
            </a:r>
            <a:r>
              <a:rPr sz="2200" dirty="0"/>
              <a:t>to</a:t>
            </a:r>
            <a:r>
              <a:rPr sz="2200" spc="-45" dirty="0"/>
              <a:t> </a:t>
            </a:r>
            <a:r>
              <a:rPr sz="2200" dirty="0"/>
              <a:t>our</a:t>
            </a:r>
            <a:r>
              <a:rPr sz="2200" spc="-40" dirty="0"/>
              <a:t> </a:t>
            </a:r>
            <a:r>
              <a:rPr sz="2200" spc="-20" dirty="0"/>
              <a:t>LTE</a:t>
            </a:r>
            <a:r>
              <a:rPr sz="2200" spc="-35" dirty="0"/>
              <a:t> </a:t>
            </a:r>
            <a:r>
              <a:rPr sz="2200" dirty="0"/>
              <a:t>network.</a:t>
            </a:r>
            <a:r>
              <a:rPr sz="2200" spc="-30" dirty="0"/>
              <a:t> </a:t>
            </a:r>
            <a:r>
              <a:rPr sz="2200" dirty="0"/>
              <a:t>Below</a:t>
            </a:r>
            <a:r>
              <a:rPr sz="2200" spc="-50" dirty="0"/>
              <a:t> </a:t>
            </a:r>
            <a:r>
              <a:rPr sz="2200" spc="-25" dirty="0"/>
              <a:t>is </a:t>
            </a:r>
            <a:r>
              <a:rPr sz="2200" dirty="0"/>
              <a:t>the</a:t>
            </a:r>
            <a:r>
              <a:rPr sz="2200" spc="-45" dirty="0"/>
              <a:t> </a:t>
            </a:r>
            <a:r>
              <a:rPr sz="2200" dirty="0"/>
              <a:t>command</a:t>
            </a:r>
            <a:r>
              <a:rPr sz="2200" spc="-10" dirty="0"/>
              <a:t> </a:t>
            </a:r>
            <a:r>
              <a:rPr sz="2200" dirty="0"/>
              <a:t>that</a:t>
            </a:r>
            <a:r>
              <a:rPr sz="2200" spc="-45" dirty="0"/>
              <a:t> </a:t>
            </a:r>
            <a:r>
              <a:rPr sz="2200" dirty="0"/>
              <a:t>is</a:t>
            </a:r>
            <a:r>
              <a:rPr sz="2200" spc="-50" dirty="0"/>
              <a:t> </a:t>
            </a:r>
            <a:r>
              <a:rPr sz="2200" dirty="0"/>
              <a:t>used</a:t>
            </a:r>
            <a:r>
              <a:rPr sz="2200" spc="-45" dirty="0"/>
              <a:t> </a:t>
            </a:r>
            <a:r>
              <a:rPr sz="2200" dirty="0"/>
              <a:t>to</a:t>
            </a:r>
            <a:r>
              <a:rPr sz="2200" spc="-40" dirty="0"/>
              <a:t> </a:t>
            </a:r>
            <a:r>
              <a:rPr sz="2200" dirty="0"/>
              <a:t>program</a:t>
            </a:r>
            <a:r>
              <a:rPr sz="2200" spc="-15" dirty="0"/>
              <a:t> </a:t>
            </a:r>
            <a:r>
              <a:rPr sz="2200" dirty="0"/>
              <a:t>the</a:t>
            </a:r>
            <a:r>
              <a:rPr sz="2200" spc="-45" dirty="0"/>
              <a:t> </a:t>
            </a:r>
            <a:r>
              <a:rPr sz="2200" dirty="0"/>
              <a:t>SIM’s,</a:t>
            </a:r>
            <a:r>
              <a:rPr sz="2200" spc="-40" dirty="0"/>
              <a:t> </a:t>
            </a:r>
            <a:r>
              <a:rPr sz="2200" dirty="0"/>
              <a:t>you</a:t>
            </a:r>
            <a:r>
              <a:rPr sz="2200" spc="-35" dirty="0"/>
              <a:t> </a:t>
            </a:r>
            <a:r>
              <a:rPr sz="2200" dirty="0"/>
              <a:t>need</a:t>
            </a:r>
            <a:r>
              <a:rPr sz="2200" spc="-45" dirty="0"/>
              <a:t> </a:t>
            </a:r>
            <a:r>
              <a:rPr sz="2200" dirty="0"/>
              <a:t>to</a:t>
            </a:r>
            <a:r>
              <a:rPr sz="2200" spc="-30" dirty="0"/>
              <a:t> </a:t>
            </a:r>
            <a:r>
              <a:rPr sz="2200" dirty="0"/>
              <a:t>fill</a:t>
            </a:r>
            <a:r>
              <a:rPr sz="2200" spc="-65" dirty="0"/>
              <a:t> </a:t>
            </a:r>
            <a:r>
              <a:rPr sz="2200" dirty="0"/>
              <a:t>the</a:t>
            </a:r>
            <a:r>
              <a:rPr sz="2200" spc="-30" dirty="0"/>
              <a:t> </a:t>
            </a:r>
            <a:r>
              <a:rPr sz="2200" dirty="0"/>
              <a:t>values</a:t>
            </a:r>
            <a:r>
              <a:rPr sz="2200" spc="-40" dirty="0"/>
              <a:t> </a:t>
            </a:r>
            <a:r>
              <a:rPr sz="2200" dirty="0"/>
              <a:t>in</a:t>
            </a:r>
            <a:r>
              <a:rPr sz="2200" spc="-45" dirty="0"/>
              <a:t> </a:t>
            </a:r>
            <a:r>
              <a:rPr sz="2200" spc="-20" dirty="0"/>
              <a:t>with </a:t>
            </a:r>
            <a:r>
              <a:rPr sz="2200" dirty="0"/>
              <a:t>your</a:t>
            </a:r>
            <a:r>
              <a:rPr sz="2200" spc="-50" dirty="0"/>
              <a:t> </a:t>
            </a:r>
            <a:r>
              <a:rPr sz="2200" dirty="0"/>
              <a:t>specific</a:t>
            </a:r>
            <a:r>
              <a:rPr sz="2200" spc="-70" dirty="0"/>
              <a:t> </a:t>
            </a:r>
            <a:r>
              <a:rPr sz="2200" dirty="0"/>
              <a:t>team’s</a:t>
            </a:r>
            <a:r>
              <a:rPr sz="2200" spc="-50" dirty="0"/>
              <a:t> </a:t>
            </a:r>
            <a:r>
              <a:rPr sz="2200" dirty="0"/>
              <a:t>SIM</a:t>
            </a:r>
            <a:r>
              <a:rPr sz="2200" spc="-55" dirty="0"/>
              <a:t> </a:t>
            </a:r>
            <a:r>
              <a:rPr sz="2200" dirty="0"/>
              <a:t>card</a:t>
            </a:r>
            <a:r>
              <a:rPr sz="2200" spc="-50" dirty="0"/>
              <a:t> </a:t>
            </a:r>
            <a:r>
              <a:rPr sz="2200" dirty="0"/>
              <a:t>information</a:t>
            </a:r>
            <a:r>
              <a:rPr sz="2200" spc="-50" dirty="0"/>
              <a:t> </a:t>
            </a:r>
            <a:r>
              <a:rPr sz="2200" dirty="0"/>
              <a:t>that</a:t>
            </a:r>
            <a:r>
              <a:rPr sz="2200" spc="-55" dirty="0"/>
              <a:t> </a:t>
            </a:r>
            <a:r>
              <a:rPr sz="2200" dirty="0"/>
              <a:t>was</a:t>
            </a:r>
            <a:r>
              <a:rPr sz="2200" spc="-55" dirty="0"/>
              <a:t> </a:t>
            </a:r>
            <a:r>
              <a:rPr sz="2200" dirty="0"/>
              <a:t>provided</a:t>
            </a:r>
            <a:r>
              <a:rPr sz="2200" spc="-35" dirty="0"/>
              <a:t> </a:t>
            </a:r>
            <a:r>
              <a:rPr sz="2200" dirty="0"/>
              <a:t>to</a:t>
            </a:r>
            <a:r>
              <a:rPr sz="2200" spc="-60" dirty="0"/>
              <a:t> </a:t>
            </a:r>
            <a:r>
              <a:rPr sz="2200" spc="-20" dirty="0"/>
              <a:t>you.</a:t>
            </a:r>
            <a:endParaRPr sz="2200"/>
          </a:p>
          <a:p>
            <a:pPr marL="14604">
              <a:lnSpc>
                <a:spcPts val="2375"/>
              </a:lnSpc>
              <a:spcBef>
                <a:spcPts val="505"/>
              </a:spcBef>
            </a:pPr>
            <a:r>
              <a:rPr sz="2200" spc="-20" dirty="0"/>
              <a:t>./pySim-</a:t>
            </a:r>
            <a:r>
              <a:rPr sz="2200" dirty="0"/>
              <a:t>prog.py</a:t>
            </a:r>
            <a:r>
              <a:rPr sz="2200" spc="-15" dirty="0"/>
              <a:t> </a:t>
            </a:r>
            <a:r>
              <a:rPr sz="2200" spc="-10" dirty="0"/>
              <a:t>-</a:t>
            </a:r>
            <a:r>
              <a:rPr sz="2200" dirty="0"/>
              <a:t>p</a:t>
            </a:r>
            <a:r>
              <a:rPr sz="2200" spc="-35" dirty="0"/>
              <a:t> </a:t>
            </a:r>
            <a:r>
              <a:rPr sz="2200" dirty="0"/>
              <a:t>&lt;Port</a:t>
            </a:r>
            <a:r>
              <a:rPr sz="2200" spc="-30" dirty="0"/>
              <a:t> </a:t>
            </a:r>
            <a:r>
              <a:rPr sz="2200" dirty="0"/>
              <a:t>your</a:t>
            </a:r>
            <a:r>
              <a:rPr sz="2200" spc="-30" dirty="0"/>
              <a:t> </a:t>
            </a:r>
            <a:r>
              <a:rPr sz="2200" dirty="0"/>
              <a:t>sim</a:t>
            </a:r>
            <a:r>
              <a:rPr sz="2200" spc="-40" dirty="0"/>
              <a:t> </a:t>
            </a:r>
            <a:r>
              <a:rPr sz="2200" dirty="0"/>
              <a:t>card</a:t>
            </a:r>
            <a:r>
              <a:rPr sz="2200" spc="-40" dirty="0"/>
              <a:t> </a:t>
            </a:r>
            <a:r>
              <a:rPr sz="2200" dirty="0"/>
              <a:t>reader</a:t>
            </a:r>
            <a:r>
              <a:rPr sz="2200" spc="-35" dirty="0"/>
              <a:t> </a:t>
            </a:r>
            <a:r>
              <a:rPr sz="2200" dirty="0"/>
              <a:t>was</a:t>
            </a:r>
            <a:r>
              <a:rPr sz="2200" spc="-40" dirty="0"/>
              <a:t> </a:t>
            </a:r>
            <a:r>
              <a:rPr sz="2200" dirty="0"/>
              <a:t>on&gt;</a:t>
            </a:r>
            <a:r>
              <a:rPr sz="2200" spc="-30" dirty="0"/>
              <a:t> </a:t>
            </a:r>
            <a:r>
              <a:rPr sz="2200" spc="-10" dirty="0"/>
              <a:t>-</a:t>
            </a:r>
            <a:r>
              <a:rPr sz="2200" dirty="0"/>
              <a:t>x</a:t>
            </a:r>
            <a:r>
              <a:rPr sz="2200" spc="-40" dirty="0"/>
              <a:t> </a:t>
            </a:r>
            <a:r>
              <a:rPr sz="2200" dirty="0"/>
              <a:t>&lt;Network</a:t>
            </a:r>
            <a:r>
              <a:rPr sz="2200" spc="-30" dirty="0"/>
              <a:t> </a:t>
            </a:r>
            <a:r>
              <a:rPr sz="2200" dirty="0"/>
              <a:t>MCC&gt;</a:t>
            </a:r>
            <a:r>
              <a:rPr sz="2200" spc="-10" dirty="0"/>
              <a:t> -</a:t>
            </a:r>
            <a:r>
              <a:rPr sz="2200" spc="-50" dirty="0"/>
              <a:t>y</a:t>
            </a:r>
            <a:endParaRPr sz="2200"/>
          </a:p>
          <a:p>
            <a:pPr marL="242570">
              <a:lnSpc>
                <a:spcPts val="2115"/>
              </a:lnSpc>
            </a:pPr>
            <a:r>
              <a:rPr sz="2200" dirty="0"/>
              <a:t>&lt;Network</a:t>
            </a:r>
            <a:r>
              <a:rPr sz="2200" spc="-40" dirty="0"/>
              <a:t> </a:t>
            </a:r>
            <a:r>
              <a:rPr sz="2200" dirty="0"/>
              <a:t>MNC&gt;</a:t>
            </a:r>
            <a:r>
              <a:rPr sz="2200" spc="-25" dirty="0"/>
              <a:t> </a:t>
            </a:r>
            <a:r>
              <a:rPr sz="2200" spc="-10" dirty="0"/>
              <a:t>-</a:t>
            </a:r>
            <a:r>
              <a:rPr sz="2200" dirty="0"/>
              <a:t>n</a:t>
            </a:r>
            <a:r>
              <a:rPr sz="2200" spc="-45" dirty="0"/>
              <a:t> </a:t>
            </a:r>
            <a:r>
              <a:rPr sz="2200" dirty="0"/>
              <a:t>&lt;Operator</a:t>
            </a:r>
            <a:r>
              <a:rPr sz="2200" spc="-25" dirty="0"/>
              <a:t> </a:t>
            </a:r>
            <a:r>
              <a:rPr sz="2200" dirty="0"/>
              <a:t>Name&gt;</a:t>
            </a:r>
            <a:r>
              <a:rPr sz="2200" spc="-30" dirty="0"/>
              <a:t> </a:t>
            </a:r>
            <a:r>
              <a:rPr sz="2200" spc="-10" dirty="0"/>
              <a:t>-</a:t>
            </a:r>
            <a:r>
              <a:rPr sz="2200" dirty="0"/>
              <a:t>t</a:t>
            </a:r>
            <a:r>
              <a:rPr sz="2200" spc="-35" dirty="0"/>
              <a:t> </a:t>
            </a:r>
            <a:r>
              <a:rPr sz="2200" dirty="0"/>
              <a:t>&lt;SIM</a:t>
            </a:r>
            <a:r>
              <a:rPr sz="2200" spc="-45" dirty="0"/>
              <a:t> </a:t>
            </a:r>
            <a:r>
              <a:rPr sz="2200" dirty="0"/>
              <a:t>card</a:t>
            </a:r>
            <a:r>
              <a:rPr sz="2200" spc="-50" dirty="0"/>
              <a:t> </a:t>
            </a:r>
            <a:r>
              <a:rPr sz="2200" dirty="0"/>
              <a:t>type&gt;</a:t>
            </a:r>
            <a:r>
              <a:rPr sz="2200" spc="-30" dirty="0"/>
              <a:t> </a:t>
            </a:r>
            <a:r>
              <a:rPr sz="2200" spc="-10" dirty="0"/>
              <a:t>-</a:t>
            </a:r>
            <a:r>
              <a:rPr sz="2200" dirty="0"/>
              <a:t>i</a:t>
            </a:r>
            <a:r>
              <a:rPr sz="2200" spc="-45" dirty="0"/>
              <a:t> </a:t>
            </a:r>
            <a:r>
              <a:rPr sz="2200" dirty="0"/>
              <a:t>&lt;imsi&gt;</a:t>
            </a:r>
            <a:r>
              <a:rPr sz="2200" spc="-50" dirty="0"/>
              <a:t> </a:t>
            </a:r>
            <a:r>
              <a:rPr sz="2200" spc="-10" dirty="0"/>
              <a:t>-</a:t>
            </a:r>
            <a:r>
              <a:rPr sz="2200" dirty="0"/>
              <a:t>s</a:t>
            </a:r>
            <a:r>
              <a:rPr sz="2200" spc="-35" dirty="0"/>
              <a:t> </a:t>
            </a:r>
            <a:r>
              <a:rPr sz="2200" dirty="0"/>
              <a:t>&lt;iccid&gt;</a:t>
            </a:r>
            <a:r>
              <a:rPr sz="2200" spc="-60" dirty="0"/>
              <a:t> </a:t>
            </a:r>
            <a:r>
              <a:rPr sz="2200" spc="-10" dirty="0"/>
              <a:t>-</a:t>
            </a:r>
            <a:r>
              <a:rPr sz="2200" spc="-50" dirty="0"/>
              <a:t>o</a:t>
            </a:r>
            <a:endParaRPr sz="2200"/>
          </a:p>
          <a:p>
            <a:pPr marL="243204">
              <a:lnSpc>
                <a:spcPts val="2375"/>
              </a:lnSpc>
            </a:pPr>
            <a:r>
              <a:rPr sz="2200" dirty="0"/>
              <a:t>&lt;OPC</a:t>
            </a:r>
            <a:r>
              <a:rPr sz="2200" spc="-35" dirty="0"/>
              <a:t> </a:t>
            </a:r>
            <a:r>
              <a:rPr sz="2200" dirty="0"/>
              <a:t>Key&gt;</a:t>
            </a:r>
            <a:r>
              <a:rPr sz="2200" spc="-30" dirty="0"/>
              <a:t> </a:t>
            </a:r>
            <a:r>
              <a:rPr sz="2200" spc="-10" dirty="0"/>
              <a:t>-</a:t>
            </a:r>
            <a:r>
              <a:rPr sz="2200" dirty="0"/>
              <a:t>k</a:t>
            </a:r>
            <a:r>
              <a:rPr sz="2200" spc="-35" dirty="0"/>
              <a:t> </a:t>
            </a:r>
            <a:r>
              <a:rPr sz="2200" dirty="0"/>
              <a:t>&lt;Ki&gt;</a:t>
            </a:r>
            <a:r>
              <a:rPr sz="2200" spc="-40" dirty="0"/>
              <a:t> </a:t>
            </a:r>
            <a:r>
              <a:rPr sz="2200" spc="-10" dirty="0"/>
              <a:t>-</a:t>
            </a:r>
            <a:r>
              <a:rPr sz="2200" dirty="0"/>
              <a:t>a</a:t>
            </a:r>
            <a:r>
              <a:rPr sz="2200" spc="-30" dirty="0"/>
              <a:t> </a:t>
            </a:r>
            <a:r>
              <a:rPr sz="2200" dirty="0"/>
              <a:t>&lt;ADM</a:t>
            </a:r>
            <a:r>
              <a:rPr sz="2200" spc="-25" dirty="0"/>
              <a:t> </a:t>
            </a:r>
            <a:r>
              <a:rPr sz="2200" spc="-20" dirty="0"/>
              <a:t>Pin&gt;</a:t>
            </a:r>
            <a:endParaRPr sz="2200"/>
          </a:p>
          <a:p>
            <a:pPr marL="14604">
              <a:lnSpc>
                <a:spcPct val="100000"/>
              </a:lnSpc>
              <a:spcBef>
                <a:spcPts val="465"/>
              </a:spcBef>
            </a:pPr>
            <a:r>
              <a:rPr sz="2200" dirty="0"/>
              <a:t>If</a:t>
            </a:r>
            <a:r>
              <a:rPr sz="2200" spc="-50" dirty="0"/>
              <a:t> </a:t>
            </a:r>
            <a:r>
              <a:rPr sz="2200" dirty="0"/>
              <a:t>all</a:t>
            </a:r>
            <a:r>
              <a:rPr sz="2200" spc="-60" dirty="0"/>
              <a:t> </a:t>
            </a:r>
            <a:r>
              <a:rPr sz="2200" dirty="0"/>
              <a:t>values</a:t>
            </a:r>
            <a:r>
              <a:rPr sz="2200" spc="-35" dirty="0"/>
              <a:t> </a:t>
            </a:r>
            <a:r>
              <a:rPr sz="2200" dirty="0"/>
              <a:t>are</a:t>
            </a:r>
            <a:r>
              <a:rPr sz="2200" spc="-50" dirty="0"/>
              <a:t> </a:t>
            </a:r>
            <a:r>
              <a:rPr sz="2200" dirty="0"/>
              <a:t>entered</a:t>
            </a:r>
            <a:r>
              <a:rPr sz="2200" spc="-35" dirty="0"/>
              <a:t> </a:t>
            </a:r>
            <a:r>
              <a:rPr sz="2200" spc="-10" dirty="0"/>
              <a:t>correctly,</a:t>
            </a:r>
            <a:r>
              <a:rPr sz="2200" spc="-30" dirty="0"/>
              <a:t> </a:t>
            </a:r>
            <a:r>
              <a:rPr sz="2200" dirty="0"/>
              <a:t>you</a:t>
            </a:r>
            <a:r>
              <a:rPr sz="2200" spc="-45" dirty="0"/>
              <a:t> </a:t>
            </a:r>
            <a:r>
              <a:rPr sz="2200" dirty="0"/>
              <a:t>will</a:t>
            </a:r>
            <a:r>
              <a:rPr sz="2200" spc="-45" dirty="0"/>
              <a:t> </a:t>
            </a:r>
            <a:r>
              <a:rPr sz="2200" dirty="0"/>
              <a:t>see</a:t>
            </a:r>
            <a:r>
              <a:rPr sz="2200" spc="-50" dirty="0"/>
              <a:t> </a:t>
            </a:r>
            <a:r>
              <a:rPr sz="2200" dirty="0"/>
              <a:t>output</a:t>
            </a:r>
            <a:r>
              <a:rPr sz="2200" spc="-50" dirty="0"/>
              <a:t> </a:t>
            </a:r>
            <a:r>
              <a:rPr sz="2200" dirty="0"/>
              <a:t>similar</a:t>
            </a:r>
            <a:r>
              <a:rPr sz="2200" spc="-45" dirty="0"/>
              <a:t> </a:t>
            </a:r>
            <a:r>
              <a:rPr sz="2200" dirty="0"/>
              <a:t>to</a:t>
            </a:r>
            <a:r>
              <a:rPr sz="2200" spc="-50" dirty="0"/>
              <a:t> </a:t>
            </a:r>
            <a:r>
              <a:rPr sz="2200" dirty="0"/>
              <a:t>the</a:t>
            </a:r>
            <a:r>
              <a:rPr sz="2200" spc="-40" dirty="0"/>
              <a:t> </a:t>
            </a:r>
            <a:r>
              <a:rPr sz="2200" dirty="0"/>
              <a:t>picture</a:t>
            </a:r>
            <a:r>
              <a:rPr sz="2200" spc="-50" dirty="0"/>
              <a:t> </a:t>
            </a:r>
            <a:r>
              <a:rPr sz="2200" spc="-10" dirty="0"/>
              <a:t>below.</a:t>
            </a:r>
            <a:endParaRPr sz="2200"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26692" y="3953255"/>
            <a:ext cx="8007095" cy="196899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223839" y="1344611"/>
            <a:ext cx="8577262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dirty="0"/>
              <a:t>Lab</a:t>
            </a:r>
            <a:r>
              <a:rPr sz="5400" spc="-65" dirty="0"/>
              <a:t> </a:t>
            </a:r>
            <a:r>
              <a:rPr sz="5400" dirty="0"/>
              <a:t>4</a:t>
            </a:r>
            <a:r>
              <a:rPr sz="5400" spc="-75" dirty="0"/>
              <a:t> </a:t>
            </a:r>
            <a:r>
              <a:rPr sz="5400" dirty="0"/>
              <a:t>–</a:t>
            </a:r>
            <a:r>
              <a:rPr sz="5400" spc="-65" dirty="0"/>
              <a:t> </a:t>
            </a:r>
            <a:r>
              <a:rPr sz="5400" dirty="0"/>
              <a:t>Connecting</a:t>
            </a:r>
            <a:r>
              <a:rPr sz="5400" spc="-70" dirty="0"/>
              <a:t> </a:t>
            </a:r>
            <a:r>
              <a:rPr sz="5400" dirty="0"/>
              <a:t>the</a:t>
            </a:r>
            <a:r>
              <a:rPr sz="5400" spc="-70" dirty="0"/>
              <a:t> </a:t>
            </a:r>
            <a:r>
              <a:rPr sz="5400" dirty="0"/>
              <a:t>TCU</a:t>
            </a:r>
            <a:r>
              <a:rPr sz="5400" spc="-85" dirty="0"/>
              <a:t> </a:t>
            </a:r>
            <a:r>
              <a:rPr sz="5400" dirty="0"/>
              <a:t>to</a:t>
            </a:r>
            <a:r>
              <a:rPr sz="5400" spc="-75" dirty="0"/>
              <a:t> </a:t>
            </a:r>
            <a:r>
              <a:rPr sz="5400" spc="-10" dirty="0"/>
              <a:t>Your</a:t>
            </a:r>
            <a:r>
              <a:rPr sz="5400" spc="-55" dirty="0"/>
              <a:t> </a:t>
            </a:r>
            <a:r>
              <a:rPr sz="5400" spc="-10" dirty="0"/>
              <a:t>Tower</a:t>
            </a:r>
            <a:endParaRPr sz="5400"/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85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Starting</a:t>
            </a:r>
            <a:r>
              <a:rPr spc="195" dirty="0"/>
              <a:t> </a:t>
            </a:r>
            <a:r>
              <a:rPr spc="-10" dirty="0"/>
              <a:t>srsRAN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4294967295"/>
          </p:nvPr>
        </p:nvSpPr>
        <p:spPr>
          <a:xfrm>
            <a:off x="0" y="1381125"/>
            <a:ext cx="10733088" cy="3670300"/>
          </a:xfrm>
          <a:prstGeom prst="rect">
            <a:avLst/>
          </a:prstGeom>
        </p:spPr>
        <p:txBody>
          <a:bodyPr vert="horz" wrap="square" lIns="0" tIns="243927" rIns="0" bIns="0" rtlCol="0">
            <a:spAutoFit/>
          </a:bodyPr>
          <a:lstStyle/>
          <a:p>
            <a:pPr marL="13970">
              <a:lnSpc>
                <a:spcPct val="100000"/>
              </a:lnSpc>
              <a:spcBef>
                <a:spcPts val="760"/>
              </a:spcBef>
            </a:pPr>
            <a:r>
              <a:rPr spc="-150" dirty="0"/>
              <a:t>To</a:t>
            </a:r>
            <a:r>
              <a:rPr spc="-35" dirty="0"/>
              <a:t> </a:t>
            </a:r>
            <a:r>
              <a:rPr dirty="0"/>
              <a:t>start</a:t>
            </a:r>
            <a:r>
              <a:rPr spc="-60" dirty="0"/>
              <a:t> </a:t>
            </a:r>
            <a:r>
              <a:rPr dirty="0"/>
              <a:t>the</a:t>
            </a:r>
            <a:r>
              <a:rPr spc="-45" dirty="0"/>
              <a:t> </a:t>
            </a:r>
            <a:r>
              <a:rPr dirty="0"/>
              <a:t>srsRAN</a:t>
            </a:r>
            <a:r>
              <a:rPr spc="-35" dirty="0"/>
              <a:t> </a:t>
            </a:r>
            <a:r>
              <a:rPr dirty="0"/>
              <a:t>program</a:t>
            </a:r>
            <a:r>
              <a:rPr spc="-35" dirty="0"/>
              <a:t> </a:t>
            </a:r>
            <a:r>
              <a:rPr dirty="0"/>
              <a:t>open</a:t>
            </a:r>
            <a:r>
              <a:rPr spc="-30" dirty="0"/>
              <a:t> </a:t>
            </a:r>
            <a:r>
              <a:rPr dirty="0"/>
              <a:t>up</a:t>
            </a:r>
            <a:r>
              <a:rPr spc="-40" dirty="0"/>
              <a:t> </a:t>
            </a:r>
            <a:r>
              <a:rPr dirty="0"/>
              <a:t>two</a:t>
            </a:r>
            <a:r>
              <a:rPr spc="-40" dirty="0"/>
              <a:t> </a:t>
            </a:r>
            <a:r>
              <a:rPr spc="-10" dirty="0"/>
              <a:t>terminals.</a:t>
            </a:r>
          </a:p>
          <a:p>
            <a:pPr marL="242570" marR="1353820" indent="-229235">
              <a:lnSpc>
                <a:spcPts val="3030"/>
              </a:lnSpc>
              <a:spcBef>
                <a:spcPts val="1035"/>
              </a:spcBef>
            </a:pPr>
            <a:r>
              <a:rPr dirty="0"/>
              <a:t>In</a:t>
            </a:r>
            <a:r>
              <a:rPr spc="-40" dirty="0"/>
              <a:t> </a:t>
            </a:r>
            <a:r>
              <a:rPr dirty="0"/>
              <a:t>the</a:t>
            </a:r>
            <a:r>
              <a:rPr spc="-30" dirty="0"/>
              <a:t> </a:t>
            </a:r>
            <a:r>
              <a:rPr dirty="0"/>
              <a:t>first</a:t>
            </a:r>
            <a:r>
              <a:rPr spc="-45" dirty="0"/>
              <a:t> </a:t>
            </a:r>
            <a:r>
              <a:rPr dirty="0"/>
              <a:t>terminal</a:t>
            </a:r>
            <a:r>
              <a:rPr spc="-25" dirty="0"/>
              <a:t> </a:t>
            </a:r>
            <a:r>
              <a:rPr dirty="0"/>
              <a:t>you</a:t>
            </a:r>
            <a:r>
              <a:rPr spc="-30" dirty="0"/>
              <a:t> </a:t>
            </a:r>
            <a:r>
              <a:rPr dirty="0"/>
              <a:t>want</a:t>
            </a:r>
            <a:r>
              <a:rPr spc="-30" dirty="0"/>
              <a:t> </a:t>
            </a:r>
            <a:r>
              <a:rPr dirty="0"/>
              <a:t>to</a:t>
            </a:r>
            <a:r>
              <a:rPr spc="-30" dirty="0"/>
              <a:t> </a:t>
            </a:r>
            <a:r>
              <a:rPr dirty="0"/>
              <a:t>start</a:t>
            </a:r>
            <a:r>
              <a:rPr spc="-40" dirty="0"/>
              <a:t> </a:t>
            </a:r>
            <a:r>
              <a:rPr dirty="0"/>
              <a:t>the</a:t>
            </a:r>
            <a:r>
              <a:rPr spc="-40" dirty="0"/>
              <a:t> </a:t>
            </a:r>
            <a:r>
              <a:rPr dirty="0"/>
              <a:t>EPC</a:t>
            </a:r>
            <a:r>
              <a:rPr spc="-25" dirty="0"/>
              <a:t> </a:t>
            </a:r>
            <a:r>
              <a:rPr dirty="0"/>
              <a:t>first,</a:t>
            </a:r>
            <a:r>
              <a:rPr spc="-50" dirty="0"/>
              <a:t> </a:t>
            </a:r>
            <a:r>
              <a:rPr dirty="0"/>
              <a:t>issue</a:t>
            </a:r>
            <a:r>
              <a:rPr spc="-30" dirty="0"/>
              <a:t> </a:t>
            </a:r>
            <a:r>
              <a:rPr spc="-25" dirty="0"/>
              <a:t>the </a:t>
            </a:r>
            <a:r>
              <a:rPr dirty="0"/>
              <a:t>following</a:t>
            </a:r>
            <a:r>
              <a:rPr spc="-80" dirty="0"/>
              <a:t> </a:t>
            </a:r>
            <a:r>
              <a:rPr spc="-10" dirty="0"/>
              <a:t>command</a:t>
            </a:r>
          </a:p>
          <a:p>
            <a:pPr marL="241300" indent="-227329">
              <a:lnSpc>
                <a:spcPct val="100000"/>
              </a:lnSpc>
              <a:spcBef>
                <a:spcPts val="625"/>
              </a:spcBef>
              <a:buClr>
                <a:srgbClr val="1A3762"/>
              </a:buClr>
              <a:buChar char="•"/>
              <a:tabLst>
                <a:tab pos="241935" algn="l"/>
              </a:tabLst>
            </a:pPr>
            <a:r>
              <a:rPr dirty="0"/>
              <a:t>sudo</a:t>
            </a:r>
            <a:r>
              <a:rPr spc="-45" dirty="0"/>
              <a:t> </a:t>
            </a:r>
            <a:r>
              <a:rPr spc="-10" dirty="0"/>
              <a:t>srsepc</a:t>
            </a:r>
          </a:p>
          <a:p>
            <a:pPr marL="13970" marR="5080">
              <a:lnSpc>
                <a:spcPts val="3030"/>
              </a:lnSpc>
              <a:spcBef>
                <a:spcPts val="1035"/>
              </a:spcBef>
            </a:pPr>
            <a:r>
              <a:rPr dirty="0"/>
              <a:t>In</a:t>
            </a:r>
            <a:r>
              <a:rPr spc="-45" dirty="0"/>
              <a:t> </a:t>
            </a:r>
            <a:r>
              <a:rPr dirty="0"/>
              <a:t>the</a:t>
            </a:r>
            <a:r>
              <a:rPr spc="-40" dirty="0"/>
              <a:t> </a:t>
            </a:r>
            <a:r>
              <a:rPr dirty="0"/>
              <a:t>second</a:t>
            </a:r>
            <a:r>
              <a:rPr spc="-35" dirty="0"/>
              <a:t> </a:t>
            </a:r>
            <a:r>
              <a:rPr dirty="0"/>
              <a:t>terminal</a:t>
            </a:r>
            <a:r>
              <a:rPr spc="-25" dirty="0"/>
              <a:t> </a:t>
            </a:r>
            <a:r>
              <a:rPr dirty="0"/>
              <a:t>you</a:t>
            </a:r>
            <a:r>
              <a:rPr spc="-45" dirty="0"/>
              <a:t> </a:t>
            </a:r>
            <a:r>
              <a:rPr dirty="0"/>
              <a:t>want</a:t>
            </a:r>
            <a:r>
              <a:rPr spc="-25" dirty="0"/>
              <a:t> </a:t>
            </a:r>
            <a:r>
              <a:rPr dirty="0"/>
              <a:t>to</a:t>
            </a:r>
            <a:r>
              <a:rPr spc="-45" dirty="0"/>
              <a:t> </a:t>
            </a:r>
            <a:r>
              <a:rPr dirty="0"/>
              <a:t>start</a:t>
            </a:r>
            <a:r>
              <a:rPr spc="-50" dirty="0"/>
              <a:t> </a:t>
            </a:r>
            <a:r>
              <a:rPr dirty="0"/>
              <a:t>the</a:t>
            </a:r>
            <a:r>
              <a:rPr spc="-45" dirty="0"/>
              <a:t> </a:t>
            </a:r>
            <a:r>
              <a:rPr dirty="0"/>
              <a:t>ENb,</a:t>
            </a:r>
            <a:r>
              <a:rPr spc="-25" dirty="0"/>
              <a:t> </a:t>
            </a:r>
            <a:r>
              <a:rPr dirty="0"/>
              <a:t>issue</a:t>
            </a:r>
            <a:r>
              <a:rPr spc="-45" dirty="0"/>
              <a:t> </a:t>
            </a:r>
            <a:r>
              <a:rPr dirty="0"/>
              <a:t>the</a:t>
            </a:r>
            <a:r>
              <a:rPr spc="-35" dirty="0"/>
              <a:t> </a:t>
            </a:r>
            <a:r>
              <a:rPr spc="-10" dirty="0"/>
              <a:t>following command</a:t>
            </a:r>
          </a:p>
          <a:p>
            <a:pPr marL="241300" indent="-227329">
              <a:lnSpc>
                <a:spcPct val="100000"/>
              </a:lnSpc>
              <a:spcBef>
                <a:spcPts val="610"/>
              </a:spcBef>
              <a:buClr>
                <a:srgbClr val="1A3762"/>
              </a:buClr>
              <a:buChar char="•"/>
              <a:tabLst>
                <a:tab pos="241935" algn="l"/>
              </a:tabLst>
            </a:pPr>
            <a:r>
              <a:rPr dirty="0"/>
              <a:t>sudo</a:t>
            </a:r>
            <a:r>
              <a:rPr spc="-45" dirty="0"/>
              <a:t> </a:t>
            </a:r>
            <a:r>
              <a:rPr dirty="0"/>
              <a:t>srsenb</a:t>
            </a:r>
            <a:r>
              <a:rPr spc="-40" dirty="0"/>
              <a:t> </a:t>
            </a:r>
            <a:r>
              <a:rPr spc="-10" dirty="0"/>
              <a:t>--gui.enable=1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86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Starting</a:t>
            </a:r>
            <a:r>
              <a:rPr spc="195" dirty="0"/>
              <a:t> </a:t>
            </a:r>
            <a:r>
              <a:rPr spc="-10" dirty="0"/>
              <a:t>srsRAN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49467" y="4770615"/>
            <a:ext cx="10667365" cy="836294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241300" marR="5080" lvl="0" indent="-229235" defTabSz="914400" eaLnBrk="1" fontAlgn="auto" latinLnBrk="0" hangingPunct="1">
              <a:lnSpc>
                <a:spcPts val="3030"/>
              </a:lnSpc>
              <a:spcBef>
                <a:spcPts val="4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should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GUI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screen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pop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up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displaying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current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channel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activity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28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seen</a:t>
            </a:r>
            <a:r>
              <a:rPr kumimoji="0" sz="28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above.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76172" y="1501140"/>
            <a:ext cx="8346947" cy="329336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87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Starting</a:t>
            </a:r>
            <a:r>
              <a:rPr spc="195" dirty="0"/>
              <a:t> </a:t>
            </a:r>
            <a:r>
              <a:rPr spc="-10" dirty="0"/>
              <a:t>srsRAN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49467" y="4741659"/>
            <a:ext cx="10540365" cy="1269365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241300" marR="5080" lvl="0" indent="-228600" defTabSz="914400" eaLnBrk="1" fontAlgn="auto" latinLnBrk="0" hangingPunct="1">
              <a:lnSpc>
                <a:spcPts val="2300"/>
              </a:lnSpc>
              <a:spcBef>
                <a:spcPts val="6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Once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TCU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connects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tower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should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get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user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connected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message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lower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left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picture.</a:t>
            </a:r>
            <a:r>
              <a:rPr kumimoji="0" sz="2400" b="0" i="0" u="none" strike="noStrike" kern="0" cap="none" spc="-1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Along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user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connected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message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visual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indicator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be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seen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GUI.</a:t>
            </a:r>
            <a:r>
              <a:rPr kumimoji="0" sz="2400" b="0" i="0" u="none" strike="noStrike" kern="0" cap="none" spc="-1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4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windows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will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different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aspects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LTE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connection.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5880" y="1586483"/>
            <a:ext cx="8388095" cy="307390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Cellular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and</a:t>
            </a:r>
            <a:r>
              <a:rPr kumimoji="0" sz="1400" b="0" i="0" u="none" strike="noStrike" kern="0" cap="none" spc="-5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Telematics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</a:rPr>
              <a:t>Course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7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ASSURED</a:t>
            </a:r>
            <a:r>
              <a:rPr kumimoji="0" sz="1050" b="0" i="0" u="none" strike="noStrike" kern="0" cap="none" spc="2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8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INFORMATION</a:t>
            </a:r>
            <a:r>
              <a:rPr kumimoji="0" sz="1050" b="0" i="0" u="none" strike="noStrike" kern="0" cap="none" spc="24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 </a:t>
            </a:r>
            <a:r>
              <a:rPr kumimoji="0" sz="1050" b="0" i="0" u="none" strike="noStrike" kern="0" cap="none" spc="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ranklin Gothic Medium Cond"/>
              </a:rPr>
              <a:t>SECURITY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</a:rPr>
              <a:t>88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411163"/>
            <a:ext cx="997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Starting</a:t>
            </a:r>
            <a:r>
              <a:rPr spc="195" dirty="0"/>
              <a:t> </a:t>
            </a:r>
            <a:r>
              <a:rPr spc="-10" dirty="0"/>
              <a:t>srsRAN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49467" y="4741659"/>
            <a:ext cx="10540365" cy="1269365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241300" marR="5080" lvl="0" indent="-228600" defTabSz="914400" eaLnBrk="1" fontAlgn="auto" latinLnBrk="0" hangingPunct="1">
              <a:lnSpc>
                <a:spcPts val="2300"/>
              </a:lnSpc>
              <a:spcBef>
                <a:spcPts val="6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Once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TCU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connects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tower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you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should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get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user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connected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message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lower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left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picture.</a:t>
            </a:r>
            <a:r>
              <a:rPr kumimoji="0" sz="2400" b="0" i="0" u="none" strike="noStrike" kern="0" cap="none" spc="-1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Along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user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connected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message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visual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indicator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be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seen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GUI.</a:t>
            </a:r>
            <a:r>
              <a:rPr kumimoji="0" sz="2400" b="0" i="0" u="none" strike="noStrike" kern="0" cap="none" spc="-1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4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windows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will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show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different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aspects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LTE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/>
                <a:cs typeface="Arial"/>
              </a:rPr>
              <a:t>connection.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5880" y="1586483"/>
            <a:ext cx="8388095" cy="3073907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139980" y="6491082"/>
            <a:ext cx="854710" cy="227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66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Joseph</a:t>
            </a:r>
            <a:r>
              <a:rPr kumimoji="0" sz="1400" b="0" i="0" u="none" strike="noStrike" kern="0" cap="none" spc="-2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133562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Reith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0783" y="6508431"/>
            <a:ext cx="942975" cy="17780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February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21,</a:t>
            </a:r>
            <a:r>
              <a:rPr kumimoji="0" sz="105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 </a:t>
            </a:r>
            <a:r>
              <a:rPr kumimoji="0" sz="105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Franklin Gothic Medium Cond"/>
                <a:cs typeface="Franklin Gothic Medium Cond"/>
              </a:rPr>
              <a:t>2024</a:t>
            </a:r>
            <a:endParaRPr kumimoji="0" sz="105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 Cond"/>
              <a:cs typeface="Franklin Gothic Medium Cond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2027238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Cellular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756231"/>
            <a:ext cx="8699500" cy="5668382"/>
          </a:xfrm>
        </p:spPr>
        <p:txBody>
          <a:bodyPr>
            <a:normAutofit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Long history</a:t>
            </a:r>
          </a:p>
          <a:p>
            <a:pPr lvl="1"/>
            <a:r>
              <a:rPr lang="en-US" sz="1400" dirty="0"/>
              <a:t>2G is a technology by itself, no longer available in the US</a:t>
            </a:r>
          </a:p>
          <a:p>
            <a:pPr lvl="1"/>
            <a:r>
              <a:rPr lang="en-US" sz="1400" dirty="0"/>
              <a:t>Evolution: 3G -&gt; 4G -&gt; 4G LTE -&gt; 5G</a:t>
            </a:r>
          </a:p>
          <a:p>
            <a:pPr lvl="1"/>
            <a:r>
              <a:rPr lang="en-US" sz="1400" dirty="0"/>
              <a:t>3G is turned off in the US by end of 2022</a:t>
            </a:r>
          </a:p>
          <a:p>
            <a:pPr lvl="1"/>
            <a:r>
              <a:rPr lang="en-US" sz="1400" dirty="0"/>
              <a:t>5G is the latest standard</a:t>
            </a:r>
          </a:p>
          <a:p>
            <a:pPr lvl="1"/>
            <a:r>
              <a:rPr lang="en-US" sz="1400" dirty="0"/>
              <a:t>C-V2X a the replacement for  Dedicated Short Range Communications (DSRC)</a:t>
            </a:r>
          </a:p>
          <a:p>
            <a:pPr lvl="2"/>
            <a:r>
              <a:rPr lang="en-US" sz="1200" dirty="0"/>
              <a:t>Use 5.9GHz for direct communications</a:t>
            </a:r>
          </a:p>
          <a:p>
            <a:pPr lvl="2"/>
            <a:r>
              <a:rPr lang="en-US" sz="1200" dirty="0"/>
              <a:t>Still needs 5G microcell on poles for V2I/I2V.</a:t>
            </a:r>
          </a:p>
          <a:p>
            <a:pPr lvl="2"/>
            <a:r>
              <a:rPr lang="en-US" sz="1200" dirty="0"/>
              <a:t>FCC just opened 5.9Ghz for C-V2X</a:t>
            </a:r>
          </a:p>
          <a:p>
            <a:pPr lvl="1"/>
            <a:r>
              <a:rPr lang="en-US" sz="1400" dirty="0"/>
              <a:t>Security</a:t>
            </a:r>
          </a:p>
          <a:p>
            <a:pPr lvl="2"/>
            <a:r>
              <a:rPr lang="en-US" sz="1200" dirty="0"/>
              <a:t>Each new version adds more security</a:t>
            </a:r>
          </a:p>
          <a:p>
            <a:pPr lvl="2"/>
            <a:r>
              <a:rPr lang="en-US" sz="1200" dirty="0"/>
              <a:t>The signaling layer SS7 has vulnerabilities</a:t>
            </a:r>
          </a:p>
          <a:p>
            <a:pPr lvl="2"/>
            <a:r>
              <a:rPr lang="en-US" sz="1200" dirty="0"/>
              <a:t>Application security is often poor</a:t>
            </a:r>
          </a:p>
          <a:p>
            <a:pPr lvl="2"/>
            <a:r>
              <a:rPr lang="en-US" sz="1200" dirty="0"/>
              <a:t>App store may contain malware</a:t>
            </a:r>
          </a:p>
          <a:p>
            <a:r>
              <a:rPr lang="en-US" sz="1800" dirty="0"/>
              <a:t>Links</a:t>
            </a:r>
          </a:p>
          <a:p>
            <a:pPr lvl="1"/>
            <a:r>
              <a:rPr lang="en-US" sz="1400" dirty="0"/>
              <a:t>CTIA: </a:t>
            </a:r>
            <a:r>
              <a:rPr lang="en-US" sz="1400" dirty="0">
                <a:hlinkClick r:id="rId3"/>
              </a:rPr>
              <a:t>https://www.ctia.org/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https://en.wikipedia.org/wiki/CTIA_(organization)</a:t>
            </a:r>
            <a:endParaRPr lang="en-US" sz="1400" dirty="0"/>
          </a:p>
          <a:p>
            <a:pPr lvl="1"/>
            <a:r>
              <a:rPr lang="en-US" sz="1400" dirty="0">
                <a:hlinkClick r:id="rId5"/>
              </a:rPr>
              <a:t>https://en.wikipedia.org/wiki/Cellular_network</a:t>
            </a:r>
          </a:p>
          <a:p>
            <a:pPr lvl="1"/>
            <a:r>
              <a:rPr lang="en-US" sz="1400" dirty="0">
                <a:hlinkClick r:id="rId5"/>
              </a:rPr>
              <a:t>https://en.wikipedia.org/wiki/Mobile_technology</a:t>
            </a:r>
          </a:p>
          <a:p>
            <a:pPr lvl="1"/>
            <a:endParaRPr lang="en-US" sz="1400" dirty="0">
              <a:hlinkClick r:id="rId5"/>
            </a:endParaRPr>
          </a:p>
          <a:p>
            <a:pPr marL="457200" lvl="1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17729558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Cellular Security    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00706"/>
            <a:ext cx="8699500" cy="5523908"/>
          </a:xfrm>
        </p:spPr>
        <p:txBody>
          <a:bodyPr>
            <a:normAutofit/>
          </a:bodyPr>
          <a:lstStyle/>
          <a:p>
            <a:r>
              <a:rPr lang="en-US" altLang="ja-JP" sz="1600" dirty="0"/>
              <a:t>Basics</a:t>
            </a:r>
          </a:p>
          <a:p>
            <a:pPr lvl="1"/>
            <a:r>
              <a:rPr lang="en-US" altLang="ja-JP" sz="1400" dirty="0"/>
              <a:t>Easily eavesdropped with no security</a:t>
            </a:r>
          </a:p>
          <a:p>
            <a:pPr lvl="1"/>
            <a:r>
              <a:rPr lang="en-US" altLang="ja-JP" sz="1400" dirty="0"/>
              <a:t>Some phones are easily rooted</a:t>
            </a:r>
          </a:p>
          <a:p>
            <a:r>
              <a:rPr lang="en-US" altLang="ja-JP" sz="1600" dirty="0"/>
              <a:t>Phones</a:t>
            </a:r>
          </a:p>
          <a:p>
            <a:pPr lvl="1"/>
            <a:r>
              <a:rPr lang="en-US" altLang="ja-JP" sz="1400" dirty="0"/>
              <a:t>Keep phones up to date with latest software</a:t>
            </a:r>
          </a:p>
          <a:p>
            <a:pPr lvl="1"/>
            <a:r>
              <a:rPr lang="en-US" altLang="ja-JP" sz="1400" dirty="0"/>
              <a:t>Secure phone with password, PIN, patterns or biometrics</a:t>
            </a:r>
          </a:p>
          <a:p>
            <a:pPr lvl="2"/>
            <a:r>
              <a:rPr lang="en-US" altLang="ja-JP" sz="1200" dirty="0"/>
              <a:t>Use Two Factor Authentication (2FA) where available</a:t>
            </a:r>
          </a:p>
          <a:p>
            <a:pPr lvl="1"/>
            <a:r>
              <a:rPr lang="en-US" altLang="ja-JP" sz="1400" dirty="0"/>
              <a:t>Important to encrypt device</a:t>
            </a:r>
          </a:p>
          <a:p>
            <a:pPr lvl="1"/>
            <a:r>
              <a:rPr lang="en-US" altLang="ja-JP" sz="1400" dirty="0"/>
              <a:t>Install security application</a:t>
            </a:r>
          </a:p>
          <a:p>
            <a:r>
              <a:rPr lang="en-US" altLang="ja-JP" sz="1600" dirty="0"/>
              <a:t>Man-in-the-Middle attacks</a:t>
            </a:r>
          </a:p>
          <a:p>
            <a:pPr lvl="1"/>
            <a:r>
              <a:rPr lang="en-US" altLang="ja-JP" sz="1400" dirty="0"/>
              <a:t>Don’t use 2G or 3G (no longer available in US)</a:t>
            </a:r>
          </a:p>
          <a:p>
            <a:pPr lvl="1"/>
            <a:r>
              <a:rPr lang="en-US" altLang="ja-JP" sz="1400" dirty="0"/>
              <a:t>Rogue towers can downgrade connection to 2G</a:t>
            </a:r>
          </a:p>
          <a:p>
            <a:pPr lvl="2"/>
            <a:r>
              <a:rPr lang="en-US" altLang="ja-JP" sz="1200" dirty="0"/>
              <a:t>Phones may still support 2G</a:t>
            </a:r>
            <a:endParaRPr lang="en-US" altLang="ja-JP" sz="1600" dirty="0"/>
          </a:p>
          <a:p>
            <a:r>
              <a:rPr lang="en-US" altLang="ja-JP" sz="1600" dirty="0"/>
              <a:t>Application</a:t>
            </a:r>
          </a:p>
          <a:p>
            <a:pPr lvl="1"/>
            <a:r>
              <a:rPr lang="en-US" altLang="ja-JP" sz="1400" dirty="0"/>
              <a:t>Mobile application vulnerabilities are a major threat</a:t>
            </a:r>
          </a:p>
          <a:p>
            <a:pPr lvl="1"/>
            <a:r>
              <a:rPr lang="en-US" altLang="ja-JP" sz="1400" dirty="0"/>
              <a:t>Apps don’t always encrypt local data to protect it</a:t>
            </a:r>
          </a:p>
          <a:p>
            <a:pPr lvl="1"/>
            <a:r>
              <a:rPr lang="en-US" altLang="ja-JP" sz="1400" dirty="0"/>
              <a:t>Apps don’t always use TLS or HTTPS to secure communications</a:t>
            </a:r>
          </a:p>
          <a:p>
            <a:pPr lvl="1"/>
            <a:r>
              <a:rPr lang="en-US" altLang="ja-JP" sz="1400" dirty="0"/>
              <a:t>OWASP Mobile Security Testing Guide</a:t>
            </a:r>
          </a:p>
          <a:p>
            <a:pPr lvl="2"/>
            <a:r>
              <a:rPr lang="en-US" altLang="ja-JP" sz="1200" dirty="0"/>
              <a:t>https://www.owasp.org/index.php/OWASP_Mobile_Security_Testing_Guide</a:t>
            </a:r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919014303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Cellular Vulnerabilities    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00706"/>
            <a:ext cx="8699500" cy="5523908"/>
          </a:xfrm>
        </p:spPr>
        <p:txBody>
          <a:bodyPr>
            <a:normAutofit/>
          </a:bodyPr>
          <a:lstStyle/>
          <a:p>
            <a:r>
              <a:rPr lang="en-US" altLang="ja-JP" sz="1600" dirty="0"/>
              <a:t>Known Exploits/Vulnerabilities</a:t>
            </a:r>
          </a:p>
          <a:p>
            <a:pPr lvl="1"/>
            <a:r>
              <a:rPr lang="en-US" altLang="ja-JP" sz="1400" dirty="0"/>
              <a:t>Cloning / Remote Control</a:t>
            </a:r>
          </a:p>
          <a:p>
            <a:pPr lvl="2"/>
            <a:r>
              <a:rPr lang="en-US" altLang="ja-JP" sz="1200" dirty="0">
                <a:hlinkClick r:id="rId3"/>
              </a:rPr>
              <a:t>https://www.movzio.com/howto/cell-phone-cloning-guide/</a:t>
            </a:r>
            <a:endParaRPr lang="en-US" altLang="ja-JP" sz="1200" dirty="0"/>
          </a:p>
          <a:p>
            <a:pPr lvl="2"/>
            <a:r>
              <a:rPr lang="en-US" altLang="ja-JP" sz="1200" dirty="0">
                <a:hlinkClick r:id="rId4"/>
              </a:rPr>
              <a:t>https://www.wired.com/2014/07/hackers-can-control-your-phone-using-a-tool-thats-already-built-into-it/</a:t>
            </a:r>
            <a:endParaRPr lang="en-US" altLang="ja-JP" sz="1200" dirty="0"/>
          </a:p>
          <a:p>
            <a:pPr lvl="1"/>
            <a:r>
              <a:rPr lang="en-US" altLang="ja-JP" sz="1400" dirty="0"/>
              <a:t>LTE Attacks</a:t>
            </a:r>
          </a:p>
          <a:p>
            <a:pPr lvl="2"/>
            <a:r>
              <a:rPr lang="en-US" sz="1200" dirty="0">
                <a:hlinkClick r:id="rId5"/>
              </a:rPr>
              <a:t>http://www.zdnet.com/article/new-lte-attacks-eavesdrop-on-messages-track-locations-spoof-alerts/</a:t>
            </a:r>
            <a:endParaRPr lang="en-US" sz="1200" dirty="0"/>
          </a:p>
          <a:p>
            <a:pPr lvl="2"/>
            <a:r>
              <a:rPr lang="en-US" sz="1200" dirty="0">
                <a:hlinkClick r:id="rId6"/>
              </a:rPr>
              <a:t>https://tech.slashdot.org/story/18/03/04/193225/new-lte-attacks-can-snoop-on-messages-track-locations-and-spoof-emergency-alerts</a:t>
            </a:r>
            <a:endParaRPr lang="en-US" sz="1200" dirty="0"/>
          </a:p>
          <a:p>
            <a:pPr lvl="2"/>
            <a:r>
              <a:rPr lang="en-US" sz="1200" dirty="0">
                <a:hlinkClick r:id="rId7"/>
              </a:rPr>
              <a:t>https://assets.documentcloud.org/documents/4392401/4G-LTE-attacks-paper.pdf</a:t>
            </a:r>
            <a:endParaRPr lang="en-US" sz="1200" dirty="0"/>
          </a:p>
          <a:p>
            <a:pPr lvl="1"/>
            <a:r>
              <a:rPr lang="en-US" altLang="ja-JP" sz="1400" dirty="0"/>
              <a:t>Rogue Cell Towers (MITM attacks)</a:t>
            </a:r>
          </a:p>
          <a:p>
            <a:pPr lvl="2"/>
            <a:r>
              <a:rPr lang="en-US" altLang="ja-JP" sz="1200" dirty="0">
                <a:hlinkClick r:id="rId8"/>
              </a:rPr>
              <a:t>https://www.tripwire.com/state-of-security/security-data-protection/rogue-cell-towers/</a:t>
            </a:r>
            <a:endParaRPr lang="en-US" altLang="ja-JP" sz="1200" dirty="0"/>
          </a:p>
          <a:p>
            <a:pPr lvl="2"/>
            <a:r>
              <a:rPr lang="en-US" altLang="ja-JP" sz="1200" dirty="0">
                <a:hlinkClick r:id="rId9"/>
              </a:rPr>
              <a:t>https://www.wired.com/2014/09/cryptophone-firewall-identifies-rogue-cell-towers/</a:t>
            </a:r>
            <a:endParaRPr lang="en-US" altLang="ja-JP" sz="1200" dirty="0"/>
          </a:p>
          <a:p>
            <a:pPr lvl="2"/>
            <a:r>
              <a:rPr lang="en-US" altLang="ja-JP" sz="1200" dirty="0">
                <a:hlinkClick r:id="rId10"/>
              </a:rPr>
              <a:t>https://thehackernews.com/2014/09/fake-cell-phone-towers-could-be_4.html</a:t>
            </a:r>
            <a:endParaRPr lang="en-US" altLang="ja-JP" sz="1200" dirty="0"/>
          </a:p>
          <a:p>
            <a:pPr lvl="2"/>
            <a:r>
              <a:rPr lang="en-US" altLang="ja-JP" sz="1200" dirty="0">
                <a:hlinkClick r:id="rId11"/>
              </a:rPr>
              <a:t>https://en.wikipedia.org/wiki/Man-in-the-middle_attack</a:t>
            </a:r>
            <a:endParaRPr lang="en-US" altLang="ja-JP" sz="1200" dirty="0"/>
          </a:p>
          <a:p>
            <a:pPr lvl="2"/>
            <a:r>
              <a:rPr lang="en-US" altLang="ja-JP" sz="1200" dirty="0">
                <a:hlinkClick r:id="rId12"/>
              </a:rPr>
              <a:t>https://www.digitaltrends.com/mobile/femtocell-verizon-hack/</a:t>
            </a:r>
            <a:endParaRPr lang="en-US" altLang="ja-JP" sz="1200" dirty="0"/>
          </a:p>
          <a:p>
            <a:pPr lvl="2"/>
            <a:r>
              <a:rPr lang="en-US" altLang="ja-JP" sz="1200" dirty="0">
                <a:hlinkClick r:id="rId13"/>
              </a:rPr>
              <a:t>https://hackaday.com/2016/08/09/how-to-detect-and-find-rogue-cell-towers/</a:t>
            </a:r>
            <a:endParaRPr lang="en-US" altLang="ja-JP" sz="1200" dirty="0"/>
          </a:p>
          <a:p>
            <a:pPr lvl="2"/>
            <a:r>
              <a:rPr lang="en-US" altLang="ja-JP" sz="1200" dirty="0">
                <a:hlinkClick r:id="rId14"/>
              </a:rPr>
              <a:t>https://www.evilsocket.net/2016/03/31/how-to-build-your-own-rogue-gsm-bts-for-fun-and-profit/</a:t>
            </a:r>
            <a:endParaRPr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2534644198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Cellular Vulnerabilities   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00706"/>
            <a:ext cx="8699500" cy="5523908"/>
          </a:xfrm>
        </p:spPr>
        <p:txBody>
          <a:bodyPr>
            <a:normAutofit/>
          </a:bodyPr>
          <a:lstStyle/>
          <a:p>
            <a:r>
              <a:rPr lang="en-US" altLang="ja-JP" sz="1600" dirty="0"/>
              <a:t>Known Exploits/Vulnerabilities</a:t>
            </a:r>
          </a:p>
          <a:p>
            <a:pPr lvl="1"/>
            <a:r>
              <a:rPr lang="en-US" altLang="ja-JP" sz="1400" dirty="0"/>
              <a:t>SIM Cards</a:t>
            </a:r>
          </a:p>
          <a:p>
            <a:pPr lvl="2"/>
            <a:r>
              <a:rPr lang="en-US" altLang="ja-JP" sz="1200" dirty="0">
                <a:hlinkClick r:id="rId3"/>
              </a:rPr>
              <a:t>https://threatpost.com/sim-card-vulnerability-could-affect-hundreds-of-millions-of-cell-phones/101430/</a:t>
            </a:r>
            <a:endParaRPr lang="en-US" altLang="ja-JP" sz="1200" dirty="0"/>
          </a:p>
          <a:p>
            <a:pPr lvl="2"/>
            <a:r>
              <a:rPr lang="en-US" altLang="ja-JP" sz="1200" dirty="0">
                <a:hlinkClick r:id="rId4"/>
              </a:rPr>
              <a:t>https://srlabs.de/bites/rooting-sim-cards/</a:t>
            </a:r>
            <a:endParaRPr lang="en-US" altLang="ja-JP" sz="1200" dirty="0"/>
          </a:p>
          <a:p>
            <a:pPr lvl="1"/>
            <a:r>
              <a:rPr lang="en-US" altLang="ja-JP" sz="1400" dirty="0"/>
              <a:t>SS7</a:t>
            </a:r>
          </a:p>
          <a:p>
            <a:pPr lvl="2"/>
            <a:r>
              <a:rPr lang="en-US" altLang="ja-JP" sz="1200" dirty="0">
                <a:hlinkClick r:id="rId5"/>
              </a:rPr>
              <a:t>https://www.cyberscoop.com/finally-happened-criminals-exploit-ss7-vulnerabilities-prompting-concerns-2fa/</a:t>
            </a:r>
          </a:p>
          <a:p>
            <a:pPr lvl="2"/>
            <a:r>
              <a:rPr lang="en-US" altLang="ja-JP" sz="1200" dirty="0">
                <a:hlinkClick r:id="rId5"/>
              </a:rPr>
              <a:t>https://www.sans.org/reading-room/whitepapers/critical/fall-ss7--critical-security-controls-help-36225</a:t>
            </a:r>
            <a:endParaRPr lang="en-US" altLang="ja-JP" sz="1200" dirty="0"/>
          </a:p>
          <a:p>
            <a:pPr lvl="2"/>
            <a:r>
              <a:rPr lang="en-US" altLang="ja-JP" sz="1200" dirty="0">
                <a:hlinkClick r:id="rId6"/>
              </a:rPr>
              <a:t>https://www.cellusys.com/2015/10/20/8-ss7-vulnerabilities-you-need-to-know-about/</a:t>
            </a:r>
            <a:endParaRPr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2820718570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Cellular Guidelines 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00706"/>
            <a:ext cx="8699500" cy="5523908"/>
          </a:xfrm>
        </p:spPr>
        <p:txBody>
          <a:bodyPr>
            <a:normAutofit/>
          </a:bodyPr>
          <a:lstStyle/>
          <a:p>
            <a:r>
              <a:rPr lang="en-US" sz="1600" dirty="0"/>
              <a:t>CERT Guide</a:t>
            </a:r>
          </a:p>
          <a:p>
            <a:pPr lvl="1"/>
            <a:r>
              <a:rPr lang="en-US" sz="1400" dirty="0"/>
              <a:t>Mobile Device Security</a:t>
            </a:r>
          </a:p>
          <a:p>
            <a:pPr lvl="2"/>
            <a:r>
              <a:rPr lang="en-US" sz="1200" dirty="0">
                <a:hlinkClick r:id="rId3"/>
              </a:rPr>
              <a:t>https://resources.sei.cmu.edu/library/asset-view.cfm?assetid=34990</a:t>
            </a:r>
            <a:endParaRPr lang="en-US" sz="1000" dirty="0"/>
          </a:p>
          <a:p>
            <a:r>
              <a:rPr lang="en-US" sz="1600" dirty="0"/>
              <a:t>NIST Guidelines</a:t>
            </a:r>
          </a:p>
          <a:p>
            <a:pPr lvl="1"/>
            <a:r>
              <a:rPr lang="en-US" sz="1400" dirty="0"/>
              <a:t>Mobile</a:t>
            </a:r>
          </a:p>
          <a:p>
            <a:pPr lvl="2"/>
            <a:r>
              <a:rPr lang="en-US" sz="1200" dirty="0">
                <a:hlinkClick r:id="rId4"/>
              </a:rPr>
              <a:t>https://www.nist.gov/news-events/news/2012/07/nist-updates-guidelines-mobile-device-security</a:t>
            </a:r>
            <a:endParaRPr lang="en-US" sz="1200" dirty="0"/>
          </a:p>
          <a:p>
            <a:pPr lvl="1"/>
            <a:r>
              <a:rPr lang="en-US" sz="1400" dirty="0"/>
              <a:t>LTE</a:t>
            </a:r>
          </a:p>
          <a:p>
            <a:pPr lvl="2"/>
            <a:r>
              <a:rPr lang="en-US" sz="1200" dirty="0">
                <a:hlinkClick r:id="rId5"/>
              </a:rPr>
              <a:t>https://csrc.nist.gov/publications/detail/sp/800-187/final</a:t>
            </a:r>
          </a:p>
          <a:p>
            <a:pPr lvl="1"/>
            <a:r>
              <a:rPr lang="en-US" sz="1400" dirty="0">
                <a:hlinkClick r:id="rId5"/>
              </a:rPr>
              <a:t>https://nvlpubs.nist.gov/nistpubs/specialpublications/nist.sp.800-163.pdf</a:t>
            </a:r>
          </a:p>
          <a:p>
            <a:pPr lvl="1"/>
            <a:endParaRPr lang="en-US" sz="1400" dirty="0">
              <a:hlinkClick r:id="rId5"/>
            </a:endParaRPr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742671240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2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1303</TotalTime>
  <Words>1981</Words>
  <Application>Microsoft Office PowerPoint</Application>
  <PresentationFormat>Widescreen</PresentationFormat>
  <Paragraphs>276</Paragraphs>
  <Slides>29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Franklin Gothic Medium Cond</vt:lpstr>
      <vt:lpstr>Segoe UI</vt:lpstr>
      <vt:lpstr>Custom Design</vt:lpstr>
      <vt:lpstr> Cellular</vt:lpstr>
      <vt:lpstr>Surveying Your Environment</vt:lpstr>
      <vt:lpstr>Surveying Your Environment</vt:lpstr>
      <vt:lpstr>Surveying Your Environment</vt:lpstr>
      <vt:lpstr>Surveying Your Environment</vt:lpstr>
      <vt:lpstr>Surveying Your Environment</vt:lpstr>
      <vt:lpstr>Lab 2 – Configuring srsRAN Components</vt:lpstr>
      <vt:lpstr>Configuring srsRAN</vt:lpstr>
      <vt:lpstr>Configuring srsRAN</vt:lpstr>
      <vt:lpstr>Configuring srsEPC</vt:lpstr>
      <vt:lpstr>Configuring srsEPC</vt:lpstr>
      <vt:lpstr>Configuring srsENb</vt:lpstr>
      <vt:lpstr>Configuring srsENb</vt:lpstr>
      <vt:lpstr>Configuring HSS</vt:lpstr>
      <vt:lpstr>Configuring HSS</vt:lpstr>
      <vt:lpstr>Lab 3 – Programming a SIM Card</vt:lpstr>
      <vt:lpstr>Programming SIM Cards</vt:lpstr>
      <vt:lpstr>Programming SIM Cards</vt:lpstr>
      <vt:lpstr>Programming SIM Cards</vt:lpstr>
      <vt:lpstr>Lab 4 – Connecting the TCU to Your Tower</vt:lpstr>
      <vt:lpstr>Starting srsRAN</vt:lpstr>
      <vt:lpstr>Starting srsRAN</vt:lpstr>
      <vt:lpstr>Starting srsRAN</vt:lpstr>
      <vt:lpstr>Starting srsRAN</vt:lpstr>
      <vt:lpstr>Cellular Information</vt:lpstr>
      <vt:lpstr>Cellular Security    </vt:lpstr>
      <vt:lpstr>Cellular Vulnerabilities    </vt:lpstr>
      <vt:lpstr>Cellular Vulnerabilities   </vt:lpstr>
      <vt:lpstr>Cellular Guidelines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8</cp:revision>
  <dcterms:created xsi:type="dcterms:W3CDTF">2026-03-11T18:02:03Z</dcterms:created>
  <dcterms:modified xsi:type="dcterms:W3CDTF">2026-09-04T13:31:49Z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
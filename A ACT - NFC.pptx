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11"/>
  </p:notesMasterIdLst>
  <p:sldIdLst>
    <p:sldId id="301" r:id="rId6"/>
    <p:sldId id="302" r:id="rId7"/>
    <p:sldId id="307" r:id="rId8"/>
    <p:sldId id="308" r:id="rId9"/>
    <p:sldId id="309" r:id="rId10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676f7274c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676f7274c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56a0fba4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156a0fba4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56a0fba46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g156a0fba46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Refs: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/>
              <a:t>https://www.linux.org/threads/usb-serial-device-does-not-appear-as-dev-ttyusb.23105/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/>
              <a:t>https://www.kali.org/docs/general-use/updating-kali/</a:t>
            </a:r>
            <a:endParaRPr/>
          </a:p>
          <a:p>
            <a:pPr marL="17145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  <p:sp>
        <p:nvSpPr>
          <p:cNvPr id="485" name="Google Shape;485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676f7274c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676f7274c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76f7274c6_0_40"/>
          <p:cNvSpPr txBox="1">
            <a:spLocks noGrp="1"/>
          </p:cNvSpPr>
          <p:nvPr>
            <p:ph type="title" idx="4294967295"/>
          </p:nvPr>
        </p:nvSpPr>
        <p:spPr>
          <a:xfrm>
            <a:off x="1485900" y="1419225"/>
            <a:ext cx="8875713" cy="76358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ct val="72727"/>
            </a:pPr>
            <a:r>
              <a:rPr lang="en" sz="4400" dirty="0">
                <a:highlight>
                  <a:srgbClr val="B6D7A8"/>
                </a:highlight>
              </a:rPr>
              <a:t>Exercise - NFC Cabinet Lock </a:t>
            </a:r>
            <a:r>
              <a:rPr lang="en" sz="4400" u="sng" dirty="0">
                <a:highlight>
                  <a:srgbClr val="B6D7A8"/>
                </a:highlight>
              </a:rPr>
              <a:t>UID Cloning</a:t>
            </a:r>
            <a:r>
              <a:rPr lang="en" sz="4400" dirty="0">
                <a:highlight>
                  <a:srgbClr val="B6D7A8"/>
                </a:highlight>
              </a:rPr>
              <a:t> </a:t>
            </a:r>
            <a:endParaRPr sz="4400" dirty="0">
              <a:highlight>
                <a:srgbClr val="B6D7A8"/>
              </a:highlight>
            </a:endParaRPr>
          </a:p>
          <a:p>
            <a:pPr algn="ctr">
              <a:lnSpc>
                <a:spcPct val="115000"/>
              </a:lnSpc>
              <a:buClr>
                <a:schemeClr val="dk1"/>
              </a:buClr>
              <a:buSzPct val="45833"/>
            </a:pPr>
            <a:endParaRPr sz="3200" dirty="0">
              <a:solidFill>
                <a:schemeClr val="accent1"/>
              </a:solidFill>
              <a:highlight>
                <a:srgbClr val="93C47D"/>
              </a:highlight>
            </a:endParaRPr>
          </a:p>
          <a:p>
            <a:pPr algn="ctr"/>
            <a:endParaRPr dirty="0"/>
          </a:p>
        </p:txBody>
      </p:sp>
      <p:sp>
        <p:nvSpPr>
          <p:cNvPr id="303" name="Google Shape;303;g2676f7274c6_0_40"/>
          <p:cNvSpPr txBox="1">
            <a:spLocks noGrp="1"/>
          </p:cNvSpPr>
          <p:nvPr>
            <p:ph type="body" idx="4294967295"/>
          </p:nvPr>
        </p:nvSpPr>
        <p:spPr>
          <a:xfrm>
            <a:off x="1485900" y="2332038"/>
            <a:ext cx="9191625" cy="328453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indent="0">
              <a:buNone/>
            </a:pPr>
            <a:r>
              <a:rPr lang="en" sz="3333" dirty="0">
                <a:solidFill>
                  <a:schemeClr val="dk1"/>
                </a:solidFill>
              </a:rPr>
              <a:t>Prep: Giving out the instructions, NFC Lock+Key and</a:t>
            </a:r>
            <a:endParaRPr sz="3333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 sz="3333" dirty="0">
                <a:solidFill>
                  <a:schemeClr val="dk1"/>
                </a:solidFill>
              </a:rPr>
              <a:t>a Flipper Zero to each group.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Instructions    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NFC Cabinet Lock + Master Key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Flipper Zero</a:t>
            </a:r>
            <a:endParaRPr sz="3333" dirty="0">
              <a:solidFill>
                <a:schemeClr val="dk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56a0fba46b_0_0"/>
          <p:cNvSpPr txBox="1">
            <a:spLocks noGrp="1"/>
          </p:cNvSpPr>
          <p:nvPr>
            <p:ph type="title" idx="4294967295"/>
          </p:nvPr>
        </p:nvSpPr>
        <p:spPr>
          <a:xfrm>
            <a:off x="2266950" y="917575"/>
            <a:ext cx="6467475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buSzPct val="111111"/>
            </a:pPr>
            <a:r>
              <a:rPr lang="en" dirty="0"/>
              <a:t>NFC Authentication Types</a:t>
            </a:r>
            <a:endParaRPr dirty="0"/>
          </a:p>
        </p:txBody>
      </p:sp>
      <p:sp>
        <p:nvSpPr>
          <p:cNvPr id="310" name="Google Shape;310;g156a0fba46b_0_0"/>
          <p:cNvSpPr txBox="1">
            <a:spLocks noGrp="1"/>
          </p:cNvSpPr>
          <p:nvPr>
            <p:ph type="body" idx="4294967295"/>
          </p:nvPr>
        </p:nvSpPr>
        <p:spPr>
          <a:xfrm>
            <a:off x="2724150" y="1577975"/>
            <a:ext cx="9467850" cy="455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" dirty="0"/>
              <a:t>UID Authentication</a:t>
            </a:r>
            <a:endParaRPr dirty="0"/>
          </a:p>
          <a:p>
            <a:pPr lvl="1"/>
            <a:r>
              <a:rPr lang="en" dirty="0"/>
              <a:t>Insecure - relies on uniqueness of a NFC tag UID</a:t>
            </a:r>
            <a:endParaRPr dirty="0"/>
          </a:p>
          <a:p>
            <a:r>
              <a:rPr lang="en" dirty="0"/>
              <a:t>Data based authentication</a:t>
            </a:r>
            <a:endParaRPr dirty="0"/>
          </a:p>
          <a:p>
            <a:pPr lvl="1"/>
            <a:r>
              <a:rPr lang="en" dirty="0"/>
              <a:t>Key is stored in the sector or page data of the NFC tag</a:t>
            </a:r>
            <a:endParaRPr dirty="0"/>
          </a:p>
          <a:p>
            <a:r>
              <a:rPr lang="en" dirty="0"/>
              <a:t>Challenge–response authentication</a:t>
            </a:r>
            <a:endParaRPr dirty="0"/>
          </a:p>
          <a:p>
            <a:pPr lvl="1"/>
            <a:r>
              <a:rPr lang="en" dirty="0"/>
              <a:t>HMAC-SHA1 algorithm</a:t>
            </a:r>
            <a:endParaRPr dirty="0"/>
          </a:p>
          <a:p>
            <a:pPr lvl="1"/>
            <a:r>
              <a:rPr lang="en" dirty="0"/>
              <a:t>PAM Module - Pluggable Authentication Module</a:t>
            </a:r>
            <a:endParaRPr dirty="0"/>
          </a:p>
          <a:p>
            <a:pPr lvl="1"/>
            <a:r>
              <a:rPr lang="en" dirty="0"/>
              <a:t>Can be extremely difficult to clone/emulate</a:t>
            </a:r>
            <a:endParaRPr dirty="0"/>
          </a:p>
        </p:txBody>
      </p:sp>
      <p:pic>
        <p:nvPicPr>
          <p:cNvPr id="309" name="Google Shape;309;g156a0fba46b_0_0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4633" y="3855600"/>
            <a:ext cx="2699667" cy="269966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56a0fba46b_0_8"/>
          <p:cNvSpPr txBox="1">
            <a:spLocks noGrp="1"/>
          </p:cNvSpPr>
          <p:nvPr>
            <p:ph type="title" idx="4294967295"/>
          </p:nvPr>
        </p:nvSpPr>
        <p:spPr>
          <a:xfrm>
            <a:off x="792162" y="1344613"/>
            <a:ext cx="10607675" cy="76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27" dirty="0">
                <a:highlight>
                  <a:srgbClr val="B6D7A8"/>
                </a:highlight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Exercise</a:t>
            </a:r>
            <a:r>
              <a:rPr lang="en" sz="4027" dirty="0">
                <a:highlight>
                  <a:srgbClr val="B6D7A8"/>
                </a:highlight>
              </a:rPr>
              <a:t> - NFC Password Protection &amp; Brute Force</a:t>
            </a:r>
            <a:endParaRPr sz="4027" dirty="0">
              <a:highlight>
                <a:srgbClr val="B6D7A8"/>
              </a:highlight>
            </a:endParaRPr>
          </a:p>
        </p:txBody>
      </p:sp>
      <p:sp>
        <p:nvSpPr>
          <p:cNvPr id="480" name="Google Shape;480;g156a0fba46b_0_8"/>
          <p:cNvSpPr txBox="1">
            <a:spLocks noGrp="1"/>
          </p:cNvSpPr>
          <p:nvPr>
            <p:ph type="body" idx="4294967295"/>
          </p:nvPr>
        </p:nvSpPr>
        <p:spPr>
          <a:xfrm>
            <a:off x="1292225" y="2108200"/>
            <a:ext cx="10899775" cy="364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>
              <a:buNone/>
            </a:pPr>
            <a:r>
              <a:rPr lang="en" sz="3333" dirty="0"/>
              <a:t>Prep: Giving out the instructions, NTAG215 tag to each student and a reader to each group. 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Instructions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VM from thumb drive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ACR122U Reader</a:t>
            </a:r>
            <a:endParaRPr sz="3333" dirty="0"/>
          </a:p>
          <a:p>
            <a:pPr indent="-516454">
              <a:buSzPts val="2500"/>
            </a:pPr>
            <a:r>
              <a:rPr lang="en" sz="3333" dirty="0">
                <a:solidFill>
                  <a:schemeClr val="dk1"/>
                </a:solidFill>
              </a:rPr>
              <a:t>NTAG215 Tag (Round white tag)</a:t>
            </a:r>
            <a:endParaRPr sz="3333" dirty="0">
              <a:solidFill>
                <a:schemeClr val="dk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5"/>
          <p:cNvSpPr txBox="1">
            <a:spLocks noGrp="1"/>
          </p:cNvSpPr>
          <p:nvPr>
            <p:ph type="title" idx="4294967295"/>
          </p:nvPr>
        </p:nvSpPr>
        <p:spPr>
          <a:xfrm>
            <a:off x="831850" y="695325"/>
            <a:ext cx="11360150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buSzPct val="111111"/>
            </a:pPr>
            <a:r>
              <a:rPr lang="en"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Playing</a:t>
            </a:r>
            <a:r>
              <a:rPr lang="en"/>
              <a:t> with NFC – Reading/Writing: (with ACR122U)</a:t>
            </a:r>
            <a:endParaRPr/>
          </a:p>
        </p:txBody>
      </p:sp>
      <p:sp>
        <p:nvSpPr>
          <p:cNvPr id="488" name="Google Shape;488;p25"/>
          <p:cNvSpPr txBox="1">
            <a:spLocks noGrp="1"/>
          </p:cNvSpPr>
          <p:nvPr>
            <p:ph type="body" idx="4294967295"/>
          </p:nvPr>
        </p:nvSpPr>
        <p:spPr>
          <a:xfrm>
            <a:off x="990600" y="1622425"/>
            <a:ext cx="11201400" cy="457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"/>
              <a:t>You could also use an PN532  </a:t>
            </a:r>
            <a:endParaRPr/>
          </a:p>
          <a:p>
            <a:r>
              <a:rPr lang="en"/>
              <a:t>Make sure you do the following for both ACR122U &amp; PN532:</a:t>
            </a:r>
            <a:endParaRPr/>
          </a:p>
          <a:p>
            <a:pPr lvl="1"/>
            <a:r>
              <a:rPr lang="en"/>
              <a:t>Click on USB icon on top of the VM window 🡪 “USB &amp; Bluetooth Settings”</a:t>
            </a:r>
            <a:endParaRPr/>
          </a:p>
          <a:p>
            <a:pPr lvl="1" indent="-304792">
              <a:buNone/>
            </a:pPr>
            <a:endParaRPr/>
          </a:p>
          <a:p>
            <a:pPr lvl="1"/>
            <a:r>
              <a:rPr lang="en"/>
              <a:t>Make sure you have the following:</a:t>
            </a:r>
            <a:endParaRPr/>
          </a:p>
          <a:p>
            <a:pPr lvl="1" indent="-304792">
              <a:buNone/>
            </a:pPr>
            <a:endParaRPr/>
          </a:p>
        </p:txBody>
      </p:sp>
      <p:pic>
        <p:nvPicPr>
          <p:cNvPr id="489" name="Google Shape;48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19300" y="4023423"/>
            <a:ext cx="8882741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4100" y="5249798"/>
            <a:ext cx="8339352" cy="49377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g2676f7274c6_0_6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475" y="294500"/>
            <a:ext cx="4820132" cy="320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2676f7274c6_0_6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104" y="3281783"/>
            <a:ext cx="4979901" cy="326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2676f7274c6_0_6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4100" y="3258816"/>
            <a:ext cx="3931232" cy="331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2676f7274c6_0_6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7403" y="220900"/>
            <a:ext cx="4774600" cy="306086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3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212</Words>
  <Application>Microsoft Office PowerPoint</Application>
  <PresentationFormat>Widescreen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Custom Design</vt:lpstr>
      <vt:lpstr>Exercise - NFC Cabinet Lock UID Cloning   </vt:lpstr>
      <vt:lpstr>NFC Authentication Types</vt:lpstr>
      <vt:lpstr>Exercise - NFC Password Protection &amp; Brute Force</vt:lpstr>
      <vt:lpstr>Playing with NFC – Reading/Writing: (with ACR122U)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7</cp:revision>
  <dcterms:created xsi:type="dcterms:W3CDTF">2026-03-11T18:02:03Z</dcterms:created>
  <dcterms:modified xsi:type="dcterms:W3CDTF">2026-04-29T14:17:04Z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
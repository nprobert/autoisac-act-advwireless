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32"/>
  </p:notesMasterIdLst>
  <p:sldIdLst>
    <p:sldId id="741" r:id="rId6"/>
    <p:sldId id="284" r:id="rId7"/>
    <p:sldId id="789" r:id="rId8"/>
    <p:sldId id="285" r:id="rId9"/>
    <p:sldId id="286" r:id="rId10"/>
    <p:sldId id="287" r:id="rId11"/>
    <p:sldId id="788" r:id="rId12"/>
    <p:sldId id="288" r:id="rId13"/>
    <p:sldId id="289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736" r:id="rId24"/>
    <p:sldId id="787" r:id="rId25"/>
    <p:sldId id="730" r:id="rId26"/>
    <p:sldId id="783" r:id="rId27"/>
    <p:sldId id="734" r:id="rId28"/>
    <p:sldId id="784" r:id="rId29"/>
    <p:sldId id="785" r:id="rId30"/>
    <p:sldId id="786" r:id="rId31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uetooth" id="{CE274DD4-88AE-4FF5-8622-BD38CA4270E3}">
          <p14:sldIdLst>
            <p14:sldId id="741"/>
          </p14:sldIdLst>
        </p14:section>
        <p14:section name="Bluetooth Setup" id="{6FC33726-A5BC-48F2-8372-80AED2550395}">
          <p14:sldIdLst>
            <p14:sldId id="284"/>
            <p14:sldId id="789"/>
          </p14:sldIdLst>
        </p14:section>
        <p14:section name="Bluetooth Scanning" id="{F2532195-E8AC-471F-ABDF-F5499F792DB7}">
          <p14:sldIdLst>
            <p14:sldId id="285"/>
            <p14:sldId id="286"/>
            <p14:sldId id="287"/>
            <p14:sldId id="788"/>
          </p14:sldIdLst>
        </p14:section>
        <p14:section name=" Bluetooth Enumeration" id="{68166EB0-8075-43B7-ADC5-9D86910720E9}">
          <p14:sldIdLst>
            <p14:sldId id="288"/>
            <p14:sldId id="289"/>
          </p14:sldIdLst>
        </p14:section>
        <p14:section name="Bluetooth Services" id="{5A79DE84-06D5-4FB9-8C5A-73BC5BFAEEB0}">
          <p14:sldIdLst>
            <p14:sldId id="292"/>
            <p14:sldId id="293"/>
            <p14:sldId id="294"/>
            <p14:sldId id="295"/>
          </p14:sldIdLst>
        </p14:section>
        <p14:section name="Bluetooth Pairing" id="{C6B06CB6-A763-4B09-A261-C79BD8740F77}">
          <p14:sldIdLst>
            <p14:sldId id="296"/>
            <p14:sldId id="297"/>
            <p14:sldId id="298"/>
          </p14:sldIdLst>
        </p14:section>
        <p14:section name="Bluetooth Data" id="{2BC74A79-D2CC-4608-B0DC-841A54C94B1F}">
          <p14:sldIdLst>
            <p14:sldId id="299"/>
            <p14:sldId id="300"/>
          </p14:sldIdLst>
        </p14:section>
        <p14:section name="Appendix" id="{E0C2AA82-A7F3-4893-9EAF-4E6510C304BE}">
          <p14:sldIdLst>
            <p14:sldId id="736"/>
            <p14:sldId id="787"/>
            <p14:sldId id="730"/>
            <p14:sldId id="783"/>
            <p14:sldId id="734"/>
            <p14:sldId id="784"/>
            <p14:sldId id="785"/>
            <p14:sldId id="7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19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748537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20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015599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21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797427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22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168916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23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006360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205914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25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536154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55446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93990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vox.com/blog/kali-linux-bluetooth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te.com/products/sodera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lisys.com/products/bex400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vox.com/blog/kali-linux-bluetooth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reatscottgadgets/ubertooth" TargetMode="External"/><Relationship Id="rId5" Type="http://schemas.openxmlformats.org/officeDocument/2006/relationships/hyperlink" Target="https://hakshop.com/products/ubertooth-one" TargetMode="External"/><Relationship Id="rId4" Type="http://schemas.openxmlformats.org/officeDocument/2006/relationships/hyperlink" Target="http://www.greatscottgadgets.com/ubertoothone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uetooth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List_of_Bluetooth_protocols" TargetMode="External"/><Relationship Id="rId4" Type="http://schemas.openxmlformats.org/officeDocument/2006/relationships/hyperlink" Target="https://en.wikipedia.org/wiki/Bluetooth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evenpaths.com/labstools/dirtytooth-para-raspberry-pi-2/index.html" TargetMode="External"/><Relationship Id="rId3" Type="http://schemas.openxmlformats.org/officeDocument/2006/relationships/hyperlink" Target="https://www.armis.com/blueborne/" TargetMode="External"/><Relationship Id="rId7" Type="http://schemas.openxmlformats.org/officeDocument/2006/relationships/hyperlink" Target="http://www.dirtytooth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irodump.net/bluetooth-security-vulnerabilities/" TargetMode="External"/><Relationship Id="rId11" Type="http://schemas.openxmlformats.org/officeDocument/2006/relationships/hyperlink" Target="https://www.sans.org/reading-room/whitepapers/wireless/bluetooth-inherent-security-issues-945" TargetMode="External"/><Relationship Id="rId5" Type="http://schemas.openxmlformats.org/officeDocument/2006/relationships/hyperlink" Target="https://en.wikipedia.org/wiki/Bluesnarfing" TargetMode="External"/><Relationship Id="rId10" Type="http://schemas.openxmlformats.org/officeDocument/2006/relationships/hyperlink" Target="https://csrc.nist.gov/csrc/media/publications/sp/800-121/rev-2/draft/documents/sp800_121_r2_draft.pdf" TargetMode="External"/><Relationship Id="rId4" Type="http://schemas.openxmlformats.org/officeDocument/2006/relationships/hyperlink" Target="https://en.wikipedia.org/wiki/Bluejacking" TargetMode="External"/><Relationship Id="rId9" Type="http://schemas.openxmlformats.org/officeDocument/2006/relationships/hyperlink" Target="http://cve.mitre.org/cgi-bin/cvekey.cgi?keyword=bluetooth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Image result for small bluetooth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416" y="1172245"/>
            <a:ext cx="4912116" cy="469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bluetooth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430" y="159320"/>
            <a:ext cx="1258318" cy="125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64756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78739" y="1002556"/>
            <a:ext cx="45885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8" y="1724022"/>
            <a:ext cx="4207512" cy="4296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Log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virtual</a:t>
            </a:r>
            <a:r>
              <a:rPr lang="en-US" sz="24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adapter!</a:t>
            </a:r>
            <a:endParaRPr kumimoji="0" lang="en-US" sz="2400" b="0" i="0" u="none" strike="noStrike" kern="0" cap="none" spc="-1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This is not necessary for Kali Linux installed directly on your laptop.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begin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hands-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portion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platforms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From the Virtual Machine </a:t>
            </a:r>
            <a:r>
              <a:rPr lang="en-US" sz="2400" kern="0" spc="-10" dirty="0" err="1">
                <a:solidFill>
                  <a:srgbClr val="404040"/>
                </a:solidFill>
                <a:latin typeface="Calibri"/>
                <a:cs typeface="Calibri"/>
              </a:rPr>
              <a:t>goto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 Devices/USB, Add TP-Link UB500 Adapter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0A99B574-4EB3-874B-D372-0652085B8A06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</a:t>
            </a: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0" sz="3600" b="1" i="0" u="none" strike="noStrike" kern="0" cap="none" spc="-19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Exercises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D18F70-5152-9206-F88B-6E75765B2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959" y="1692488"/>
            <a:ext cx="7407282" cy="49305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8AAB8-36CB-0361-955C-0771836C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C77DD94-7D7B-D121-794A-97E7F683A3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739" y="1002556"/>
            <a:ext cx="45885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91B393-11AB-0FB8-005C-60632D027F8F}"/>
              </a:ext>
            </a:extLst>
          </p:cNvPr>
          <p:cNvSpPr txBox="1"/>
          <p:nvPr/>
        </p:nvSpPr>
        <p:spPr>
          <a:xfrm>
            <a:off x="78738" y="1724022"/>
            <a:ext cx="11370311" cy="10869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435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making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running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page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inquiry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devices.</a:t>
            </a:r>
            <a:endParaRPr kumimoji="0" lang="en-US" sz="2400" b="0" i="0" u="none" strike="noStrike" kern="0" cap="none" spc="-1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1435" lvl="0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kern="0" dirty="0">
                <a:solidFill>
                  <a:sysClr val="windowText" lastClr="000000"/>
                </a:solidFill>
                <a:latin typeface="Calibri"/>
                <a:cs typeface="Calibri"/>
                <a:hlinkClick r:id="rId3"/>
              </a:rPr>
              <a:t>https://linuxvox.com/blog/kali-linux-bluetooth/</a:t>
            </a:r>
            <a:r>
              <a:rPr lang="en-US" sz="24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 has a good mini-tutorial.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BF66A00C-BB32-DF4C-BBE4-78FD03213162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</a:t>
            </a: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0" sz="3600" b="1" i="0" u="none" strike="noStrike" kern="0" cap="none" spc="-19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Exercises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2D622A-16E2-2FFD-CD4C-F45DAF42E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66" y="4190921"/>
            <a:ext cx="7475868" cy="18289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926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8557"/>
            <a:ext cx="5621020" cy="40976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2575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security assessment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searching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endParaRPr lang="en-US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32575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1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 Windows you can download and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run BT Scanner from the Microsoft Store.  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 are a few Bluetooth scanning apps available for Android (BLE Scanner, Bluetooth Scan) and iPhone!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573681"/>
            <a:ext cx="5446395" cy="10502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proximity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973445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302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Modern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usually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non-discoverable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connecting/pairing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98517"/>
            <a:ext cx="521525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intentionally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132" y="1343321"/>
            <a:ext cx="592645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22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detect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(and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students)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00981"/>
            <a:ext cx="575119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device’s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address!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6030E-555A-1A74-F381-05FE445B8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CD27FB4C-D4F4-C57F-EC6B-437911F72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876" y="277857"/>
            <a:ext cx="7468247" cy="6302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7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02335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10" dirty="0"/>
              <a:t> </a:t>
            </a:r>
            <a:r>
              <a:rPr spc="-20" dirty="0"/>
              <a:t>Note</a:t>
            </a:r>
            <a:r>
              <a:rPr spc="-204" dirty="0"/>
              <a:t> </a:t>
            </a:r>
            <a:r>
              <a:rPr dirty="0"/>
              <a:t>on</a:t>
            </a:r>
            <a:r>
              <a:rPr spc="-200" dirty="0"/>
              <a:t> </a:t>
            </a:r>
            <a:r>
              <a:rPr spc="-50" dirty="0"/>
              <a:t>BT</a:t>
            </a:r>
            <a:r>
              <a:rPr spc="-200" dirty="0"/>
              <a:t> </a:t>
            </a:r>
            <a:r>
              <a:rPr spc="-60" dirty="0"/>
              <a:t>Addresses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210817"/>
            <a:ext cx="8030845" cy="479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48-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bit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“unique”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AA:BB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: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>
                  <a:solidFill>
                    <a:srgbClr val="FFC000"/>
                  </a:solidFill>
                </a:uFill>
                <a:latin typeface="Calibri"/>
                <a:cs typeface="Calibri"/>
              </a:rPr>
              <a:t>CC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cs typeface="Calibri"/>
              </a:rPr>
              <a:t>DD:EE:FF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Organizationally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Unique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Identifier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(OUI)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2: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significant.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Third: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Upper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Lower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 typeface="Calibri"/>
              <a:buChar char="◦"/>
              <a:tabLst>
                <a:tab pos="396240" algn="l"/>
              </a:tabLst>
              <a:defRPr/>
            </a:pPr>
            <a:r>
              <a:rPr kumimoji="0" sz="28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Normally</a:t>
            </a:r>
            <a:r>
              <a:rPr kumimoji="0" sz="2800" b="0" i="1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invisible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*OUI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=/=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Chip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manufacturer!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91505" cy="47480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device.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requests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lang="en-US" sz="2400" b="0" i="0" u="none" strike="noStrike" kern="0" cap="none" spc="-25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kern="0" spc="-2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 lvl="0">
              <a:lnSpc>
                <a:spcPts val="2590"/>
              </a:lnSpc>
              <a:spcBef>
                <a:spcPts val="425"/>
              </a:spcBef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learn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much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possible</a:t>
            </a:r>
            <a:r>
              <a:rPr lang="en-US" sz="2400" kern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our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target</a:t>
            </a:r>
            <a:r>
              <a:rPr lang="en-US" sz="2400" kern="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lang="en-US" sz="2400" kern="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Bluetooth</a:t>
            </a:r>
          </a:p>
          <a:p>
            <a:pPr marL="12700" marR="5080" lvl="0">
              <a:lnSpc>
                <a:spcPts val="2590"/>
              </a:lnSpc>
              <a:spcBef>
                <a:spcPts val="425"/>
              </a:spcBef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425"/>
              </a:spcBef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Keep</a:t>
            </a:r>
            <a:r>
              <a:rPr lang="en-US" sz="2400" kern="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mind,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lang="en-US" sz="2400" kern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lang="en-US" sz="2400" kern="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lang="en-US" sz="2400" kern="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obtained before</a:t>
            </a:r>
            <a:r>
              <a:rPr lang="en-US" sz="2400" kern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pairing</a:t>
            </a:r>
            <a:r>
              <a:rPr lang="en-US" sz="2400" kern="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authentication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lang="en-US" sz="2400" kern="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target</a:t>
            </a:r>
          </a:p>
          <a:p>
            <a:pPr marL="12700" marR="5080">
              <a:lnSpc>
                <a:spcPts val="2590"/>
              </a:lnSpc>
              <a:spcBef>
                <a:spcPts val="425"/>
              </a:spcBef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425"/>
              </a:spcBef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lang="en-US" sz="2400" kern="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know</a:t>
            </a:r>
            <a:r>
              <a:rPr lang="en-US" sz="2400" kern="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lang="en-US" sz="2400" kern="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BT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address</a:t>
            </a:r>
            <a:endParaRPr lang="en-US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72452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individual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discovered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Discovery</a:t>
            </a:r>
            <a:r>
              <a:rPr kumimoji="0" sz="2400" b="0" i="1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222447"/>
            <a:ext cx="5803900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meant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1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895215"/>
            <a:ext cx="53651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result,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shared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encryption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899785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checking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6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399790"/>
            <a:ext cx="5535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“port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scan”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58165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Depending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complex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070047"/>
            <a:ext cx="584898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purpose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414773"/>
            <a:ext cx="5909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perform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tests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191005"/>
            <a:ext cx="5532120" cy="22098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110489" lvl="0" indent="0" algn="just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Analyze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received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951478"/>
            <a:ext cx="5650230" cy="9766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There’s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keep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track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477357"/>
            <a:ext cx="5367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6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01420" y="2823569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9" name="object 19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661616"/>
            <a:ext cx="6132195" cy="40290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2705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hosted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started interacting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31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designed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however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3274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available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Linux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3" name="object 23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object 25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987415" cy="43961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9525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general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forms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(SSP)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41910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SSP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version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far,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Older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PIN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like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0000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1234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6173470" cy="434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wont’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accepted!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separate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concepts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93775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process.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405130" lvl="0" indent="-181610" defTabSz="914400" eaLnBrk="1" fontAlgn="auto" latinLnBrk="0" hangingPunct="1">
              <a:lnSpc>
                <a:spcPts val="2160"/>
              </a:lnSpc>
              <a:spcBef>
                <a:spcPts val="42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might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people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once*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6807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finish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CTF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509520"/>
            <a:ext cx="561657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text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service’s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154224"/>
            <a:ext cx="5797550" cy="16465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flags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0" lvl="0" indent="-181610" defTabSz="914400" eaLnBrk="1" fontAlgn="auto" latinLnBrk="0" hangingPunct="1">
              <a:lnSpc>
                <a:spcPts val="2280"/>
              </a:lnSpc>
              <a:spcBef>
                <a:spcPts val="18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353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see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4800" marR="0" lvl="0" indent="0" defTabSz="91440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290830" lvl="0" indent="-181610" defTabSz="914400" eaLnBrk="1" fontAlgn="auto" latinLnBrk="0" hangingPunct="1">
              <a:lnSpc>
                <a:spcPts val="2160"/>
              </a:lnSpc>
              <a:spcBef>
                <a:spcPts val="63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revealed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successfully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661616"/>
            <a:ext cx="6062345" cy="174990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4139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very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hard,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 developed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04139" marR="549910" lvl="0" indent="0" defTabSz="914400" eaLnBrk="1" fontAlgn="auto" latinLnBrk="0" hangingPunct="1">
              <a:lnSpc>
                <a:spcPts val="2300"/>
              </a:lnSpc>
              <a:spcBef>
                <a:spcPts val="1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clues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left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13173"/>
            <a:ext cx="5975350" cy="9772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it,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6" name="object 6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97432" y="25050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Tools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Tools</a:t>
            </a:r>
          </a:p>
          <a:p>
            <a:pPr lvl="1"/>
            <a:r>
              <a:rPr lang="en-US" sz="1600" dirty="0"/>
              <a:t>Hardware</a:t>
            </a:r>
          </a:p>
          <a:p>
            <a:pPr lvl="2"/>
            <a:r>
              <a:rPr lang="en-US" sz="1400" dirty="0"/>
              <a:t>Laptops with built-in Bluetooth</a:t>
            </a:r>
          </a:p>
          <a:p>
            <a:pPr lvl="3"/>
            <a:r>
              <a:rPr lang="en-US" sz="1200" dirty="0"/>
              <a:t>Most support BLE</a:t>
            </a:r>
          </a:p>
          <a:p>
            <a:pPr lvl="2"/>
            <a:r>
              <a:rPr lang="en-US" sz="1400" dirty="0"/>
              <a:t>USB Dongles, with antennas</a:t>
            </a:r>
          </a:p>
          <a:p>
            <a:pPr lvl="3"/>
            <a:r>
              <a:rPr lang="en-US" sz="1200" dirty="0"/>
              <a:t>Linksys USB-BT100 modified</a:t>
            </a:r>
          </a:p>
          <a:p>
            <a:pPr lvl="3"/>
            <a:r>
              <a:rPr lang="en-US" sz="1200" dirty="0" err="1"/>
              <a:t>Sena</a:t>
            </a:r>
            <a:r>
              <a:rPr lang="en-US" sz="1200" dirty="0"/>
              <a:t> UD100, supports BLE too</a:t>
            </a:r>
          </a:p>
          <a:p>
            <a:pPr lvl="2"/>
            <a:r>
              <a:rPr lang="en-US" sz="1400" dirty="0"/>
              <a:t>BLE Specific</a:t>
            </a:r>
          </a:p>
          <a:p>
            <a:pPr lvl="3"/>
            <a:r>
              <a:rPr lang="en-US" sz="1200" dirty="0"/>
              <a:t>Adafruit BLUE Sniffer (NRF 51822) $25 works with Wireshark</a:t>
            </a:r>
          </a:p>
          <a:p>
            <a:pPr lvl="3"/>
            <a:r>
              <a:rPr lang="en-US" sz="1200" dirty="0"/>
              <a:t>TI CC2540EMK + SMARTRF Tool (proprietary) $40</a:t>
            </a:r>
          </a:p>
          <a:p>
            <a:pPr lvl="1"/>
            <a:r>
              <a:rPr lang="en-US" sz="1600" dirty="0"/>
              <a:t>Commercial</a:t>
            </a:r>
          </a:p>
          <a:p>
            <a:pPr lvl="2"/>
            <a:r>
              <a:rPr lang="en-US" sz="1400" u="sng" dirty="0">
                <a:hlinkClick r:id="rId3"/>
              </a:rPr>
              <a:t>http://www.fte.com/products/sodera.aspx</a:t>
            </a:r>
            <a:endParaRPr lang="en-US" sz="1400" dirty="0"/>
          </a:p>
          <a:p>
            <a:pPr lvl="2"/>
            <a:r>
              <a:rPr lang="en-US" sz="1400" u="sng" dirty="0">
                <a:hlinkClick r:id="rId4"/>
              </a:rPr>
              <a:t>https://www.ellisys.com/products/bex400/</a:t>
            </a:r>
            <a:endParaRPr lang="en-US" sz="1400" u="sng" dirty="0"/>
          </a:p>
          <a:p>
            <a:pPr lvl="2"/>
            <a:r>
              <a:rPr lang="en-US" sz="1400" dirty="0"/>
              <a:t>Typically doesn’t have security vulnerability checking functionality</a:t>
            </a:r>
            <a:endParaRPr lang="en-US" sz="1000" dirty="0"/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30477077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Tools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Software</a:t>
            </a:r>
          </a:p>
          <a:p>
            <a:pPr lvl="1"/>
            <a:r>
              <a:rPr lang="en-US" sz="1600" dirty="0"/>
              <a:t>Linux</a:t>
            </a:r>
          </a:p>
          <a:p>
            <a:pPr lvl="2"/>
            <a:r>
              <a:rPr lang="en-US" sz="1400" dirty="0"/>
              <a:t>Kali Linux: </a:t>
            </a:r>
            <a:r>
              <a:rPr lang="en-US" sz="1400" dirty="0">
                <a:hlinkClick r:id="rId3"/>
              </a:rPr>
              <a:t>https://linuxvox.com/blog/kali-linux-bluetooth/</a:t>
            </a:r>
            <a:r>
              <a:rPr lang="en-US" sz="1400" dirty="0"/>
              <a:t> </a:t>
            </a:r>
          </a:p>
          <a:p>
            <a:pPr lvl="2"/>
            <a:r>
              <a:rPr lang="en-US" sz="1400" dirty="0"/>
              <a:t>BlueZ: </a:t>
            </a:r>
            <a:r>
              <a:rPr lang="en-US" sz="1400" dirty="0" err="1"/>
              <a:t>hctitool</a:t>
            </a:r>
            <a:r>
              <a:rPr lang="en-US" sz="1400" dirty="0"/>
              <a:t>, </a:t>
            </a:r>
            <a:r>
              <a:rPr lang="en-US" sz="1400" dirty="0" err="1"/>
              <a:t>gatttool</a:t>
            </a:r>
            <a:r>
              <a:rPr lang="en-US" sz="1400" dirty="0"/>
              <a:t>, </a:t>
            </a:r>
            <a:r>
              <a:rPr lang="en-US" sz="1400" dirty="0" err="1"/>
              <a:t>bluetoothctl</a:t>
            </a:r>
            <a:endParaRPr lang="en-US" sz="1400" dirty="0"/>
          </a:p>
          <a:p>
            <a:pPr lvl="2"/>
            <a:r>
              <a:rPr lang="en-US" sz="1400" dirty="0" err="1"/>
              <a:t>BTScanner</a:t>
            </a:r>
            <a:r>
              <a:rPr lang="en-US" sz="1400" dirty="0"/>
              <a:t>, BLE Sniffer, </a:t>
            </a:r>
            <a:r>
              <a:rPr lang="en-US" sz="1400" dirty="0" err="1"/>
              <a:t>btmon</a:t>
            </a:r>
            <a:endParaRPr lang="en-US" sz="1400" dirty="0"/>
          </a:p>
          <a:p>
            <a:pPr lvl="2"/>
            <a:r>
              <a:rPr lang="en-US" sz="1400" dirty="0" err="1"/>
              <a:t>BLESuite</a:t>
            </a:r>
            <a:r>
              <a:rPr lang="en-US" sz="1400" dirty="0"/>
              <a:t>: BLE-Replay</a:t>
            </a:r>
          </a:p>
          <a:p>
            <a:pPr lvl="2"/>
            <a:r>
              <a:rPr lang="en-US" sz="1400" dirty="0"/>
              <a:t>BLE Fuzzing, </a:t>
            </a:r>
            <a:r>
              <a:rPr lang="en-US" sz="1400" dirty="0" err="1"/>
              <a:t>BlueHydra</a:t>
            </a:r>
            <a:endParaRPr lang="en-US" sz="1400" dirty="0"/>
          </a:p>
          <a:p>
            <a:pPr lvl="2"/>
            <a:r>
              <a:rPr lang="en-US" sz="1400" dirty="0"/>
              <a:t>Crackle (PIN cracking)</a:t>
            </a:r>
          </a:p>
          <a:p>
            <a:pPr lvl="2"/>
            <a:r>
              <a:rPr lang="en-US" sz="1400" dirty="0" err="1"/>
              <a:t>Ubertooth</a:t>
            </a:r>
            <a:r>
              <a:rPr lang="en-US" sz="1400" dirty="0"/>
              <a:t> One</a:t>
            </a:r>
          </a:p>
          <a:p>
            <a:pPr lvl="3"/>
            <a:r>
              <a:rPr lang="en-US" sz="1200" dirty="0"/>
              <a:t>Good for sniffing, but not as actual BT device (doesn’t channel hop)</a:t>
            </a:r>
          </a:p>
          <a:p>
            <a:pPr lvl="3"/>
            <a:r>
              <a:rPr lang="en-US" sz="1200" dirty="0"/>
              <a:t>Help find non-discoverable devices</a:t>
            </a:r>
          </a:p>
          <a:p>
            <a:pPr lvl="3"/>
            <a:r>
              <a:rPr lang="en-US" sz="1200" u="sng" dirty="0">
                <a:hlinkClick r:id="rId4"/>
              </a:rPr>
              <a:t>http://www.greatscottgadgets.com/ubertoothone/</a:t>
            </a:r>
            <a:endParaRPr lang="en-US" sz="1200" u="sng" dirty="0"/>
          </a:p>
          <a:p>
            <a:pPr lvl="3"/>
            <a:r>
              <a:rPr lang="en-US" sz="1200" u="sng" dirty="0">
                <a:hlinkClick r:id="rId5"/>
              </a:rPr>
              <a:t>https://hakshop.com/products/ubertooth-one</a:t>
            </a:r>
            <a:endParaRPr lang="en-US" sz="1200" dirty="0"/>
          </a:p>
          <a:p>
            <a:pPr lvl="3"/>
            <a:r>
              <a:rPr lang="en-US" sz="1200" dirty="0">
                <a:hlinkClick r:id="rId6"/>
              </a:rPr>
              <a:t>https://github.com/greatscottgadgets/ubertooth</a:t>
            </a:r>
            <a:endParaRPr lang="en-US" sz="1200" dirty="0"/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99937002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50573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(BT)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868680"/>
            <a:ext cx="8699500" cy="5738747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/>
              <a:t>Short range </a:t>
            </a:r>
            <a:r>
              <a:rPr lang="en-US" sz="1400" dirty="0" err="1"/>
              <a:t>Wirelesss</a:t>
            </a:r>
            <a:r>
              <a:rPr lang="en-US" sz="1400" dirty="0"/>
              <a:t> Personal Area Network (WPAN)</a:t>
            </a:r>
          </a:p>
          <a:p>
            <a:pPr lvl="1"/>
            <a:r>
              <a:rPr lang="en-US" sz="1400" dirty="0"/>
              <a:t>Based on IEEE 802.15.1 Standard derived from Bluetooth SIG</a:t>
            </a:r>
          </a:p>
          <a:p>
            <a:pPr lvl="1"/>
            <a:r>
              <a:rPr lang="en-US" sz="1400" dirty="0"/>
              <a:t>Named after Viking King Harald Bluetooth</a:t>
            </a:r>
          </a:p>
          <a:p>
            <a:pPr lvl="1"/>
            <a:r>
              <a:rPr lang="en-US" sz="1400" dirty="0"/>
              <a:t>Co-exists with WiFi and </a:t>
            </a:r>
            <a:r>
              <a:rPr lang="en-US" sz="1400"/>
              <a:t>cordless phones on 2.4Ghz band</a:t>
            </a:r>
            <a:endParaRPr lang="en-US" sz="1400" dirty="0"/>
          </a:p>
          <a:p>
            <a:pPr lvl="1"/>
            <a:r>
              <a:rPr lang="en-US" sz="1400" dirty="0"/>
              <a:t>Applications include Headsets, keyboards, mice, serial links, networking, …</a:t>
            </a:r>
          </a:p>
          <a:p>
            <a:pPr lvl="1"/>
            <a:r>
              <a:rPr lang="en-US" sz="1400" dirty="0"/>
              <a:t>Ad-hoc network not under any form of centralized control, pairing is called a piconet</a:t>
            </a:r>
          </a:p>
          <a:p>
            <a:pPr lvl="1"/>
            <a:r>
              <a:rPr lang="en-US" sz="1400" dirty="0"/>
              <a:t>Driven more by marketing than engineering, low cost</a:t>
            </a:r>
          </a:p>
          <a:p>
            <a:pPr lvl="1"/>
            <a:r>
              <a:rPr lang="en-US" sz="1400" dirty="0"/>
              <a:t>Wireless technology from 2.4 to 2.485 </a:t>
            </a:r>
            <a:r>
              <a:rPr lang="en-US" sz="1400" dirty="0" err="1"/>
              <a:t>Ghz</a:t>
            </a:r>
            <a:r>
              <a:rPr lang="en-US" sz="1400" dirty="0"/>
              <a:t> with 2.1 </a:t>
            </a:r>
            <a:r>
              <a:rPr lang="en-US" sz="1400" dirty="0" err="1"/>
              <a:t>Mbps</a:t>
            </a:r>
            <a:r>
              <a:rPr lang="en-US" sz="1400" dirty="0"/>
              <a:t> Enhanced Data Rate (EDR)</a:t>
            </a:r>
          </a:p>
          <a:p>
            <a:pPr lvl="1"/>
            <a:r>
              <a:rPr lang="en-US" sz="1400" dirty="0"/>
              <a:t>Up to 10m, but potentially up to 100m (BT 5 potential to 400m) on 79 channels</a:t>
            </a:r>
          </a:p>
          <a:p>
            <a:pPr lvl="1"/>
            <a:r>
              <a:rPr lang="en-US" sz="1400" dirty="0"/>
              <a:t>Power classes:</a:t>
            </a:r>
          </a:p>
          <a:p>
            <a:pPr lvl="2">
              <a:buFont typeface="+mj-lt"/>
              <a:buAutoNum type="arabicPeriod"/>
            </a:pPr>
            <a:r>
              <a:rPr lang="en-US" sz="1200" dirty="0"/>
              <a:t>100m (100mW)</a:t>
            </a:r>
          </a:p>
          <a:p>
            <a:pPr lvl="2">
              <a:buFont typeface="+mj-lt"/>
              <a:buAutoNum type="arabicPeriod"/>
            </a:pPr>
            <a:r>
              <a:rPr lang="en-US" sz="1200" dirty="0"/>
              <a:t>10M (2.5mW) - typical</a:t>
            </a:r>
          </a:p>
          <a:p>
            <a:pPr lvl="2">
              <a:buFont typeface="+mj-lt"/>
              <a:buAutoNum type="arabicPeriod"/>
            </a:pPr>
            <a:r>
              <a:rPr lang="en-US" sz="1200" dirty="0"/>
              <a:t>1M (1mW)</a:t>
            </a:r>
          </a:p>
          <a:p>
            <a:pPr lvl="1"/>
            <a:r>
              <a:rPr lang="en-US" sz="1400" dirty="0"/>
              <a:t>Many versions (1.0, 1.1, 1.2, 2.0, 2.1, 3.0, 4.0 (LE), 4.1, 4.2, 5, 6, …)</a:t>
            </a:r>
          </a:p>
          <a:p>
            <a:pPr lvl="1"/>
            <a:r>
              <a:rPr lang="en-US" sz="1400" dirty="0"/>
              <a:t>Complicated protocols leading to vulnerabilities in poor implementations</a:t>
            </a:r>
          </a:p>
          <a:p>
            <a:pPr lvl="2"/>
            <a:r>
              <a:rPr lang="en-US" sz="1200" dirty="0"/>
              <a:t>Specification is 4x more complicated than for </a:t>
            </a:r>
            <a:r>
              <a:rPr lang="en-US" sz="1200" dirty="0" err="1"/>
              <a:t>WiFi</a:t>
            </a:r>
            <a:endParaRPr lang="en-US" sz="1200" dirty="0"/>
          </a:p>
          <a:p>
            <a:pPr lvl="1"/>
            <a:r>
              <a:rPr lang="en-US" sz="1400" dirty="0"/>
              <a:t>Frequency Hopping Spread Spectrum (FHSS) + Adaptive Frequency Hopping (AFH)</a:t>
            </a:r>
          </a:p>
          <a:p>
            <a:pPr lvl="2"/>
            <a:r>
              <a:rPr lang="en-US" sz="1200" dirty="0"/>
              <a:t>Channel hopping invented by Hedy Lamarr</a:t>
            </a:r>
          </a:p>
          <a:p>
            <a:pPr lvl="2"/>
            <a:r>
              <a:rPr lang="en-US" sz="1200" dirty="0"/>
              <a:t>Interference resistant</a:t>
            </a:r>
          </a:p>
          <a:p>
            <a:pPr lvl="1"/>
            <a:r>
              <a:rPr lang="en-US" sz="1400" dirty="0"/>
              <a:t>BT 3.0 adds Alternate MAC and </a:t>
            </a:r>
            <a:r>
              <a:rPr lang="en-US" sz="1400" dirty="0" err="1"/>
              <a:t>Phy</a:t>
            </a:r>
            <a:r>
              <a:rPr lang="en-US" sz="1400" dirty="0"/>
              <a:t> (AMP) for 802.11 data transfer</a:t>
            </a:r>
          </a:p>
          <a:p>
            <a:r>
              <a:rPr lang="en-US" sz="1800" dirty="0"/>
              <a:t>Links</a:t>
            </a:r>
          </a:p>
          <a:p>
            <a:pPr lvl="1"/>
            <a:r>
              <a:rPr lang="en-US" sz="1400" dirty="0"/>
              <a:t>Bluetooth Special Interest Group (SIG) </a:t>
            </a:r>
            <a:r>
              <a:rPr lang="en-US" sz="1400" dirty="0">
                <a:hlinkClick r:id="rId3"/>
              </a:rPr>
              <a:t>https://www.bluetooth.com/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https://en.wikipedia.org/wiki/Bluetooth</a:t>
            </a:r>
            <a:endParaRPr lang="en-US" sz="1400" dirty="0"/>
          </a:p>
          <a:p>
            <a:pPr lvl="1"/>
            <a:r>
              <a:rPr lang="en-US" sz="1400" dirty="0">
                <a:hlinkClick r:id="rId5"/>
              </a:rPr>
              <a:t>https://en.wikipedia.org/wiki/List_of_Bluetooth_protocols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1825182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50573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(BT)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48877"/>
            <a:ext cx="8699500" cy="5475736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Bluetooth Low Energy (BLE)</a:t>
            </a:r>
          </a:p>
          <a:p>
            <a:pPr lvl="1"/>
            <a:r>
              <a:rPr lang="en-US" sz="1400" dirty="0"/>
              <a:t>Redesigned physical layer</a:t>
            </a:r>
          </a:p>
          <a:p>
            <a:pPr lvl="1"/>
            <a:r>
              <a:rPr lang="en-US" sz="1400" dirty="0"/>
              <a:t>Faster network connection and termination</a:t>
            </a:r>
          </a:p>
          <a:p>
            <a:pPr lvl="1"/>
            <a:r>
              <a:rPr lang="en-US" sz="1400" dirty="0"/>
              <a:t>Allows radio power down to save battery</a:t>
            </a:r>
          </a:p>
          <a:p>
            <a:pPr lvl="1"/>
            <a:r>
              <a:rPr lang="en-US" sz="1400" dirty="0"/>
              <a:t>Short </a:t>
            </a:r>
            <a:r>
              <a:rPr lang="en-US" sz="1400" dirty="0" err="1"/>
              <a:t>bursty</a:t>
            </a:r>
            <a:r>
              <a:rPr lang="en-US" sz="1400" dirty="0"/>
              <a:t> data transfer applications up to 1Mbps</a:t>
            </a:r>
          </a:p>
          <a:p>
            <a:r>
              <a:rPr lang="en-US" sz="1800" dirty="0"/>
              <a:t>Bluetooth Protocol Stack (top to bottom)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</a:rPr>
              <a:t>--- Host Software: ---</a:t>
            </a:r>
          </a:p>
          <a:p>
            <a:pPr lvl="1"/>
            <a:r>
              <a:rPr lang="en-US" sz="1400" dirty="0"/>
              <a:t>PPP, IP Stack, Applications</a:t>
            </a:r>
          </a:p>
          <a:p>
            <a:pPr lvl="1"/>
            <a:r>
              <a:rPr lang="en-US" sz="1400" dirty="0"/>
              <a:t>Bluetooth Profiles (RFCOMM, BNEP, OBEX) – Functions</a:t>
            </a:r>
          </a:p>
          <a:p>
            <a:pPr lvl="2"/>
            <a:r>
              <a:rPr lang="en-US" sz="1200" dirty="0"/>
              <a:t>Radio Frequency Communications (RFCOMM)</a:t>
            </a:r>
          </a:p>
          <a:p>
            <a:pPr lvl="2"/>
            <a:r>
              <a:rPr lang="en-US" sz="1200" dirty="0"/>
              <a:t>Bluetooth Network Encapsulation Protocol (BNEP)</a:t>
            </a:r>
          </a:p>
          <a:p>
            <a:pPr lvl="2"/>
            <a:r>
              <a:rPr lang="en-US" sz="1200" dirty="0"/>
              <a:t>Object Exchange Protocol (OBEX)</a:t>
            </a:r>
          </a:p>
          <a:p>
            <a:pPr lvl="2"/>
            <a:r>
              <a:rPr lang="en-US" sz="1200" dirty="0"/>
              <a:t>Headset audio</a:t>
            </a:r>
          </a:p>
          <a:p>
            <a:pPr lvl="2"/>
            <a:r>
              <a:rPr lang="en-US" sz="1200" dirty="0"/>
              <a:t>Dial-up Networking</a:t>
            </a:r>
          </a:p>
          <a:p>
            <a:pPr lvl="1"/>
            <a:r>
              <a:rPr lang="en-US" sz="1400" dirty="0"/>
              <a:t>Logical Link Control and Adaptation Protocol (L2CAP) – abstraction, packet fragmentation, reassembly, QoS function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</a:rPr>
              <a:t>--- Interface: ---</a:t>
            </a:r>
          </a:p>
          <a:p>
            <a:pPr lvl="1"/>
            <a:r>
              <a:rPr lang="en-US" sz="1400" dirty="0"/>
              <a:t>Host Controller Interface (HCI) – Layer between host and device (driver)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</a:rPr>
              <a:t>--- Device Hardware/Firmware: ---</a:t>
            </a:r>
          </a:p>
          <a:p>
            <a:pPr lvl="1"/>
            <a:r>
              <a:rPr lang="en-US" sz="1400" dirty="0"/>
              <a:t>Link Management Protocol (LMP) – Discovery, enumeration, setup, teardown</a:t>
            </a:r>
          </a:p>
          <a:p>
            <a:pPr lvl="1"/>
            <a:r>
              <a:rPr lang="en-US" sz="1400" dirty="0"/>
              <a:t>Baseband Controller, Framing – Packet assembly, disassembly</a:t>
            </a:r>
          </a:p>
          <a:p>
            <a:pPr lvl="1"/>
            <a:r>
              <a:rPr lang="en-US" sz="1400" dirty="0"/>
              <a:t>Radio Interface, RF Controller – Radio interface, channel changing, synchronization, modulation, demodulation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6020375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178336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876641"/>
            <a:ext cx="8699500" cy="5547973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/>
              <a:t>Security starts with 2.1 using SAFER+ block cipher using PIN and MAC</a:t>
            </a:r>
          </a:p>
          <a:p>
            <a:pPr lvl="1"/>
            <a:r>
              <a:rPr lang="en-US" sz="1400" dirty="0"/>
              <a:t>Most devices use a static PIN such as 0000 or 1234</a:t>
            </a:r>
          </a:p>
          <a:p>
            <a:pPr lvl="1"/>
            <a:r>
              <a:rPr lang="en-US" sz="1400" dirty="0"/>
              <a:t>Weak authentication</a:t>
            </a:r>
          </a:p>
          <a:p>
            <a:pPr lvl="1"/>
            <a:r>
              <a:rPr lang="en-US" sz="1400" dirty="0"/>
              <a:t>Possible to identify non-discoverable devices and attack</a:t>
            </a:r>
          </a:p>
          <a:p>
            <a:pPr lvl="1"/>
            <a:r>
              <a:rPr lang="en-US" sz="1400" dirty="0"/>
              <a:t>Older devices are less secure</a:t>
            </a:r>
          </a:p>
          <a:p>
            <a:pPr lvl="1"/>
            <a:r>
              <a:rPr lang="en-US" sz="1400" dirty="0"/>
              <a:t>Long history of security concerns</a:t>
            </a:r>
          </a:p>
          <a:p>
            <a:r>
              <a:rPr lang="en-US" sz="1800" dirty="0"/>
              <a:t>Security Modes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Node never initiates any security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No link encryption, application-level security options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Link encryption before any data is exchanged</a:t>
            </a:r>
          </a:p>
          <a:p>
            <a:r>
              <a:rPr lang="en-US" sz="1800" dirty="0"/>
              <a:t>Security Mode 3</a:t>
            </a:r>
          </a:p>
          <a:p>
            <a:pPr lvl="1"/>
            <a:r>
              <a:rPr lang="en-US" sz="1400" dirty="0"/>
              <a:t>PIN mixed with MAC to generate 128 bit key</a:t>
            </a:r>
          </a:p>
          <a:p>
            <a:pPr lvl="1"/>
            <a:r>
              <a:rPr lang="en-US" sz="1400" dirty="0"/>
              <a:t>SAFER+ cipher used to hash content for authentication</a:t>
            </a:r>
          </a:p>
          <a:p>
            <a:pPr lvl="1"/>
            <a:r>
              <a:rPr lang="en-US" sz="1400" dirty="0"/>
              <a:t>Link key generated for subsequent authentication</a:t>
            </a:r>
          </a:p>
          <a:p>
            <a:pPr lvl="1"/>
            <a:r>
              <a:rPr lang="en-US" sz="1400" dirty="0"/>
              <a:t>EO Cipher, similar to RC4, Stream </a:t>
            </a:r>
            <a:r>
              <a:rPr lang="en-US" sz="1400" dirty="0" err="1"/>
              <a:t>XOR’d</a:t>
            </a:r>
            <a:r>
              <a:rPr lang="en-US" sz="1400" dirty="0"/>
              <a:t> with plaintext to create ciphertext</a:t>
            </a:r>
          </a:p>
          <a:p>
            <a:pPr lvl="1"/>
            <a:r>
              <a:rPr lang="en-US" sz="1400" dirty="0"/>
              <a:t>Uses Linear Shift Feedback Registers (LSFRs) for hardware adaptation</a:t>
            </a:r>
          </a:p>
          <a:p>
            <a:r>
              <a:rPr lang="en-US" sz="1800" dirty="0"/>
              <a:t>Security Tips</a:t>
            </a:r>
          </a:p>
          <a:p>
            <a:pPr lvl="1"/>
            <a:r>
              <a:rPr lang="en-US" sz="1400" dirty="0"/>
              <a:t>Best security is to turn off Bluetooth when not in use</a:t>
            </a:r>
          </a:p>
          <a:p>
            <a:pPr lvl="1"/>
            <a:r>
              <a:rPr lang="en-US" sz="1400" dirty="0"/>
              <a:t>Disable unneeded profiles</a:t>
            </a:r>
          </a:p>
          <a:p>
            <a:pPr lvl="1"/>
            <a:r>
              <a:rPr lang="en-US" sz="1400" dirty="0"/>
              <a:t>Make non-discoverable</a:t>
            </a:r>
          </a:p>
          <a:p>
            <a:pPr lvl="1"/>
            <a:r>
              <a:rPr lang="en-US" sz="1400" dirty="0"/>
              <a:t>Update software</a:t>
            </a:r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28354607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178336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Vulnerabilities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876641"/>
            <a:ext cx="8699500" cy="5547973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Attacks</a:t>
            </a:r>
          </a:p>
          <a:p>
            <a:pPr lvl="1"/>
            <a:r>
              <a:rPr lang="en-US" sz="1400" dirty="0"/>
              <a:t>Classic Pairing Authentication (</a:t>
            </a:r>
            <a:r>
              <a:rPr lang="en-US" sz="1400" dirty="0" err="1"/>
              <a:t>BTCrack</a:t>
            </a:r>
            <a:r>
              <a:rPr lang="en-US" sz="1400" dirty="0"/>
              <a:t> v1.1)</a:t>
            </a:r>
          </a:p>
          <a:p>
            <a:pPr lvl="2"/>
            <a:r>
              <a:rPr lang="en-US" sz="1200" dirty="0"/>
              <a:t>Guess PIN and key offline</a:t>
            </a:r>
          </a:p>
          <a:p>
            <a:pPr lvl="1"/>
            <a:r>
              <a:rPr lang="en-US" sz="1400" dirty="0"/>
              <a:t>Classic PIN Cracking</a:t>
            </a:r>
          </a:p>
          <a:p>
            <a:pPr lvl="2"/>
            <a:r>
              <a:rPr lang="en-US" sz="1200" dirty="0"/>
              <a:t>Capture initial pairing exchange</a:t>
            </a:r>
          </a:p>
          <a:p>
            <a:pPr lvl="2"/>
            <a:r>
              <a:rPr lang="en-US" sz="1200" dirty="0"/>
              <a:t>Impersonate master or slave</a:t>
            </a:r>
          </a:p>
          <a:p>
            <a:pPr lvl="2"/>
            <a:r>
              <a:rPr lang="en-US" sz="1200" dirty="0"/>
              <a:t>Transmit “not accepted”</a:t>
            </a:r>
          </a:p>
          <a:p>
            <a:pPr lvl="2"/>
            <a:r>
              <a:rPr lang="en-US" sz="1200" dirty="0"/>
              <a:t>User is prompted to re-enter PIN</a:t>
            </a:r>
          </a:p>
          <a:p>
            <a:pPr lvl="1"/>
            <a:r>
              <a:rPr lang="en-US" sz="1400" dirty="0"/>
              <a:t>BT MAC (BT_ADDR) might be one off from </a:t>
            </a:r>
            <a:r>
              <a:rPr lang="en-US" sz="1400" dirty="0" err="1"/>
              <a:t>WiFi</a:t>
            </a:r>
            <a:r>
              <a:rPr lang="en-US" sz="1400" dirty="0"/>
              <a:t> MAC</a:t>
            </a:r>
          </a:p>
          <a:p>
            <a:r>
              <a:rPr lang="en-US" sz="1800" dirty="0"/>
              <a:t>Known Exploits/Vulnerabilities</a:t>
            </a:r>
          </a:p>
          <a:p>
            <a:pPr lvl="1"/>
            <a:r>
              <a:rPr lang="en-US" sz="1400" dirty="0" err="1"/>
              <a:t>BlueBorne</a:t>
            </a:r>
            <a:r>
              <a:rPr lang="en-US" sz="1400" dirty="0"/>
              <a:t> </a:t>
            </a:r>
            <a:r>
              <a:rPr lang="en-US" sz="1400" u="sng" dirty="0">
                <a:hlinkClick r:id="rId3"/>
              </a:rPr>
              <a:t>https://www.armis.com/blueborne/</a:t>
            </a:r>
            <a:endParaRPr lang="en-US" sz="1400" u="sng" dirty="0"/>
          </a:p>
          <a:p>
            <a:pPr lvl="1"/>
            <a:r>
              <a:rPr lang="en-US" sz="1400" dirty="0" err="1"/>
              <a:t>Bluejacking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https://en.wikipedia.org/wiki/Bluejacking</a:t>
            </a:r>
            <a:endParaRPr lang="en-US" sz="1400" dirty="0"/>
          </a:p>
          <a:p>
            <a:pPr lvl="1"/>
            <a:r>
              <a:rPr lang="en-US" sz="1400" dirty="0" err="1"/>
              <a:t>Bluesnarfing</a:t>
            </a: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https://en.wikipedia.org/wiki/Bluesnarfing</a:t>
            </a:r>
            <a:endParaRPr lang="en-US" sz="1400" dirty="0"/>
          </a:p>
          <a:p>
            <a:pPr lvl="1"/>
            <a:r>
              <a:rPr lang="en-US" sz="1400" dirty="0"/>
              <a:t>General: </a:t>
            </a:r>
            <a:r>
              <a:rPr lang="en-US" sz="1400" dirty="0">
                <a:hlinkClick r:id="rId6"/>
              </a:rPr>
              <a:t>http://airodump.net/bluetooth-security-vulnerabilities/</a:t>
            </a:r>
            <a:endParaRPr lang="en-US" sz="1400" dirty="0"/>
          </a:p>
          <a:p>
            <a:pPr lvl="1"/>
            <a:r>
              <a:rPr lang="en-US" sz="1400" dirty="0" err="1"/>
              <a:t>DirtyTooth</a:t>
            </a:r>
            <a:endParaRPr lang="en-US" sz="1400" dirty="0"/>
          </a:p>
          <a:p>
            <a:pPr lvl="2"/>
            <a:r>
              <a:rPr lang="en-US" sz="1200" dirty="0">
                <a:hlinkClick r:id="rId7"/>
              </a:rPr>
              <a:t>http://www.dirtytooth.com/</a:t>
            </a:r>
            <a:endParaRPr lang="en-US" sz="1200" dirty="0"/>
          </a:p>
          <a:p>
            <a:pPr lvl="2"/>
            <a:r>
              <a:rPr lang="en-US" sz="1200" dirty="0">
                <a:hlinkClick r:id="rId8"/>
              </a:rPr>
              <a:t>https://www.elevenpaths.com/labstools/dirtytooth-para-raspberry-pi-2/index.html</a:t>
            </a:r>
            <a:endParaRPr lang="en-US" sz="1200" dirty="0"/>
          </a:p>
          <a:p>
            <a:r>
              <a:rPr lang="en-US" sz="1800" dirty="0"/>
              <a:t>CERT CVE Lookup</a:t>
            </a:r>
          </a:p>
          <a:p>
            <a:pPr lvl="1"/>
            <a:r>
              <a:rPr lang="en-US" sz="1400" dirty="0">
                <a:hlinkClick r:id="rId9"/>
              </a:rPr>
              <a:t>http://cve.mitre.org/cgi-bin/cvekey.cgi?keyword=bluetooth</a:t>
            </a:r>
            <a:endParaRPr lang="en-US" sz="1400" dirty="0"/>
          </a:p>
          <a:p>
            <a:r>
              <a:rPr lang="en-US" sz="1800" dirty="0"/>
              <a:t>NIST Guidelines</a:t>
            </a:r>
          </a:p>
          <a:p>
            <a:pPr lvl="1"/>
            <a:r>
              <a:rPr lang="en-US" sz="1400" dirty="0">
                <a:hlinkClick r:id="rId10"/>
              </a:rPr>
              <a:t>https://csrc.nist.gov/csrc/media/publications/sp/800-121/rev-2/draft/documents/sp800_121_r2_draft.pdf</a:t>
            </a:r>
            <a:endParaRPr lang="en-US" sz="1400" dirty="0"/>
          </a:p>
          <a:p>
            <a:r>
              <a:rPr lang="en-US" sz="1800" dirty="0"/>
              <a:t>SANS Whitepaper</a:t>
            </a:r>
          </a:p>
          <a:p>
            <a:pPr lvl="1"/>
            <a:r>
              <a:rPr lang="en-US" sz="1400" dirty="0">
                <a:hlinkClick r:id="rId11"/>
              </a:rPr>
              <a:t>https://www.sans.org/reading-room/whitepapers/wireless/bluetooth-inherent-security-issues-945</a:t>
            </a:r>
            <a:endParaRPr lang="en-US" sz="1400" dirty="0"/>
          </a:p>
          <a:p>
            <a:pPr lvl="1"/>
            <a:endParaRPr lang="en-US" sz="1400" dirty="0"/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07742162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792288" y="250573"/>
            <a:ext cx="8607424" cy="698305"/>
          </a:xfrm>
        </p:spPr>
        <p:txBody>
          <a:bodyPr>
            <a:noAutofit/>
          </a:bodyPr>
          <a:lstStyle/>
          <a:p>
            <a:r>
              <a:rPr lang="en-US" sz="3200" dirty="0"/>
              <a:t>Bluetooth Low Energy (BLE)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48877"/>
            <a:ext cx="8699500" cy="5475736"/>
          </a:xfrm>
        </p:spPr>
        <p:txBody>
          <a:bodyPr>
            <a:normAutofit/>
          </a:bodyPr>
          <a:lstStyle/>
          <a:p>
            <a:r>
              <a:rPr lang="en-US" sz="1800" dirty="0"/>
              <a:t>Bluetooth Low Energy (BLE)</a:t>
            </a:r>
          </a:p>
          <a:p>
            <a:pPr lvl="1"/>
            <a:r>
              <a:rPr lang="en-US" sz="1400" dirty="0"/>
              <a:t>Classic BT became overly complicated</a:t>
            </a:r>
          </a:p>
          <a:p>
            <a:pPr lvl="1"/>
            <a:r>
              <a:rPr lang="en-US" sz="1400" dirty="0"/>
              <a:t>Needed less overhead</a:t>
            </a:r>
          </a:p>
          <a:p>
            <a:pPr lvl="1"/>
            <a:r>
              <a:rPr lang="en-US" sz="1400" dirty="0"/>
              <a:t>More competitive with ZigBee</a:t>
            </a:r>
          </a:p>
          <a:p>
            <a:pPr lvl="1"/>
            <a:r>
              <a:rPr lang="en-US" sz="1400" dirty="0"/>
              <a:t>Redesigned physical layer</a:t>
            </a:r>
          </a:p>
          <a:p>
            <a:pPr lvl="1"/>
            <a:r>
              <a:rPr lang="en-US" sz="1400" dirty="0"/>
              <a:t>Faster network connection and termination</a:t>
            </a:r>
          </a:p>
          <a:p>
            <a:pPr lvl="1"/>
            <a:r>
              <a:rPr lang="en-US" sz="1400" dirty="0"/>
              <a:t>Allows radio power down to save battery</a:t>
            </a:r>
          </a:p>
          <a:p>
            <a:pPr lvl="1"/>
            <a:r>
              <a:rPr lang="en-US" sz="1400" dirty="0"/>
              <a:t>Short </a:t>
            </a:r>
            <a:r>
              <a:rPr lang="en-US" sz="1400" dirty="0" err="1"/>
              <a:t>bursty</a:t>
            </a:r>
            <a:r>
              <a:rPr lang="en-US" sz="1400" dirty="0"/>
              <a:t> data transfer applications up to 1Mbps</a:t>
            </a:r>
          </a:p>
          <a:p>
            <a:r>
              <a:rPr lang="en-US" sz="1800" dirty="0"/>
              <a:t>Changes from Classic BT</a:t>
            </a:r>
          </a:p>
          <a:p>
            <a:pPr lvl="1"/>
            <a:r>
              <a:rPr lang="en-US" sz="1400" dirty="0"/>
              <a:t>AMP just hands off to standard </a:t>
            </a:r>
            <a:r>
              <a:rPr lang="en-US" sz="1400" dirty="0" err="1"/>
              <a:t>WiFi</a:t>
            </a:r>
            <a:endParaRPr lang="en-US" sz="1400" dirty="0"/>
          </a:p>
          <a:p>
            <a:pPr lvl="1"/>
            <a:r>
              <a:rPr lang="en-US" sz="1400" dirty="0"/>
              <a:t>Gaussian Frequency Shift Keying (GFSK) instead of FHSS</a:t>
            </a:r>
          </a:p>
          <a:p>
            <a:pPr lvl="1"/>
            <a:r>
              <a:rPr lang="en-US" sz="1400" dirty="0"/>
              <a:t>Separate radio, same antenna</a:t>
            </a:r>
          </a:p>
          <a:p>
            <a:pPr lvl="1"/>
            <a:r>
              <a:rPr lang="en-US" sz="1400" dirty="0"/>
              <a:t>40 channels, next hop is mod 37</a:t>
            </a:r>
          </a:p>
          <a:p>
            <a:pPr lvl="1"/>
            <a:r>
              <a:rPr lang="en-US" sz="1400" dirty="0"/>
              <a:t>BLE leverages GATT/ATT protocol for data exchanges, replaces RFCOMM</a:t>
            </a:r>
          </a:p>
          <a:p>
            <a:pPr lvl="1"/>
            <a:r>
              <a:rPr lang="en-US" sz="1400" dirty="0"/>
              <a:t>Standardized protocol for all profiles to reduce overhead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2907291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792288" y="250573"/>
            <a:ext cx="8607424" cy="698305"/>
          </a:xfrm>
        </p:spPr>
        <p:txBody>
          <a:bodyPr>
            <a:noAutofit/>
          </a:bodyPr>
          <a:lstStyle/>
          <a:p>
            <a:r>
              <a:rPr lang="en-US" sz="3200" dirty="0"/>
              <a:t>Bluetooth Low Energy (BLE)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48877"/>
            <a:ext cx="8699500" cy="5475736"/>
          </a:xfrm>
        </p:spPr>
        <p:txBody>
          <a:bodyPr>
            <a:normAutofit/>
          </a:bodyPr>
          <a:lstStyle/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Pairing similar to Classic Bluetooth</a:t>
            </a:r>
          </a:p>
          <a:p>
            <a:pPr lvl="1"/>
            <a:r>
              <a:rPr lang="en-US" sz="1400" dirty="0"/>
              <a:t>Keys are not retained, renegotiated each time</a:t>
            </a:r>
          </a:p>
          <a:p>
            <a:pPr lvl="1"/>
            <a:r>
              <a:rPr lang="en-US" sz="1400" dirty="0"/>
              <a:t>Bonding retains keys</a:t>
            </a:r>
          </a:p>
          <a:p>
            <a:pPr lvl="1"/>
            <a:r>
              <a:rPr lang="en-US" sz="1400" dirty="0"/>
              <a:t>LE 4.2 is most secure using Out of Band (OOB) pairing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“Just Works” mode is not secure (TK=0)</a:t>
            </a:r>
          </a:p>
          <a:p>
            <a:pPr lvl="1"/>
            <a:r>
              <a:rPr lang="en-US" sz="1400" dirty="0"/>
              <a:t>Profiles are similar to Classic Mode 1</a:t>
            </a:r>
          </a:p>
          <a:p>
            <a:pPr lvl="1"/>
            <a:r>
              <a:rPr lang="en-US" sz="1400" dirty="0"/>
              <a:t>Easy to find advertising devices, track and capture</a:t>
            </a:r>
          </a:p>
          <a:p>
            <a:pPr lvl="1"/>
            <a:r>
              <a:rPr lang="en-US" sz="1400" dirty="0"/>
              <a:t>PIN cracking is easier if pairing exchange is captured</a:t>
            </a:r>
          </a:p>
          <a:p>
            <a:pPr lvl="1"/>
            <a:r>
              <a:rPr lang="en-US" sz="1400" dirty="0"/>
              <a:t>Currently no way to force </a:t>
            </a:r>
            <a:r>
              <a:rPr lang="en-US" sz="1400" dirty="0" err="1"/>
              <a:t>deauthorization</a:t>
            </a:r>
            <a:endParaRPr lang="en-US" sz="1400" dirty="0"/>
          </a:p>
          <a:p>
            <a:pPr lvl="1"/>
            <a:r>
              <a:rPr lang="en-US" sz="1400" dirty="0"/>
              <a:t>Security left up to applications</a:t>
            </a:r>
          </a:p>
          <a:p>
            <a:pPr lvl="1"/>
            <a:r>
              <a:rPr lang="en-US" sz="1400" dirty="0" err="1"/>
              <a:t>GATTacker</a:t>
            </a:r>
            <a:r>
              <a:rPr lang="en-US" sz="1400" dirty="0"/>
              <a:t> is a Man-In-The-Middle (MITM) tool which spoofs both master and slave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705773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2670</TotalTime>
  <Words>2181</Words>
  <Application>Microsoft Office PowerPoint</Application>
  <PresentationFormat>Widescreen</PresentationFormat>
  <Paragraphs>278</Paragraphs>
  <Slides>26</Slides>
  <Notes>8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Custom Design</vt:lpstr>
      <vt:lpstr>PowerPoint Presentation</vt:lpstr>
      <vt:lpstr>1. Getting Started</vt:lpstr>
      <vt:lpstr>1. Getting Started</vt:lpstr>
      <vt:lpstr>2. Bluetooth Scanning</vt:lpstr>
      <vt:lpstr>2. Bluetooth Scanning</vt:lpstr>
      <vt:lpstr>2. Bluetooth Scanning</vt:lpstr>
      <vt:lpstr>PowerPoint Presentation</vt:lpstr>
      <vt:lpstr>A Note on BT Addresses and Scanning</vt:lpstr>
      <vt:lpstr>3. Enumerating Bluetooth Information</vt:lpstr>
      <vt:lpstr>4. Identifying BT Services</vt:lpstr>
      <vt:lpstr>4. Identifying BT Services</vt:lpstr>
      <vt:lpstr>5. Analyzing SDP Output</vt:lpstr>
      <vt:lpstr>5. Analyzing SDP Output</vt:lpstr>
      <vt:lpstr>6. Pairing Devices In Linux</vt:lpstr>
      <vt:lpstr>6. Pairing Devices In Linux</vt:lpstr>
      <vt:lpstr>6. Pairing Devices In Linux</vt:lpstr>
      <vt:lpstr>7. Sending Data Over Bluetooth</vt:lpstr>
      <vt:lpstr>7. Sending Data Over Bluetooth</vt:lpstr>
      <vt:lpstr>Bluetooth Tools</vt:lpstr>
      <vt:lpstr>Bluetooth Tools</vt:lpstr>
      <vt:lpstr>Bluetooth (BT) Information</vt:lpstr>
      <vt:lpstr>Bluetooth (BT) Information</vt:lpstr>
      <vt:lpstr>Bluetooth Security</vt:lpstr>
      <vt:lpstr>Bluetooth Vulnerabilities</vt:lpstr>
      <vt:lpstr>Bluetooth Low Energy (BLE) Information</vt:lpstr>
      <vt:lpstr>Bluetooth Low Energy (BLE)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Neal Probert</cp:lastModifiedBy>
  <cp:revision>25</cp:revision>
  <dcterms:created xsi:type="dcterms:W3CDTF">2026-03-11T18:02:03Z</dcterms:created>
  <dcterms:modified xsi:type="dcterms:W3CDTF">2026-10-16T17:57:56Z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
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3"/>
  </p:notesMasterIdLst>
  <p:sldIdLst>
    <p:sldId id="384" r:id="rId6"/>
    <p:sldId id="385" r:id="rId7"/>
    <p:sldId id="386" r:id="rId8"/>
    <p:sldId id="387" r:id="rId9"/>
    <p:sldId id="388" r:id="rId10"/>
    <p:sldId id="389" r:id="rId11"/>
    <p:sldId id="390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DS" id="{1110636F-EF7A-43CA-8F12-063080A3E747}">
          <p14:sldIdLst>
            <p14:sldId id="384"/>
            <p14:sldId id="385"/>
            <p14:sldId id="386"/>
            <p14:sldId id="387"/>
            <p14:sldId id="388"/>
            <p14:sldId id="389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267" y="1359690"/>
            <a:ext cx="7943427" cy="27264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RDS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system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transmitting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small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amounts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digital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along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FM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broadcasts.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933"/>
              </a:spcBef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transmitted: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1933"/>
              </a:spcBef>
              <a:buClr>
                <a:srgbClr val="000000"/>
              </a:buClr>
              <a:buFont typeface="Arial"/>
              <a:buChar char="●"/>
              <a:tabLst>
                <a:tab pos="625671" algn="l"/>
              </a:tabLst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Program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Service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(PS):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Displays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station's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identiﬁer.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marR="220128" indent="-448722" defTabSz="12191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626518" algn="l"/>
              </a:tabLst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1867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Text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(RT):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Additional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text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related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broadcast content.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339"/>
              </a:spcBef>
              <a:buClr>
                <a:srgbClr val="000000"/>
              </a:buClr>
              <a:buFont typeface="Arial"/>
              <a:buChar char="●"/>
              <a:tabLst>
                <a:tab pos="625671" algn="l"/>
              </a:tabLst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Clock</a:t>
            </a:r>
            <a:r>
              <a:rPr sz="1867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Time: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RDS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synchronize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clock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compatible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receivers.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267" y="4832377"/>
            <a:ext cx="3134360" cy="8353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Frequency</a:t>
            </a:r>
            <a:r>
              <a:rPr sz="1867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range</a:t>
            </a:r>
            <a:r>
              <a:rPr sz="1867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(USA):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1933"/>
              </a:spcBef>
              <a:buFont typeface="Arial"/>
              <a:buChar char="●"/>
              <a:tabLst>
                <a:tab pos="625671" algn="l"/>
              </a:tabLst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87.5MHz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108.0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27" dirty="0">
                <a:solidFill>
                  <a:srgbClr val="434343"/>
                </a:solidFill>
                <a:latin typeface="Roboto"/>
                <a:cs typeface="Roboto"/>
              </a:rPr>
              <a:t>MHz.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1</a:t>
            </a:fld>
            <a:endParaRPr kern="0" spc="-33" dirty="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09588"/>
            <a:ext cx="10714038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RDS</a:t>
            </a:r>
            <a:r>
              <a:rPr spc="-47" dirty="0"/>
              <a:t> </a:t>
            </a:r>
            <a:r>
              <a:rPr dirty="0"/>
              <a:t>Overview</a:t>
            </a:r>
            <a:r>
              <a:rPr spc="-27" dirty="0"/>
              <a:t> </a:t>
            </a:r>
            <a:r>
              <a:rPr dirty="0">
                <a:solidFill>
                  <a:srgbClr val="2A3890"/>
                </a:solidFill>
              </a:rPr>
              <a:t>-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What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is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the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Radio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Data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System?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0793" y="1233000"/>
            <a:ext cx="2030040" cy="18835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5234" y="3483603"/>
            <a:ext cx="3756765" cy="27179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79916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Receiving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and</a:t>
            </a:r>
            <a:r>
              <a:rPr sz="4000" kern="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decoding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 RDS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3" y="1365942"/>
            <a:ext cx="730842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$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sudo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xdg-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/usr/src/gr-rds/examples/rds_rx.grc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Replace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RTL-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SDR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Osmocom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2983" y="2223934"/>
            <a:ext cx="9288817" cy="4497541"/>
            <a:chOff x="977237" y="1667950"/>
            <a:chExt cx="7106284" cy="347599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2000" y="1667950"/>
              <a:ext cx="7101224" cy="34755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82000" y="2941650"/>
              <a:ext cx="917575" cy="790575"/>
            </a:xfrm>
            <a:custGeom>
              <a:avLst/>
              <a:gdLst/>
              <a:ahLst/>
              <a:cxnLst/>
              <a:rect l="l" t="t" r="r" b="b"/>
              <a:pathLst>
                <a:path w="917575" h="790575">
                  <a:moveTo>
                    <a:pt x="0" y="0"/>
                  </a:moveTo>
                  <a:lnTo>
                    <a:pt x="917399" y="0"/>
                  </a:lnTo>
                  <a:lnTo>
                    <a:pt x="9173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2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3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738187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>
                <a:solidFill>
                  <a:srgbClr val="2A3890"/>
                </a:solidFill>
              </a:rPr>
              <a:t>RDS-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Receiving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decoding</a:t>
            </a:r>
            <a:r>
              <a:rPr sz="3600" spc="-6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792993" y="1352550"/>
            <a:ext cx="9874673" cy="4715933"/>
            <a:chOff x="869064" y="1114499"/>
            <a:chExt cx="7406005" cy="3536950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9064" y="1114499"/>
              <a:ext cx="7405872" cy="35367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25475" y="1916849"/>
              <a:ext cx="3270250" cy="393700"/>
            </a:xfrm>
            <a:custGeom>
              <a:avLst/>
              <a:gdLst/>
              <a:ahLst/>
              <a:cxnLst/>
              <a:rect l="l" t="t" r="r" b="b"/>
              <a:pathLst>
                <a:path w="3270250" h="393700">
                  <a:moveTo>
                    <a:pt x="0" y="0"/>
                  </a:moveTo>
                  <a:lnTo>
                    <a:pt x="3269699" y="0"/>
                  </a:lnTo>
                  <a:lnTo>
                    <a:pt x="3269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548301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13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Transmitting</a:t>
            </a:r>
            <a:r>
              <a:rPr sz="4000" kern="0" spc="-6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RDS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4" y="1365941"/>
            <a:ext cx="789178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$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sudo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xdg-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/usr/src/gr-rds/examples/rds_tx.grc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Adjust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transmit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frequency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by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modifying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freq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0066" y="2588665"/>
            <a:ext cx="8111913" cy="4138507"/>
            <a:chOff x="1530049" y="1941499"/>
            <a:chExt cx="6083935" cy="310388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30049" y="1941499"/>
              <a:ext cx="6083899" cy="31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18050" y="2102299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0" y="0"/>
                  </a:moveTo>
                  <a:lnTo>
                    <a:pt x="307799" y="0"/>
                  </a:lnTo>
                  <a:lnTo>
                    <a:pt x="307799" y="204899"/>
                  </a:lnTo>
                  <a:lnTo>
                    <a:pt x="0" y="20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4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784521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4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12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Transmitting</a:t>
            </a:r>
            <a:r>
              <a:rPr sz="4000" kern="0" spc="-5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RDS</a:t>
            </a:r>
            <a:r>
              <a:rPr sz="4000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continued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3" y="1365941"/>
            <a:ext cx="103157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Replace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Wav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ports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2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8416" y="1887401"/>
            <a:ext cx="9321800" cy="4728633"/>
            <a:chOff x="846312" y="1415550"/>
            <a:chExt cx="6991350" cy="3546475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5024" y="1415550"/>
              <a:ext cx="6952622" cy="35464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1074" y="3907900"/>
              <a:ext cx="549275" cy="393700"/>
            </a:xfrm>
            <a:custGeom>
              <a:avLst/>
              <a:gdLst/>
              <a:ahLst/>
              <a:cxnLst/>
              <a:rect l="l" t="t" r="r" b="b"/>
              <a:pathLst>
                <a:path w="549275" h="393700">
                  <a:moveTo>
                    <a:pt x="0" y="0"/>
                  </a:moveTo>
                  <a:lnTo>
                    <a:pt x="548699" y="0"/>
                  </a:lnTo>
                  <a:lnTo>
                    <a:pt x="548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5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7377" y="679150"/>
            <a:ext cx="10822506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RDS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–</a:t>
            </a:r>
            <a:r>
              <a:rPr sz="3600" spc="-1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Transmitting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37716" y="1436634"/>
            <a:ext cx="9110979" cy="5095239"/>
            <a:chOff x="1153287" y="1077475"/>
            <a:chExt cx="6833234" cy="3821429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58049" y="1077475"/>
              <a:ext cx="6827909" cy="3820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8049" y="2791125"/>
              <a:ext cx="5402580" cy="1461770"/>
            </a:xfrm>
            <a:custGeom>
              <a:avLst/>
              <a:gdLst/>
              <a:ahLst/>
              <a:cxnLst/>
              <a:rect l="l" t="t" r="r" b="b"/>
              <a:pathLst>
                <a:path w="5402580" h="1461770">
                  <a:moveTo>
                    <a:pt x="0" y="1067974"/>
                  </a:moveTo>
                  <a:lnTo>
                    <a:pt x="548699" y="1067974"/>
                  </a:lnTo>
                  <a:lnTo>
                    <a:pt x="548699" y="1461574"/>
                  </a:lnTo>
                  <a:lnTo>
                    <a:pt x="0" y="1461574"/>
                  </a:lnTo>
                  <a:lnTo>
                    <a:pt x="0" y="1067974"/>
                  </a:lnTo>
                  <a:close/>
                </a:path>
                <a:path w="5402580" h="1461770">
                  <a:moveTo>
                    <a:pt x="3339474" y="0"/>
                  </a:moveTo>
                  <a:lnTo>
                    <a:pt x="5402574" y="0"/>
                  </a:lnTo>
                  <a:lnTo>
                    <a:pt x="5402574" y="443399"/>
                  </a:lnTo>
                  <a:lnTo>
                    <a:pt x="3339474" y="443399"/>
                  </a:lnTo>
                  <a:lnTo>
                    <a:pt x="333947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83777"/>
            <a:ext cx="10264240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RDS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–</a:t>
            </a:r>
            <a:r>
              <a:rPr sz="3600" spc="-1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Transmitting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4067" y="1448167"/>
            <a:ext cx="9103879" cy="50945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178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Roboto</vt:lpstr>
      <vt:lpstr>Custom Design</vt:lpstr>
      <vt:lpstr>RDS Overview - What is the Radio Data System?</vt:lpstr>
      <vt:lpstr>PowerPoint Presentation</vt:lpstr>
      <vt:lpstr>RDS- Receiving and decoding RDS continued</vt:lpstr>
      <vt:lpstr>PowerPoint Presentation</vt:lpstr>
      <vt:lpstr>PowerPoint Presentation</vt:lpstr>
      <vt:lpstr>RDS – Transmitting RDS continued</vt:lpstr>
      <vt:lpstr>RDS – Transmitting RDS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7</cp:revision>
  <dcterms:created xsi:type="dcterms:W3CDTF">2026-03-11T18:02:03Z</dcterms:created>
  <dcterms:modified xsi:type="dcterms:W3CDTF">2026-04-29T14:18:32Z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
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61"/>
  </p:notesMasterIdLst>
  <p:sldIdLst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277" r:id="rId23"/>
    <p:sldId id="301" r:id="rId24"/>
    <p:sldId id="302" r:id="rId25"/>
    <p:sldId id="307" r:id="rId26"/>
    <p:sldId id="308" r:id="rId27"/>
    <p:sldId id="309" r:id="rId28"/>
    <p:sldId id="312" r:id="rId29"/>
    <p:sldId id="310" r:id="rId30"/>
    <p:sldId id="311" r:id="rId31"/>
    <p:sldId id="320" r:id="rId32"/>
    <p:sldId id="321" r:id="rId33"/>
    <p:sldId id="322" r:id="rId34"/>
    <p:sldId id="323" r:id="rId35"/>
    <p:sldId id="324" r:id="rId36"/>
    <p:sldId id="325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  <p:sldId id="353" r:id="rId52"/>
    <p:sldId id="354" r:id="rId53"/>
    <p:sldId id="355" r:id="rId54"/>
    <p:sldId id="356" r:id="rId55"/>
    <p:sldId id="357" r:id="rId56"/>
    <p:sldId id="358" r:id="rId57"/>
    <p:sldId id="359" r:id="rId58"/>
    <p:sldId id="360" r:id="rId59"/>
    <p:sldId id="361" r:id="rId60"/>
    <p:sldId id="362" r:id="rId61"/>
    <p:sldId id="363" r:id="rId62"/>
    <p:sldId id="368" r:id="rId63"/>
    <p:sldId id="369" r:id="rId64"/>
    <p:sldId id="370" r:id="rId65"/>
    <p:sldId id="371" r:id="rId66"/>
    <p:sldId id="372" r:id="rId67"/>
    <p:sldId id="373" r:id="rId68"/>
    <p:sldId id="374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389" r:id="rId77"/>
    <p:sldId id="390" r:id="rId78"/>
    <p:sldId id="303" r:id="rId79"/>
    <p:sldId id="304" r:id="rId80"/>
    <p:sldId id="305" r:id="rId81"/>
    <p:sldId id="306" r:id="rId82"/>
    <p:sldId id="391" r:id="rId83"/>
    <p:sldId id="392" r:id="rId84"/>
    <p:sldId id="393" r:id="rId85"/>
    <p:sldId id="394" r:id="rId86"/>
    <p:sldId id="395" r:id="rId87"/>
    <p:sldId id="396" r:id="rId88"/>
    <p:sldId id="313" r:id="rId89"/>
    <p:sldId id="314" r:id="rId90"/>
    <p:sldId id="315" r:id="rId91"/>
    <p:sldId id="316" r:id="rId92"/>
    <p:sldId id="317" r:id="rId93"/>
    <p:sldId id="318" r:id="rId94"/>
    <p:sldId id="319" r:id="rId95"/>
    <p:sldId id="397" r:id="rId96"/>
    <p:sldId id="398" r:id="rId97"/>
    <p:sldId id="399" r:id="rId98"/>
    <p:sldId id="400" r:id="rId99"/>
    <p:sldId id="401" r:id="rId100"/>
    <p:sldId id="402" r:id="rId101"/>
    <p:sldId id="403" r:id="rId102"/>
    <p:sldId id="404" r:id="rId103"/>
    <p:sldId id="405" r:id="rId104"/>
    <p:sldId id="406" r:id="rId105"/>
    <p:sldId id="407" r:id="rId106"/>
    <p:sldId id="326" r:id="rId107"/>
    <p:sldId id="327" r:id="rId108"/>
    <p:sldId id="328" r:id="rId109"/>
    <p:sldId id="329" r:id="rId110"/>
    <p:sldId id="330" r:id="rId111"/>
    <p:sldId id="331" r:id="rId112"/>
    <p:sldId id="332" r:id="rId113"/>
    <p:sldId id="333" r:id="rId114"/>
    <p:sldId id="334" r:id="rId115"/>
    <p:sldId id="335" r:id="rId116"/>
    <p:sldId id="336" r:id="rId117"/>
    <p:sldId id="337" r:id="rId118"/>
    <p:sldId id="338" r:id="rId119"/>
    <p:sldId id="408" r:id="rId120"/>
    <p:sldId id="409" r:id="rId121"/>
    <p:sldId id="410" r:id="rId122"/>
    <p:sldId id="411" r:id="rId123"/>
    <p:sldId id="412" r:id="rId124"/>
    <p:sldId id="413" r:id="rId125"/>
    <p:sldId id="414" r:id="rId126"/>
    <p:sldId id="415" r:id="rId127"/>
    <p:sldId id="416" r:id="rId128"/>
    <p:sldId id="417" r:id="rId129"/>
    <p:sldId id="418" r:id="rId130"/>
    <p:sldId id="419" r:id="rId131"/>
    <p:sldId id="420" r:id="rId132"/>
    <p:sldId id="272" r:id="rId133"/>
    <p:sldId id="273" r:id="rId134"/>
    <p:sldId id="274" r:id="rId135"/>
    <p:sldId id="275" r:id="rId136"/>
    <p:sldId id="421" r:id="rId137"/>
    <p:sldId id="422" r:id="rId138"/>
    <p:sldId id="423" r:id="rId139"/>
    <p:sldId id="424" r:id="rId140"/>
    <p:sldId id="425" r:id="rId141"/>
    <p:sldId id="426" r:id="rId142"/>
    <p:sldId id="427" r:id="rId143"/>
    <p:sldId id="428" r:id="rId144"/>
    <p:sldId id="429" r:id="rId145"/>
    <p:sldId id="430" r:id="rId146"/>
    <p:sldId id="431" r:id="rId147"/>
    <p:sldId id="432" r:id="rId148"/>
    <p:sldId id="433" r:id="rId149"/>
    <p:sldId id="434" r:id="rId150"/>
    <p:sldId id="435" r:id="rId151"/>
    <p:sldId id="436" r:id="rId152"/>
    <p:sldId id="437" r:id="rId153"/>
    <p:sldId id="438" r:id="rId154"/>
    <p:sldId id="439" r:id="rId155"/>
    <p:sldId id="440" r:id="rId156"/>
    <p:sldId id="441" r:id="rId157"/>
    <p:sldId id="442" r:id="rId158"/>
    <p:sldId id="443" r:id="rId159"/>
    <p:sldId id="444" r:id="rId160"/>
  </p:sldIdLst>
  <p:sldSz cx="12192000" cy="6858000"/>
  <p:notesSz cx="6858000" cy="9144000"/>
  <p:custDataLst>
    <p:tags r:id="rId1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59" Type="http://schemas.openxmlformats.org/officeDocument/2006/relationships/slide" Target="slides/slide154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slide" Target="slides/slide144.xml"/><Relationship Id="rId5" Type="http://schemas.openxmlformats.org/officeDocument/2006/relationships/slideMaster" Target="slideMasters/slideMaster1.xml"/><Relationship Id="rId95" Type="http://schemas.openxmlformats.org/officeDocument/2006/relationships/slide" Target="slides/slide90.xml"/><Relationship Id="rId160" Type="http://schemas.openxmlformats.org/officeDocument/2006/relationships/slide" Target="slides/slide155.xml"/><Relationship Id="rId22" Type="http://schemas.openxmlformats.org/officeDocument/2006/relationships/slide" Target="slides/slide17.xml"/><Relationship Id="rId43" Type="http://schemas.openxmlformats.org/officeDocument/2006/relationships/slide" Target="slides/slide38.xml"/><Relationship Id="rId64" Type="http://schemas.openxmlformats.org/officeDocument/2006/relationships/slide" Target="slides/slide59.xml"/><Relationship Id="rId118" Type="http://schemas.openxmlformats.org/officeDocument/2006/relationships/slide" Target="slides/slide113.xml"/><Relationship Id="rId139" Type="http://schemas.openxmlformats.org/officeDocument/2006/relationships/slide" Target="slides/slide134.xml"/><Relationship Id="rId85" Type="http://schemas.openxmlformats.org/officeDocument/2006/relationships/slide" Target="slides/slide80.xml"/><Relationship Id="rId150" Type="http://schemas.openxmlformats.org/officeDocument/2006/relationships/slide" Target="slides/slide145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45" Type="http://schemas.openxmlformats.org/officeDocument/2006/relationships/slide" Target="slides/slide140.xml"/><Relationship Id="rId161" Type="http://schemas.openxmlformats.org/officeDocument/2006/relationships/notesMaster" Target="notesMasters/notesMaster1.xml"/><Relationship Id="rId16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51" Type="http://schemas.openxmlformats.org/officeDocument/2006/relationships/slide" Target="slides/slide146.xml"/><Relationship Id="rId156" Type="http://schemas.openxmlformats.org/officeDocument/2006/relationships/slide" Target="slides/slide15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slide" Target="slides/slide136.xml"/><Relationship Id="rId146" Type="http://schemas.openxmlformats.org/officeDocument/2006/relationships/slide" Target="slides/slide141.xml"/><Relationship Id="rId167" Type="http://schemas.microsoft.com/office/2016/11/relationships/changesInfo" Target="changesInfos/changesInfo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162" Type="http://schemas.openxmlformats.org/officeDocument/2006/relationships/tags" Target="tags/tag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157" Type="http://schemas.openxmlformats.org/officeDocument/2006/relationships/slide" Target="slides/slide15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52" Type="http://schemas.openxmlformats.org/officeDocument/2006/relationships/slide" Target="slides/slide14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slide" Target="slides/slide142.xml"/><Relationship Id="rId168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163" Type="http://schemas.openxmlformats.org/officeDocument/2006/relationships/presProps" Target="presProps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158" Type="http://schemas.openxmlformats.org/officeDocument/2006/relationships/slide" Target="slides/slide153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3" Type="http://schemas.openxmlformats.org/officeDocument/2006/relationships/slide" Target="slides/slide148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slide" Target="slides/slide143.xml"/><Relationship Id="rId16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54" Type="http://schemas.openxmlformats.org/officeDocument/2006/relationships/slide" Target="slides/slide149.xml"/><Relationship Id="rId16" Type="http://schemas.openxmlformats.org/officeDocument/2006/relationships/slide" Target="slides/slide11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90" Type="http://schemas.openxmlformats.org/officeDocument/2006/relationships/slide" Target="slides/slide85.xml"/><Relationship Id="rId165" Type="http://schemas.openxmlformats.org/officeDocument/2006/relationships/theme" Target="theme/theme1.xml"/><Relationship Id="rId27" Type="http://schemas.openxmlformats.org/officeDocument/2006/relationships/slide" Target="slides/slide22.xml"/><Relationship Id="rId48" Type="http://schemas.openxmlformats.org/officeDocument/2006/relationships/slide" Target="slides/slide43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34" Type="http://schemas.openxmlformats.org/officeDocument/2006/relationships/slide" Target="slides/slide129.xml"/><Relationship Id="rId80" Type="http://schemas.openxmlformats.org/officeDocument/2006/relationships/slide" Target="slides/slide75.xml"/><Relationship Id="rId155" Type="http://schemas.openxmlformats.org/officeDocument/2006/relationships/slide" Target="slides/slide1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76f7274c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2676f7274c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76f7274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76f7274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6a0fba4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56a0fba4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56a0fba46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156a0fba46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Refs: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https://www.linux.org/threads/usb-serial-device-does-not-appear-as-dev-ttyusb.23105/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https://www.kali.org/docs/general-use/updating-kali/</a:t>
            </a:r>
            <a:endParaRPr/>
          </a:p>
          <a:p>
            <a:pPr marL="1714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  <p:sp>
        <p:nvSpPr>
          <p:cNvPr id="485" name="Google Shape;48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676f7274c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676f7274c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Relationship Id="rId4" Type="http://schemas.openxmlformats.org/officeDocument/2006/relationships/image" Target="../media/image2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Relationship Id="rId4" Type="http://schemas.openxmlformats.org/officeDocument/2006/relationships/image" Target="../media/image3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Relationship Id="rId4" Type="http://schemas.openxmlformats.org/officeDocument/2006/relationships/image" Target="../media/image3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5.png"/><Relationship Id="rId3" Type="http://schemas.openxmlformats.org/officeDocument/2006/relationships/image" Target="../media/image50.jpg"/><Relationship Id="rId7" Type="http://schemas.openxmlformats.org/officeDocument/2006/relationships/image" Target="../media/image51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6" Type="http://schemas.openxmlformats.org/officeDocument/2006/relationships/image" Target="../media/image42.png"/><Relationship Id="rId11" Type="http://schemas.openxmlformats.org/officeDocument/2006/relationships/image" Target="../media/image53.png"/><Relationship Id="rId5" Type="http://schemas.openxmlformats.org/officeDocument/2006/relationships/image" Target="../media/image41.png"/><Relationship Id="rId10" Type="http://schemas.openxmlformats.org/officeDocument/2006/relationships/image" Target="../media/image52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Relationship Id="rId4" Type="http://schemas.openxmlformats.org/officeDocument/2006/relationships/image" Target="../media/image5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4" Type="http://schemas.openxmlformats.org/officeDocument/2006/relationships/image" Target="../media/image5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Relationship Id="rId4" Type="http://schemas.openxmlformats.org/officeDocument/2006/relationships/image" Target="../media/image3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Relationship Id="rId4" Type="http://schemas.openxmlformats.org/officeDocument/2006/relationships/image" Target="../media/image33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7" Type="http://schemas.openxmlformats.org/officeDocument/2006/relationships/image" Target="../media/image6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2.xml"/><Relationship Id="rId6" Type="http://schemas.openxmlformats.org/officeDocument/2006/relationships/image" Target="../media/image64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qzss/gps-sdr-sim.git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cddis.nasa.gov/archive/gnss/data/daily/2024/brdc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Relationship Id="rId4" Type="http://schemas.openxmlformats.org/officeDocument/2006/relationships/image" Target="../media/image74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google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openxmlformats.org/officeDocument/2006/relationships/image" Target="../media/image7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4" Type="http://schemas.openxmlformats.org/officeDocument/2006/relationships/image" Target="../media/image79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Relationship Id="rId4" Type="http://schemas.openxmlformats.org/officeDocument/2006/relationships/image" Target="../media/image93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mapper.net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9.xml"/><Relationship Id="rId4" Type="http://schemas.openxmlformats.org/officeDocument/2006/relationships/image" Target="../media/image104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8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8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0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8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9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teon.com/wp-content/uploads/2020/06/new-visteon-infotainment-system-rendering-updated-car.png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0.xml"/><Relationship Id="rId4" Type="http://schemas.openxmlformats.org/officeDocument/2006/relationships/image" Target="../media/image116.jpe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teon.com/wp-content/uploads/2020/06/new-visteon-infotainment-system-rendering-updated-car.png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1.xml"/><Relationship Id="rId4" Type="http://schemas.openxmlformats.org/officeDocument/2006/relationships/image" Target="../media/image117.jp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8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5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5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18873" y="1774081"/>
            <a:ext cx="45885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803474"/>
            <a:ext cx="6352540" cy="2933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virtual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begin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hands-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portion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platforms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1435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running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page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inquiry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 descr="Text  Description automatically generate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6247" y="950975"/>
            <a:ext cx="5516880" cy="5061204"/>
          </a:xfrm>
          <a:prstGeom prst="rect">
            <a:avLst/>
          </a:prstGeom>
        </p:spPr>
      </p:pic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0A99B574-4EB3-874B-D372-0652085B8A06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0" sz="3600" b="1" i="0" u="none" strike="noStrike" kern="0" cap="none" spc="-19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Exercises</a:t>
            </a:r>
            <a:r>
              <a:rPr lang="en-US" sz="3600" b="1" kern="0" spc="-65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Slides 1-17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21020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security assessment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searching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1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446395" cy="1050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proximity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973445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302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Modern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usually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non-discoverable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connecting/pairing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21525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intentionally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344928"/>
            <a:ext cx="5926455" cy="173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3622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detect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(and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students)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00981"/>
            <a:ext cx="575119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02335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10" dirty="0"/>
              <a:t> </a:t>
            </a:r>
            <a:r>
              <a:rPr spc="-20" dirty="0"/>
              <a:t>Note</a:t>
            </a:r>
            <a:r>
              <a:rPr spc="-204" dirty="0"/>
              <a:t> </a:t>
            </a:r>
            <a:r>
              <a:rPr dirty="0"/>
              <a:t>on</a:t>
            </a:r>
            <a:r>
              <a:rPr spc="-200" dirty="0"/>
              <a:t> </a:t>
            </a:r>
            <a:r>
              <a:rPr spc="-50" dirty="0"/>
              <a:t>BT</a:t>
            </a:r>
            <a:r>
              <a:rPr spc="-200" dirty="0"/>
              <a:t> </a:t>
            </a:r>
            <a:r>
              <a:rPr spc="-60" dirty="0"/>
              <a:t>Addresses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210817"/>
            <a:ext cx="8030845" cy="479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48-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bit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“unique”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AA:BB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: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>
                  <a:solidFill>
                    <a:srgbClr val="FFC000"/>
                  </a:solidFill>
                </a:uFill>
                <a:latin typeface="Calibri"/>
                <a:cs typeface="Calibri"/>
              </a:rPr>
              <a:t>CC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cs typeface="Calibri"/>
              </a:rPr>
              <a:t>DD:EE:FF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Organizationally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Unique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Identifier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(OUI)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2: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significant.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Third: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 typeface="Calibri"/>
              <a:buChar char="◦"/>
              <a:tabLst>
                <a:tab pos="396240" algn="l"/>
              </a:tabLst>
              <a:defRPr/>
            </a:pPr>
            <a:r>
              <a:rPr kumimoji="0" sz="28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sz="2800" b="0" i="1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invisible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*OUI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=/=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Chip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manufacturer!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9150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device.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requests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95503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possible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798517"/>
            <a:ext cx="562546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“info”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“hcitool”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suite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605472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87375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mind,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obtained before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128386"/>
            <a:ext cx="4481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602234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of: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obtained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mostly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itself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5664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isn’t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resides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798517"/>
            <a:ext cx="511810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regarding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hoping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72452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individual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Discovery</a:t>
            </a:r>
            <a:r>
              <a:rPr kumimoji="0" sz="2400" b="0" i="1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222447"/>
            <a:ext cx="5803900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meant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1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895215"/>
            <a:ext cx="53651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result,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shared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encryption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899785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checking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6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399790"/>
            <a:ext cx="5535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“port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scan”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71246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58165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Depending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complex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070047"/>
            <a:ext cx="584898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purpose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909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perform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tests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191005"/>
            <a:ext cx="5532120" cy="22098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110489" lvl="0" indent="0" algn="just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Analyze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received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51478"/>
            <a:ext cx="5650230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There’s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track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477357"/>
            <a:ext cx="5367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01420" y="2823569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9" name="object 19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661616"/>
            <a:ext cx="6132195" cy="40290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2705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hosted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started interacting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31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designed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however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3274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available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Linux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3" name="object 23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bject 25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987415" cy="4396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9525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general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forms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(SSP)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191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SSP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version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far,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Older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like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0000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1234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6173470" cy="434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wont’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accepted!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separate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concepts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9377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process.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405130" lvl="0" indent="-181610" defTabSz="914400" eaLnBrk="1" fontAlgn="auto" latinLnBrk="0" hangingPunct="1">
              <a:lnSpc>
                <a:spcPts val="2160"/>
              </a:lnSpc>
              <a:spcBef>
                <a:spcPts val="42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might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people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once*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6807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finish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CTF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509520"/>
            <a:ext cx="561657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text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service’s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154224"/>
            <a:ext cx="5797550" cy="16465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flags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0" lvl="0" indent="-181610" defTabSz="914400" eaLnBrk="1" fontAlgn="auto" latinLnBrk="0" hangingPunct="1">
              <a:lnSpc>
                <a:spcPts val="2280"/>
              </a:lnSpc>
              <a:spcBef>
                <a:spcPts val="18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353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see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4800" marR="0" lvl="0" indent="0" defTabSz="91440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290830" lvl="0" indent="-181610" defTabSz="914400" eaLnBrk="1" fontAlgn="auto" latinLnBrk="0" hangingPunct="1">
              <a:lnSpc>
                <a:spcPts val="2160"/>
              </a:lnSpc>
              <a:spcBef>
                <a:spcPts val="63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revealed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successfully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661616"/>
            <a:ext cx="6062345" cy="25031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4139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very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hard,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 developed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56944" lvl="0" indent="0" defTabSz="914400" eaLnBrk="1" fontAlgn="auto" latinLnBrk="0" hangingPunct="1">
              <a:lnSpc>
                <a:spcPct val="8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~/Training_Scripts/2CHVBT_Helper.py</a:t>
            </a:r>
            <a:r>
              <a:rPr kumimoji="0" sz="2400" b="0" i="0" u="none" strike="noStrike" kern="0" cap="none" spc="114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4139" marR="549910" lvl="0" indent="0" defTabSz="914400" eaLnBrk="1" fontAlgn="auto" latinLnBrk="0" hangingPunct="1">
              <a:lnSpc>
                <a:spcPts val="23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clues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left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13173"/>
            <a:ext cx="5975350" cy="9772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6" name="object 6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7432" y="25050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76f7274c6_0_6"/>
          <p:cNvSpPr txBox="1">
            <a:spLocks noGrp="1"/>
          </p:cNvSpPr>
          <p:nvPr>
            <p:ph type="title" idx="4294967295"/>
          </p:nvPr>
        </p:nvSpPr>
        <p:spPr>
          <a:xfrm>
            <a:off x="831850" y="695325"/>
            <a:ext cx="1136015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 dirty="0">
                <a:solidFill>
                  <a:schemeClr val="accent1"/>
                </a:solidFill>
              </a:rPr>
              <a:t>Frequencies</a:t>
            </a:r>
            <a:endParaRPr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2676f7274c6_0_6"/>
          <p:cNvSpPr txBox="1">
            <a:spLocks noGrp="1"/>
          </p:cNvSpPr>
          <p:nvPr>
            <p:ph type="body" idx="4294967295"/>
          </p:nvPr>
        </p:nvSpPr>
        <p:spPr>
          <a:xfrm>
            <a:off x="1193800" y="1435100"/>
            <a:ext cx="10998200" cy="455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b="1" dirty="0"/>
              <a:t>Frequencies </a:t>
            </a:r>
            <a:r>
              <a:rPr lang="en" dirty="0"/>
              <a:t>are an integral part of radio transmission</a:t>
            </a:r>
            <a:endParaRPr b="1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en" b="1" u="sng" dirty="0">
                <a:solidFill>
                  <a:srgbClr val="FF0000"/>
                </a:solidFill>
              </a:rPr>
              <a:t>#1 Demo + Break Exercise</a:t>
            </a:r>
            <a:r>
              <a:rPr lang="en" b="1" dirty="0">
                <a:solidFill>
                  <a:srgbClr val="FF0000"/>
                </a:solidFill>
              </a:rPr>
              <a:t>: Wireless DoorBell signal transmitting</a:t>
            </a:r>
            <a:endParaRPr b="1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en" sz="3333" dirty="0">
                <a:solidFill>
                  <a:schemeClr val="dk1"/>
                </a:solidFill>
              </a:rPr>
              <a:t>Prep: Giving out the instructions, a DoorBell and</a:t>
            </a:r>
            <a:endParaRPr sz="3333" dirty="0">
              <a:solidFill>
                <a:schemeClr val="dk1"/>
              </a:solidFill>
            </a:endParaRPr>
          </a:p>
          <a:p>
            <a:pPr indent="0">
              <a:buNone/>
            </a:pPr>
            <a:r>
              <a:rPr lang="en" sz="3333" dirty="0">
                <a:solidFill>
                  <a:schemeClr val="dk1"/>
                </a:solidFill>
              </a:rPr>
              <a:t>a Flipper Zero to 2-3 groups.</a:t>
            </a:r>
            <a:endParaRPr dirty="0"/>
          </a:p>
          <a:p>
            <a:pPr lvl="1"/>
            <a:r>
              <a:rPr lang="en" dirty="0"/>
              <a:t>Instructions</a:t>
            </a:r>
            <a:endParaRPr dirty="0"/>
          </a:p>
          <a:p>
            <a:pPr lvl="1"/>
            <a:r>
              <a:rPr lang="en" dirty="0"/>
              <a:t>DoorBell (transmitter + receiver)</a:t>
            </a:r>
            <a:endParaRPr dirty="0"/>
          </a:p>
          <a:p>
            <a:pPr lvl="1"/>
            <a:r>
              <a:rPr lang="en" dirty="0"/>
              <a:t>Flipper Zero</a:t>
            </a:r>
            <a:endParaRPr dirty="0"/>
          </a:p>
          <a:p>
            <a:pPr marL="1219170" indent="0">
              <a:buNone/>
            </a:pPr>
            <a:endParaRPr dirty="0"/>
          </a:p>
          <a:p>
            <a:pPr indent="-304792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76f7274c6_0_40"/>
          <p:cNvSpPr txBox="1">
            <a:spLocks noGrp="1"/>
          </p:cNvSpPr>
          <p:nvPr>
            <p:ph type="title" idx="4294967295"/>
          </p:nvPr>
        </p:nvSpPr>
        <p:spPr>
          <a:xfrm>
            <a:off x="1485900" y="1419225"/>
            <a:ext cx="8875713" cy="763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ct val="72727"/>
            </a:pPr>
            <a:r>
              <a:rPr lang="en" sz="4400" dirty="0">
                <a:highlight>
                  <a:srgbClr val="B6D7A8"/>
                </a:highlight>
              </a:rPr>
              <a:t>Exercise - NFC Cabinet Lock </a:t>
            </a:r>
            <a:r>
              <a:rPr lang="en" sz="4400" u="sng" dirty="0">
                <a:highlight>
                  <a:srgbClr val="B6D7A8"/>
                </a:highlight>
              </a:rPr>
              <a:t>UID Cloning</a:t>
            </a:r>
            <a:r>
              <a:rPr lang="en" sz="4400" dirty="0">
                <a:highlight>
                  <a:srgbClr val="B6D7A8"/>
                </a:highlight>
              </a:rPr>
              <a:t> </a:t>
            </a:r>
            <a:endParaRPr sz="4400" dirty="0">
              <a:highlight>
                <a:srgbClr val="B6D7A8"/>
              </a:highlight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ct val="45833"/>
            </a:pPr>
            <a:endParaRPr sz="3200" dirty="0">
              <a:solidFill>
                <a:schemeClr val="accent1"/>
              </a:solidFill>
              <a:highlight>
                <a:srgbClr val="93C47D"/>
              </a:highlight>
            </a:endParaRPr>
          </a:p>
          <a:p>
            <a:pPr algn="ctr"/>
            <a:endParaRPr dirty="0"/>
          </a:p>
        </p:txBody>
      </p:sp>
      <p:sp>
        <p:nvSpPr>
          <p:cNvPr id="303" name="Google Shape;303;g2676f7274c6_0_40"/>
          <p:cNvSpPr txBox="1">
            <a:spLocks noGrp="1"/>
          </p:cNvSpPr>
          <p:nvPr>
            <p:ph type="body" idx="4294967295"/>
          </p:nvPr>
        </p:nvSpPr>
        <p:spPr>
          <a:xfrm>
            <a:off x="1485900" y="2332038"/>
            <a:ext cx="9191625" cy="328453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Prep: Giving out the instructions, NFC Lock+Key and</a:t>
            </a:r>
            <a:endParaRPr sz="3333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a Flipper Zero to each group.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Instructions    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NFC Cabinet Lock + Master Key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Flipper Zero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6a0fba46b_0_0"/>
          <p:cNvSpPr txBox="1">
            <a:spLocks noGrp="1"/>
          </p:cNvSpPr>
          <p:nvPr>
            <p:ph type="title" idx="4294967295"/>
          </p:nvPr>
        </p:nvSpPr>
        <p:spPr>
          <a:xfrm>
            <a:off x="2266950" y="917575"/>
            <a:ext cx="6467475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 dirty="0"/>
              <a:t>NFC Authentication Types</a:t>
            </a:r>
            <a:endParaRPr dirty="0"/>
          </a:p>
        </p:txBody>
      </p:sp>
      <p:sp>
        <p:nvSpPr>
          <p:cNvPr id="310" name="Google Shape;310;g156a0fba46b_0_0"/>
          <p:cNvSpPr txBox="1">
            <a:spLocks noGrp="1"/>
          </p:cNvSpPr>
          <p:nvPr>
            <p:ph type="body" idx="4294967295"/>
          </p:nvPr>
        </p:nvSpPr>
        <p:spPr>
          <a:xfrm>
            <a:off x="2724150" y="1577975"/>
            <a:ext cx="9467850" cy="455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 dirty="0"/>
              <a:t>UID Authentication</a:t>
            </a:r>
            <a:endParaRPr dirty="0"/>
          </a:p>
          <a:p>
            <a:pPr lvl="1"/>
            <a:r>
              <a:rPr lang="en" dirty="0"/>
              <a:t>Insecure - relies on uniqueness of a NFC tag UID</a:t>
            </a:r>
            <a:endParaRPr dirty="0"/>
          </a:p>
          <a:p>
            <a:r>
              <a:rPr lang="en" dirty="0"/>
              <a:t>Data based authentication</a:t>
            </a:r>
            <a:endParaRPr dirty="0"/>
          </a:p>
          <a:p>
            <a:pPr lvl="1"/>
            <a:r>
              <a:rPr lang="en" dirty="0"/>
              <a:t>Key is stored in the sector or page data of the NFC tag</a:t>
            </a:r>
            <a:endParaRPr dirty="0"/>
          </a:p>
          <a:p>
            <a:r>
              <a:rPr lang="en" dirty="0"/>
              <a:t>Challenge–response authentication</a:t>
            </a:r>
            <a:endParaRPr dirty="0"/>
          </a:p>
          <a:p>
            <a:pPr lvl="1"/>
            <a:r>
              <a:rPr lang="en" dirty="0"/>
              <a:t>HMAC-SHA1 algorithm</a:t>
            </a:r>
            <a:endParaRPr dirty="0"/>
          </a:p>
          <a:p>
            <a:pPr lvl="1"/>
            <a:r>
              <a:rPr lang="en" dirty="0"/>
              <a:t>PAM Module - Pluggable Authentication Module</a:t>
            </a:r>
            <a:endParaRPr dirty="0"/>
          </a:p>
          <a:p>
            <a:pPr lvl="1"/>
            <a:r>
              <a:rPr lang="en" dirty="0"/>
              <a:t>Can be extremely difficult to clone/emulate</a:t>
            </a:r>
            <a:endParaRPr dirty="0"/>
          </a:p>
        </p:txBody>
      </p:sp>
      <p:pic>
        <p:nvPicPr>
          <p:cNvPr id="309" name="Google Shape;309;g156a0fba46b_0_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4633" y="3855600"/>
            <a:ext cx="2699667" cy="26996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56a0fba46b_0_8"/>
          <p:cNvSpPr txBox="1">
            <a:spLocks noGrp="1"/>
          </p:cNvSpPr>
          <p:nvPr>
            <p:ph type="title" idx="4294967295"/>
          </p:nvPr>
        </p:nvSpPr>
        <p:spPr>
          <a:xfrm>
            <a:off x="792162" y="1344613"/>
            <a:ext cx="106076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27" dirty="0">
                <a:highlight>
                  <a:srgbClr val="B6D7A8"/>
                </a:highlight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Exercise</a:t>
            </a:r>
            <a:r>
              <a:rPr lang="en" sz="4027" dirty="0">
                <a:highlight>
                  <a:srgbClr val="B6D7A8"/>
                </a:highlight>
              </a:rPr>
              <a:t> - NFC Password Protection &amp; Brute Force</a:t>
            </a:r>
            <a:endParaRPr sz="4027" dirty="0">
              <a:highlight>
                <a:srgbClr val="B6D7A8"/>
              </a:highlight>
            </a:endParaRPr>
          </a:p>
        </p:txBody>
      </p:sp>
      <p:sp>
        <p:nvSpPr>
          <p:cNvPr id="480" name="Google Shape;480;g156a0fba46b_0_8"/>
          <p:cNvSpPr txBox="1">
            <a:spLocks noGrp="1"/>
          </p:cNvSpPr>
          <p:nvPr>
            <p:ph type="body" idx="4294967295"/>
          </p:nvPr>
        </p:nvSpPr>
        <p:spPr>
          <a:xfrm>
            <a:off x="1292225" y="2108200"/>
            <a:ext cx="10899775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" sz="3333" dirty="0"/>
              <a:t>Prep: Giving out the instructions, NTAG215 tag to each student and a reader to each group. 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Instructions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VM from thumb drive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ACR122U Reader</a:t>
            </a:r>
            <a:endParaRPr sz="3333" dirty="0"/>
          </a:p>
          <a:p>
            <a:pPr indent="-516454">
              <a:buSzPts val="2500"/>
            </a:pPr>
            <a:r>
              <a:rPr lang="en" sz="3333" dirty="0">
                <a:solidFill>
                  <a:schemeClr val="dk1"/>
                </a:solidFill>
              </a:rPr>
              <a:t>NTAG215 Tag (Round white tag)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>
            <a:spLocks noGrp="1"/>
          </p:cNvSpPr>
          <p:nvPr>
            <p:ph type="title" idx="4294967295"/>
          </p:nvPr>
        </p:nvSpPr>
        <p:spPr>
          <a:xfrm>
            <a:off x="831850" y="695325"/>
            <a:ext cx="1136015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Playing</a:t>
            </a:r>
            <a:r>
              <a:rPr lang="en"/>
              <a:t> with NFC – Reading/Writing: (with ACR122U)</a:t>
            </a:r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body" idx="4294967295"/>
          </p:nvPr>
        </p:nvSpPr>
        <p:spPr>
          <a:xfrm>
            <a:off x="990600" y="1622425"/>
            <a:ext cx="11201400" cy="4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/>
              <a:t>You could also use an PN532  </a:t>
            </a:r>
            <a:endParaRPr/>
          </a:p>
          <a:p>
            <a:r>
              <a:rPr lang="en"/>
              <a:t>Make sure you do the following for both ACR122U &amp; PN532:</a:t>
            </a:r>
            <a:endParaRPr/>
          </a:p>
          <a:p>
            <a:pPr lvl="1"/>
            <a:r>
              <a:rPr lang="en"/>
              <a:t>Click on USB icon on top of the VM window 🡪 “USB &amp; Bluetooth Settings”</a:t>
            </a:r>
            <a:endParaRPr/>
          </a:p>
          <a:p>
            <a:pPr lvl="1" indent="-304792">
              <a:buNone/>
            </a:pPr>
            <a:endParaRPr/>
          </a:p>
          <a:p>
            <a:pPr lvl="1"/>
            <a:r>
              <a:rPr lang="en"/>
              <a:t>Make sure you have the following:</a:t>
            </a:r>
            <a:endParaRPr/>
          </a:p>
          <a:p>
            <a:pPr lvl="1" indent="-304792">
              <a:buNone/>
            </a:pPr>
            <a:endParaRPr/>
          </a:p>
        </p:txBody>
      </p:sp>
      <p:pic>
        <p:nvPicPr>
          <p:cNvPr id="489" name="Google Shape;48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9300" y="4023423"/>
            <a:ext cx="8882741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4100" y="5249798"/>
            <a:ext cx="8339352" cy="4937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2676f7274c6_0_6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475" y="294500"/>
            <a:ext cx="4820132" cy="320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2676f7274c6_0_6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04" y="3281783"/>
            <a:ext cx="4979901" cy="32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2676f7274c6_0_6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4100" y="3258816"/>
            <a:ext cx="3931232" cy="331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2676f7274c6_0_6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7403" y="220900"/>
            <a:ext cx="4774600" cy="30608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59334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FCCID</a:t>
            </a:r>
            <a:r>
              <a:rPr sz="4000" kern="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Lookup</a:t>
            </a:r>
            <a:r>
              <a:rPr sz="40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Research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1449" y="1292220"/>
            <a:ext cx="2337647" cy="4785360"/>
            <a:chOff x="593586" y="969165"/>
            <a:chExt cx="1753235" cy="3589020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5021" y="1049646"/>
              <a:ext cx="1490060" cy="33348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8348" y="973928"/>
              <a:ext cx="1743710" cy="3579495"/>
            </a:xfrm>
            <a:custGeom>
              <a:avLst/>
              <a:gdLst/>
              <a:ahLst/>
              <a:cxnLst/>
              <a:rect l="l" t="t" r="r" b="b"/>
              <a:pathLst>
                <a:path w="1743710" h="3579495">
                  <a:moveTo>
                    <a:pt x="0" y="0"/>
                  </a:moveTo>
                  <a:lnTo>
                    <a:pt x="1743493" y="0"/>
                  </a:lnTo>
                  <a:lnTo>
                    <a:pt x="1743493" y="3579460"/>
                  </a:lnTo>
                  <a:lnTo>
                    <a:pt x="0" y="357946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69344" y="1292220"/>
            <a:ext cx="2101427" cy="4785360"/>
            <a:chOff x="2752008" y="969165"/>
            <a:chExt cx="1576070" cy="3589020"/>
          </a:xfrm>
        </p:grpSpPr>
        <p:pic>
          <p:nvPicPr>
            <p:cNvPr id="7" name="object 7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32489" y="978690"/>
              <a:ext cx="1419104" cy="34768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56771" y="973928"/>
              <a:ext cx="1566545" cy="3579495"/>
            </a:xfrm>
            <a:custGeom>
              <a:avLst/>
              <a:gdLst/>
              <a:ahLst/>
              <a:cxnLst/>
              <a:rect l="l" t="t" r="r" b="b"/>
              <a:pathLst>
                <a:path w="1566545" h="3579495">
                  <a:moveTo>
                    <a:pt x="0" y="0"/>
                  </a:moveTo>
                  <a:lnTo>
                    <a:pt x="1566105" y="0"/>
                  </a:lnTo>
                  <a:lnTo>
                    <a:pt x="1566105" y="3579460"/>
                  </a:lnTo>
                  <a:lnTo>
                    <a:pt x="0" y="357946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158684" y="2116186"/>
            <a:ext cx="5779347" cy="2810933"/>
            <a:chOff x="4619013" y="1587139"/>
            <a:chExt cx="4334510" cy="2108200"/>
          </a:xfrm>
        </p:grpSpPr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28538" y="1596664"/>
              <a:ext cx="4315358" cy="20331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23775" y="1591901"/>
              <a:ext cx="4324985" cy="2098675"/>
            </a:xfrm>
            <a:custGeom>
              <a:avLst/>
              <a:gdLst/>
              <a:ahLst/>
              <a:cxnLst/>
              <a:rect l="l" t="t" r="r" b="b"/>
              <a:pathLst>
                <a:path w="4324984" h="2098675">
                  <a:moveTo>
                    <a:pt x="0" y="0"/>
                  </a:moveTo>
                  <a:lnTo>
                    <a:pt x="4324883" y="0"/>
                  </a:lnTo>
                  <a:lnTo>
                    <a:pt x="4324883" y="2098585"/>
                  </a:lnTo>
                  <a:lnTo>
                    <a:pt x="0" y="20985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43370" y="1756718"/>
            <a:ext cx="26136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b="1" kern="0" dirty="0">
                <a:solidFill>
                  <a:srgbClr val="2A3890"/>
                </a:solidFill>
                <a:latin typeface="Arial"/>
                <a:cs typeface="Arial"/>
              </a:rPr>
              <a:t>Operating</a:t>
            </a:r>
            <a:r>
              <a:rPr sz="1867" b="1" kern="0" spc="-60" dirty="0">
                <a:solidFill>
                  <a:srgbClr val="2A3890"/>
                </a:solidFill>
                <a:latin typeface="Arial"/>
                <a:cs typeface="Arial"/>
              </a:rPr>
              <a:t> </a:t>
            </a:r>
            <a:r>
              <a:rPr sz="1867" b="1" kern="0" spc="-13" dirty="0">
                <a:solidFill>
                  <a:srgbClr val="2A3890"/>
                </a:solidFill>
                <a:latin typeface="Arial"/>
                <a:cs typeface="Arial"/>
              </a:rPr>
              <a:t>Frequencies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24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0487" y="2636519"/>
            <a:ext cx="3136900" cy="359073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2787"/>
              </a:lnSpc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FCCID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[ID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FOB]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095" y="1875874"/>
            <a:ext cx="618998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72331" indent="-555398" defTabSz="1219170">
              <a:spcBef>
                <a:spcPts val="133"/>
              </a:spcBef>
              <a:buFontTx/>
              <a:buAutoNum type="arabicPeriod"/>
              <a:tabLst>
                <a:tab pos="572331" algn="l"/>
              </a:tabLst>
            </a:pP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Take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/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own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FCCID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  <a:tab pos="4795400" algn="l"/>
              </a:tabLst>
            </a:pP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	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886" y="3743960"/>
            <a:ext cx="683344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613818" algn="l"/>
              </a:tabLst>
            </a:pPr>
            <a:r>
              <a:rPr sz="2667" b="1" kern="0" spc="-33" dirty="0">
                <a:solidFill>
                  <a:srgbClr val="D13368"/>
                </a:solidFill>
                <a:latin typeface="Roboto"/>
                <a:cs typeface="Roboto"/>
              </a:rPr>
              <a:t>4.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	What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does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run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spc="-33" dirty="0">
                <a:solidFill>
                  <a:srgbClr val="D13368"/>
                </a:solidFill>
                <a:latin typeface="Roboto"/>
                <a:cs typeface="Roboto"/>
              </a:rPr>
              <a:t>on?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25</a:t>
            </a:fld>
            <a:endParaRPr kern="0" spc="-33" dirty="0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57213"/>
            <a:ext cx="6330950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FCCID</a:t>
            </a:r>
            <a:r>
              <a:rPr spc="-80" dirty="0"/>
              <a:t> </a:t>
            </a:r>
            <a:r>
              <a:rPr dirty="0"/>
              <a:t>Lookup</a:t>
            </a:r>
            <a:r>
              <a:rPr spc="-60" dirty="0"/>
              <a:t> </a:t>
            </a:r>
            <a:r>
              <a:rPr dirty="0">
                <a:solidFill>
                  <a:srgbClr val="2A3890"/>
                </a:solidFill>
              </a:rPr>
              <a:t>–</a:t>
            </a:r>
            <a:r>
              <a:rPr spc="-80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Exercise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132" y="814367"/>
            <a:ext cx="3368832" cy="56927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3363"/>
            <a:ext cx="8370771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FCCID</a:t>
            </a:r>
            <a:r>
              <a:rPr spc="-73" dirty="0"/>
              <a:t> </a:t>
            </a:r>
            <a:r>
              <a:rPr dirty="0"/>
              <a:t>Lookup</a:t>
            </a:r>
            <a:r>
              <a:rPr spc="-47" dirty="0"/>
              <a:t> </a:t>
            </a:r>
            <a:r>
              <a:rPr dirty="0">
                <a:solidFill>
                  <a:srgbClr val="2A3890"/>
                </a:solidFill>
              </a:rPr>
              <a:t>–</a:t>
            </a:r>
            <a:r>
              <a:rPr spc="-6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Other</a:t>
            </a:r>
            <a:r>
              <a:rPr spc="-67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Examples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41934" y="1509400"/>
            <a:ext cx="3553460" cy="2198793"/>
            <a:chOff x="1006450" y="1132049"/>
            <a:chExt cx="2665095" cy="1649095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5975" y="1141574"/>
              <a:ext cx="2645450" cy="16294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11212" y="1136812"/>
              <a:ext cx="2655570" cy="1639570"/>
            </a:xfrm>
            <a:custGeom>
              <a:avLst/>
              <a:gdLst/>
              <a:ahLst/>
              <a:cxnLst/>
              <a:rect l="l" t="t" r="r" b="b"/>
              <a:pathLst>
                <a:path w="2655570" h="1639570">
                  <a:moveTo>
                    <a:pt x="0" y="0"/>
                  </a:moveTo>
                  <a:lnTo>
                    <a:pt x="2654975" y="0"/>
                  </a:lnTo>
                  <a:lnTo>
                    <a:pt x="2654975" y="1638950"/>
                  </a:lnTo>
                  <a:lnTo>
                    <a:pt x="0" y="16389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9102" y="3779841"/>
            <a:ext cx="19160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iPhone</a:t>
            </a:r>
            <a:r>
              <a:rPr sz="2400" b="1" kern="0" spc="-12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28999" y="1509401"/>
            <a:ext cx="4030133" cy="2198793"/>
            <a:chOff x="5271749" y="1132050"/>
            <a:chExt cx="3022600" cy="1649095"/>
          </a:xfrm>
        </p:grpSpPr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81274" y="1141575"/>
              <a:ext cx="3003418" cy="16294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76512" y="1136812"/>
              <a:ext cx="3013075" cy="1639570"/>
            </a:xfrm>
            <a:custGeom>
              <a:avLst/>
              <a:gdLst/>
              <a:ahLst/>
              <a:cxnLst/>
              <a:rect l="l" t="t" r="r" b="b"/>
              <a:pathLst>
                <a:path w="3013075" h="1639570">
                  <a:moveTo>
                    <a:pt x="0" y="0"/>
                  </a:moveTo>
                  <a:lnTo>
                    <a:pt x="3012943" y="0"/>
                  </a:lnTo>
                  <a:lnTo>
                    <a:pt x="3012943" y="1638949"/>
                  </a:lnTo>
                  <a:lnTo>
                    <a:pt x="0" y="16389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18145" y="3779841"/>
            <a:ext cx="20497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Key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Fob</a:t>
            </a:r>
            <a:r>
              <a:rPr sz="2400" b="1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89667" y="4281966"/>
            <a:ext cx="2786380" cy="1943100"/>
            <a:chOff x="3517250" y="3211474"/>
            <a:chExt cx="2089785" cy="1457325"/>
          </a:xfrm>
        </p:grpSpPr>
        <p:pic>
          <p:nvPicPr>
            <p:cNvPr id="12" name="object 12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6775" y="3220999"/>
              <a:ext cx="2070324" cy="14377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2012" y="3216237"/>
              <a:ext cx="2080260" cy="1447800"/>
            </a:xfrm>
            <a:custGeom>
              <a:avLst/>
              <a:gdLst/>
              <a:ahLst/>
              <a:cxnLst/>
              <a:rect l="l" t="t" r="r" b="b"/>
              <a:pathLst>
                <a:path w="2080260" h="1447800">
                  <a:moveTo>
                    <a:pt x="0" y="0"/>
                  </a:moveTo>
                  <a:lnTo>
                    <a:pt x="2079849" y="0"/>
                  </a:lnTo>
                  <a:lnTo>
                    <a:pt x="2079849" y="1447274"/>
                  </a:lnTo>
                  <a:lnTo>
                    <a:pt x="0" y="1447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03347" y="6318869"/>
            <a:ext cx="295486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PS5</a:t>
            </a:r>
            <a:r>
              <a:rPr sz="2400" b="1" kern="0" spc="-5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Controller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77941" y="6320327"/>
            <a:ext cx="29802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193"/>
              </a:lnSpc>
            </a:pPr>
            <a:r>
              <a:rPr sz="1867" kern="0" spc="-33" dirty="0">
                <a:solidFill>
                  <a:srgbClr val="434343"/>
                </a:solidFill>
                <a:latin typeface="Arial"/>
                <a:cs typeface="Arial"/>
              </a:rPr>
              <a:t>38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94833" y="3397551"/>
            <a:ext cx="67343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GQRX:</a:t>
            </a:r>
            <a:r>
              <a:rPr sz="3200" b="1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Find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Radio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Station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/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Fob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455863"/>
            <a:ext cx="9715500" cy="7969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79464" y="3381231"/>
            <a:ext cx="6622627" cy="3011593"/>
            <a:chOff x="1860012" y="2550187"/>
            <a:chExt cx="4966970" cy="22586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710241" y="1702444"/>
            <a:ext cx="4410287" cy="1528688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585031" indent="-568098" defTabSz="1219170">
              <a:spcBef>
                <a:spcPts val="17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61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>
              <a:spcBef>
                <a:spcPts val="127"/>
              </a:spcBef>
            </a:pP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234113" y="1878013"/>
            <a:ext cx="5957887" cy="242093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5324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gqrx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ﬁnd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57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 </a:t>
            </a:r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GQRX</a:t>
            </a:r>
            <a:r>
              <a:rPr sz="3600" b="1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27" dirty="0">
                <a:solidFill>
                  <a:srgbClr val="D13368"/>
                </a:solidFill>
                <a:latin typeface="Courier New"/>
                <a:cs typeface="Courier New"/>
              </a:rPr>
              <a:t>gqrx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499" y="4673001"/>
            <a:ext cx="2738119" cy="1426633"/>
            <a:chOff x="4984124" y="3504750"/>
            <a:chExt cx="2053589" cy="10699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0" y="3514275"/>
              <a:ext cx="2034099" cy="10505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7" y="3509512"/>
              <a:ext cx="2044064" cy="1060450"/>
            </a:xfrm>
            <a:custGeom>
              <a:avLst/>
              <a:gdLst/>
              <a:ahLst/>
              <a:cxnLst/>
              <a:rect l="l" t="t" r="r" b="b"/>
              <a:pathLst>
                <a:path w="2044065" h="1060450">
                  <a:moveTo>
                    <a:pt x="0" y="0"/>
                  </a:moveTo>
                  <a:lnTo>
                    <a:pt x="2043624" y="0"/>
                  </a:lnTo>
                  <a:lnTo>
                    <a:pt x="2043624" y="1060099"/>
                  </a:lnTo>
                  <a:lnTo>
                    <a:pt x="0" y="1060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2899" y="3252466"/>
            <a:ext cx="5613400" cy="2322407"/>
            <a:chOff x="302174" y="2439349"/>
            <a:chExt cx="4210050" cy="1741805"/>
          </a:xfrm>
        </p:grpSpPr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448874"/>
              <a:ext cx="4190699" cy="17226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6937" y="2444112"/>
              <a:ext cx="4200525" cy="1732280"/>
            </a:xfrm>
            <a:custGeom>
              <a:avLst/>
              <a:gdLst/>
              <a:ahLst/>
              <a:cxnLst/>
              <a:rect l="l" t="t" r="r" b="b"/>
              <a:pathLst>
                <a:path w="4200525" h="1732279">
                  <a:moveTo>
                    <a:pt x="0" y="0"/>
                  </a:moveTo>
                  <a:lnTo>
                    <a:pt x="4200224" y="0"/>
                  </a:lnTo>
                  <a:lnTo>
                    <a:pt x="4200224" y="1732149"/>
                  </a:lnTo>
                  <a:lnTo>
                    <a:pt x="0" y="1732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54437" y="5648530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6460" y="619257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827884" y="1806217"/>
            <a:ext cx="3056467" cy="4687146"/>
            <a:chOff x="4370912" y="1354662"/>
            <a:chExt cx="2292350" cy="35153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5675" y="1359425"/>
              <a:ext cx="2282325" cy="3505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70912" y="1354662"/>
              <a:ext cx="2292350" cy="3515360"/>
            </a:xfrm>
            <a:custGeom>
              <a:avLst/>
              <a:gdLst/>
              <a:ahLst/>
              <a:cxnLst/>
              <a:rect l="l" t="t" r="r" b="b"/>
              <a:pathLst>
                <a:path w="2292350" h="3515360">
                  <a:moveTo>
                    <a:pt x="0" y="0"/>
                  </a:moveTo>
                  <a:lnTo>
                    <a:pt x="2291850" y="0"/>
                  </a:lnTo>
                  <a:lnTo>
                    <a:pt x="2291850" y="3515325"/>
                  </a:lnTo>
                  <a:lnTo>
                    <a:pt x="0" y="35153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371475"/>
            <a:ext cx="9337675" cy="1290638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 dirty="0"/>
          </a:p>
          <a:p>
            <a:pPr marL="131230"/>
            <a:r>
              <a:rPr sz="3600" spc="-13" dirty="0">
                <a:solidFill>
                  <a:srgbClr val="D13368"/>
                </a:solidFill>
              </a:rPr>
              <a:t>Conﬁgure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I/O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Devices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(GQRX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Settings)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710241" y="1906863"/>
            <a:ext cx="4627033" cy="17252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Device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hackrf=######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Input</a:t>
            </a:r>
            <a:r>
              <a:rPr sz="2400" b="1" u="heavy" kern="0" spc="-5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Rate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8000000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(8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mega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samples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per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second)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Sample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Find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radio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station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/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Key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Fob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6961293" cy="16534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Mode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WFM</a:t>
            </a:r>
            <a:r>
              <a:rPr sz="2400" b="1" u="heavy" kern="0" spc="-4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(stereo)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favorite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station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27"/>
              </a:spcBef>
            </a:pP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100.3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95.5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3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97.9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106.7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92.3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endParaRPr sz="16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37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icon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upper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left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0499" y="3657168"/>
            <a:ext cx="6891867" cy="2719493"/>
            <a:chOff x="667874" y="2742876"/>
            <a:chExt cx="5168900" cy="2039620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7400" y="2752401"/>
              <a:ext cx="5149349" cy="20201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2637" y="2747638"/>
              <a:ext cx="5159375" cy="2030095"/>
            </a:xfrm>
            <a:custGeom>
              <a:avLst/>
              <a:gdLst/>
              <a:ahLst/>
              <a:cxnLst/>
              <a:rect l="l" t="t" r="r" b="b"/>
              <a:pathLst>
                <a:path w="5159375" h="2030095">
                  <a:moveTo>
                    <a:pt x="0" y="0"/>
                  </a:moveTo>
                  <a:lnTo>
                    <a:pt x="5158874" y="0"/>
                  </a:lnTo>
                  <a:lnTo>
                    <a:pt x="5158874" y="2029674"/>
                  </a:lnTo>
                  <a:lnTo>
                    <a:pt x="0" y="20296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350266" y="2118767"/>
            <a:ext cx="3355340" cy="2243667"/>
            <a:chOff x="6262699" y="1589075"/>
            <a:chExt cx="2516505" cy="1682750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2224" y="1598600"/>
              <a:ext cx="2497099" cy="1663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7462" y="1593837"/>
              <a:ext cx="2506980" cy="1673225"/>
            </a:xfrm>
            <a:custGeom>
              <a:avLst/>
              <a:gdLst/>
              <a:ahLst/>
              <a:cxnLst/>
              <a:rect l="l" t="t" r="r" b="b"/>
              <a:pathLst>
                <a:path w="2506979" h="1673225">
                  <a:moveTo>
                    <a:pt x="0" y="0"/>
                  </a:moveTo>
                  <a:lnTo>
                    <a:pt x="2506624" y="0"/>
                  </a:lnTo>
                  <a:lnTo>
                    <a:pt x="2506624" y="1673025"/>
                  </a:lnTo>
                  <a:lnTo>
                    <a:pt x="0" y="16730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10064" y="4490730"/>
            <a:ext cx="2634827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99042" marR="6773" indent="-982955" defTabSz="1219170">
              <a:spcBef>
                <a:spcPts val="133"/>
              </a:spcBef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Signal [FSK]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2176" y="6469509"/>
            <a:ext cx="2367280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radio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station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85950" y="3641284"/>
            <a:ext cx="7592907" cy="3009054"/>
            <a:chOff x="739462" y="2730962"/>
            <a:chExt cx="5694680" cy="2256790"/>
          </a:xfrm>
        </p:grpSpPr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225" y="2735725"/>
              <a:ext cx="5684898" cy="22466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9462" y="2730962"/>
              <a:ext cx="5694680" cy="2256790"/>
            </a:xfrm>
            <a:custGeom>
              <a:avLst/>
              <a:gdLst/>
              <a:ahLst/>
              <a:cxnLst/>
              <a:rect l="l" t="t" r="r" b="b"/>
              <a:pathLst>
                <a:path w="5694680" h="2256790">
                  <a:moveTo>
                    <a:pt x="0" y="0"/>
                  </a:moveTo>
                  <a:lnTo>
                    <a:pt x="5694423" y="0"/>
                  </a:lnTo>
                  <a:lnTo>
                    <a:pt x="5694423" y="2256224"/>
                  </a:lnTo>
                  <a:lnTo>
                    <a:pt x="0" y="2256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Tune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your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0" y="1906875"/>
            <a:ext cx="10229427" cy="15867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where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there's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into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(solid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line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blurbs)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Turn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Gain</a:t>
            </a:r>
            <a:r>
              <a:rPr sz="2400" b="1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(volume)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bottom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right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Under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Squelch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‘A’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down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arrow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few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remove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noise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1884" y="3407076"/>
            <a:ext cx="72720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Record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784225" y="2462213"/>
            <a:ext cx="10664825" cy="8794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>
                <a:solidFill>
                  <a:schemeClr val="tx1"/>
                </a:solidFill>
              </a:rPr>
              <a:t>SDR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13" dirty="0">
                <a:solidFill>
                  <a:schemeClr val="tx1"/>
                </a:solidFill>
              </a:rPr>
              <a:t>Exercise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33" dirty="0">
                <a:solidFill>
                  <a:schemeClr val="tx1"/>
                </a:solidFill>
              </a:rPr>
              <a:t>#02</a:t>
            </a:r>
            <a:endParaRPr sz="5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34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6675" y="679494"/>
            <a:ext cx="7467600" cy="1017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 dirty="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35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188802" y="2264043"/>
            <a:ext cx="5876089" cy="194437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z="2000"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gnuradio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to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31841"/>
            <a:ext cx="10398661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#02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36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37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240" y="2323434"/>
            <a:ext cx="3266440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73100" y="3841799"/>
            <a:ext cx="5051213" cy="2715260"/>
            <a:chOff x="504825" y="2881349"/>
            <a:chExt cx="3788410" cy="2036445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350" y="2890875"/>
              <a:ext cx="3769159" cy="2016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9587" y="2886112"/>
              <a:ext cx="3778885" cy="2026920"/>
            </a:xfrm>
            <a:custGeom>
              <a:avLst/>
              <a:gdLst/>
              <a:ahLst/>
              <a:cxnLst/>
              <a:rect l="l" t="t" r="r" b="b"/>
              <a:pathLst>
                <a:path w="3778885" h="2026920">
                  <a:moveTo>
                    <a:pt x="0" y="0"/>
                  </a:moveTo>
                  <a:lnTo>
                    <a:pt x="3778684" y="0"/>
                  </a:lnTo>
                  <a:lnTo>
                    <a:pt x="3778684" y="2026475"/>
                  </a:lnTo>
                  <a:lnTo>
                    <a:pt x="0" y="20264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38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Create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new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Variable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9296400" cy="12918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400" b="1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3004143"/>
            <a:ext cx="6631093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defTabSz="1219170">
              <a:spcBef>
                <a:spcPts val="1467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canvas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3115" y="3968666"/>
            <a:ext cx="2377440" cy="96436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81645" indent="-557093" defTabSz="1219170">
              <a:spcBef>
                <a:spcPts val="960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hw_freq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1645" indent="-564713" defTabSz="1219170">
              <a:spcBef>
                <a:spcPts val="833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433e6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50750" y="3361167"/>
            <a:ext cx="8674100" cy="3127587"/>
            <a:chOff x="2513062" y="2520875"/>
            <a:chExt cx="6505575" cy="234569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0038" y="2530400"/>
              <a:ext cx="2879074" cy="155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25275" y="2525637"/>
              <a:ext cx="2888615" cy="1562100"/>
            </a:xfrm>
            <a:custGeom>
              <a:avLst/>
              <a:gdLst/>
              <a:ahLst/>
              <a:cxnLst/>
              <a:rect l="l" t="t" r="r" b="b"/>
              <a:pathLst>
                <a:path w="2888615" h="1562100">
                  <a:moveTo>
                    <a:pt x="0" y="0"/>
                  </a:moveTo>
                  <a:lnTo>
                    <a:pt x="2888599" y="0"/>
                  </a:lnTo>
                  <a:lnTo>
                    <a:pt x="2888599" y="1561924"/>
                  </a:lnTo>
                  <a:lnTo>
                    <a:pt x="0" y="1561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2587" y="3807575"/>
              <a:ext cx="2824275" cy="10493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17825" y="3802812"/>
              <a:ext cx="2834005" cy="1059180"/>
            </a:xfrm>
            <a:custGeom>
              <a:avLst/>
              <a:gdLst/>
              <a:ahLst/>
              <a:cxnLst/>
              <a:rect l="l" t="t" r="r" b="b"/>
              <a:pathLst>
                <a:path w="2834004" h="1059179">
                  <a:moveTo>
                    <a:pt x="0" y="0"/>
                  </a:moveTo>
                  <a:lnTo>
                    <a:pt x="2833800" y="0"/>
                  </a:lnTo>
                  <a:lnTo>
                    <a:pt x="2833800" y="1058899"/>
                  </a:lnTo>
                  <a:lnTo>
                    <a:pt x="0" y="1058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533371" y="3750800"/>
              <a:ext cx="686435" cy="131445"/>
            </a:xfrm>
            <a:custGeom>
              <a:avLst/>
              <a:gdLst/>
              <a:ahLst/>
              <a:cxnLst/>
              <a:rect l="l" t="t" r="r" b="b"/>
              <a:pathLst>
                <a:path w="686435" h="131445">
                  <a:moveTo>
                    <a:pt x="686303" y="0"/>
                  </a:moveTo>
                  <a:lnTo>
                    <a:pt x="0" y="131286"/>
                  </a:lnTo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1717" y="3821441"/>
              <a:ext cx="164809" cy="12129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39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2926" y="649535"/>
            <a:ext cx="9580847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Add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SDR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as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source</a:t>
            </a:r>
            <a:r>
              <a:rPr sz="3600" b="1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for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receiving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906875"/>
            <a:ext cx="10491893" cy="25665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931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osmocom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osmocom</a:t>
            </a:r>
            <a:r>
              <a:rPr sz="2400" b="1" u="heavy" kern="0" spc="-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source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canvas.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again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Ch0: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(Hz)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hw_freq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variable,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should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be set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2134" y="4540167"/>
            <a:ext cx="4982633" cy="2078567"/>
            <a:chOff x="1749100" y="3405125"/>
            <a:chExt cx="3736975" cy="15589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625" y="3414650"/>
              <a:ext cx="3717774" cy="15398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3862" y="3409887"/>
              <a:ext cx="3727450" cy="1549400"/>
            </a:xfrm>
            <a:custGeom>
              <a:avLst/>
              <a:gdLst/>
              <a:ahLst/>
              <a:cxnLst/>
              <a:rect l="l" t="t" r="r" b="b"/>
              <a:pathLst>
                <a:path w="3727450" h="1549400">
                  <a:moveTo>
                    <a:pt x="0" y="0"/>
                  </a:moveTo>
                  <a:lnTo>
                    <a:pt x="3727299" y="0"/>
                  </a:lnTo>
                  <a:lnTo>
                    <a:pt x="3727299" y="1549399"/>
                  </a:lnTo>
                  <a:lnTo>
                    <a:pt x="0" y="154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7 </a:t>
            </a:r>
            <a:r>
              <a:rPr sz="3600" dirty="0">
                <a:solidFill>
                  <a:srgbClr val="D13368"/>
                </a:solidFill>
              </a:rPr>
              <a:t>Continue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adding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blocks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1" y="1906875"/>
            <a:ext cx="10453793" cy="25231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blocks: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1214" defTabSz="1219170">
              <a:spcBef>
                <a:spcPts val="20"/>
              </a:spcBef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File</a:t>
            </a:r>
            <a:r>
              <a:rPr sz="1867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7141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497828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Time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13"/>
              </a:spcBef>
              <a:buFontTx/>
              <a:buAutoNum type="arabicPeriod" startAt="2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replica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called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basic_capture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shown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on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next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page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07199" y="4612534"/>
            <a:ext cx="2177627" cy="1641687"/>
          </a:xfrm>
          <a:custGeom>
            <a:avLst/>
            <a:gdLst/>
            <a:ahLst/>
            <a:cxnLst/>
            <a:rect l="l" t="t" r="r" b="b"/>
            <a:pathLst>
              <a:path w="1633220" h="1231264">
                <a:moveTo>
                  <a:pt x="1325399" y="1231199"/>
                </a:moveTo>
                <a:lnTo>
                  <a:pt x="1325399" y="1077299"/>
                </a:lnTo>
                <a:lnTo>
                  <a:pt x="538649" y="1077299"/>
                </a:lnTo>
                <a:lnTo>
                  <a:pt x="489621" y="1075098"/>
                </a:lnTo>
                <a:lnTo>
                  <a:pt x="441826" y="1068621"/>
                </a:lnTo>
                <a:lnTo>
                  <a:pt x="395455" y="1058058"/>
                </a:lnTo>
                <a:lnTo>
                  <a:pt x="350697" y="1043600"/>
                </a:lnTo>
                <a:lnTo>
                  <a:pt x="307743" y="1025437"/>
                </a:lnTo>
                <a:lnTo>
                  <a:pt x="266782" y="1003758"/>
                </a:lnTo>
                <a:lnTo>
                  <a:pt x="228006" y="978754"/>
                </a:lnTo>
                <a:lnTo>
                  <a:pt x="191604" y="950616"/>
                </a:lnTo>
                <a:lnTo>
                  <a:pt x="157766" y="919533"/>
                </a:lnTo>
                <a:lnTo>
                  <a:pt x="126683" y="885695"/>
                </a:lnTo>
                <a:lnTo>
                  <a:pt x="98545" y="849293"/>
                </a:lnTo>
                <a:lnTo>
                  <a:pt x="73541" y="810516"/>
                </a:lnTo>
                <a:lnTo>
                  <a:pt x="51838" y="769499"/>
                </a:lnTo>
                <a:lnTo>
                  <a:pt x="33699" y="726602"/>
                </a:lnTo>
                <a:lnTo>
                  <a:pt x="19241" y="681844"/>
                </a:lnTo>
                <a:lnTo>
                  <a:pt x="8678" y="635473"/>
                </a:lnTo>
                <a:lnTo>
                  <a:pt x="2201" y="587678"/>
                </a:lnTo>
                <a:lnTo>
                  <a:pt x="0" y="538649"/>
                </a:lnTo>
                <a:lnTo>
                  <a:pt x="0" y="0"/>
                </a:lnTo>
                <a:lnTo>
                  <a:pt x="307799" y="0"/>
                </a:lnTo>
                <a:lnTo>
                  <a:pt x="307799" y="538649"/>
                </a:lnTo>
                <a:lnTo>
                  <a:pt x="312490" y="585174"/>
                </a:lnTo>
                <a:lnTo>
                  <a:pt x="325941" y="628507"/>
                </a:lnTo>
                <a:lnTo>
                  <a:pt x="347225" y="667720"/>
                </a:lnTo>
                <a:lnTo>
                  <a:pt x="375414" y="701885"/>
                </a:lnTo>
                <a:lnTo>
                  <a:pt x="409579" y="730074"/>
                </a:lnTo>
                <a:lnTo>
                  <a:pt x="448792" y="751358"/>
                </a:lnTo>
                <a:lnTo>
                  <a:pt x="492125" y="764809"/>
                </a:lnTo>
                <a:lnTo>
                  <a:pt x="538649" y="769499"/>
                </a:lnTo>
                <a:lnTo>
                  <a:pt x="1479299" y="769499"/>
                </a:lnTo>
                <a:lnTo>
                  <a:pt x="1633199" y="923399"/>
                </a:lnTo>
                <a:lnTo>
                  <a:pt x="1325399" y="1231199"/>
                </a:lnTo>
                <a:close/>
              </a:path>
              <a:path w="1633220" h="1231264">
                <a:moveTo>
                  <a:pt x="1479299" y="769499"/>
                </a:moveTo>
                <a:lnTo>
                  <a:pt x="1325399" y="769499"/>
                </a:lnTo>
                <a:lnTo>
                  <a:pt x="1325399" y="615599"/>
                </a:lnTo>
                <a:lnTo>
                  <a:pt x="1479299" y="7694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347801" y="1733665"/>
            <a:ext cx="8826500" cy="5099472"/>
            <a:chOff x="1760850" y="1300249"/>
            <a:chExt cx="6619875" cy="3824604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5350" y="1403624"/>
              <a:ext cx="4567250" cy="2005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1851673"/>
              <a:ext cx="1216674" cy="7200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5" y="1314667"/>
              <a:ext cx="989849" cy="4207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0375" y="3283637"/>
              <a:ext cx="1052500" cy="5036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65612" y="3278874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750" y="3549425"/>
              <a:ext cx="2123676" cy="1565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81987" y="3544662"/>
              <a:ext cx="2133600" cy="1575435"/>
            </a:xfrm>
            <a:custGeom>
              <a:avLst/>
              <a:gdLst/>
              <a:ahLst/>
              <a:cxnLst/>
              <a:rect l="l" t="t" r="r" b="b"/>
              <a:pathLst>
                <a:path w="2133600" h="1575435">
                  <a:moveTo>
                    <a:pt x="0" y="0"/>
                  </a:moveTo>
                  <a:lnTo>
                    <a:pt x="2133201" y="0"/>
                  </a:lnTo>
                  <a:lnTo>
                    <a:pt x="2133201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86750" y="4723853"/>
              <a:ext cx="2124075" cy="250825"/>
            </a:xfrm>
            <a:custGeom>
              <a:avLst/>
              <a:gdLst/>
              <a:ahLst/>
              <a:cxnLst/>
              <a:rect l="l" t="t" r="r" b="b"/>
              <a:pathLst>
                <a:path w="2124075" h="250825">
                  <a:moveTo>
                    <a:pt x="0" y="0"/>
                  </a:moveTo>
                  <a:lnTo>
                    <a:pt x="2123699" y="0"/>
                  </a:lnTo>
                  <a:lnTo>
                    <a:pt x="2123699" y="250499"/>
                  </a:lnTo>
                  <a:lnTo>
                    <a:pt x="0" y="25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2875860"/>
              <a:ext cx="1271774" cy="15608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16075" y="1897274"/>
              <a:ext cx="921385" cy="136525"/>
            </a:xfrm>
            <a:custGeom>
              <a:avLst/>
              <a:gdLst/>
              <a:ahLst/>
              <a:cxnLst/>
              <a:rect l="l" t="t" r="r" b="b"/>
              <a:pathLst>
                <a:path w="921385" h="136525">
                  <a:moveTo>
                    <a:pt x="0" y="0"/>
                  </a:moveTo>
                  <a:lnTo>
                    <a:pt x="920999" y="0"/>
                  </a:lnTo>
                  <a:lnTo>
                    <a:pt x="9209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13350" y="3290079"/>
              <a:ext cx="256656" cy="2688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4049" y="3277936"/>
              <a:ext cx="81106" cy="2415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72152" y="1577024"/>
              <a:ext cx="545465" cy="153035"/>
            </a:xfrm>
            <a:custGeom>
              <a:avLst/>
              <a:gdLst/>
              <a:ahLst/>
              <a:cxnLst/>
              <a:rect l="l" t="t" r="r" b="b"/>
              <a:pathLst>
                <a:path w="545465" h="153035">
                  <a:moveTo>
                    <a:pt x="545422" y="0"/>
                  </a:moveTo>
                  <a:lnTo>
                    <a:pt x="0" y="152518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79370" y="1689715"/>
              <a:ext cx="110780" cy="7965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35865" y="2401924"/>
              <a:ext cx="563245" cy="125730"/>
            </a:xfrm>
            <a:custGeom>
              <a:avLst/>
              <a:gdLst/>
              <a:ahLst/>
              <a:cxnLst/>
              <a:rect l="l" t="t" r="r" b="b"/>
              <a:pathLst>
                <a:path w="563245" h="125730">
                  <a:moveTo>
                    <a:pt x="563134" y="0"/>
                  </a:moveTo>
                  <a:lnTo>
                    <a:pt x="0" y="125446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1957" y="2487134"/>
              <a:ext cx="110274" cy="804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40177" y="3341666"/>
              <a:ext cx="758825" cy="763905"/>
            </a:xfrm>
            <a:custGeom>
              <a:avLst/>
              <a:gdLst/>
              <a:ahLst/>
              <a:cxnLst/>
              <a:rect l="l" t="t" r="r" b="b"/>
              <a:pathLst>
                <a:path w="758825" h="763904">
                  <a:moveTo>
                    <a:pt x="758822" y="763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9707" y="3270826"/>
              <a:ext cx="102310" cy="10254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55575" y="1668674"/>
              <a:ext cx="549275" cy="136525"/>
            </a:xfrm>
            <a:custGeom>
              <a:avLst/>
              <a:gdLst/>
              <a:ahLst/>
              <a:cxnLst/>
              <a:rect l="l" t="t" r="r" b="b"/>
              <a:pathLst>
                <a:path w="549275" h="136525">
                  <a:moveTo>
                    <a:pt x="0" y="0"/>
                  </a:moveTo>
                  <a:lnTo>
                    <a:pt x="548699" y="0"/>
                  </a:lnTo>
                  <a:lnTo>
                    <a:pt x="548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1" name="object 31"/>
          <p:cNvSpPr txBox="1"/>
          <p:nvPr/>
        </p:nvSpPr>
        <p:spPr>
          <a:xfrm>
            <a:off x="367542" y="6071612"/>
            <a:ext cx="3516207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85182" y="6233243"/>
            <a:ext cx="1307253" cy="624840"/>
          </a:xfrm>
          <a:custGeom>
            <a:avLst/>
            <a:gdLst/>
            <a:ahLst/>
            <a:cxnLst/>
            <a:rect l="l" t="t" r="r" b="b"/>
            <a:pathLst>
              <a:path w="980440" h="468629">
                <a:moveTo>
                  <a:pt x="980114" y="468567"/>
                </a:moveTo>
                <a:lnTo>
                  <a:pt x="963319" y="468567"/>
                </a:lnTo>
                <a:lnTo>
                  <a:pt x="0" y="0"/>
                </a:lnTo>
                <a:lnTo>
                  <a:pt x="980114" y="0"/>
                </a:lnTo>
                <a:lnTo>
                  <a:pt x="980114" y="468567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2536" y="6233234"/>
            <a:ext cx="1319107" cy="307841"/>
          </a:xfrm>
          <a:prstGeom prst="rect">
            <a:avLst/>
          </a:prstGeom>
          <a:solidFill>
            <a:srgbClr val="D13368"/>
          </a:solidFill>
        </p:spPr>
        <p:txBody>
          <a:bodyPr vert="horz" wrap="square" lIns="0" tIns="142240" rIns="0" bIns="0" rtlCol="0">
            <a:spAutoFit/>
          </a:bodyPr>
          <a:lstStyle/>
          <a:p>
            <a:pPr marL="113450" defTabSz="1219170">
              <a:spcBef>
                <a:spcPts val="1120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133" y="1733666"/>
            <a:ext cx="10664612" cy="4979247"/>
            <a:chOff x="381849" y="1300249"/>
            <a:chExt cx="7998459" cy="37344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5862" y="1403625"/>
              <a:ext cx="5452567" cy="24525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1851673"/>
              <a:ext cx="1216674" cy="7200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4" y="1314667"/>
              <a:ext cx="989849" cy="4207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1374" y="3734862"/>
              <a:ext cx="1052500" cy="5036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6612" y="3730099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7348" y="3459350"/>
              <a:ext cx="1554275" cy="1565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92585" y="3454587"/>
              <a:ext cx="1564005" cy="1575435"/>
            </a:xfrm>
            <a:custGeom>
              <a:avLst/>
              <a:gdLst/>
              <a:ahLst/>
              <a:cxnLst/>
              <a:rect l="l" t="t" r="r" b="b"/>
              <a:pathLst>
                <a:path w="1564004" h="1575435">
                  <a:moveTo>
                    <a:pt x="0" y="0"/>
                  </a:moveTo>
                  <a:lnTo>
                    <a:pt x="1563800" y="0"/>
                  </a:lnTo>
                  <a:lnTo>
                    <a:pt x="1563800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397350" y="4627979"/>
              <a:ext cx="1554480" cy="265430"/>
            </a:xfrm>
            <a:custGeom>
              <a:avLst/>
              <a:gdLst/>
              <a:ahLst/>
              <a:cxnLst/>
              <a:rect l="l" t="t" r="r" b="b"/>
              <a:pathLst>
                <a:path w="1554479" h="265429">
                  <a:moveTo>
                    <a:pt x="0" y="0"/>
                  </a:moveTo>
                  <a:lnTo>
                    <a:pt x="1554299" y="0"/>
                  </a:lnTo>
                  <a:lnTo>
                    <a:pt x="1554299" y="264899"/>
                  </a:lnTo>
                  <a:lnTo>
                    <a:pt x="0" y="26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2875860"/>
              <a:ext cx="1271774" cy="15608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388425" y="2287495"/>
              <a:ext cx="989965" cy="136525"/>
            </a:xfrm>
            <a:custGeom>
              <a:avLst/>
              <a:gdLst/>
              <a:ahLst/>
              <a:cxnLst/>
              <a:rect l="l" t="t" r="r" b="b"/>
              <a:pathLst>
                <a:path w="989964" h="136525">
                  <a:moveTo>
                    <a:pt x="0" y="0"/>
                  </a:moveTo>
                  <a:lnTo>
                    <a:pt x="989699" y="0"/>
                  </a:lnTo>
                  <a:lnTo>
                    <a:pt x="989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34350" y="3741304"/>
              <a:ext cx="256657" cy="2688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94063" y="3738300"/>
              <a:ext cx="497205" cy="223520"/>
            </a:xfrm>
            <a:custGeom>
              <a:avLst/>
              <a:gdLst/>
              <a:ahLst/>
              <a:cxnLst/>
              <a:rect l="l" t="t" r="r" b="b"/>
              <a:pathLst>
                <a:path w="497204" h="223520">
                  <a:moveTo>
                    <a:pt x="0" y="0"/>
                  </a:moveTo>
                  <a:lnTo>
                    <a:pt x="496932" y="223172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68579" y="3923244"/>
              <a:ext cx="110803" cy="831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54877" y="1577024"/>
              <a:ext cx="363220" cy="482600"/>
            </a:xfrm>
            <a:custGeom>
              <a:avLst/>
              <a:gdLst/>
              <a:ahLst/>
              <a:cxnLst/>
              <a:rect l="l" t="t" r="r" b="b"/>
              <a:pathLst>
                <a:path w="363220" h="482600">
                  <a:moveTo>
                    <a:pt x="362697" y="0"/>
                  </a:moveTo>
                  <a:lnTo>
                    <a:pt x="0" y="482251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3389" y="2030838"/>
              <a:ext cx="96159" cy="1070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62046" y="2402062"/>
              <a:ext cx="337185" cy="340360"/>
            </a:xfrm>
            <a:custGeom>
              <a:avLst/>
              <a:gdLst/>
              <a:ahLst/>
              <a:cxnLst/>
              <a:rect l="l" t="t" r="r" b="b"/>
              <a:pathLst>
                <a:path w="337184" h="340360">
                  <a:moveTo>
                    <a:pt x="336883" y="0"/>
                  </a:moveTo>
                  <a:lnTo>
                    <a:pt x="0" y="340273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91699" y="2710673"/>
              <a:ext cx="102233" cy="1026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4094" y="3895204"/>
              <a:ext cx="485140" cy="210185"/>
            </a:xfrm>
            <a:custGeom>
              <a:avLst/>
              <a:gdLst/>
              <a:ahLst/>
              <a:cxnLst/>
              <a:rect l="l" t="t" r="r" b="b"/>
              <a:pathLst>
                <a:path w="485140" h="210185">
                  <a:moveTo>
                    <a:pt x="484905" y="20989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25232" y="3851338"/>
              <a:ext cx="110885" cy="8226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44900" y="1817899"/>
              <a:ext cx="888365" cy="136525"/>
            </a:xfrm>
            <a:custGeom>
              <a:avLst/>
              <a:gdLst/>
              <a:ahLst/>
              <a:cxnLst/>
              <a:rect l="l" t="t" r="r" b="b"/>
              <a:pathLst>
                <a:path w="888364" h="136525">
                  <a:moveTo>
                    <a:pt x="0" y="0"/>
                  </a:moveTo>
                  <a:lnTo>
                    <a:pt x="888299" y="0"/>
                  </a:lnTo>
                  <a:lnTo>
                    <a:pt x="8882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2" name="object 32"/>
          <p:cNvSpPr txBox="1"/>
          <p:nvPr/>
        </p:nvSpPr>
        <p:spPr>
          <a:xfrm>
            <a:off x="9669716" y="6530881"/>
            <a:ext cx="806027" cy="171051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defTabSz="1219170">
              <a:spcBef>
                <a:spcPts val="53"/>
              </a:spcBef>
            </a:pP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542" y="6042243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9" name="object 9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13823" y="5543910"/>
            <a:ext cx="35162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1283" y="1907432"/>
            <a:ext cx="4619413" cy="4718472"/>
            <a:chOff x="1163462" y="1430574"/>
            <a:chExt cx="3464560" cy="3538854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2987" y="1440100"/>
              <a:ext cx="3445219" cy="35192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68225" y="1435337"/>
              <a:ext cx="3455035" cy="3529329"/>
            </a:xfrm>
            <a:custGeom>
              <a:avLst/>
              <a:gdLst/>
              <a:ahLst/>
              <a:cxnLst/>
              <a:rect l="l" t="t" r="r" b="b"/>
              <a:pathLst>
                <a:path w="3455035" h="3529329">
                  <a:moveTo>
                    <a:pt x="0" y="0"/>
                  </a:moveTo>
                  <a:lnTo>
                    <a:pt x="3454744" y="0"/>
                  </a:lnTo>
                  <a:lnTo>
                    <a:pt x="3454744" y="3528775"/>
                  </a:lnTo>
                  <a:lnTo>
                    <a:pt x="0" y="3528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10404" y="1891484"/>
            <a:ext cx="4701539" cy="4814993"/>
            <a:chOff x="1132803" y="1418612"/>
            <a:chExt cx="3526154" cy="3611245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328" y="1428138"/>
              <a:ext cx="3506549" cy="35918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7565" y="1423375"/>
              <a:ext cx="3516629" cy="3601720"/>
            </a:xfrm>
            <a:custGeom>
              <a:avLst/>
              <a:gdLst/>
              <a:ahLst/>
              <a:cxnLst/>
              <a:rect l="l" t="t" r="r" b="b"/>
              <a:pathLst>
                <a:path w="3516629" h="3601720">
                  <a:moveTo>
                    <a:pt x="0" y="0"/>
                  </a:moveTo>
                  <a:lnTo>
                    <a:pt x="3516074" y="0"/>
                  </a:lnTo>
                  <a:lnTo>
                    <a:pt x="3516074" y="3601349"/>
                  </a:lnTo>
                  <a:lnTo>
                    <a:pt x="0" y="360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94699" y="398536"/>
              <a:ext cx="1068549" cy="1068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94834" y="4197651"/>
            <a:ext cx="691811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Replay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(basic_replay)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45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12727"/>
            <a:ext cx="9915525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46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47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4711700" y="2401888"/>
            <a:ext cx="7480300" cy="2341562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“Application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13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bottom </a:t>
            </a:r>
            <a:r>
              <a:rPr dirty="0">
                <a:solidFill>
                  <a:srgbClr val="434343"/>
                </a:solidFill>
              </a:rPr>
              <a:t>left</a:t>
            </a:r>
            <a:r>
              <a:rPr spc="-67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dirty="0">
                <a:solidFill>
                  <a:srgbClr val="434343"/>
                </a:solidFill>
              </a:rPr>
              <a:t>gnuradio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to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20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79922"/>
            <a:ext cx="11727280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48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54501"/>
            <a:ext cx="5041336" cy="26898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49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240" y="2323433"/>
            <a:ext cx="319870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21383" y="1799733"/>
            <a:ext cx="10442787" cy="5064760"/>
            <a:chOff x="541037" y="1349800"/>
            <a:chExt cx="7832090" cy="37985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37" y="1349800"/>
              <a:ext cx="7832066" cy="2868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40473" y="3002772"/>
              <a:ext cx="226060" cy="2103120"/>
            </a:xfrm>
            <a:custGeom>
              <a:avLst/>
              <a:gdLst/>
              <a:ahLst/>
              <a:cxnLst/>
              <a:rect l="l" t="t" r="r" b="b"/>
              <a:pathLst>
                <a:path w="226060" h="2103120">
                  <a:moveTo>
                    <a:pt x="225701" y="210275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99662" y="2907290"/>
              <a:ext cx="81621" cy="1083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24305" y="3370815"/>
              <a:ext cx="346710" cy="1677670"/>
            </a:xfrm>
            <a:custGeom>
              <a:avLst/>
              <a:gdLst/>
              <a:ahLst/>
              <a:cxnLst/>
              <a:rect l="l" t="t" r="r" b="b"/>
              <a:pathLst>
                <a:path w="346710" h="1677670">
                  <a:moveTo>
                    <a:pt x="346194" y="167725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83964" y="3276624"/>
              <a:ext cx="80681" cy="1100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157123" y="5718243"/>
            <a:ext cx="2936240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140"/>
              </a:lnSpc>
            </a:pP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29153" marR="1318226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901" y="1741134"/>
            <a:ext cx="11128999" cy="411903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9" name="object 9"/>
          <p:cNvGrpSpPr/>
          <p:nvPr/>
        </p:nvGrpSpPr>
        <p:grpSpPr>
          <a:xfrm>
            <a:off x="3281459" y="3953093"/>
            <a:ext cx="4507653" cy="2911687"/>
            <a:chOff x="2461094" y="2964819"/>
            <a:chExt cx="3380740" cy="2183765"/>
          </a:xfrm>
        </p:grpSpPr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01825" y="3060082"/>
              <a:ext cx="264795" cy="2045970"/>
            </a:xfrm>
            <a:custGeom>
              <a:avLst/>
              <a:gdLst/>
              <a:ahLst/>
              <a:cxnLst/>
              <a:rect l="l" t="t" r="r" b="b"/>
              <a:pathLst>
                <a:path w="264794" h="2045970">
                  <a:moveTo>
                    <a:pt x="264349" y="204544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61094" y="2964819"/>
              <a:ext cx="81461" cy="1088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71203" y="3443591"/>
              <a:ext cx="399415" cy="1604645"/>
            </a:xfrm>
            <a:custGeom>
              <a:avLst/>
              <a:gdLst/>
              <a:ahLst/>
              <a:cxnLst/>
              <a:rect l="l" t="t" r="r" b="b"/>
              <a:pathLst>
                <a:path w="399414" h="1604645">
                  <a:moveTo>
                    <a:pt x="399296" y="160448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31144" y="3350174"/>
              <a:ext cx="80118" cy="1105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669717" y="5718243"/>
            <a:ext cx="2424007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15" defTabSz="1219170">
              <a:lnSpc>
                <a:spcPts val="3140"/>
              </a:lnSpc>
            </a:pPr>
            <a:r>
              <a:rPr sz="2667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marR="1317380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597" y="1831266"/>
            <a:ext cx="10104120" cy="5027505"/>
            <a:chOff x="1566448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4" y="1382975"/>
              <a:ext cx="4608780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1" y="1378212"/>
              <a:ext cx="4618355" cy="3671570"/>
            </a:xfrm>
            <a:custGeom>
              <a:avLst/>
              <a:gdLst/>
              <a:ahLst/>
              <a:cxnLst/>
              <a:rect l="l" t="t" r="r" b="b"/>
              <a:pathLst>
                <a:path w="4618355" h="3671570">
                  <a:moveTo>
                    <a:pt x="0" y="0"/>
                  </a:moveTo>
                  <a:lnTo>
                    <a:pt x="4618305" y="0"/>
                  </a:lnTo>
                  <a:lnTo>
                    <a:pt x="4618305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4201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8313823" y="5573279"/>
            <a:ext cx="3516207" cy="1136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372412" marR="1054074" defTabSz="1219170">
              <a:spcBef>
                <a:spcPts val="257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600" y="1831266"/>
            <a:ext cx="10104120" cy="5027505"/>
            <a:chOff x="1566450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5" y="1382975"/>
              <a:ext cx="4615851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2" y="1378212"/>
              <a:ext cx="4625975" cy="3671570"/>
            </a:xfrm>
            <a:custGeom>
              <a:avLst/>
              <a:gdLst/>
              <a:ahLst/>
              <a:cxnLst/>
              <a:rect l="l" t="t" r="r" b="b"/>
              <a:pathLst>
                <a:path w="4625975" h="3671570">
                  <a:moveTo>
                    <a:pt x="0" y="0"/>
                  </a:moveTo>
                  <a:lnTo>
                    <a:pt x="4625376" y="0"/>
                  </a:lnTo>
                  <a:lnTo>
                    <a:pt x="4625376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/>
          <p:nvPr/>
        </p:nvSpPr>
        <p:spPr>
          <a:xfrm>
            <a:off x="0" y="625745"/>
            <a:ext cx="645402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–</a:t>
            </a:r>
            <a:r>
              <a:rPr sz="3600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6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Execute</a:t>
            </a:r>
            <a:r>
              <a:rPr sz="3600" kern="0" spc="-1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Basic</a:t>
            </a:r>
            <a:r>
              <a:rPr sz="3600" b="1" kern="0" spc="-1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Replay</a:t>
            </a:r>
            <a:r>
              <a:rPr sz="36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endParaRPr sz="36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4834" y="4311951"/>
            <a:ext cx="78240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Decode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(advanced_capture)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54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254"/>
            <a:ext cx="95948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4583" y="1806234"/>
            <a:ext cx="11397827" cy="5052060"/>
            <a:chOff x="595937" y="1354675"/>
            <a:chExt cx="8548370" cy="3789045"/>
          </a:xfrm>
        </p:grpSpPr>
        <p:sp>
          <p:nvSpPr>
            <p:cNvPr id="5" name="object 5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5937" y="1354675"/>
              <a:ext cx="7952123" cy="3690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16053" y="4674933"/>
              <a:ext cx="2911475" cy="468630"/>
            </a:xfrm>
            <a:custGeom>
              <a:avLst/>
              <a:gdLst/>
              <a:ahLst/>
              <a:cxnLst/>
              <a:rect l="l" t="t" r="r" b="b"/>
              <a:pathLst>
                <a:path w="2911475" h="468629">
                  <a:moveTo>
                    <a:pt x="963333" y="0"/>
                  </a:moveTo>
                  <a:lnTo>
                    <a:pt x="0" y="468566"/>
                  </a:lnTo>
                  <a:lnTo>
                    <a:pt x="963333" y="468566"/>
                  </a:lnTo>
                  <a:lnTo>
                    <a:pt x="963333" y="0"/>
                  </a:lnTo>
                  <a:close/>
                </a:path>
                <a:path w="2911475" h="468629">
                  <a:moveTo>
                    <a:pt x="2911297" y="468566"/>
                  </a:moveTo>
                  <a:lnTo>
                    <a:pt x="1947964" y="0"/>
                  </a:lnTo>
                  <a:lnTo>
                    <a:pt x="1947964" y="468566"/>
                  </a:lnTo>
                  <a:lnTo>
                    <a:pt x="2911297" y="46856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55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3818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86650" y="6385255"/>
            <a:ext cx="1078653" cy="31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1200"/>
              </a:lnSpc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/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47850" y="1770633"/>
            <a:ext cx="9044940" cy="5087620"/>
            <a:chOff x="2360887" y="1327974"/>
            <a:chExt cx="6783705" cy="381571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70412" y="1337499"/>
              <a:ext cx="4403174" cy="3649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65649" y="1332737"/>
              <a:ext cx="4413250" cy="3659504"/>
            </a:xfrm>
            <a:custGeom>
              <a:avLst/>
              <a:gdLst/>
              <a:ahLst/>
              <a:cxnLst/>
              <a:rect l="l" t="t" r="r" b="b"/>
              <a:pathLst>
                <a:path w="4413250" h="3659504">
                  <a:moveTo>
                    <a:pt x="0" y="0"/>
                  </a:moveTo>
                  <a:lnTo>
                    <a:pt x="4412699" y="0"/>
                  </a:lnTo>
                  <a:lnTo>
                    <a:pt x="4412699" y="3659350"/>
                  </a:lnTo>
                  <a:lnTo>
                    <a:pt x="0" y="36593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56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07866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52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6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3599" y="4045664"/>
            <a:ext cx="11049000" cy="2812627"/>
            <a:chOff x="857699" y="3034248"/>
            <a:chExt cx="8286750" cy="210947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225" y="3043773"/>
              <a:ext cx="6419849" cy="15811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462" y="3039011"/>
              <a:ext cx="6429375" cy="1590675"/>
            </a:xfrm>
            <a:custGeom>
              <a:avLst/>
              <a:gdLst/>
              <a:ahLst/>
              <a:cxnLst/>
              <a:rect l="l" t="t" r="r" b="b"/>
              <a:pathLst>
                <a:path w="6429375" h="1590675">
                  <a:moveTo>
                    <a:pt x="0" y="0"/>
                  </a:moveTo>
                  <a:lnTo>
                    <a:pt x="6429374" y="0"/>
                  </a:lnTo>
                  <a:lnTo>
                    <a:pt x="6429374" y="1590650"/>
                  </a:lnTo>
                  <a:lnTo>
                    <a:pt x="0" y="1590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57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View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Binary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data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feed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from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60" dirty="0">
                <a:solidFill>
                  <a:srgbClr val="D13368"/>
                </a:solidFill>
              </a:rPr>
              <a:t> </a:t>
            </a:r>
            <a:r>
              <a:rPr sz="3600" b="1" spc="-13" dirty="0">
                <a:solidFill>
                  <a:srgbClr val="D13368"/>
                </a:solidFill>
              </a:rPr>
              <a:t>Capture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265" y="1877602"/>
            <a:ext cx="8469207" cy="2015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6454" indent="-499521" defTabSz="1219170">
              <a:lnSpc>
                <a:spcPts val="2733"/>
              </a:lnSpc>
              <a:spcBef>
                <a:spcPts val="133"/>
              </a:spcBef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window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16454" indent="-499521" defTabSz="1219170">
              <a:lnSpc>
                <a:spcPts val="2733"/>
              </a:lnSpc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view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26039" defTabSz="1219170">
              <a:lnSpc>
                <a:spcPts val="2585"/>
              </a:lnSpc>
              <a:spcBef>
                <a:spcPts val="1325"/>
              </a:spcBef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26039" defTabSz="1219170">
              <a:lnSpc>
                <a:spcPts val="2585"/>
              </a:lnSpc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grep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101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6454" indent="-499521" defTabSz="1219170">
              <a:spcBef>
                <a:spcPts val="780"/>
              </a:spcBef>
              <a:buSzPct val="77777"/>
              <a:buFontTx/>
              <a:buAutoNum type="arabicPeriod" startAt="3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button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binary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58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194"/>
            <a:ext cx="101663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Live</a:t>
            </a:r>
            <a:r>
              <a:rPr sz="5600" spc="-133" dirty="0"/>
              <a:t> </a:t>
            </a:r>
            <a:r>
              <a:rPr sz="5600" dirty="0"/>
              <a:t>Spooﬁng</a:t>
            </a:r>
            <a:r>
              <a:rPr sz="5600" spc="-120" dirty="0"/>
              <a:t> </a:t>
            </a:r>
            <a:r>
              <a:rPr sz="5600" dirty="0"/>
              <a:t>of</a:t>
            </a:r>
            <a:r>
              <a:rPr sz="5600" spc="-120" dirty="0"/>
              <a:t> </a:t>
            </a:r>
            <a:r>
              <a:rPr sz="5600" dirty="0"/>
              <a:t>GPS</a:t>
            </a:r>
            <a:r>
              <a:rPr sz="5600" spc="-120" dirty="0"/>
              <a:t> </a:t>
            </a:r>
            <a:r>
              <a:rPr sz="5600" spc="-13" dirty="0"/>
              <a:t>Satellites</a:t>
            </a:r>
            <a:endParaRPr sz="5600" dirty="0"/>
          </a:p>
        </p:txBody>
      </p:sp>
      <p:sp>
        <p:nvSpPr>
          <p:cNvPr id="10" name="object 10"/>
          <p:cNvSpPr txBox="1"/>
          <p:nvPr/>
        </p:nvSpPr>
        <p:spPr>
          <a:xfrm>
            <a:off x="894834" y="4292901"/>
            <a:ext cx="3026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Overview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of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GPS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59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3666" y="3393900"/>
            <a:ext cx="6635327" cy="3024293"/>
            <a:chOff x="1855249" y="2545425"/>
            <a:chExt cx="4976495" cy="2268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60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910157"/>
            <a:ext cx="9096375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Backup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1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Install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gps-sdr-</a:t>
            </a:r>
            <a:r>
              <a:rPr sz="3600" spc="-33" dirty="0">
                <a:solidFill>
                  <a:srgbClr val="2A3890"/>
                </a:solidFill>
              </a:rPr>
              <a:t>sim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48341" y="1935309"/>
            <a:ext cx="759036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git</a:t>
            </a:r>
            <a:r>
              <a:rPr sz="2400" kern="0" spc="1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clone</a:t>
            </a:r>
            <a:r>
              <a:rPr sz="2400" kern="0" spc="1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27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https://github.com/osqzss/gps-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sdr-sim.git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cd</a:t>
            </a:r>
            <a:r>
              <a:rPr sz="24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sim/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gcc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gpssim.c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lm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O3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61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85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2 </a:t>
            </a:r>
            <a:r>
              <a:rPr sz="3600" dirty="0">
                <a:solidFill>
                  <a:srgbClr val="D13368"/>
                </a:solidFill>
              </a:rPr>
              <a:t>Download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latest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GNSS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archive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906863"/>
            <a:ext cx="8653780" cy="1273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marR="6773" indent="-568946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0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https://cddis.nasa.gov/archive/gnss/data/daily/2024/brdc/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latest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archive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today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(brdc0370.24n)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Place the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</a:t>
            </a:r>
            <a:r>
              <a:rPr sz="2000" b="1" kern="0" dirty="0">
                <a:solidFill>
                  <a:srgbClr val="D13368"/>
                </a:solidFill>
                <a:latin typeface="Courier New"/>
                <a:cs typeface="Courier New"/>
              </a:rPr>
              <a:t>sim</a:t>
            </a:r>
            <a:r>
              <a:rPr sz="2000" b="1" kern="0" spc="1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directory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6234" y="3538734"/>
            <a:ext cx="7879533" cy="31332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62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195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3 </a:t>
            </a:r>
            <a:r>
              <a:rPr sz="3600" dirty="0">
                <a:solidFill>
                  <a:srgbClr val="D13368"/>
                </a:solidFill>
              </a:rPr>
              <a:t>Select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location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to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spoof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0" y="1737530"/>
            <a:ext cx="6644640" cy="1629506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Navigate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maps.google.com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location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spoof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Copy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longitude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latitude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URL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6884" y="3474367"/>
            <a:ext cx="6238233" cy="31459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63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83552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5 </a:t>
            </a:r>
            <a:r>
              <a:rPr sz="3600" dirty="0">
                <a:solidFill>
                  <a:srgbClr val="D13368"/>
                </a:solidFill>
              </a:rPr>
              <a:t>Generate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constellations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906875"/>
            <a:ext cx="10114279" cy="16919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25671" indent="-568098" defTabSz="1219170">
              <a:spcBef>
                <a:spcPts val="1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defTabSz="1219170"/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cd</a:t>
            </a:r>
            <a:r>
              <a:rPr sz="2267" b="1" kern="0" spc="180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/usr/src/gps-sdr-sim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625671" indent="-568098" defTabSz="1219170">
              <a:spcBef>
                <a:spcPts val="400"/>
              </a:spcBef>
              <a:buFont typeface="Roboto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./gps-sdr-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sim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e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brdc2050.23n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l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-81.056276,52.7882491,17z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b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8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d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500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0749" y="3658467"/>
            <a:ext cx="3891280" cy="3136053"/>
            <a:chOff x="3113062" y="2743850"/>
            <a:chExt cx="2918460" cy="235204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22587" y="2753375"/>
              <a:ext cx="2898820" cy="2332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7824" y="2748612"/>
              <a:ext cx="2908935" cy="2342515"/>
            </a:xfrm>
            <a:custGeom>
              <a:avLst/>
              <a:gdLst/>
              <a:ahLst/>
              <a:cxnLst/>
              <a:rect l="l" t="t" r="r" b="b"/>
              <a:pathLst>
                <a:path w="2908935" h="2342515">
                  <a:moveTo>
                    <a:pt x="0" y="0"/>
                  </a:moveTo>
                  <a:lnTo>
                    <a:pt x="2908346" y="0"/>
                  </a:lnTo>
                  <a:lnTo>
                    <a:pt x="2908346" y="2341974"/>
                  </a:lnTo>
                  <a:lnTo>
                    <a:pt x="0" y="23419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64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5087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6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Transmit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Spoofed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GPS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Location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737541"/>
            <a:ext cx="9788312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7572" defTabSz="1219170">
              <a:spcBef>
                <a:spcPts val="1467"/>
              </a:spcBef>
              <a:tabLst>
                <a:tab pos="62567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hackrf_transfer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gpssim.bin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1575420000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2600000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x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30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465" y="3048466"/>
            <a:ext cx="7281865" cy="35580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-232"/>
            <a:ext cx="6096000" cy="6858000"/>
            <a:chOff x="4572000" y="-174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-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65</a:t>
            </a:fld>
            <a:endParaRPr kern="0" spc="-33" dirty="0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957513"/>
            <a:ext cx="3405188" cy="8778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>
                <a:solidFill>
                  <a:srgbClr val="2A3890"/>
                </a:solidFill>
              </a:rPr>
              <a:t>SDR</a:t>
            </a:r>
            <a:r>
              <a:rPr sz="5600" spc="-27" dirty="0">
                <a:solidFill>
                  <a:srgbClr val="2A3890"/>
                </a:solidFill>
              </a:rPr>
              <a:t> Demo</a:t>
            </a:r>
            <a:endParaRPr sz="5600"/>
          </a:p>
        </p:txBody>
      </p:sp>
      <p:sp>
        <p:nvSpPr>
          <p:cNvPr id="6" name="object 6"/>
          <p:cNvSpPr txBox="1"/>
          <p:nvPr/>
        </p:nvSpPr>
        <p:spPr>
          <a:xfrm>
            <a:off x="6804067" y="3216993"/>
            <a:ext cx="45940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indent="-488514" defTabSz="1219170">
              <a:spcBef>
                <a:spcPts val="1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OpenBTS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Cellular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Broadcast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-232"/>
            <a:ext cx="6096000" cy="6858000"/>
            <a:chOff x="4572000" y="-174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-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66</a:t>
            </a:fld>
            <a:endParaRPr kern="0" spc="-33" dirty="0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957513"/>
            <a:ext cx="4181475" cy="8778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>
                <a:solidFill>
                  <a:srgbClr val="2A3890"/>
                </a:solidFill>
              </a:rPr>
              <a:t>SDR</a:t>
            </a:r>
            <a:r>
              <a:rPr sz="5600" spc="-27" dirty="0">
                <a:solidFill>
                  <a:srgbClr val="2A3890"/>
                </a:solidFill>
              </a:rPr>
              <a:t> </a:t>
            </a:r>
            <a:r>
              <a:rPr sz="5600" spc="-13" dirty="0">
                <a:solidFill>
                  <a:srgbClr val="2A3890"/>
                </a:solidFill>
              </a:rPr>
              <a:t>Exercise</a:t>
            </a:r>
            <a:endParaRPr sz="5600"/>
          </a:p>
        </p:txBody>
      </p:sp>
      <p:sp>
        <p:nvSpPr>
          <p:cNvPr id="6" name="object 6"/>
          <p:cNvSpPr txBox="1"/>
          <p:nvPr/>
        </p:nvSpPr>
        <p:spPr>
          <a:xfrm>
            <a:off x="6804067" y="2951819"/>
            <a:ext cx="2359660" cy="86177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05447" indent="-488514" defTabSz="1219170">
              <a:spcBef>
                <a:spcPts val="560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RDS</a:t>
            </a:r>
            <a:r>
              <a:rPr sz="2400" kern="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Receive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RDS</a:t>
            </a:r>
            <a:r>
              <a:rPr sz="2400" kern="0" spc="-8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Transmit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267" y="1359690"/>
            <a:ext cx="7943427" cy="27264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RDS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system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transmitting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small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amounts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digital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along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FM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broadcasts.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933"/>
              </a:spcBef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transmitted: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1933"/>
              </a:spcBef>
              <a:buClr>
                <a:srgbClr val="000000"/>
              </a:buClr>
              <a:buFont typeface="Arial"/>
              <a:buChar char="●"/>
              <a:tabLst>
                <a:tab pos="625671" algn="l"/>
              </a:tabLst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Program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Service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(PS):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Displays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station's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identiﬁer.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marR="220128" indent="-448722" defTabSz="12191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626518" algn="l"/>
              </a:tabLst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1867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Text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(RT):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Additional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text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related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broadcast content.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339"/>
              </a:spcBef>
              <a:buClr>
                <a:srgbClr val="000000"/>
              </a:buClr>
              <a:buFont typeface="Arial"/>
              <a:buChar char="●"/>
              <a:tabLst>
                <a:tab pos="625671" algn="l"/>
              </a:tabLst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Clock</a:t>
            </a:r>
            <a:r>
              <a:rPr sz="1867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Time: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RDS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synchronize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clock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compatible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receivers.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267" y="4832377"/>
            <a:ext cx="3134360" cy="8353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Frequency</a:t>
            </a:r>
            <a:r>
              <a:rPr sz="1867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range</a:t>
            </a:r>
            <a:r>
              <a:rPr sz="1867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(USA):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1933"/>
              </a:spcBef>
              <a:buFont typeface="Arial"/>
              <a:buChar char="●"/>
              <a:tabLst>
                <a:tab pos="625671" algn="l"/>
              </a:tabLst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87.5MHz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108.0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27" dirty="0">
                <a:solidFill>
                  <a:srgbClr val="434343"/>
                </a:solidFill>
                <a:latin typeface="Roboto"/>
                <a:cs typeface="Roboto"/>
              </a:rPr>
              <a:t>MHz.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67</a:t>
            </a:fld>
            <a:endParaRPr kern="0" spc="-33" dirty="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09588"/>
            <a:ext cx="10714038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RDS</a:t>
            </a:r>
            <a:r>
              <a:rPr spc="-47" dirty="0"/>
              <a:t> </a:t>
            </a:r>
            <a:r>
              <a:rPr dirty="0"/>
              <a:t>Overview</a:t>
            </a:r>
            <a:r>
              <a:rPr spc="-27" dirty="0"/>
              <a:t> </a:t>
            </a:r>
            <a:r>
              <a:rPr dirty="0">
                <a:solidFill>
                  <a:srgbClr val="2A3890"/>
                </a:solidFill>
              </a:rPr>
              <a:t>-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What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is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the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Radio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Data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System?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0793" y="1233000"/>
            <a:ext cx="2030040" cy="18835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5234" y="3483603"/>
            <a:ext cx="3756765" cy="27179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79916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Receiving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and</a:t>
            </a:r>
            <a:r>
              <a:rPr sz="4000" kern="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decoding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 RDS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3" y="1365942"/>
            <a:ext cx="730842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$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sudo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xdg-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/usr/src/gr-rds/examples/rds_rx.grc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Replace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RTL-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SDR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Osmocom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2983" y="2223934"/>
            <a:ext cx="9288817" cy="4497541"/>
            <a:chOff x="977237" y="1667950"/>
            <a:chExt cx="7106284" cy="347599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2000" y="1667950"/>
              <a:ext cx="7101224" cy="34755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82000" y="2941650"/>
              <a:ext cx="917575" cy="790575"/>
            </a:xfrm>
            <a:custGeom>
              <a:avLst/>
              <a:gdLst/>
              <a:ahLst/>
              <a:cxnLst/>
              <a:rect l="l" t="t" r="r" b="b"/>
              <a:pathLst>
                <a:path w="917575" h="790575">
                  <a:moveTo>
                    <a:pt x="0" y="0"/>
                  </a:moveTo>
                  <a:lnTo>
                    <a:pt x="917399" y="0"/>
                  </a:lnTo>
                  <a:lnTo>
                    <a:pt x="9173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68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69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738187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>
                <a:solidFill>
                  <a:srgbClr val="2A3890"/>
                </a:solidFill>
              </a:rPr>
              <a:t>RDS-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Receiving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decoding</a:t>
            </a:r>
            <a:r>
              <a:rPr sz="3600" spc="-6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792993" y="1352550"/>
            <a:ext cx="9874673" cy="4715933"/>
            <a:chOff x="869064" y="1114499"/>
            <a:chExt cx="7406005" cy="3536950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9064" y="1114499"/>
              <a:ext cx="7405872" cy="35367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25475" y="1916849"/>
              <a:ext cx="3270250" cy="393700"/>
            </a:xfrm>
            <a:custGeom>
              <a:avLst/>
              <a:gdLst/>
              <a:ahLst/>
              <a:cxnLst/>
              <a:rect l="l" t="t" r="r" b="b"/>
              <a:pathLst>
                <a:path w="3270250" h="393700">
                  <a:moveTo>
                    <a:pt x="0" y="0"/>
                  </a:moveTo>
                  <a:lnTo>
                    <a:pt x="3269699" y="0"/>
                  </a:lnTo>
                  <a:lnTo>
                    <a:pt x="3269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548301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13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Transmitting</a:t>
            </a:r>
            <a:r>
              <a:rPr sz="4000" kern="0" spc="-6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RDS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4" y="1365941"/>
            <a:ext cx="789178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$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sudo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xdg-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/usr/src/gr-rds/examples/rds_tx.grc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Adjust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transmit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frequency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by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modifying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freq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0066" y="2588665"/>
            <a:ext cx="8111913" cy="4138507"/>
            <a:chOff x="1530049" y="1941499"/>
            <a:chExt cx="6083935" cy="310388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30049" y="1941499"/>
              <a:ext cx="6083899" cy="31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18050" y="2102299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0" y="0"/>
                  </a:moveTo>
                  <a:lnTo>
                    <a:pt x="307799" y="0"/>
                  </a:lnTo>
                  <a:lnTo>
                    <a:pt x="307799" y="204899"/>
                  </a:lnTo>
                  <a:lnTo>
                    <a:pt x="0" y="20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70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784521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4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12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Transmitting</a:t>
            </a:r>
            <a:r>
              <a:rPr sz="4000" kern="0" spc="-5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RDS</a:t>
            </a:r>
            <a:r>
              <a:rPr sz="4000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continued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3" y="1365941"/>
            <a:ext cx="103157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Replace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Wav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ports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2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8416" y="1887401"/>
            <a:ext cx="9321800" cy="4728633"/>
            <a:chOff x="846312" y="1415550"/>
            <a:chExt cx="6991350" cy="3546475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5024" y="1415550"/>
              <a:ext cx="6952622" cy="35464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1074" y="3907900"/>
              <a:ext cx="549275" cy="393700"/>
            </a:xfrm>
            <a:custGeom>
              <a:avLst/>
              <a:gdLst/>
              <a:ahLst/>
              <a:cxnLst/>
              <a:rect l="l" t="t" r="r" b="b"/>
              <a:pathLst>
                <a:path w="549275" h="393700">
                  <a:moveTo>
                    <a:pt x="0" y="0"/>
                  </a:moveTo>
                  <a:lnTo>
                    <a:pt x="548699" y="0"/>
                  </a:lnTo>
                  <a:lnTo>
                    <a:pt x="548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71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72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7377" y="679150"/>
            <a:ext cx="10822506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RDS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–</a:t>
            </a:r>
            <a:r>
              <a:rPr sz="3600" spc="-1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Transmitting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37716" y="1436634"/>
            <a:ext cx="9110979" cy="5095239"/>
            <a:chOff x="1153287" y="1077475"/>
            <a:chExt cx="6833234" cy="3821429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58049" y="1077475"/>
              <a:ext cx="6827909" cy="3820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8049" y="2791125"/>
              <a:ext cx="5402580" cy="1461770"/>
            </a:xfrm>
            <a:custGeom>
              <a:avLst/>
              <a:gdLst/>
              <a:ahLst/>
              <a:cxnLst/>
              <a:rect l="l" t="t" r="r" b="b"/>
              <a:pathLst>
                <a:path w="5402580" h="1461770">
                  <a:moveTo>
                    <a:pt x="0" y="1067974"/>
                  </a:moveTo>
                  <a:lnTo>
                    <a:pt x="548699" y="1067974"/>
                  </a:lnTo>
                  <a:lnTo>
                    <a:pt x="548699" y="1461574"/>
                  </a:lnTo>
                  <a:lnTo>
                    <a:pt x="0" y="1461574"/>
                  </a:lnTo>
                  <a:lnTo>
                    <a:pt x="0" y="1067974"/>
                  </a:lnTo>
                  <a:close/>
                </a:path>
                <a:path w="5402580" h="1461770">
                  <a:moveTo>
                    <a:pt x="3339474" y="0"/>
                  </a:moveTo>
                  <a:lnTo>
                    <a:pt x="5402574" y="0"/>
                  </a:lnTo>
                  <a:lnTo>
                    <a:pt x="5402574" y="443399"/>
                  </a:lnTo>
                  <a:lnTo>
                    <a:pt x="3339474" y="443399"/>
                  </a:lnTo>
                  <a:lnTo>
                    <a:pt x="333947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73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83777"/>
            <a:ext cx="10264240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RDS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–</a:t>
            </a:r>
            <a:r>
              <a:rPr sz="3600" spc="-1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Transmitting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4067" y="1448167"/>
            <a:ext cx="9103879" cy="50945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-232"/>
            <a:ext cx="6096000" cy="6858000"/>
            <a:chOff x="4572000" y="-174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-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77941" y="6297871"/>
            <a:ext cx="2980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33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770188"/>
            <a:ext cx="4689475" cy="126682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algn="ctr">
              <a:spcBef>
                <a:spcPts val="173"/>
              </a:spcBef>
            </a:pPr>
            <a:r>
              <a:rPr sz="5000" spc="-13" dirty="0">
                <a:solidFill>
                  <a:srgbClr val="2A3890"/>
                </a:solidFill>
              </a:rPr>
              <a:t>Walkthrough</a:t>
            </a:r>
            <a:endParaRPr sz="5000"/>
          </a:p>
          <a:p>
            <a:pPr algn="ctr">
              <a:spcBef>
                <a:spcPts val="127"/>
              </a:spcBef>
            </a:pPr>
            <a:r>
              <a:rPr sz="3000" dirty="0">
                <a:solidFill>
                  <a:srgbClr val="2A3890"/>
                </a:solidFill>
              </a:rPr>
              <a:t>WPA2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dirty="0">
                <a:solidFill>
                  <a:srgbClr val="2A3890"/>
                </a:solidFill>
              </a:rPr>
              <a:t>Handshake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spc="-13" dirty="0">
                <a:solidFill>
                  <a:srgbClr val="2A3890"/>
                </a:solidFill>
              </a:rPr>
              <a:t>Cracking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6804067" y="2320883"/>
            <a:ext cx="3281680" cy="2123658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05447" indent="-488514" defTabSz="1219170">
              <a:spcBef>
                <a:spcPts val="560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Setup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Monitor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Find</a:t>
            </a:r>
            <a:r>
              <a:rPr sz="2400" kern="0" spc="-3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SSID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Attack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Deauth</a:t>
            </a:r>
            <a:r>
              <a:rPr sz="2400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Client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Capture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Crack</a:t>
            </a:r>
            <a:r>
              <a:rPr sz="2400" kern="0" spc="-1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6216" y="3093733"/>
            <a:ext cx="11106573" cy="3764280"/>
            <a:chOff x="814662" y="2320300"/>
            <a:chExt cx="8329930" cy="282321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662" y="2320300"/>
              <a:ext cx="7514675" cy="23719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3901" y="760814"/>
            <a:ext cx="101307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Setup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568" y="1859448"/>
            <a:ext cx="5739553" cy="1153115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555398" indent="-538467" defTabSz="1219170">
              <a:spcBef>
                <a:spcPts val="513"/>
              </a:spcBef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55398" indent="-538467" defTabSz="1219170">
              <a:spcBef>
                <a:spcPts val="387"/>
              </a:spcBef>
              <a:buClr>
                <a:srgbClr val="374151"/>
              </a:buClr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64984" lvl="1" indent="-530847" defTabSz="1219170">
              <a:spcBef>
                <a:spcPts val="387"/>
              </a:spcBef>
              <a:buFont typeface="Arial"/>
              <a:buAutoNum type="alphaLcPeriod"/>
              <a:tabLst>
                <a:tab pos="1164984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 airmon-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&lt;&lt;wiﬁadapter&gt;&gt;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7700" y="2918699"/>
            <a:ext cx="10364893" cy="3939540"/>
            <a:chOff x="1370775" y="2189024"/>
            <a:chExt cx="7773670" cy="2954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0775" y="2189024"/>
              <a:ext cx="5412749" cy="26214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63690"/>
            <a:ext cx="971682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60" dirty="0"/>
              <a:t> </a:t>
            </a:r>
            <a:r>
              <a:rPr sz="3600" dirty="0"/>
              <a:t>2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Available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Networks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17"/>
            <a:ext cx="502412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1117" y="2781599"/>
            <a:ext cx="11561233" cy="4076700"/>
            <a:chOff x="473337" y="2086199"/>
            <a:chExt cx="8670925" cy="305752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3337" y="2086199"/>
              <a:ext cx="7207624" cy="26411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07723"/>
            <a:ext cx="1027508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3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Networks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on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Channel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1" y="1843617"/>
            <a:ext cx="651340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[channel]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960131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4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Access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Point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(BSSID)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019556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4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9732"/>
            <a:ext cx="809977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4995"/>
            <a:ext cx="92163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5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120986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write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capture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wlan0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60967" y="2828232"/>
            <a:ext cx="9831493" cy="4030133"/>
            <a:chOff x="1770725" y="2121174"/>
            <a:chExt cx="7373620" cy="302260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725" y="2121174"/>
              <a:ext cx="4899924" cy="28299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7202"/>
            <a:ext cx="11112484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7" dirty="0"/>
              <a:t> </a:t>
            </a:r>
            <a:r>
              <a:rPr sz="3600" dirty="0"/>
              <a:t>6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29"/>
            <a:ext cx="598762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133" b="1" kern="0" spc="5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0333" y="1685224"/>
            <a:ext cx="28346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For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visit: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/>
            <a:r>
              <a:rPr sz="2400" kern="0" spc="-13" dirty="0">
                <a:solidFill>
                  <a:srgbClr val="0F0F0F"/>
                </a:solidFill>
                <a:latin typeface="Roboto"/>
                <a:cs typeface="Roboto"/>
              </a:rPr>
              <a:t>chv.link/autoisac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82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932281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48674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Mobile</a:t>
            </a:r>
            <a:r>
              <a:rPr sz="3200" b="1" kern="0" spc="-87" dirty="0">
                <a:latin typeface="Roboto"/>
                <a:cs typeface="Roboto"/>
              </a:rPr>
              <a:t> </a:t>
            </a:r>
            <a:r>
              <a:rPr sz="3200" b="1" kern="0" dirty="0">
                <a:latin typeface="Roboto"/>
                <a:cs typeface="Roboto"/>
              </a:rPr>
              <a:t>App:</a:t>
            </a:r>
            <a:r>
              <a:rPr sz="3200" b="1" kern="0" spc="-67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Wi-</a:t>
            </a:r>
            <a:r>
              <a:rPr sz="3200" kern="0" dirty="0">
                <a:latin typeface="Roboto"/>
                <a:cs typeface="Roboto"/>
              </a:rPr>
              <a:t>Fi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Analyzer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607300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1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Analyzer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33" dirty="0">
                <a:solidFill>
                  <a:srgbClr val="2A3890"/>
                </a:solidFill>
              </a:rPr>
              <a:t>App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512967" y="1181159"/>
            <a:ext cx="6320367" cy="19639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Mobile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App: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27" dirty="0">
                <a:solidFill>
                  <a:srgbClr val="2A3890"/>
                </a:solidFill>
                <a:latin typeface="Roboto"/>
                <a:cs typeface="Roboto"/>
              </a:rPr>
              <a:t>Wi-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Fi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13" dirty="0">
                <a:solidFill>
                  <a:srgbClr val="2A3890"/>
                </a:solidFill>
                <a:latin typeface="Roboto"/>
                <a:cs typeface="Roboto"/>
              </a:rPr>
              <a:t>Analyzer</a:t>
            </a: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>
              <a:spcBef>
                <a:spcPts val="272"/>
              </a:spcBef>
            </a:pP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Store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33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analyzer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monitor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27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best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ratings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9200" y="3416297"/>
            <a:ext cx="5521960" cy="2789767"/>
            <a:chOff x="674400" y="2562222"/>
            <a:chExt cx="4141470" cy="2092325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0046" y="2641420"/>
              <a:ext cx="4006178" cy="1950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162" y="2566985"/>
              <a:ext cx="4131945" cy="2082800"/>
            </a:xfrm>
            <a:custGeom>
              <a:avLst/>
              <a:gdLst/>
              <a:ahLst/>
              <a:cxnLst/>
              <a:rect l="l" t="t" r="r" b="b"/>
              <a:pathLst>
                <a:path w="4131945" h="2082800">
                  <a:moveTo>
                    <a:pt x="0" y="0"/>
                  </a:moveTo>
                  <a:lnTo>
                    <a:pt x="4131824" y="0"/>
                  </a:lnTo>
                  <a:lnTo>
                    <a:pt x="4131824" y="2082274"/>
                  </a:lnTo>
                  <a:lnTo>
                    <a:pt x="0" y="2082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358967" y="1479467"/>
            <a:ext cx="4257887" cy="4300220"/>
            <a:chOff x="5519225" y="1109600"/>
            <a:chExt cx="3193415" cy="3225165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750" y="1119125"/>
              <a:ext cx="3173745" cy="32058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23987" y="1114362"/>
              <a:ext cx="3183890" cy="3215640"/>
            </a:xfrm>
            <a:custGeom>
              <a:avLst/>
              <a:gdLst/>
              <a:ahLst/>
              <a:cxnLst/>
              <a:rect l="l" t="t" r="r" b="b"/>
              <a:pathLst>
                <a:path w="3183890" h="3215640">
                  <a:moveTo>
                    <a:pt x="0" y="0"/>
                  </a:moveTo>
                  <a:lnTo>
                    <a:pt x="3183270" y="0"/>
                  </a:lnTo>
                  <a:lnTo>
                    <a:pt x="3183270" y="3215425"/>
                  </a:lnTo>
                  <a:lnTo>
                    <a:pt x="0" y="32154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01966" y="1668699"/>
            <a:ext cx="3990340" cy="5190067"/>
            <a:chOff x="6151474" y="1251524"/>
            <a:chExt cx="2992755" cy="389255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1000" y="1261049"/>
              <a:ext cx="2149250" cy="33633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6237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3"/>
                  </a:lnTo>
                  <a:lnTo>
                    <a:pt x="0" y="337292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3378"/>
            <a:ext cx="1010183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2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Check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the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Different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Views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dirty="0">
                <a:solidFill>
                  <a:srgbClr val="2A3890"/>
                </a:solidFill>
              </a:rPr>
              <a:t>Mobile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dirty="0">
                <a:solidFill>
                  <a:srgbClr val="2A3890"/>
                </a:solidFill>
              </a:rPr>
              <a:t>App: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27" dirty="0">
                <a:solidFill>
                  <a:srgbClr val="2A3890"/>
                </a:solidFill>
              </a:rPr>
              <a:t>Wi-</a:t>
            </a:r>
            <a:r>
              <a:rPr sz="2267" dirty="0">
                <a:solidFill>
                  <a:srgbClr val="2A3890"/>
                </a:solidFill>
              </a:rPr>
              <a:t>Fi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Analyzer</a:t>
            </a:r>
            <a:endParaRPr sz="2267" dirty="0"/>
          </a:p>
        </p:txBody>
      </p:sp>
      <p:grpSp>
        <p:nvGrpSpPr>
          <p:cNvPr id="10" name="object 10"/>
          <p:cNvGrpSpPr/>
          <p:nvPr/>
        </p:nvGrpSpPr>
        <p:grpSpPr>
          <a:xfrm>
            <a:off x="815099" y="1743634"/>
            <a:ext cx="2891367" cy="4510193"/>
            <a:chOff x="611324" y="1307725"/>
            <a:chExt cx="2168525" cy="3382645"/>
          </a:xfrm>
        </p:grpSpPr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850" y="1317250"/>
              <a:ext cx="2149250" cy="33634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6087" y="13124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508533" y="1668700"/>
            <a:ext cx="2891367" cy="4510193"/>
            <a:chOff x="3381399" y="1251524"/>
            <a:chExt cx="2168525" cy="3382645"/>
          </a:xfrm>
        </p:grpSpPr>
        <p:pic>
          <p:nvPicPr>
            <p:cNvPr id="14" name="object 14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0924" y="1261049"/>
              <a:ext cx="2149250" cy="33634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86162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05152" y="6218002"/>
            <a:ext cx="13106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Channels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8683" y="6218002"/>
            <a:ext cx="21471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Signal</a:t>
            </a:r>
            <a:r>
              <a:rPr sz="24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Strength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85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756800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#02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6328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Break</a:t>
            </a:r>
            <a:r>
              <a:rPr sz="3200" kern="0" spc="-11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into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the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Network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“HackISAC”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11079163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53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Wordlist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Identify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Wireless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Adapter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6029" y="1400574"/>
            <a:ext cx="8349827" cy="1372834"/>
          </a:xfrm>
          <a:prstGeom prst="rect">
            <a:avLst/>
          </a:prstGeom>
        </p:spPr>
        <p:txBody>
          <a:bodyPr vert="horz" wrap="square" lIns="0" tIns="74507" rIns="0" bIns="0" rtlCol="0">
            <a:spAutoFit/>
          </a:bodyPr>
          <a:lstStyle/>
          <a:p>
            <a:pPr marL="599425" indent="-582492" defTabSz="1219170">
              <a:spcBef>
                <a:spcPts val="587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533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533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chv.link/autoisac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99425" indent="-582492" defTabSz="1219170">
              <a:spcBef>
                <a:spcPts val="460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27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13" dirty="0">
                <a:solidFill>
                  <a:srgbClr val="434343"/>
                </a:solidFill>
                <a:latin typeface="Roboto"/>
                <a:cs typeface="Roboto"/>
              </a:rPr>
              <a:t>(DragonOS)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09010" lvl="1" indent="-573179" defTabSz="1219170">
              <a:spcBef>
                <a:spcPts val="453"/>
              </a:spcBef>
              <a:buFont typeface="Arial"/>
              <a:buAutoNum type="alphaLcPeriod"/>
              <a:tabLst>
                <a:tab pos="1209010" algn="l"/>
              </a:tabLst>
            </a:pP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ifconﬁg</a:t>
            </a:r>
            <a:r>
              <a:rPr sz="25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identify</a:t>
            </a:r>
            <a:r>
              <a:rPr sz="2533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5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wireless</a:t>
            </a:r>
            <a:r>
              <a:rPr sz="2533" b="1" kern="0" spc="-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adapter’s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name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5883" y="3273199"/>
            <a:ext cx="10081260" cy="2185247"/>
            <a:chOff x="784412" y="2454899"/>
            <a:chExt cx="7560945" cy="163893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700" y="2454899"/>
              <a:ext cx="7546575" cy="16386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8699" y="2571749"/>
              <a:ext cx="1708785" cy="281305"/>
            </a:xfrm>
            <a:custGeom>
              <a:avLst/>
              <a:gdLst/>
              <a:ahLst/>
              <a:cxnLst/>
              <a:rect l="l" t="t" r="r" b="b"/>
              <a:pathLst>
                <a:path w="1708785" h="281305">
                  <a:moveTo>
                    <a:pt x="0" y="0"/>
                  </a:moveTo>
                  <a:lnTo>
                    <a:pt x="1708199" y="0"/>
                  </a:lnTo>
                  <a:lnTo>
                    <a:pt x="1708199" y="281099"/>
                  </a:lnTo>
                  <a:lnTo>
                    <a:pt x="0" y="281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93565" y="5672675"/>
            <a:ext cx="47345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2400" b="1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595959"/>
                </a:solidFill>
                <a:latin typeface="Roboto"/>
                <a:cs typeface="Roboto"/>
              </a:rPr>
              <a:t>wireless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adapter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595959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1608"/>
            <a:ext cx="1038096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668867" y="1877602"/>
            <a:ext cx="44365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Kill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Interrupting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Services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check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kill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9633" y="3317100"/>
            <a:ext cx="9132699" cy="16276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5700" y="3088366"/>
            <a:ext cx="11216640" cy="3770207"/>
            <a:chOff x="731775" y="2316274"/>
            <a:chExt cx="8412480" cy="2827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775" y="2316274"/>
              <a:ext cx="6530605" cy="23349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0363" y="753880"/>
            <a:ext cx="12161637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868" y="1877602"/>
            <a:ext cx="73448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Start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400" b="1" kern="0" spc="5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5017" y="2349501"/>
            <a:ext cx="10427545" cy="4508500"/>
            <a:chOff x="1323762" y="1762125"/>
            <a:chExt cx="7820659" cy="338137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38050" y="1762125"/>
              <a:ext cx="5222975" cy="3127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8050" y="2571750"/>
              <a:ext cx="4335145" cy="137795"/>
            </a:xfrm>
            <a:custGeom>
              <a:avLst/>
              <a:gdLst/>
              <a:ahLst/>
              <a:cxnLst/>
              <a:rect l="l" t="t" r="r" b="b"/>
              <a:pathLst>
                <a:path w="4335145" h="137794">
                  <a:moveTo>
                    <a:pt x="0" y="0"/>
                  </a:moveTo>
                  <a:lnTo>
                    <a:pt x="4334699" y="0"/>
                  </a:lnTo>
                  <a:lnTo>
                    <a:pt x="4334699" y="137399"/>
                  </a:lnTo>
                  <a:lnTo>
                    <a:pt x="0" y="137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994275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20" dirty="0"/>
              <a:t> </a:t>
            </a:r>
            <a:r>
              <a:rPr sz="3600" dirty="0"/>
              <a:t>3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13" dirty="0"/>
              <a:t> </a:t>
            </a:r>
            <a:r>
              <a:rPr sz="3600" dirty="0">
                <a:solidFill>
                  <a:srgbClr val="2A3890"/>
                </a:solidFill>
              </a:rPr>
              <a:t>Look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for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Targets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041" y="1532868"/>
            <a:ext cx="699770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lnSpc>
                <a:spcPts val="2727"/>
              </a:lnSpc>
              <a:spcBef>
                <a:spcPts val="1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  <a:tab pos="3570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airodump-ng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lnSpc>
                <a:spcPts val="2887"/>
              </a:lnSpc>
              <a:buSzPct val="94736"/>
              <a:buFont typeface="Roboto"/>
              <a:buAutoNum type="arabicPeriod"/>
              <a:tabLst>
                <a:tab pos="585031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Locate</a:t>
            </a:r>
            <a:r>
              <a:rPr sz="2533" kern="0" spc="-10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HackISAC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8828088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8900" y="3634083"/>
            <a:ext cx="11533293" cy="3224107"/>
            <a:chOff x="494175" y="2725562"/>
            <a:chExt cx="8649970" cy="241808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175" y="2725562"/>
              <a:ext cx="8155630" cy="19256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8450" y="3605237"/>
              <a:ext cx="7967345" cy="366395"/>
            </a:xfrm>
            <a:custGeom>
              <a:avLst/>
              <a:gdLst/>
              <a:ahLst/>
              <a:cxnLst/>
              <a:rect l="l" t="t" r="r" b="b"/>
              <a:pathLst>
                <a:path w="7967345" h="366395">
                  <a:moveTo>
                    <a:pt x="0" y="0"/>
                  </a:moveTo>
                  <a:lnTo>
                    <a:pt x="7967099" y="0"/>
                  </a:lnTo>
                  <a:lnTo>
                    <a:pt x="79670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75385"/>
            <a:ext cx="10082581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5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Handshake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Save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to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File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867" y="1588540"/>
            <a:ext cx="9324340" cy="18919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Network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82492" defTabSz="1219170">
              <a:spcBef>
                <a:spcPts val="2427"/>
              </a:spcBef>
              <a:buClr>
                <a:srgbClr val="374151"/>
              </a:buClr>
              <a:buSzPct val="105555"/>
              <a:buFontTx/>
              <a:buAutoNum type="arabicPeriod"/>
              <a:tabLst>
                <a:tab pos="625671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5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adapter&gt;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&lt;wiﬁ-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bssid&gt;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defTabSz="1219170">
              <a:spcBef>
                <a:spcPts val="460"/>
              </a:spcBef>
            </a:pP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&lt;File-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58786" defTabSz="1219170">
              <a:spcBef>
                <a:spcPts val="200"/>
              </a:spcBef>
              <a:buClr>
                <a:srgbClr val="374151"/>
              </a:buClr>
              <a:buFont typeface="Arial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File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88001" y="2537067"/>
            <a:ext cx="10904220" cy="4321387"/>
            <a:chOff x="966000" y="1902800"/>
            <a:chExt cx="8178165" cy="324104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00" y="1902800"/>
              <a:ext cx="6031675" cy="28949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26375" y="2805524"/>
              <a:ext cx="2075814" cy="305435"/>
            </a:xfrm>
            <a:custGeom>
              <a:avLst/>
              <a:gdLst/>
              <a:ahLst/>
              <a:cxnLst/>
              <a:rect l="l" t="t" r="r" b="b"/>
              <a:pathLst>
                <a:path w="2075814" h="305435">
                  <a:moveTo>
                    <a:pt x="0" y="0"/>
                  </a:moveTo>
                  <a:lnTo>
                    <a:pt x="2075699" y="0"/>
                  </a:lnTo>
                  <a:lnTo>
                    <a:pt x="2075699" y="305099"/>
                  </a:lnTo>
                  <a:lnTo>
                    <a:pt x="0" y="3050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92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4219" y="643180"/>
            <a:ext cx="10589795" cy="5189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6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Password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using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Aircrack-</a:t>
            </a:r>
            <a:r>
              <a:rPr sz="3600" dirty="0">
                <a:solidFill>
                  <a:srgbClr val="2A3890"/>
                </a:solidFill>
              </a:rPr>
              <a:t>ng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Wordlist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67" y="1298681"/>
            <a:ext cx="6134947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Crack</a:t>
            </a:r>
            <a:r>
              <a:rPr sz="2400" b="1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400" b="1" kern="0" spc="5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r>
              <a:rPr sz="2400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&lt;wordlist&gt;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93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6009"/>
            <a:ext cx="10584179" cy="398465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 defTabSz="1219170">
              <a:spcBef>
                <a:spcPts val="147"/>
              </a:spcBef>
            </a:pPr>
            <a:r>
              <a:rPr sz="2467" kern="0" dirty="0">
                <a:latin typeface="Roboto"/>
                <a:cs typeface="Roboto"/>
              </a:rPr>
              <a:t>Post</a:t>
            </a:r>
            <a:r>
              <a:rPr sz="2467" kern="0" spc="-40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exploitation,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looking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for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vulnerable</a:t>
            </a:r>
            <a:r>
              <a:rPr sz="2467" kern="0" spc="-40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devices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on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the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“HackISAC</a:t>
            </a:r>
            <a:r>
              <a:rPr sz="2467" kern="0" spc="-47" dirty="0">
                <a:latin typeface="Roboto"/>
                <a:cs typeface="Roboto"/>
              </a:rPr>
              <a:t> </a:t>
            </a:r>
            <a:r>
              <a:rPr sz="2467" kern="0" spc="-13" dirty="0">
                <a:latin typeface="Roboto"/>
                <a:cs typeface="Roboto"/>
              </a:rPr>
              <a:t>Network”</a:t>
            </a:r>
            <a:endParaRPr sz="24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94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2351"/>
            <a:ext cx="24976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Utilize</a:t>
            </a:r>
            <a:r>
              <a:rPr sz="3200" kern="0" spc="-16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Wiﬁte2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47063"/>
            <a:ext cx="1094885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spc="-13" dirty="0"/>
              <a:t>Wiﬁte2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868" y="1863175"/>
            <a:ext cx="9513993" cy="45273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tool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automates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80" dirty="0">
                <a:solidFill>
                  <a:srgbClr val="434343"/>
                </a:solidFill>
                <a:latin typeface="Roboto"/>
                <a:cs typeface="Roboto"/>
              </a:rPr>
              <a:t>WEP,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performs</a:t>
            </a:r>
            <a:r>
              <a:rPr sz="20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the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actions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automatically: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2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Sets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interface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Scans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potential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allows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selection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victim(s)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Launches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WEP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applicable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Executes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24457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Conducts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including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Pixie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dust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(note: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may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time-consuming)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Access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Point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(AP)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cracking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Tries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AP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57476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captured,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top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5000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passwords.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79450"/>
            <a:ext cx="14924088" cy="688975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Wiﬁte2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Steps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9468" y="1851999"/>
            <a:ext cx="8867987" cy="420576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75719" indent="-556246" defTabSz="1219170">
              <a:spcBef>
                <a:spcPts val="560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85304" lvl="1" indent="-558786" defTabSz="1219170">
              <a:spcBef>
                <a:spcPts val="433"/>
              </a:spcBef>
              <a:buFont typeface="Arial"/>
              <a:buAutoNum type="alphaLcPeriod"/>
              <a:tabLst>
                <a:tab pos="1185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wiﬁte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33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Hit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Ctrl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+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attacking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APs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27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Target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Wiﬁte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capturing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marR="6773" indent="-556246" defTabSz="1219170">
              <a:lnSpc>
                <a:spcPct val="114999"/>
              </a:lnSpc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cracks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wordlist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similar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rockyou.txt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734" y="304867"/>
            <a:ext cx="5021964" cy="26679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3937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0" dirty="0"/>
              <a:t> </a:t>
            </a:r>
            <a:r>
              <a:rPr sz="5400" dirty="0"/>
              <a:t>1</a:t>
            </a:r>
            <a:r>
              <a:rPr sz="5400" spc="-70" dirty="0"/>
              <a:t> </a:t>
            </a:r>
            <a:r>
              <a:rPr sz="5400" dirty="0"/>
              <a:t>–</a:t>
            </a:r>
            <a:r>
              <a:rPr sz="5400" spc="-60" dirty="0"/>
              <a:t> </a:t>
            </a:r>
            <a:r>
              <a:rPr sz="5400" dirty="0"/>
              <a:t>Understanding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45" dirty="0"/>
              <a:t> </a:t>
            </a:r>
            <a:r>
              <a:rPr sz="5400" spc="-10" dirty="0"/>
              <a:t>Environment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139492"/>
            <a:ext cx="10841355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easiest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way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survey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surrounding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environment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cellular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towers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sng" strike="noStrike" kern="0" cap="none" spc="-25" normalizeH="0" baseline="0" noProof="0" dirty="0">
                <a:ln>
                  <a:noFill/>
                </a:ln>
                <a:solidFill>
                  <a:srgbClr val="2F87CC"/>
                </a:solidFill>
                <a:effectLst/>
                <a:uLnTx/>
                <a:uFill>
                  <a:solidFill>
                    <a:srgbClr val="2F87CC"/>
                  </a:solidFill>
                </a:uFill>
                <a:latin typeface="Arial"/>
                <a:cs typeface="Arial"/>
                <a:hlinkClick r:id="rId3"/>
              </a:rPr>
              <a:t>https://www.cellmapper.net/.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2F87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site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allow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view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defined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geographical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location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their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values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being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broadcasted.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8316" y="1501140"/>
            <a:ext cx="6350507" cy="24018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742" y="6508431"/>
            <a:ext cx="162560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66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10687050" cy="17303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93090" lvl="0" indent="-227329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here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record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downlink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associated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5080" lvl="0" indent="-227329" defTabSz="914400" eaLnBrk="1" fontAlgn="auto" latinLnBrk="0" hangingPunct="1">
              <a:lnSpc>
                <a:spcPts val="3030"/>
              </a:lnSpc>
              <a:spcBef>
                <a:spcPts val="9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tune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our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SDR's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view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waterfall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representation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called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406134"/>
            <a:ext cx="10180320" cy="16732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launch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gqrx: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Click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option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plugged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devices.</a:t>
            </a:r>
            <a:r>
              <a:rPr kumimoji="0" sz="26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68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0" y="1502664"/>
            <a:ext cx="2743199" cy="28681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529984"/>
            <a:ext cx="10729595" cy="13462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lvl="0" indent="-227329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Select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matches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have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plugged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click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OK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button.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like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69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6292" y="1589532"/>
            <a:ext cx="6330695" cy="26212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431432"/>
            <a:ext cx="10335895" cy="1492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810"/>
              </a:lnSpc>
              <a:spcBef>
                <a:spcPts val="45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mouse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scroll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wheel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set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application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wrote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earlier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while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looking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local tower.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tuned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may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adjust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clearly.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70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3972" y="1397508"/>
            <a:ext cx="6544055" cy="2874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21913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10" dirty="0"/>
              <a:t> </a:t>
            </a:r>
            <a:r>
              <a:rPr sz="5400" dirty="0"/>
              <a:t>2</a:t>
            </a:r>
            <a:r>
              <a:rPr sz="5400" spc="-20" dirty="0"/>
              <a:t> </a:t>
            </a:r>
            <a:r>
              <a:rPr sz="5400" dirty="0"/>
              <a:t>–</a:t>
            </a:r>
            <a:r>
              <a:rPr sz="5400" spc="-10" dirty="0"/>
              <a:t> </a:t>
            </a:r>
            <a:r>
              <a:rPr sz="5400" dirty="0"/>
              <a:t>Configuring</a:t>
            </a:r>
            <a:r>
              <a:rPr sz="5400" spc="-20" dirty="0"/>
              <a:t> </a:t>
            </a:r>
            <a:r>
              <a:rPr sz="5400" dirty="0"/>
              <a:t>srsRAN</a:t>
            </a:r>
            <a:r>
              <a:rPr sz="5400" spc="-20" dirty="0"/>
              <a:t> </a:t>
            </a:r>
            <a:r>
              <a:rPr sz="5400" spc="-10" dirty="0"/>
              <a:t>Components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srsRAN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1575751"/>
            <a:ext cx="10496550" cy="4481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5080" lvl="0" indent="-228600" defTabSz="914400" eaLnBrk="1" fontAlgn="auto" latinLnBrk="0" hangingPunct="1">
              <a:lnSpc>
                <a:spcPts val="25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configuring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srsRAN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couple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parameters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modified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ensure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not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interrupt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any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surrounding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signals.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parameters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also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being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able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cellular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6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include: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(Mobile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Country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Code)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(Mobile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Network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Code)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(Access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Name)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EARFCN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(Pre-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defined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Uplink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Downlink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pairs)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Tx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Rx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srsRAN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1612327"/>
            <a:ext cx="10513695" cy="4286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lvl="0" indent="-229235" algn="just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configuration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files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need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modified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can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found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in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directory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below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along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relevant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config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files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will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modifying.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Directory: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7212965" lvl="0" indent="-635" defTabSz="914400" eaLnBrk="1" fontAlgn="auto" latinLnBrk="0" hangingPunct="1">
              <a:lnSpc>
                <a:spcPct val="119700"/>
              </a:lnSpc>
              <a:spcBef>
                <a:spcPts val="1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12700" algn="l"/>
                <a:tab pos="239395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	/root/.config/srsran/ Files: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enb.conf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user_db.csv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74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9599" y="4753987"/>
            <a:ext cx="6588125" cy="11093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/root/.config/srsran/epc.conf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6128" y="1522475"/>
            <a:ext cx="8188450" cy="32415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75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srsEPC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2036934"/>
            <a:ext cx="8202295" cy="3604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dns_addr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field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points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8.8.8.8.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999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70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Set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apn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srsapn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same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name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srsENb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580" y="5124716"/>
            <a:ext cx="5989955" cy="1046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enb.conf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/root/.config/srsran/enb.conf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6296" y="1467611"/>
            <a:ext cx="7746491" cy="33817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77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srsENb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386" y="1529121"/>
            <a:ext cx="9904095" cy="44653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match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entered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935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93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Scroll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[rf]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header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935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93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dl_earfcn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3400(need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them)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tx_gain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(still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number)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rx_gain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(still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number)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78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25" dirty="0"/>
              <a:t>HSS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950" y="4818180"/>
            <a:ext cx="10738485" cy="12255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ct val="7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user_db.csv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hold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authentication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authorization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allowed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UE.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516880" lvl="0" indent="228600" defTabSz="914400" eaLnBrk="1" fontAlgn="auto" latinLnBrk="0" hangingPunct="1">
              <a:lnSpc>
                <a:spcPts val="2690"/>
              </a:lnSpc>
              <a:spcBef>
                <a:spcPts val="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/root/.config/srsran/user_db.csv 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172" y="1574291"/>
            <a:ext cx="9861802" cy="28483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79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25" dirty="0"/>
              <a:t>HSS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3343" y="1801802"/>
            <a:ext cx="9549765" cy="28346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&lt;values&gt;: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&lt;unique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name&gt;,mil,&lt;IMSI&gt;,&lt;Ki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key&gt;,opc,&lt;OPC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key&gt;,9000,0000000063af,9,dynamic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741059"/>
            <a:ext cx="923925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35" dirty="0"/>
              <a:t> </a:t>
            </a:r>
            <a:r>
              <a:rPr sz="5400" dirty="0"/>
              <a:t>3</a:t>
            </a:r>
            <a:r>
              <a:rPr sz="5400" spc="-45" dirty="0"/>
              <a:t> </a:t>
            </a:r>
            <a:r>
              <a:rPr sz="5400" dirty="0"/>
              <a:t>–</a:t>
            </a:r>
            <a:r>
              <a:rPr sz="5400" spc="-40" dirty="0"/>
              <a:t> </a:t>
            </a:r>
            <a:r>
              <a:rPr sz="5400" dirty="0"/>
              <a:t>Programming</a:t>
            </a:r>
            <a:r>
              <a:rPr sz="5400" spc="-40" dirty="0"/>
              <a:t> </a:t>
            </a:r>
            <a:r>
              <a:rPr sz="5400" dirty="0"/>
              <a:t>a</a:t>
            </a:r>
            <a:r>
              <a:rPr sz="5400" spc="-40" dirty="0"/>
              <a:t> </a:t>
            </a:r>
            <a:r>
              <a:rPr sz="5400" dirty="0"/>
              <a:t>SIM</a:t>
            </a:r>
            <a:r>
              <a:rPr sz="5400" spc="-35" dirty="0"/>
              <a:t> </a:t>
            </a:r>
            <a:r>
              <a:rPr sz="5400" spc="-20" dirty="0"/>
              <a:t>Card</a:t>
            </a:r>
            <a:endParaRPr sz="5400" dirty="0"/>
          </a:p>
        </p:txBody>
      </p:sp>
    </p:spTree>
    <p:custDataLst>
      <p:tags r:id="rId1"/>
    </p:custData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08" y="2487167"/>
            <a:ext cx="8668511" cy="37383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81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411163"/>
            <a:ext cx="7045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967" y="1534054"/>
            <a:ext cx="1013269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346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reader,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insert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programmable SIM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card,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3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check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connectivity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3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running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3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terminal: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pcsc_scan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If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reader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recognized,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end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output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look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similar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below: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84878" rIns="0" bIns="0" rtlCol="0">
            <a:spAutoFit/>
          </a:bodyPr>
          <a:lstStyle/>
          <a:p>
            <a:pPr marL="242570" marR="5080" indent="-228600">
              <a:lnSpc>
                <a:spcPts val="2500"/>
              </a:lnSpc>
              <a:spcBef>
                <a:spcPts val="705"/>
              </a:spcBef>
            </a:pPr>
            <a:r>
              <a:rPr sz="2600" dirty="0"/>
              <a:t>Next</a:t>
            </a:r>
            <a:r>
              <a:rPr sz="2600" spc="-55" dirty="0"/>
              <a:t> </a:t>
            </a:r>
            <a:r>
              <a:rPr sz="2600" dirty="0"/>
              <a:t>we</a:t>
            </a:r>
            <a:r>
              <a:rPr sz="2600" spc="-40" dirty="0"/>
              <a:t> </a:t>
            </a:r>
            <a:r>
              <a:rPr sz="2600" dirty="0"/>
              <a:t>need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35" dirty="0"/>
              <a:t> </a:t>
            </a:r>
            <a:r>
              <a:rPr sz="2600" dirty="0"/>
              <a:t>test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SIM</a:t>
            </a:r>
            <a:r>
              <a:rPr sz="2600" spc="-35" dirty="0"/>
              <a:t> </a:t>
            </a:r>
            <a:r>
              <a:rPr sz="2600" dirty="0"/>
              <a:t>programming</a:t>
            </a:r>
            <a:r>
              <a:rPr sz="2600" spc="-70" dirty="0"/>
              <a:t> </a:t>
            </a:r>
            <a:r>
              <a:rPr sz="2600" dirty="0"/>
              <a:t>application</a:t>
            </a:r>
            <a:r>
              <a:rPr sz="2600" spc="-45" dirty="0"/>
              <a:t> </a:t>
            </a:r>
            <a:r>
              <a:rPr sz="2600" dirty="0"/>
              <a:t>in</a:t>
            </a:r>
            <a:r>
              <a:rPr sz="2600" spc="-25" dirty="0"/>
              <a:t> </a:t>
            </a:r>
            <a:r>
              <a:rPr sz="2600" dirty="0"/>
              <a:t>order</a:t>
            </a:r>
            <a:r>
              <a:rPr sz="2600" spc="-55" dirty="0"/>
              <a:t> </a:t>
            </a:r>
            <a:r>
              <a:rPr sz="2600" dirty="0"/>
              <a:t>to</a:t>
            </a:r>
            <a:r>
              <a:rPr sz="2600" spc="-30" dirty="0"/>
              <a:t> </a:t>
            </a:r>
            <a:r>
              <a:rPr sz="2600" dirty="0"/>
              <a:t>find</a:t>
            </a:r>
            <a:r>
              <a:rPr sz="2600" spc="-35" dirty="0"/>
              <a:t> </a:t>
            </a:r>
            <a:r>
              <a:rPr sz="2600" spc="-25" dirty="0"/>
              <a:t>the </a:t>
            </a:r>
            <a:r>
              <a:rPr sz="2600" dirty="0"/>
              <a:t>correct</a:t>
            </a:r>
            <a:r>
              <a:rPr sz="2600" spc="-45" dirty="0"/>
              <a:t> </a:t>
            </a:r>
            <a:r>
              <a:rPr sz="2600" dirty="0"/>
              <a:t>port</a:t>
            </a:r>
            <a:r>
              <a:rPr sz="2600" spc="-35" dirty="0"/>
              <a:t> </a:t>
            </a:r>
            <a:r>
              <a:rPr sz="2600" dirty="0"/>
              <a:t>assignment</a:t>
            </a:r>
            <a:r>
              <a:rPr sz="2600" spc="-55" dirty="0"/>
              <a:t> </a:t>
            </a:r>
            <a:r>
              <a:rPr sz="2600" dirty="0"/>
              <a:t>that</a:t>
            </a:r>
            <a:r>
              <a:rPr sz="2600" spc="-25" dirty="0"/>
              <a:t> </a:t>
            </a:r>
            <a:r>
              <a:rPr sz="2600" dirty="0"/>
              <a:t>was</a:t>
            </a:r>
            <a:r>
              <a:rPr sz="2600" spc="-35" dirty="0"/>
              <a:t> </a:t>
            </a:r>
            <a:r>
              <a:rPr sz="2600" dirty="0"/>
              <a:t>given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15" dirty="0"/>
              <a:t> </a:t>
            </a:r>
            <a:r>
              <a:rPr sz="2600" dirty="0"/>
              <a:t>the</a:t>
            </a:r>
            <a:r>
              <a:rPr sz="2600" spc="-25" dirty="0"/>
              <a:t> </a:t>
            </a:r>
            <a:r>
              <a:rPr sz="2600" dirty="0"/>
              <a:t>SIM</a:t>
            </a:r>
            <a:r>
              <a:rPr sz="2600" spc="-25" dirty="0"/>
              <a:t> </a:t>
            </a:r>
            <a:r>
              <a:rPr sz="2600" dirty="0"/>
              <a:t>card</a:t>
            </a:r>
            <a:r>
              <a:rPr sz="2600" spc="-35" dirty="0"/>
              <a:t> </a:t>
            </a:r>
            <a:r>
              <a:rPr sz="2600" spc="-20" dirty="0"/>
              <a:t>reader.</a:t>
            </a:r>
            <a:r>
              <a:rPr sz="2600" spc="-80" dirty="0"/>
              <a:t> </a:t>
            </a:r>
            <a:r>
              <a:rPr sz="2600" dirty="0"/>
              <a:t>This</a:t>
            </a:r>
            <a:r>
              <a:rPr sz="2600" spc="-35" dirty="0"/>
              <a:t> </a:t>
            </a:r>
            <a:r>
              <a:rPr sz="2600" spc="-25" dirty="0"/>
              <a:t>is </a:t>
            </a:r>
            <a:r>
              <a:rPr sz="2600" dirty="0"/>
              <a:t>done</a:t>
            </a:r>
            <a:r>
              <a:rPr sz="2600" spc="-40" dirty="0"/>
              <a:t> </a:t>
            </a:r>
            <a:r>
              <a:rPr sz="2600" dirty="0"/>
              <a:t>by</a:t>
            </a:r>
            <a:r>
              <a:rPr sz="2600" spc="-45" dirty="0"/>
              <a:t> </a:t>
            </a:r>
            <a:r>
              <a:rPr sz="2600" dirty="0"/>
              <a:t>issuing</a:t>
            </a:r>
            <a:r>
              <a:rPr sz="2600" spc="-40" dirty="0"/>
              <a:t> </a:t>
            </a:r>
            <a:r>
              <a:rPr sz="2600" dirty="0"/>
              <a:t>the</a:t>
            </a:r>
            <a:r>
              <a:rPr sz="2600" spc="-40" dirty="0"/>
              <a:t> </a:t>
            </a:r>
            <a:r>
              <a:rPr sz="2600" dirty="0"/>
              <a:t>following</a:t>
            </a:r>
            <a:r>
              <a:rPr sz="2600" spc="-40" dirty="0"/>
              <a:t> </a:t>
            </a:r>
            <a:r>
              <a:rPr sz="2600" dirty="0"/>
              <a:t>command</a:t>
            </a:r>
            <a:r>
              <a:rPr sz="2600" spc="-60" dirty="0"/>
              <a:t> </a:t>
            </a:r>
            <a:r>
              <a:rPr sz="2600" dirty="0"/>
              <a:t>from</a:t>
            </a:r>
            <a:r>
              <a:rPr sz="2600" spc="-35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~/pysim</a:t>
            </a:r>
            <a:r>
              <a:rPr sz="2600" spc="-60" dirty="0"/>
              <a:t> </a:t>
            </a:r>
            <a:r>
              <a:rPr sz="2600" spc="-10" dirty="0"/>
              <a:t>directory:</a:t>
            </a:r>
            <a:endParaRPr sz="2600"/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2600" spc="-10" dirty="0"/>
              <a:t>./pySim-read.py</a:t>
            </a:r>
            <a:endParaRPr sz="2600"/>
          </a:p>
          <a:p>
            <a:pPr marL="242570" marR="241935" indent="-228600">
              <a:lnSpc>
                <a:spcPts val="2500"/>
              </a:lnSpc>
              <a:spcBef>
                <a:spcPts val="969"/>
              </a:spcBef>
            </a:pPr>
            <a:r>
              <a:rPr sz="2600" dirty="0"/>
              <a:t>If</a:t>
            </a:r>
            <a:r>
              <a:rPr sz="2600" spc="-30" dirty="0"/>
              <a:t> </a:t>
            </a:r>
            <a:r>
              <a:rPr sz="2600" dirty="0"/>
              <a:t>everything</a:t>
            </a:r>
            <a:r>
              <a:rPr sz="2600" spc="-40" dirty="0"/>
              <a:t> </a:t>
            </a:r>
            <a:r>
              <a:rPr sz="2600" dirty="0"/>
              <a:t>is</a:t>
            </a:r>
            <a:r>
              <a:rPr sz="2600" spc="-40" dirty="0"/>
              <a:t> </a:t>
            </a:r>
            <a:r>
              <a:rPr sz="2600" dirty="0"/>
              <a:t>setup</a:t>
            </a:r>
            <a:r>
              <a:rPr sz="2600" spc="-30" dirty="0"/>
              <a:t> </a:t>
            </a:r>
            <a:r>
              <a:rPr sz="2600" dirty="0"/>
              <a:t>correctly</a:t>
            </a:r>
            <a:r>
              <a:rPr sz="2600" spc="-55" dirty="0"/>
              <a:t> </a:t>
            </a:r>
            <a:r>
              <a:rPr sz="2600" dirty="0"/>
              <a:t>and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20" dirty="0"/>
              <a:t> </a:t>
            </a:r>
            <a:r>
              <a:rPr sz="2600" dirty="0"/>
              <a:t>port</a:t>
            </a:r>
            <a:r>
              <a:rPr sz="2600" spc="-40" dirty="0"/>
              <a:t> </a:t>
            </a:r>
            <a:r>
              <a:rPr sz="2600" dirty="0"/>
              <a:t>is</a:t>
            </a:r>
            <a:r>
              <a:rPr sz="2600" spc="-30" dirty="0"/>
              <a:t> </a:t>
            </a:r>
            <a:r>
              <a:rPr sz="2600" dirty="0"/>
              <a:t>on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0" dirty="0"/>
              <a:t> </a:t>
            </a:r>
            <a:r>
              <a:rPr sz="2600" dirty="0"/>
              <a:t>default</a:t>
            </a:r>
            <a:r>
              <a:rPr sz="2600" spc="-25" dirty="0"/>
              <a:t> </a:t>
            </a:r>
            <a:r>
              <a:rPr sz="2600" dirty="0"/>
              <a:t>of</a:t>
            </a:r>
            <a:r>
              <a:rPr sz="2600" spc="-40" dirty="0"/>
              <a:t> </a:t>
            </a:r>
            <a:r>
              <a:rPr sz="2600" dirty="0"/>
              <a:t>0</a:t>
            </a:r>
            <a:r>
              <a:rPr sz="2600" spc="-25" dirty="0"/>
              <a:t> </a:t>
            </a:r>
            <a:r>
              <a:rPr sz="2600" dirty="0"/>
              <a:t>you</a:t>
            </a:r>
            <a:r>
              <a:rPr sz="2600" spc="-40" dirty="0"/>
              <a:t> </a:t>
            </a:r>
            <a:r>
              <a:rPr sz="2600" spc="-20" dirty="0"/>
              <a:t>will </a:t>
            </a:r>
            <a:r>
              <a:rPr sz="2600" dirty="0"/>
              <a:t>see</a:t>
            </a:r>
            <a:r>
              <a:rPr sz="2600" spc="-45" dirty="0"/>
              <a:t> </a:t>
            </a:r>
            <a:r>
              <a:rPr sz="2600" dirty="0"/>
              <a:t>output</a:t>
            </a:r>
            <a:r>
              <a:rPr sz="2600" spc="-30" dirty="0"/>
              <a:t> </a:t>
            </a:r>
            <a:r>
              <a:rPr sz="2600" dirty="0"/>
              <a:t>similar</a:t>
            </a:r>
            <a:r>
              <a:rPr sz="2600" spc="-65" dirty="0"/>
              <a:t> </a:t>
            </a:r>
            <a:r>
              <a:rPr sz="2600" dirty="0"/>
              <a:t>to</a:t>
            </a:r>
            <a:r>
              <a:rPr sz="2600" spc="-25" dirty="0"/>
              <a:t> </a:t>
            </a:r>
            <a:r>
              <a:rPr sz="2600" spc="-10" dirty="0"/>
              <a:t>below: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816" y="3928871"/>
            <a:ext cx="9020555" cy="22478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85894" rIns="0" bIns="0" rtlCol="0">
            <a:spAutoFit/>
          </a:bodyPr>
          <a:lstStyle/>
          <a:p>
            <a:pPr marL="243204" marR="5080" indent="-229235">
              <a:lnSpc>
                <a:spcPts val="2110"/>
              </a:lnSpc>
              <a:spcBef>
                <a:spcPts val="605"/>
              </a:spcBef>
            </a:pPr>
            <a:r>
              <a:rPr sz="2200" dirty="0"/>
              <a:t>Now</a:t>
            </a:r>
            <a:r>
              <a:rPr sz="2200" spc="-40" dirty="0"/>
              <a:t> </a:t>
            </a:r>
            <a:r>
              <a:rPr sz="2200" dirty="0"/>
              <a:t>we</a:t>
            </a:r>
            <a:r>
              <a:rPr sz="2200" spc="-45" dirty="0"/>
              <a:t> </a:t>
            </a:r>
            <a:r>
              <a:rPr sz="2200" dirty="0"/>
              <a:t>have</a:t>
            </a:r>
            <a:r>
              <a:rPr sz="2200" spc="-35" dirty="0"/>
              <a:t> </a:t>
            </a:r>
            <a:r>
              <a:rPr sz="2200" dirty="0"/>
              <a:t>to</a:t>
            </a:r>
            <a:r>
              <a:rPr sz="2200" spc="-50" dirty="0"/>
              <a:t> </a:t>
            </a:r>
            <a:r>
              <a:rPr sz="2200" dirty="0"/>
              <a:t>program</a:t>
            </a:r>
            <a:r>
              <a:rPr sz="2200" spc="-15" dirty="0"/>
              <a:t> </a:t>
            </a:r>
            <a:r>
              <a:rPr sz="2200" dirty="0"/>
              <a:t>the</a:t>
            </a:r>
            <a:r>
              <a:rPr sz="2200" spc="-50" dirty="0"/>
              <a:t> </a:t>
            </a:r>
            <a:r>
              <a:rPr sz="2200" dirty="0"/>
              <a:t>SIM</a:t>
            </a:r>
            <a:r>
              <a:rPr sz="2200" spc="-40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be</a:t>
            </a:r>
            <a:r>
              <a:rPr sz="2200" spc="-45" dirty="0"/>
              <a:t> </a:t>
            </a:r>
            <a:r>
              <a:rPr sz="2200" dirty="0"/>
              <a:t>able</a:t>
            </a:r>
            <a:r>
              <a:rPr sz="2200" spc="-50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connect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our</a:t>
            </a:r>
            <a:r>
              <a:rPr sz="2200" spc="-40" dirty="0"/>
              <a:t> </a:t>
            </a:r>
            <a:r>
              <a:rPr sz="2200" spc="-20" dirty="0"/>
              <a:t>LTE</a:t>
            </a:r>
            <a:r>
              <a:rPr sz="2200" spc="-35" dirty="0"/>
              <a:t> </a:t>
            </a:r>
            <a:r>
              <a:rPr sz="2200" dirty="0"/>
              <a:t>network.</a:t>
            </a:r>
            <a:r>
              <a:rPr sz="2200" spc="-30" dirty="0"/>
              <a:t> </a:t>
            </a:r>
            <a:r>
              <a:rPr sz="2200" dirty="0"/>
              <a:t>Below</a:t>
            </a:r>
            <a:r>
              <a:rPr sz="2200" spc="-50" dirty="0"/>
              <a:t> </a:t>
            </a:r>
            <a:r>
              <a:rPr sz="2200" spc="-25" dirty="0"/>
              <a:t>is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command</a:t>
            </a:r>
            <a:r>
              <a:rPr sz="2200" spc="-10" dirty="0"/>
              <a:t> </a:t>
            </a:r>
            <a:r>
              <a:rPr sz="2200" dirty="0"/>
              <a:t>that</a:t>
            </a:r>
            <a:r>
              <a:rPr sz="2200" spc="-45" dirty="0"/>
              <a:t> </a:t>
            </a:r>
            <a:r>
              <a:rPr sz="2200" dirty="0"/>
              <a:t>is</a:t>
            </a:r>
            <a:r>
              <a:rPr sz="2200" spc="-50" dirty="0"/>
              <a:t> </a:t>
            </a:r>
            <a:r>
              <a:rPr sz="2200" dirty="0"/>
              <a:t>used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40" dirty="0"/>
              <a:t> </a:t>
            </a:r>
            <a:r>
              <a:rPr sz="2200" dirty="0"/>
              <a:t>program</a:t>
            </a:r>
            <a:r>
              <a:rPr sz="2200" spc="-15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SIM’s,</a:t>
            </a:r>
            <a:r>
              <a:rPr sz="2200" spc="-40" dirty="0"/>
              <a:t> </a:t>
            </a:r>
            <a:r>
              <a:rPr sz="2200" dirty="0"/>
              <a:t>you</a:t>
            </a:r>
            <a:r>
              <a:rPr sz="2200" spc="-35" dirty="0"/>
              <a:t> </a:t>
            </a:r>
            <a:r>
              <a:rPr sz="2200" dirty="0"/>
              <a:t>need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30" dirty="0"/>
              <a:t> </a:t>
            </a:r>
            <a:r>
              <a:rPr sz="2200" dirty="0"/>
              <a:t>fill</a:t>
            </a:r>
            <a:r>
              <a:rPr sz="2200" spc="-65" dirty="0"/>
              <a:t> </a:t>
            </a:r>
            <a:r>
              <a:rPr sz="2200" dirty="0"/>
              <a:t>the</a:t>
            </a:r>
            <a:r>
              <a:rPr sz="2200" spc="-30" dirty="0"/>
              <a:t> </a:t>
            </a:r>
            <a:r>
              <a:rPr sz="2200" dirty="0"/>
              <a:t>values</a:t>
            </a:r>
            <a:r>
              <a:rPr sz="2200" spc="-40" dirty="0"/>
              <a:t> </a:t>
            </a:r>
            <a:r>
              <a:rPr sz="2200" dirty="0"/>
              <a:t>in</a:t>
            </a:r>
            <a:r>
              <a:rPr sz="2200" spc="-45" dirty="0"/>
              <a:t> </a:t>
            </a:r>
            <a:r>
              <a:rPr sz="2200" spc="-20" dirty="0"/>
              <a:t>with </a:t>
            </a:r>
            <a:r>
              <a:rPr sz="2200" dirty="0"/>
              <a:t>your</a:t>
            </a:r>
            <a:r>
              <a:rPr sz="2200" spc="-50" dirty="0"/>
              <a:t> </a:t>
            </a:r>
            <a:r>
              <a:rPr sz="2200" dirty="0"/>
              <a:t>specific</a:t>
            </a:r>
            <a:r>
              <a:rPr sz="2200" spc="-70" dirty="0"/>
              <a:t> </a:t>
            </a:r>
            <a:r>
              <a:rPr sz="2200" dirty="0"/>
              <a:t>team’s</a:t>
            </a:r>
            <a:r>
              <a:rPr sz="2200" spc="-50" dirty="0"/>
              <a:t> </a:t>
            </a:r>
            <a:r>
              <a:rPr sz="2200" dirty="0"/>
              <a:t>SIM</a:t>
            </a:r>
            <a:r>
              <a:rPr sz="2200" spc="-55" dirty="0"/>
              <a:t> </a:t>
            </a:r>
            <a:r>
              <a:rPr sz="2200" dirty="0"/>
              <a:t>card</a:t>
            </a:r>
            <a:r>
              <a:rPr sz="2200" spc="-50" dirty="0"/>
              <a:t> </a:t>
            </a:r>
            <a:r>
              <a:rPr sz="2200" dirty="0"/>
              <a:t>information</a:t>
            </a:r>
            <a:r>
              <a:rPr sz="2200" spc="-50" dirty="0"/>
              <a:t> </a:t>
            </a:r>
            <a:r>
              <a:rPr sz="2200" dirty="0"/>
              <a:t>that</a:t>
            </a:r>
            <a:r>
              <a:rPr sz="2200" spc="-55" dirty="0"/>
              <a:t> </a:t>
            </a:r>
            <a:r>
              <a:rPr sz="2200" dirty="0"/>
              <a:t>was</a:t>
            </a:r>
            <a:r>
              <a:rPr sz="2200" spc="-55" dirty="0"/>
              <a:t> </a:t>
            </a:r>
            <a:r>
              <a:rPr sz="2200" dirty="0"/>
              <a:t>provided</a:t>
            </a:r>
            <a:r>
              <a:rPr sz="2200" spc="-35" dirty="0"/>
              <a:t> </a:t>
            </a:r>
            <a:r>
              <a:rPr sz="2200" dirty="0"/>
              <a:t>to</a:t>
            </a:r>
            <a:r>
              <a:rPr sz="2200" spc="-60" dirty="0"/>
              <a:t> </a:t>
            </a:r>
            <a:r>
              <a:rPr sz="2200" spc="-20" dirty="0"/>
              <a:t>you.</a:t>
            </a:r>
            <a:endParaRPr sz="2200"/>
          </a:p>
          <a:p>
            <a:pPr marL="14604">
              <a:lnSpc>
                <a:spcPts val="2375"/>
              </a:lnSpc>
              <a:spcBef>
                <a:spcPts val="505"/>
              </a:spcBef>
            </a:pPr>
            <a:r>
              <a:rPr sz="2200" spc="-20" dirty="0"/>
              <a:t>./pySim-</a:t>
            </a:r>
            <a:r>
              <a:rPr sz="2200" dirty="0"/>
              <a:t>prog.py</a:t>
            </a:r>
            <a:r>
              <a:rPr sz="2200" spc="-15" dirty="0"/>
              <a:t> </a:t>
            </a:r>
            <a:r>
              <a:rPr sz="2200" spc="-10" dirty="0"/>
              <a:t>-</a:t>
            </a:r>
            <a:r>
              <a:rPr sz="2200" dirty="0"/>
              <a:t>p</a:t>
            </a:r>
            <a:r>
              <a:rPr sz="2200" spc="-35" dirty="0"/>
              <a:t> </a:t>
            </a:r>
            <a:r>
              <a:rPr sz="2200" dirty="0"/>
              <a:t>&lt;Port</a:t>
            </a:r>
            <a:r>
              <a:rPr sz="2200" spc="-30" dirty="0"/>
              <a:t> </a:t>
            </a:r>
            <a:r>
              <a:rPr sz="2200" dirty="0"/>
              <a:t>your</a:t>
            </a:r>
            <a:r>
              <a:rPr sz="2200" spc="-30" dirty="0"/>
              <a:t> </a:t>
            </a:r>
            <a:r>
              <a:rPr sz="2200" dirty="0"/>
              <a:t>sim</a:t>
            </a:r>
            <a:r>
              <a:rPr sz="2200" spc="-40" dirty="0"/>
              <a:t> </a:t>
            </a:r>
            <a:r>
              <a:rPr sz="2200" dirty="0"/>
              <a:t>card</a:t>
            </a:r>
            <a:r>
              <a:rPr sz="2200" spc="-40" dirty="0"/>
              <a:t> </a:t>
            </a:r>
            <a:r>
              <a:rPr sz="2200" dirty="0"/>
              <a:t>reader</a:t>
            </a:r>
            <a:r>
              <a:rPr sz="2200" spc="-35" dirty="0"/>
              <a:t> </a:t>
            </a:r>
            <a:r>
              <a:rPr sz="2200" dirty="0"/>
              <a:t>was</a:t>
            </a:r>
            <a:r>
              <a:rPr sz="2200" spc="-40" dirty="0"/>
              <a:t> </a:t>
            </a:r>
            <a:r>
              <a:rPr sz="2200" dirty="0"/>
              <a:t>on&gt;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x</a:t>
            </a:r>
            <a:r>
              <a:rPr sz="2200" spc="-40" dirty="0"/>
              <a:t> </a:t>
            </a:r>
            <a:r>
              <a:rPr sz="2200" dirty="0"/>
              <a:t>&lt;Network</a:t>
            </a:r>
            <a:r>
              <a:rPr sz="2200" spc="-30" dirty="0"/>
              <a:t> </a:t>
            </a:r>
            <a:r>
              <a:rPr sz="2200" dirty="0"/>
              <a:t>MCC&gt;</a:t>
            </a:r>
            <a:r>
              <a:rPr sz="2200" spc="-10" dirty="0"/>
              <a:t> -</a:t>
            </a:r>
            <a:r>
              <a:rPr sz="2200" spc="-50" dirty="0"/>
              <a:t>y</a:t>
            </a:r>
            <a:endParaRPr sz="2200"/>
          </a:p>
          <a:p>
            <a:pPr marL="242570">
              <a:lnSpc>
                <a:spcPts val="2115"/>
              </a:lnSpc>
            </a:pPr>
            <a:r>
              <a:rPr sz="2200" dirty="0"/>
              <a:t>&lt;Network</a:t>
            </a:r>
            <a:r>
              <a:rPr sz="2200" spc="-40" dirty="0"/>
              <a:t> </a:t>
            </a:r>
            <a:r>
              <a:rPr sz="2200" dirty="0"/>
              <a:t>MNC&gt;</a:t>
            </a:r>
            <a:r>
              <a:rPr sz="2200" spc="-25" dirty="0"/>
              <a:t> </a:t>
            </a:r>
            <a:r>
              <a:rPr sz="2200" spc="-10" dirty="0"/>
              <a:t>-</a:t>
            </a:r>
            <a:r>
              <a:rPr sz="2200" dirty="0"/>
              <a:t>n</a:t>
            </a:r>
            <a:r>
              <a:rPr sz="2200" spc="-45" dirty="0"/>
              <a:t> </a:t>
            </a:r>
            <a:r>
              <a:rPr sz="2200" dirty="0"/>
              <a:t>&lt;Operator</a:t>
            </a:r>
            <a:r>
              <a:rPr sz="2200" spc="-25" dirty="0"/>
              <a:t> </a:t>
            </a:r>
            <a:r>
              <a:rPr sz="2200" dirty="0"/>
              <a:t>Name&gt;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t</a:t>
            </a:r>
            <a:r>
              <a:rPr sz="2200" spc="-35" dirty="0"/>
              <a:t> </a:t>
            </a:r>
            <a:r>
              <a:rPr sz="2200" dirty="0"/>
              <a:t>&lt;SIM</a:t>
            </a:r>
            <a:r>
              <a:rPr sz="2200" spc="-45" dirty="0"/>
              <a:t> </a:t>
            </a:r>
            <a:r>
              <a:rPr sz="2200" dirty="0"/>
              <a:t>card</a:t>
            </a:r>
            <a:r>
              <a:rPr sz="2200" spc="-50" dirty="0"/>
              <a:t> </a:t>
            </a:r>
            <a:r>
              <a:rPr sz="2200" dirty="0"/>
              <a:t>type&gt;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i</a:t>
            </a:r>
            <a:r>
              <a:rPr sz="2200" spc="-45" dirty="0"/>
              <a:t> </a:t>
            </a:r>
            <a:r>
              <a:rPr sz="2200" dirty="0"/>
              <a:t>&lt;imsi&gt;</a:t>
            </a:r>
            <a:r>
              <a:rPr sz="2200" spc="-50" dirty="0"/>
              <a:t> </a:t>
            </a:r>
            <a:r>
              <a:rPr sz="2200" spc="-10" dirty="0"/>
              <a:t>-</a:t>
            </a:r>
            <a:r>
              <a:rPr sz="2200" dirty="0"/>
              <a:t>s</a:t>
            </a:r>
            <a:r>
              <a:rPr sz="2200" spc="-35" dirty="0"/>
              <a:t> </a:t>
            </a:r>
            <a:r>
              <a:rPr sz="2200" dirty="0"/>
              <a:t>&lt;iccid&gt;</a:t>
            </a:r>
            <a:r>
              <a:rPr sz="2200" spc="-60" dirty="0"/>
              <a:t> </a:t>
            </a:r>
            <a:r>
              <a:rPr sz="2200" spc="-10" dirty="0"/>
              <a:t>-</a:t>
            </a:r>
            <a:r>
              <a:rPr sz="2200" spc="-50" dirty="0"/>
              <a:t>o</a:t>
            </a:r>
            <a:endParaRPr sz="2200"/>
          </a:p>
          <a:p>
            <a:pPr marL="243204">
              <a:lnSpc>
                <a:spcPts val="2375"/>
              </a:lnSpc>
            </a:pPr>
            <a:r>
              <a:rPr sz="2200" dirty="0"/>
              <a:t>&lt;OPC</a:t>
            </a:r>
            <a:r>
              <a:rPr sz="2200" spc="-35" dirty="0"/>
              <a:t> </a:t>
            </a:r>
            <a:r>
              <a:rPr sz="2200" dirty="0"/>
              <a:t>Key&gt;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k</a:t>
            </a:r>
            <a:r>
              <a:rPr sz="2200" spc="-35" dirty="0"/>
              <a:t> </a:t>
            </a:r>
            <a:r>
              <a:rPr sz="2200" dirty="0"/>
              <a:t>&lt;Ki&gt;</a:t>
            </a:r>
            <a:r>
              <a:rPr sz="2200" spc="-40" dirty="0"/>
              <a:t> </a:t>
            </a:r>
            <a:r>
              <a:rPr sz="2200" spc="-10" dirty="0"/>
              <a:t>-</a:t>
            </a:r>
            <a:r>
              <a:rPr sz="2200" dirty="0"/>
              <a:t>a</a:t>
            </a:r>
            <a:r>
              <a:rPr sz="2200" spc="-30" dirty="0"/>
              <a:t> </a:t>
            </a:r>
            <a:r>
              <a:rPr sz="2200" dirty="0"/>
              <a:t>&lt;ADM</a:t>
            </a:r>
            <a:r>
              <a:rPr sz="2200" spc="-25" dirty="0"/>
              <a:t> </a:t>
            </a:r>
            <a:r>
              <a:rPr sz="2200" spc="-20" dirty="0"/>
              <a:t>Pin&gt;</a:t>
            </a:r>
            <a:endParaRPr sz="2200"/>
          </a:p>
          <a:p>
            <a:pPr marL="14604">
              <a:lnSpc>
                <a:spcPct val="100000"/>
              </a:lnSpc>
              <a:spcBef>
                <a:spcPts val="465"/>
              </a:spcBef>
            </a:pPr>
            <a:r>
              <a:rPr sz="2200" dirty="0"/>
              <a:t>If</a:t>
            </a:r>
            <a:r>
              <a:rPr sz="2200" spc="-50" dirty="0"/>
              <a:t> </a:t>
            </a:r>
            <a:r>
              <a:rPr sz="2200" dirty="0"/>
              <a:t>all</a:t>
            </a:r>
            <a:r>
              <a:rPr sz="2200" spc="-60" dirty="0"/>
              <a:t> </a:t>
            </a:r>
            <a:r>
              <a:rPr sz="2200" dirty="0"/>
              <a:t>values</a:t>
            </a:r>
            <a:r>
              <a:rPr sz="2200" spc="-35" dirty="0"/>
              <a:t> </a:t>
            </a:r>
            <a:r>
              <a:rPr sz="2200" dirty="0"/>
              <a:t>are</a:t>
            </a:r>
            <a:r>
              <a:rPr sz="2200" spc="-50" dirty="0"/>
              <a:t> </a:t>
            </a:r>
            <a:r>
              <a:rPr sz="2200" dirty="0"/>
              <a:t>entered</a:t>
            </a:r>
            <a:r>
              <a:rPr sz="2200" spc="-35" dirty="0"/>
              <a:t> </a:t>
            </a:r>
            <a:r>
              <a:rPr sz="2200" spc="-10" dirty="0"/>
              <a:t>correctly,</a:t>
            </a:r>
            <a:r>
              <a:rPr sz="2200" spc="-30" dirty="0"/>
              <a:t> </a:t>
            </a:r>
            <a:r>
              <a:rPr sz="2200" dirty="0"/>
              <a:t>you</a:t>
            </a:r>
            <a:r>
              <a:rPr sz="2200" spc="-45" dirty="0"/>
              <a:t> </a:t>
            </a:r>
            <a:r>
              <a:rPr sz="2200" dirty="0"/>
              <a:t>will</a:t>
            </a:r>
            <a:r>
              <a:rPr sz="2200" spc="-45" dirty="0"/>
              <a:t> </a:t>
            </a:r>
            <a:r>
              <a:rPr sz="2200" dirty="0"/>
              <a:t>see</a:t>
            </a:r>
            <a:r>
              <a:rPr sz="2200" spc="-50" dirty="0"/>
              <a:t> </a:t>
            </a:r>
            <a:r>
              <a:rPr sz="2200" dirty="0"/>
              <a:t>output</a:t>
            </a:r>
            <a:r>
              <a:rPr sz="2200" spc="-50" dirty="0"/>
              <a:t> </a:t>
            </a:r>
            <a:r>
              <a:rPr sz="2200" dirty="0"/>
              <a:t>similar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50" dirty="0"/>
              <a:t> </a:t>
            </a:r>
            <a:r>
              <a:rPr sz="2200" dirty="0"/>
              <a:t>the</a:t>
            </a:r>
            <a:r>
              <a:rPr sz="2200" spc="-40" dirty="0"/>
              <a:t> </a:t>
            </a:r>
            <a:r>
              <a:rPr sz="2200" dirty="0"/>
              <a:t>picture</a:t>
            </a:r>
            <a:r>
              <a:rPr sz="2200" spc="-50" dirty="0"/>
              <a:t> </a:t>
            </a:r>
            <a:r>
              <a:rPr sz="2200" spc="-10" dirty="0"/>
              <a:t>below.</a:t>
            </a:r>
            <a:endParaRPr sz="2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6692" y="3953255"/>
            <a:ext cx="8007095" cy="19689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223839" y="1344611"/>
            <a:ext cx="8577262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5" dirty="0"/>
              <a:t> </a:t>
            </a:r>
            <a:r>
              <a:rPr sz="5400" dirty="0"/>
              <a:t>4</a:t>
            </a:r>
            <a:r>
              <a:rPr sz="5400" spc="-75" dirty="0"/>
              <a:t> </a:t>
            </a:r>
            <a:r>
              <a:rPr sz="5400" dirty="0"/>
              <a:t>–</a:t>
            </a:r>
            <a:r>
              <a:rPr sz="5400" spc="-65" dirty="0"/>
              <a:t> </a:t>
            </a:r>
            <a:r>
              <a:rPr sz="5400" dirty="0"/>
              <a:t>Connecting</a:t>
            </a:r>
            <a:r>
              <a:rPr sz="5400" spc="-70" dirty="0"/>
              <a:t> </a:t>
            </a:r>
            <a:r>
              <a:rPr sz="5400" dirty="0"/>
              <a:t>the</a:t>
            </a:r>
            <a:r>
              <a:rPr sz="5400" spc="-70" dirty="0"/>
              <a:t> </a:t>
            </a:r>
            <a:r>
              <a:rPr sz="5400" dirty="0"/>
              <a:t>TCU</a:t>
            </a:r>
            <a:r>
              <a:rPr sz="5400" spc="-85" dirty="0"/>
              <a:t> </a:t>
            </a:r>
            <a:r>
              <a:rPr sz="5400" dirty="0"/>
              <a:t>to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55" dirty="0"/>
              <a:t> </a:t>
            </a:r>
            <a:r>
              <a:rPr sz="5400" spc="-10" dirty="0"/>
              <a:t>Tower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85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4392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760"/>
              </a:spcBef>
            </a:pPr>
            <a:r>
              <a:rPr spc="-150" dirty="0"/>
              <a:t>To</a:t>
            </a:r>
            <a:r>
              <a:rPr spc="-35" dirty="0"/>
              <a:t> </a:t>
            </a:r>
            <a:r>
              <a:rPr dirty="0"/>
              <a:t>start</a:t>
            </a:r>
            <a:r>
              <a:rPr spc="-6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srsRAN</a:t>
            </a:r>
            <a:r>
              <a:rPr spc="-35" dirty="0"/>
              <a:t> </a:t>
            </a:r>
            <a:r>
              <a:rPr dirty="0"/>
              <a:t>program</a:t>
            </a:r>
            <a:r>
              <a:rPr spc="-35" dirty="0"/>
              <a:t> </a:t>
            </a:r>
            <a:r>
              <a:rPr dirty="0"/>
              <a:t>open</a:t>
            </a:r>
            <a:r>
              <a:rPr spc="-30" dirty="0"/>
              <a:t> </a:t>
            </a:r>
            <a:r>
              <a:rPr dirty="0"/>
              <a:t>up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-10" dirty="0"/>
              <a:t>terminals.</a:t>
            </a:r>
          </a:p>
          <a:p>
            <a:pPr marL="242570" marR="1353820" indent="-229235">
              <a:lnSpc>
                <a:spcPts val="3030"/>
              </a:lnSpc>
              <a:spcBef>
                <a:spcPts val="1035"/>
              </a:spcBef>
            </a:pP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terminal</a:t>
            </a:r>
            <a:r>
              <a:rPr spc="-25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want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start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EPC</a:t>
            </a:r>
            <a:r>
              <a:rPr spc="-25" dirty="0"/>
              <a:t> </a:t>
            </a:r>
            <a:r>
              <a:rPr dirty="0"/>
              <a:t>first,</a:t>
            </a:r>
            <a:r>
              <a:rPr spc="-50" dirty="0"/>
              <a:t> </a:t>
            </a:r>
            <a:r>
              <a:rPr dirty="0"/>
              <a:t>issue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following</a:t>
            </a:r>
            <a:r>
              <a:rPr spc="-80" dirty="0"/>
              <a:t> </a:t>
            </a:r>
            <a:r>
              <a:rPr spc="-10" dirty="0"/>
              <a:t>command</a:t>
            </a:r>
          </a:p>
          <a:p>
            <a:pPr marL="241300" indent="-227329">
              <a:lnSpc>
                <a:spcPct val="100000"/>
              </a:lnSpc>
              <a:spcBef>
                <a:spcPts val="625"/>
              </a:spcBef>
              <a:buClr>
                <a:srgbClr val="1A3762"/>
              </a:buClr>
              <a:buChar char="•"/>
              <a:tabLst>
                <a:tab pos="241935" algn="l"/>
              </a:tabLst>
            </a:pPr>
            <a:r>
              <a:rPr dirty="0"/>
              <a:t>sudo</a:t>
            </a:r>
            <a:r>
              <a:rPr spc="-45" dirty="0"/>
              <a:t> </a:t>
            </a:r>
            <a:r>
              <a:rPr spc="-10" dirty="0"/>
              <a:t>srsepc</a:t>
            </a:r>
          </a:p>
          <a:p>
            <a:pPr marL="13970" marR="5080">
              <a:lnSpc>
                <a:spcPts val="3030"/>
              </a:lnSpc>
              <a:spcBef>
                <a:spcPts val="1035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second</a:t>
            </a:r>
            <a:r>
              <a:rPr spc="-35" dirty="0"/>
              <a:t> </a:t>
            </a:r>
            <a:r>
              <a:rPr dirty="0"/>
              <a:t>terminal</a:t>
            </a:r>
            <a:r>
              <a:rPr spc="-25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want</a:t>
            </a:r>
            <a:r>
              <a:rPr spc="-2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start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ENb,</a:t>
            </a:r>
            <a:r>
              <a:rPr spc="-25" dirty="0"/>
              <a:t> </a:t>
            </a:r>
            <a:r>
              <a:rPr dirty="0"/>
              <a:t>issue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following command</a:t>
            </a:r>
          </a:p>
          <a:p>
            <a:pPr marL="241300" indent="-227329">
              <a:lnSpc>
                <a:spcPct val="100000"/>
              </a:lnSpc>
              <a:spcBef>
                <a:spcPts val="610"/>
              </a:spcBef>
              <a:buClr>
                <a:srgbClr val="1A3762"/>
              </a:buClr>
              <a:buChar char="•"/>
              <a:tabLst>
                <a:tab pos="241935" algn="l"/>
              </a:tabLst>
            </a:pPr>
            <a:r>
              <a:rPr dirty="0"/>
              <a:t>sudo</a:t>
            </a:r>
            <a:r>
              <a:rPr spc="-45" dirty="0"/>
              <a:t> </a:t>
            </a:r>
            <a:r>
              <a:rPr dirty="0"/>
              <a:t>srsenb</a:t>
            </a:r>
            <a:r>
              <a:rPr spc="-40" dirty="0"/>
              <a:t> </a:t>
            </a:r>
            <a:r>
              <a:rPr spc="-10" dirty="0"/>
              <a:t>--gui.enable=1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70615"/>
            <a:ext cx="106673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lvl="0" indent="-229235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pop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up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displaying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current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channel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activity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172" y="1501140"/>
            <a:ext cx="8346947" cy="32933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87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41659"/>
            <a:ext cx="10540365" cy="12693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left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picture.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Along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visual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indicator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GUI.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different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aspects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1586483"/>
            <a:ext cx="8388095" cy="3073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88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41659"/>
            <a:ext cx="10540365" cy="12693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left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picture.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Along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visual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indicator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GUI.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different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aspects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1586483"/>
            <a:ext cx="8388095" cy="3073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850547"/>
            <a:ext cx="863758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90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82" y="1923440"/>
            <a:ext cx="9499600" cy="3093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has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many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purposes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vehicle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39395" marR="5080" lvl="0" indent="-227329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"Car</a:t>
            </a:r>
            <a:r>
              <a:rPr kumimoji="0" sz="2800" b="0" i="0" u="none" strike="noStrike" kern="0" cap="none" spc="-1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App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Connect"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candidate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remote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vehicle 	interaction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about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attacking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like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this?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91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561" y="1848160"/>
            <a:ext cx="3284220" cy="224536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Open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ports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Sniffing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Traffic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Static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analysis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System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access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82" y="1923440"/>
            <a:ext cx="5741035" cy="2666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vulnerabilities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Static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dynamic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cost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complexity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82" y="1923440"/>
            <a:ext cx="8174990" cy="2666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We'll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focus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dynamic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Protocol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found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simple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replay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change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7432675" cy="3713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real-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world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distinctions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Standard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traffic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Common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signing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and/or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encryption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Far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complexity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traffic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ingesting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binary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Anti-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reversing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measures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taken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94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10222865" cy="4043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Exercise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path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nmap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open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ports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supplemental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information,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interfacing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123825" lvl="1" indent="-226695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85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vulnerability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manual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fuzzing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observable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behavior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changes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recover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flag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infotainment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95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916435"/>
              </p:ext>
            </p:extLst>
          </p:nvPr>
        </p:nvGraphicFramePr>
        <p:xfrm>
          <a:off x="861148" y="1335277"/>
          <a:ext cx="9032240" cy="4679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Inverter</a:t>
                      </a:r>
                      <a:r>
                        <a:rPr sz="2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HSM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Software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AS02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bus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AS03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Communication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4765">
                <a:tc>
                  <a:txBody>
                    <a:bodyPr/>
                    <a:lstStyle/>
                    <a:p>
                      <a:pPr marL="91440" marR="24955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45" dirty="0">
                          <a:latin typeface="Arial"/>
                          <a:cs typeface="Arial"/>
                        </a:rPr>
                        <a:t>FOTA</a:t>
                      </a:r>
                      <a:r>
                        <a:rPr sz="24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communication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(over Ethernet)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AS04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Log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files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AS05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Data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Calibration</a:t>
                      </a:r>
                      <a:r>
                        <a:rPr sz="24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file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AS06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-234821"/>
            <a:ext cx="9821863" cy="1504693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Karamba</a:t>
            </a:r>
            <a:r>
              <a:rPr spc="-45" dirty="0"/>
              <a:t> </a:t>
            </a:r>
            <a:r>
              <a:rPr dirty="0"/>
              <a:t>Security</a:t>
            </a:r>
            <a:r>
              <a:rPr spc="-50" dirty="0"/>
              <a:t> </a:t>
            </a:r>
            <a:r>
              <a:rPr spc="-55" dirty="0"/>
              <a:t>TARA</a:t>
            </a:r>
            <a:r>
              <a:rPr spc="-110" dirty="0"/>
              <a:t> </a:t>
            </a:r>
            <a:r>
              <a:rPr dirty="0"/>
              <a:t>Process</a:t>
            </a:r>
            <a:r>
              <a:rPr spc="-40" dirty="0"/>
              <a:t> </a:t>
            </a:r>
            <a:r>
              <a:rPr dirty="0"/>
              <a:t>–</a:t>
            </a:r>
            <a:r>
              <a:rPr spc="-140" dirty="0"/>
              <a:t> </a:t>
            </a:r>
            <a:r>
              <a:rPr dirty="0"/>
              <a:t>Asset</a:t>
            </a:r>
            <a:r>
              <a:rPr spc="-45" dirty="0"/>
              <a:t> </a:t>
            </a:r>
            <a:r>
              <a:rPr sz="4000" dirty="0"/>
              <a:t>Identification</a:t>
            </a:r>
            <a:r>
              <a:rPr sz="4000" spc="-80" dirty="0"/>
              <a:t> </a:t>
            </a:r>
            <a:r>
              <a:rPr sz="4000" dirty="0"/>
              <a:t>–</a:t>
            </a:r>
            <a:r>
              <a:rPr sz="4000" spc="-55" dirty="0"/>
              <a:t> </a:t>
            </a:r>
            <a:r>
              <a:rPr sz="4000" dirty="0"/>
              <a:t>ECU</a:t>
            </a:r>
            <a:r>
              <a:rPr sz="4000" spc="-40" dirty="0"/>
              <a:t> </a:t>
            </a:r>
            <a:r>
              <a:rPr sz="4000" spc="-10" dirty="0"/>
              <a:t>Level</a:t>
            </a:r>
            <a:endParaRPr spc="-10" dirty="0"/>
          </a:p>
        </p:txBody>
      </p:sp>
    </p:spTree>
    <p:custDataLst>
      <p:tags r:id="rId1"/>
    </p:custData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806" y="6014720"/>
            <a:ext cx="8569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hlinkClick r:id="rId3"/>
              </a:rPr>
              <a:t>https://visteon.com/wp-content/uploads/2020/06/new-visteon-infotainment-system-rendering-updated-car.png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0" y="1859279"/>
            <a:ext cx="4643628" cy="25770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6673" y="1151382"/>
            <a:ext cx="4453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Extract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assets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infotainment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system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7852" y="2357627"/>
            <a:ext cx="3221990" cy="1384300"/>
          </a:xfrm>
          <a:prstGeom prst="rect">
            <a:avLst/>
          </a:prstGeom>
          <a:solidFill>
            <a:srgbClr val="25919B"/>
          </a:solidFill>
        </p:spPr>
        <p:txBody>
          <a:bodyPr vert="horz" wrap="square" lIns="0" tIns="20955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062990" marR="683895" lvl="0" indent="-3721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infotainment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System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OS: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Android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2756" y="4775961"/>
            <a:ext cx="1082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Android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2242" y="1752726"/>
            <a:ext cx="78041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Bluetooth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Wi-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35845" y="1169034"/>
            <a:ext cx="11620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Apple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CarPlay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Android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Auto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11636" y="3296157"/>
            <a:ext cx="7086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USB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SD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47917" y="1949195"/>
            <a:ext cx="1250315" cy="1106805"/>
          </a:xfrm>
          <a:custGeom>
            <a:avLst/>
            <a:gdLst/>
            <a:ahLst/>
            <a:cxnLst/>
            <a:rect l="l" t="t" r="r" b="b"/>
            <a:pathLst>
              <a:path w="1250315" h="1106805">
                <a:moveTo>
                  <a:pt x="158750" y="31750"/>
                </a:moveTo>
                <a:lnTo>
                  <a:pt x="0" y="31750"/>
                </a:lnTo>
                <a:lnTo>
                  <a:pt x="0" y="1106804"/>
                </a:lnTo>
                <a:lnTo>
                  <a:pt x="1250061" y="1106804"/>
                </a:lnTo>
                <a:lnTo>
                  <a:pt x="1250061" y="1100454"/>
                </a:lnTo>
                <a:lnTo>
                  <a:pt x="12700" y="1100454"/>
                </a:lnTo>
                <a:lnTo>
                  <a:pt x="6350" y="1094104"/>
                </a:lnTo>
                <a:lnTo>
                  <a:pt x="12700" y="1094104"/>
                </a:lnTo>
                <a:lnTo>
                  <a:pt x="12700" y="44450"/>
                </a:lnTo>
                <a:lnTo>
                  <a:pt x="6350" y="44450"/>
                </a:lnTo>
                <a:lnTo>
                  <a:pt x="12700" y="38100"/>
                </a:lnTo>
                <a:lnTo>
                  <a:pt x="158750" y="38100"/>
                </a:lnTo>
                <a:lnTo>
                  <a:pt x="158750" y="31750"/>
                </a:lnTo>
                <a:close/>
              </a:path>
              <a:path w="1250315" h="1106805">
                <a:moveTo>
                  <a:pt x="12700" y="1094104"/>
                </a:moveTo>
                <a:lnTo>
                  <a:pt x="6350" y="1094104"/>
                </a:lnTo>
                <a:lnTo>
                  <a:pt x="12700" y="1100454"/>
                </a:lnTo>
                <a:lnTo>
                  <a:pt x="12700" y="1094104"/>
                </a:lnTo>
                <a:close/>
              </a:path>
              <a:path w="1250315" h="1106805">
                <a:moveTo>
                  <a:pt x="1250061" y="1094104"/>
                </a:moveTo>
                <a:lnTo>
                  <a:pt x="12700" y="1094104"/>
                </a:lnTo>
                <a:lnTo>
                  <a:pt x="12700" y="1100454"/>
                </a:lnTo>
                <a:lnTo>
                  <a:pt x="1250061" y="1100454"/>
                </a:lnTo>
                <a:lnTo>
                  <a:pt x="1250061" y="1094104"/>
                </a:lnTo>
                <a:close/>
              </a:path>
              <a:path w="1250315" h="1106805">
                <a:moveTo>
                  <a:pt x="158750" y="0"/>
                </a:moveTo>
                <a:lnTo>
                  <a:pt x="158750" y="76200"/>
                </a:lnTo>
                <a:lnTo>
                  <a:pt x="222250" y="44450"/>
                </a:lnTo>
                <a:lnTo>
                  <a:pt x="171450" y="44450"/>
                </a:lnTo>
                <a:lnTo>
                  <a:pt x="171450" y="31750"/>
                </a:lnTo>
                <a:lnTo>
                  <a:pt x="222250" y="31750"/>
                </a:lnTo>
                <a:lnTo>
                  <a:pt x="158750" y="0"/>
                </a:lnTo>
                <a:close/>
              </a:path>
              <a:path w="1250315" h="1106805">
                <a:moveTo>
                  <a:pt x="12700" y="38100"/>
                </a:moveTo>
                <a:lnTo>
                  <a:pt x="6350" y="44450"/>
                </a:lnTo>
                <a:lnTo>
                  <a:pt x="12700" y="44450"/>
                </a:lnTo>
                <a:lnTo>
                  <a:pt x="12700" y="38100"/>
                </a:lnTo>
                <a:close/>
              </a:path>
              <a:path w="1250315" h="1106805">
                <a:moveTo>
                  <a:pt x="158750" y="38100"/>
                </a:moveTo>
                <a:lnTo>
                  <a:pt x="12700" y="38100"/>
                </a:lnTo>
                <a:lnTo>
                  <a:pt x="12700" y="44450"/>
                </a:lnTo>
                <a:lnTo>
                  <a:pt x="158750" y="44450"/>
                </a:lnTo>
                <a:lnTo>
                  <a:pt x="158750" y="38100"/>
                </a:lnTo>
                <a:close/>
              </a:path>
              <a:path w="1250315" h="1106805">
                <a:moveTo>
                  <a:pt x="222250" y="31750"/>
                </a:moveTo>
                <a:lnTo>
                  <a:pt x="171450" y="31750"/>
                </a:lnTo>
                <a:lnTo>
                  <a:pt x="171450" y="44450"/>
                </a:lnTo>
                <a:lnTo>
                  <a:pt x="222250" y="44450"/>
                </a:lnTo>
                <a:lnTo>
                  <a:pt x="234950" y="38100"/>
                </a:lnTo>
                <a:lnTo>
                  <a:pt x="222250" y="3175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02369" y="3741420"/>
            <a:ext cx="409575" cy="1006475"/>
          </a:xfrm>
          <a:custGeom>
            <a:avLst/>
            <a:gdLst/>
            <a:ahLst/>
            <a:cxnLst/>
            <a:rect l="l" t="t" r="r" b="b"/>
            <a:pathLst>
              <a:path w="409575" h="1006475">
                <a:moveTo>
                  <a:pt x="364871" y="930274"/>
                </a:moveTo>
                <a:lnTo>
                  <a:pt x="333121" y="930274"/>
                </a:lnTo>
                <a:lnTo>
                  <a:pt x="371221" y="1006474"/>
                </a:lnTo>
                <a:lnTo>
                  <a:pt x="402971" y="942974"/>
                </a:lnTo>
                <a:lnTo>
                  <a:pt x="364871" y="942974"/>
                </a:lnTo>
                <a:lnTo>
                  <a:pt x="364871" y="930274"/>
                </a:lnTo>
                <a:close/>
              </a:path>
              <a:path w="409575" h="1006475">
                <a:moveTo>
                  <a:pt x="364871" y="503300"/>
                </a:moveTo>
                <a:lnTo>
                  <a:pt x="364871" y="942974"/>
                </a:lnTo>
                <a:lnTo>
                  <a:pt x="377571" y="942974"/>
                </a:lnTo>
                <a:lnTo>
                  <a:pt x="377571" y="509650"/>
                </a:lnTo>
                <a:lnTo>
                  <a:pt x="371221" y="509650"/>
                </a:lnTo>
                <a:lnTo>
                  <a:pt x="364871" y="503300"/>
                </a:lnTo>
                <a:close/>
              </a:path>
              <a:path w="409575" h="1006475">
                <a:moveTo>
                  <a:pt x="409321" y="930274"/>
                </a:moveTo>
                <a:lnTo>
                  <a:pt x="377571" y="930274"/>
                </a:lnTo>
                <a:lnTo>
                  <a:pt x="377571" y="942974"/>
                </a:lnTo>
                <a:lnTo>
                  <a:pt x="402971" y="942974"/>
                </a:lnTo>
                <a:lnTo>
                  <a:pt x="409321" y="930274"/>
                </a:lnTo>
                <a:close/>
              </a:path>
              <a:path w="409575" h="1006475">
                <a:moveTo>
                  <a:pt x="12700" y="0"/>
                </a:moveTo>
                <a:lnTo>
                  <a:pt x="0" y="0"/>
                </a:lnTo>
                <a:lnTo>
                  <a:pt x="0" y="509650"/>
                </a:lnTo>
                <a:lnTo>
                  <a:pt x="364871" y="509650"/>
                </a:lnTo>
                <a:lnTo>
                  <a:pt x="364871" y="503300"/>
                </a:lnTo>
                <a:lnTo>
                  <a:pt x="12700" y="503300"/>
                </a:lnTo>
                <a:lnTo>
                  <a:pt x="6350" y="496950"/>
                </a:lnTo>
                <a:lnTo>
                  <a:pt x="12700" y="496950"/>
                </a:lnTo>
                <a:lnTo>
                  <a:pt x="12700" y="0"/>
                </a:lnTo>
                <a:close/>
              </a:path>
              <a:path w="409575" h="1006475">
                <a:moveTo>
                  <a:pt x="377571" y="496950"/>
                </a:moveTo>
                <a:lnTo>
                  <a:pt x="12700" y="496950"/>
                </a:lnTo>
                <a:lnTo>
                  <a:pt x="12700" y="503300"/>
                </a:lnTo>
                <a:lnTo>
                  <a:pt x="364871" y="503300"/>
                </a:lnTo>
                <a:lnTo>
                  <a:pt x="371221" y="509650"/>
                </a:lnTo>
                <a:lnTo>
                  <a:pt x="377571" y="509650"/>
                </a:lnTo>
                <a:lnTo>
                  <a:pt x="377571" y="496950"/>
                </a:lnTo>
                <a:close/>
              </a:path>
              <a:path w="409575" h="1006475">
                <a:moveTo>
                  <a:pt x="12700" y="496950"/>
                </a:moveTo>
                <a:lnTo>
                  <a:pt x="6350" y="496950"/>
                </a:lnTo>
                <a:lnTo>
                  <a:pt x="12700" y="503300"/>
                </a:lnTo>
                <a:lnTo>
                  <a:pt x="12700" y="49695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19588" y="3043173"/>
            <a:ext cx="1533525" cy="525780"/>
          </a:xfrm>
          <a:custGeom>
            <a:avLst/>
            <a:gdLst/>
            <a:ahLst/>
            <a:cxnLst/>
            <a:rect l="l" t="t" r="r" b="b"/>
            <a:pathLst>
              <a:path w="1533525" h="525779">
                <a:moveTo>
                  <a:pt x="1374393" y="449072"/>
                </a:moveTo>
                <a:lnTo>
                  <a:pt x="1298193" y="487172"/>
                </a:lnTo>
                <a:lnTo>
                  <a:pt x="1374393" y="525272"/>
                </a:lnTo>
                <a:lnTo>
                  <a:pt x="1374393" y="493522"/>
                </a:lnTo>
                <a:lnTo>
                  <a:pt x="1361693" y="493522"/>
                </a:lnTo>
                <a:lnTo>
                  <a:pt x="1361693" y="480822"/>
                </a:lnTo>
                <a:lnTo>
                  <a:pt x="1374393" y="480822"/>
                </a:lnTo>
                <a:lnTo>
                  <a:pt x="1374393" y="449072"/>
                </a:lnTo>
                <a:close/>
              </a:path>
              <a:path w="1533525" h="525779">
                <a:moveTo>
                  <a:pt x="1374393" y="480822"/>
                </a:moveTo>
                <a:lnTo>
                  <a:pt x="1361693" y="480822"/>
                </a:lnTo>
                <a:lnTo>
                  <a:pt x="1361693" y="493522"/>
                </a:lnTo>
                <a:lnTo>
                  <a:pt x="1374393" y="493522"/>
                </a:lnTo>
                <a:lnTo>
                  <a:pt x="1374393" y="480822"/>
                </a:lnTo>
                <a:close/>
              </a:path>
              <a:path w="1533525" h="525779">
                <a:moveTo>
                  <a:pt x="1520443" y="480822"/>
                </a:moveTo>
                <a:lnTo>
                  <a:pt x="1374393" y="480822"/>
                </a:lnTo>
                <a:lnTo>
                  <a:pt x="1374393" y="493522"/>
                </a:lnTo>
                <a:lnTo>
                  <a:pt x="1533143" y="493522"/>
                </a:lnTo>
                <a:lnTo>
                  <a:pt x="1533143" y="487172"/>
                </a:lnTo>
                <a:lnTo>
                  <a:pt x="1520443" y="487172"/>
                </a:lnTo>
                <a:lnTo>
                  <a:pt x="1520443" y="480822"/>
                </a:lnTo>
                <a:close/>
              </a:path>
              <a:path w="1533525" h="525779">
                <a:moveTo>
                  <a:pt x="1520443" y="6350"/>
                </a:moveTo>
                <a:lnTo>
                  <a:pt x="1520443" y="487172"/>
                </a:lnTo>
                <a:lnTo>
                  <a:pt x="1526793" y="480822"/>
                </a:lnTo>
                <a:lnTo>
                  <a:pt x="1533143" y="480822"/>
                </a:lnTo>
                <a:lnTo>
                  <a:pt x="1533143" y="12700"/>
                </a:lnTo>
                <a:lnTo>
                  <a:pt x="1526793" y="12700"/>
                </a:lnTo>
                <a:lnTo>
                  <a:pt x="1520443" y="6350"/>
                </a:lnTo>
                <a:close/>
              </a:path>
              <a:path w="1533525" h="525779">
                <a:moveTo>
                  <a:pt x="1533143" y="480822"/>
                </a:moveTo>
                <a:lnTo>
                  <a:pt x="1526793" y="480822"/>
                </a:lnTo>
                <a:lnTo>
                  <a:pt x="1520443" y="487172"/>
                </a:lnTo>
                <a:lnTo>
                  <a:pt x="1533143" y="487172"/>
                </a:lnTo>
                <a:lnTo>
                  <a:pt x="1533143" y="480822"/>
                </a:lnTo>
                <a:close/>
              </a:path>
              <a:path w="1533525" h="525779">
                <a:moveTo>
                  <a:pt x="1533143" y="0"/>
                </a:moveTo>
                <a:lnTo>
                  <a:pt x="0" y="0"/>
                </a:lnTo>
                <a:lnTo>
                  <a:pt x="0" y="12700"/>
                </a:lnTo>
                <a:lnTo>
                  <a:pt x="1520443" y="12700"/>
                </a:lnTo>
                <a:lnTo>
                  <a:pt x="1520443" y="6350"/>
                </a:lnTo>
                <a:lnTo>
                  <a:pt x="1533143" y="6350"/>
                </a:lnTo>
                <a:lnTo>
                  <a:pt x="1533143" y="0"/>
                </a:lnTo>
                <a:close/>
              </a:path>
              <a:path w="1533525" h="525779">
                <a:moveTo>
                  <a:pt x="1533143" y="6350"/>
                </a:moveTo>
                <a:lnTo>
                  <a:pt x="1520443" y="6350"/>
                </a:lnTo>
                <a:lnTo>
                  <a:pt x="1526793" y="12700"/>
                </a:lnTo>
                <a:lnTo>
                  <a:pt x="1533143" y="12700"/>
                </a:lnTo>
                <a:lnTo>
                  <a:pt x="1533143" y="635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802369" y="1665732"/>
            <a:ext cx="1319530" cy="692785"/>
          </a:xfrm>
          <a:custGeom>
            <a:avLst/>
            <a:gdLst/>
            <a:ahLst/>
            <a:cxnLst/>
            <a:rect l="l" t="t" r="r" b="b"/>
            <a:pathLst>
              <a:path w="1319529" h="692785">
                <a:moveTo>
                  <a:pt x="1275079" y="339725"/>
                </a:moveTo>
                <a:lnTo>
                  <a:pt x="0" y="339725"/>
                </a:lnTo>
                <a:lnTo>
                  <a:pt x="0" y="692276"/>
                </a:lnTo>
                <a:lnTo>
                  <a:pt x="12700" y="692276"/>
                </a:lnTo>
                <a:lnTo>
                  <a:pt x="12700" y="352425"/>
                </a:lnTo>
                <a:lnTo>
                  <a:pt x="6350" y="352425"/>
                </a:lnTo>
                <a:lnTo>
                  <a:pt x="12700" y="346075"/>
                </a:lnTo>
                <a:lnTo>
                  <a:pt x="1275079" y="346075"/>
                </a:lnTo>
                <a:lnTo>
                  <a:pt x="1275079" y="339725"/>
                </a:lnTo>
                <a:close/>
              </a:path>
              <a:path w="1319529" h="692785">
                <a:moveTo>
                  <a:pt x="12700" y="346075"/>
                </a:moveTo>
                <a:lnTo>
                  <a:pt x="6350" y="352425"/>
                </a:lnTo>
                <a:lnTo>
                  <a:pt x="12700" y="352425"/>
                </a:lnTo>
                <a:lnTo>
                  <a:pt x="12700" y="346075"/>
                </a:lnTo>
                <a:close/>
              </a:path>
              <a:path w="1319529" h="692785">
                <a:moveTo>
                  <a:pt x="1287779" y="339725"/>
                </a:moveTo>
                <a:lnTo>
                  <a:pt x="1281429" y="339725"/>
                </a:lnTo>
                <a:lnTo>
                  <a:pt x="1275079" y="346075"/>
                </a:lnTo>
                <a:lnTo>
                  <a:pt x="12700" y="346075"/>
                </a:lnTo>
                <a:lnTo>
                  <a:pt x="12700" y="352425"/>
                </a:lnTo>
                <a:lnTo>
                  <a:pt x="1287779" y="352425"/>
                </a:lnTo>
                <a:lnTo>
                  <a:pt x="1287779" y="339725"/>
                </a:lnTo>
                <a:close/>
              </a:path>
              <a:path w="1319529" h="692785">
                <a:moveTo>
                  <a:pt x="1287779" y="63500"/>
                </a:moveTo>
                <a:lnTo>
                  <a:pt x="1275079" y="63500"/>
                </a:lnTo>
                <a:lnTo>
                  <a:pt x="1275079" y="346075"/>
                </a:lnTo>
                <a:lnTo>
                  <a:pt x="1281429" y="339725"/>
                </a:lnTo>
                <a:lnTo>
                  <a:pt x="1287779" y="339725"/>
                </a:lnTo>
                <a:lnTo>
                  <a:pt x="1287779" y="63500"/>
                </a:lnTo>
                <a:close/>
              </a:path>
              <a:path w="1319529" h="692785">
                <a:moveTo>
                  <a:pt x="1281429" y="0"/>
                </a:moveTo>
                <a:lnTo>
                  <a:pt x="1243329" y="76200"/>
                </a:lnTo>
                <a:lnTo>
                  <a:pt x="1275079" y="76200"/>
                </a:lnTo>
                <a:lnTo>
                  <a:pt x="1275079" y="63500"/>
                </a:lnTo>
                <a:lnTo>
                  <a:pt x="1313179" y="63500"/>
                </a:lnTo>
                <a:lnTo>
                  <a:pt x="1281429" y="0"/>
                </a:lnTo>
                <a:close/>
              </a:path>
              <a:path w="1319529" h="692785">
                <a:moveTo>
                  <a:pt x="1313179" y="63500"/>
                </a:moveTo>
                <a:lnTo>
                  <a:pt x="1287779" y="63500"/>
                </a:lnTo>
                <a:lnTo>
                  <a:pt x="1287779" y="76200"/>
                </a:lnTo>
                <a:lnTo>
                  <a:pt x="1319529" y="76200"/>
                </a:lnTo>
                <a:lnTo>
                  <a:pt x="1313179" y="6350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806" y="6014720"/>
            <a:ext cx="8569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hlinkClick r:id="rId3"/>
              </a:rPr>
              <a:t>https://visteon.com/wp-content/uploads/2020/06/new-visteon-infotainment-system-rendering-updated-car.png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7844" y="1037844"/>
            <a:ext cx="9556750" cy="3914775"/>
            <a:chOff x="1037844" y="1037844"/>
            <a:chExt cx="9556750" cy="3914775"/>
          </a:xfrm>
        </p:grpSpPr>
        <p:sp>
          <p:nvSpPr>
            <p:cNvPr id="5" name="object 5"/>
            <p:cNvSpPr/>
            <p:nvPr/>
          </p:nvSpPr>
          <p:spPr>
            <a:xfrm>
              <a:off x="1037844" y="2124709"/>
              <a:ext cx="9556750" cy="2827655"/>
            </a:xfrm>
            <a:custGeom>
              <a:avLst/>
              <a:gdLst/>
              <a:ahLst/>
              <a:cxnLst/>
              <a:rect l="l" t="t" r="r" b="b"/>
              <a:pathLst>
                <a:path w="9556750" h="2827654">
                  <a:moveTo>
                    <a:pt x="2186559" y="569341"/>
                  </a:moveTo>
                  <a:lnTo>
                    <a:pt x="75399" y="30708"/>
                  </a:lnTo>
                  <a:lnTo>
                    <a:pt x="76212" y="27559"/>
                  </a:lnTo>
                  <a:lnTo>
                    <a:pt x="83248" y="0"/>
                  </a:lnTo>
                  <a:lnTo>
                    <a:pt x="0" y="18034"/>
                  </a:lnTo>
                  <a:lnTo>
                    <a:pt x="64414" y="73787"/>
                  </a:lnTo>
                  <a:lnTo>
                    <a:pt x="72263" y="43027"/>
                  </a:lnTo>
                  <a:lnTo>
                    <a:pt x="2183384" y="581660"/>
                  </a:lnTo>
                  <a:lnTo>
                    <a:pt x="2186559" y="569341"/>
                  </a:lnTo>
                  <a:close/>
                </a:path>
                <a:path w="9556750" h="2827654">
                  <a:moveTo>
                    <a:pt x="8358759" y="2803144"/>
                  </a:moveTo>
                  <a:lnTo>
                    <a:pt x="8352256" y="2798318"/>
                  </a:lnTo>
                  <a:lnTo>
                    <a:pt x="8290433" y="2752344"/>
                  </a:lnTo>
                  <a:lnTo>
                    <a:pt x="8284858" y="2783662"/>
                  </a:lnTo>
                  <a:lnTo>
                    <a:pt x="5181219" y="2230755"/>
                  </a:lnTo>
                  <a:lnTo>
                    <a:pt x="5180241" y="2236038"/>
                  </a:lnTo>
                  <a:lnTo>
                    <a:pt x="5179441" y="2230755"/>
                  </a:lnTo>
                  <a:lnTo>
                    <a:pt x="1784172" y="2773718"/>
                  </a:lnTo>
                  <a:lnTo>
                    <a:pt x="1779143" y="2742311"/>
                  </a:lnTo>
                  <a:lnTo>
                    <a:pt x="1709928" y="2791968"/>
                  </a:lnTo>
                  <a:lnTo>
                    <a:pt x="1791208" y="2817622"/>
                  </a:lnTo>
                  <a:lnTo>
                    <a:pt x="1786496" y="2788285"/>
                  </a:lnTo>
                  <a:lnTo>
                    <a:pt x="1786178" y="2786291"/>
                  </a:lnTo>
                  <a:lnTo>
                    <a:pt x="5180063" y="2243417"/>
                  </a:lnTo>
                  <a:lnTo>
                    <a:pt x="8282648" y="2796108"/>
                  </a:lnTo>
                  <a:lnTo>
                    <a:pt x="8277098" y="2827401"/>
                  </a:lnTo>
                  <a:lnTo>
                    <a:pt x="8358759" y="2803144"/>
                  </a:lnTo>
                  <a:close/>
                </a:path>
                <a:path w="9556750" h="2827654">
                  <a:moveTo>
                    <a:pt x="9481464" y="458279"/>
                  </a:moveTo>
                  <a:lnTo>
                    <a:pt x="9480258" y="445579"/>
                  </a:lnTo>
                  <a:lnTo>
                    <a:pt x="8175625" y="569087"/>
                  </a:lnTo>
                  <a:lnTo>
                    <a:pt x="8176895" y="581660"/>
                  </a:lnTo>
                  <a:lnTo>
                    <a:pt x="9481464" y="458279"/>
                  </a:lnTo>
                  <a:close/>
                </a:path>
                <a:path w="9556750" h="2827654">
                  <a:moveTo>
                    <a:pt x="9556750" y="444754"/>
                  </a:moveTo>
                  <a:lnTo>
                    <a:pt x="9555759" y="444373"/>
                  </a:lnTo>
                  <a:lnTo>
                    <a:pt x="9477248" y="414020"/>
                  </a:lnTo>
                  <a:lnTo>
                    <a:pt x="9480144" y="444373"/>
                  </a:lnTo>
                  <a:lnTo>
                    <a:pt x="9480258" y="445579"/>
                  </a:lnTo>
                  <a:lnTo>
                    <a:pt x="9481350" y="457073"/>
                  </a:lnTo>
                  <a:lnTo>
                    <a:pt x="9481464" y="458279"/>
                  </a:lnTo>
                  <a:lnTo>
                    <a:pt x="9484487" y="489839"/>
                  </a:lnTo>
                  <a:lnTo>
                    <a:pt x="9556750" y="4447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21736" y="1037844"/>
              <a:ext cx="5992368" cy="33238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70179" y="1546301"/>
            <a:ext cx="159512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Communications: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Wi-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Fi,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Bluetooth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18293" y="1422018"/>
            <a:ext cx="161544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Operating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system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software: Android,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applications,</a:t>
            </a:r>
            <a:r>
              <a:rPr kumimoji="0" sz="1600" b="0" i="0" u="none" strike="noStrike" kern="0" cap="none" spc="-10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etc.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6358" y="4655565"/>
            <a:ext cx="138938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73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External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ports: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USB,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SD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Card.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806" y="4522978"/>
            <a:ext cx="152781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Data: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Navigation history,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phone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cs typeface="Arial"/>
              </a:rPr>
              <a:t>contacts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32204" y="1049527"/>
          <a:ext cx="9113519" cy="464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Fi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Communications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Bluetooth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OS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Applications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Apps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Navigation</a:t>
                      </a:r>
                      <a:r>
                        <a:rPr sz="24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history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Data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Phone</a:t>
                      </a:r>
                      <a:r>
                        <a:rPr sz="2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contacts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USB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External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Ports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SD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Card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"/>
                          <a:cs typeface="Arial"/>
                        </a:rPr>
                        <a:t>AS08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Threat</a:t>
            </a:r>
            <a:r>
              <a:rPr spc="-40" dirty="0"/>
              <a:t> </a:t>
            </a:r>
            <a:r>
              <a:rPr dirty="0"/>
              <a:t>Identification</a:t>
            </a:r>
            <a:r>
              <a:rPr spc="-7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Data</a:t>
            </a:r>
            <a:r>
              <a:rPr spc="-114" dirty="0"/>
              <a:t> </a:t>
            </a:r>
            <a:r>
              <a:rPr spc="-10" dirty="0"/>
              <a:t>Attacks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8116" y="1086103"/>
          <a:ext cx="9591038" cy="3244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0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12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Log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files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AS05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Data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1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Tampering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Repudiation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 marR="89725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1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Tampering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log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files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change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monitoring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device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 marR="42227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Repudiation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log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files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attack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forensic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analysts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log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files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Calibration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file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AS06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20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Tampering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 marR="89725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651510" indent="-287020">
                        <a:lnSpc>
                          <a:spcPct val="100000"/>
                        </a:lnSpc>
                        <a:spcBef>
                          <a:spcPts val="320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Tampering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calibration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file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control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tuning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78460" marR="25844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calibration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file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(Ie.g.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powertrain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tuners)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1536" y="3044951"/>
            <a:ext cx="3220720" cy="1384300"/>
          </a:xfrm>
          <a:prstGeom prst="rect">
            <a:avLst/>
          </a:prstGeom>
          <a:solidFill>
            <a:srgbClr val="25919B"/>
          </a:solidFill>
        </p:spPr>
        <p:txBody>
          <a:bodyPr vert="horz" wrap="square" lIns="0" tIns="21018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061720" marR="683260" lvl="0" indent="-3721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infotainment</a:t>
            </a:r>
            <a:r>
              <a:rPr kumimoji="0" sz="1600" b="0" i="0" u="none" strike="noStrike" kern="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System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OS: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Android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891" y="1220215"/>
            <a:ext cx="6040120" cy="1673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threat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identifications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architecture: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191510" marR="170307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Apple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CarPlay Android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Auto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8415" marR="5258435" lvl="0" indent="0" defTabSz="914400" eaLnBrk="1" fontAlgn="auto" latinLnBrk="0" hangingPunct="1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Bluetooth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Wi-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5298" y="5463946"/>
            <a:ext cx="1082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Android</a:t>
            </a:r>
            <a:r>
              <a:rPr kumimoji="0" sz="1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178" y="3984497"/>
            <a:ext cx="7086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USB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SD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0077" y="2636520"/>
            <a:ext cx="1250315" cy="1106805"/>
          </a:xfrm>
          <a:custGeom>
            <a:avLst/>
            <a:gdLst/>
            <a:ahLst/>
            <a:cxnLst/>
            <a:rect l="l" t="t" r="r" b="b"/>
            <a:pathLst>
              <a:path w="1250315" h="1106804">
                <a:moveTo>
                  <a:pt x="158750" y="31750"/>
                </a:moveTo>
                <a:lnTo>
                  <a:pt x="0" y="31750"/>
                </a:lnTo>
                <a:lnTo>
                  <a:pt x="0" y="1106804"/>
                </a:lnTo>
                <a:lnTo>
                  <a:pt x="1250061" y="1106804"/>
                </a:lnTo>
                <a:lnTo>
                  <a:pt x="1250061" y="1100454"/>
                </a:lnTo>
                <a:lnTo>
                  <a:pt x="12700" y="1100454"/>
                </a:lnTo>
                <a:lnTo>
                  <a:pt x="6350" y="1094104"/>
                </a:lnTo>
                <a:lnTo>
                  <a:pt x="12700" y="1094104"/>
                </a:lnTo>
                <a:lnTo>
                  <a:pt x="12700" y="44450"/>
                </a:lnTo>
                <a:lnTo>
                  <a:pt x="6350" y="44450"/>
                </a:lnTo>
                <a:lnTo>
                  <a:pt x="12700" y="38100"/>
                </a:lnTo>
                <a:lnTo>
                  <a:pt x="158750" y="38100"/>
                </a:lnTo>
                <a:lnTo>
                  <a:pt x="158750" y="31750"/>
                </a:lnTo>
                <a:close/>
              </a:path>
              <a:path w="1250315" h="1106804">
                <a:moveTo>
                  <a:pt x="12700" y="1094104"/>
                </a:moveTo>
                <a:lnTo>
                  <a:pt x="6350" y="1094104"/>
                </a:lnTo>
                <a:lnTo>
                  <a:pt x="12700" y="1100454"/>
                </a:lnTo>
                <a:lnTo>
                  <a:pt x="12700" y="1094104"/>
                </a:lnTo>
                <a:close/>
              </a:path>
              <a:path w="1250315" h="1106804">
                <a:moveTo>
                  <a:pt x="1250061" y="1094104"/>
                </a:moveTo>
                <a:lnTo>
                  <a:pt x="12700" y="1094104"/>
                </a:lnTo>
                <a:lnTo>
                  <a:pt x="12700" y="1100454"/>
                </a:lnTo>
                <a:lnTo>
                  <a:pt x="1250061" y="1100454"/>
                </a:lnTo>
                <a:lnTo>
                  <a:pt x="1250061" y="1094104"/>
                </a:lnTo>
                <a:close/>
              </a:path>
              <a:path w="1250315" h="1106804">
                <a:moveTo>
                  <a:pt x="158750" y="0"/>
                </a:moveTo>
                <a:lnTo>
                  <a:pt x="158750" y="76200"/>
                </a:lnTo>
                <a:lnTo>
                  <a:pt x="222250" y="44450"/>
                </a:lnTo>
                <a:lnTo>
                  <a:pt x="171450" y="44450"/>
                </a:lnTo>
                <a:lnTo>
                  <a:pt x="171450" y="31750"/>
                </a:lnTo>
                <a:lnTo>
                  <a:pt x="222250" y="31750"/>
                </a:lnTo>
                <a:lnTo>
                  <a:pt x="158750" y="0"/>
                </a:lnTo>
                <a:close/>
              </a:path>
              <a:path w="1250315" h="1106804">
                <a:moveTo>
                  <a:pt x="12700" y="38100"/>
                </a:moveTo>
                <a:lnTo>
                  <a:pt x="6350" y="44450"/>
                </a:lnTo>
                <a:lnTo>
                  <a:pt x="12700" y="44450"/>
                </a:lnTo>
                <a:lnTo>
                  <a:pt x="12700" y="38100"/>
                </a:lnTo>
                <a:close/>
              </a:path>
              <a:path w="1250315" h="1106804">
                <a:moveTo>
                  <a:pt x="158750" y="38100"/>
                </a:moveTo>
                <a:lnTo>
                  <a:pt x="12700" y="38100"/>
                </a:lnTo>
                <a:lnTo>
                  <a:pt x="12700" y="44450"/>
                </a:lnTo>
                <a:lnTo>
                  <a:pt x="158750" y="44450"/>
                </a:lnTo>
                <a:lnTo>
                  <a:pt x="158750" y="38100"/>
                </a:lnTo>
                <a:close/>
              </a:path>
              <a:path w="1250315" h="1106804">
                <a:moveTo>
                  <a:pt x="222250" y="31750"/>
                </a:moveTo>
                <a:lnTo>
                  <a:pt x="171450" y="31750"/>
                </a:lnTo>
                <a:lnTo>
                  <a:pt x="171450" y="44450"/>
                </a:lnTo>
                <a:lnTo>
                  <a:pt x="222250" y="44450"/>
                </a:lnTo>
                <a:lnTo>
                  <a:pt x="234950" y="38100"/>
                </a:lnTo>
                <a:lnTo>
                  <a:pt x="222250" y="3175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24529" y="4428744"/>
            <a:ext cx="409575" cy="1006475"/>
          </a:xfrm>
          <a:custGeom>
            <a:avLst/>
            <a:gdLst/>
            <a:ahLst/>
            <a:cxnLst/>
            <a:rect l="l" t="t" r="r" b="b"/>
            <a:pathLst>
              <a:path w="409575" h="1006475">
                <a:moveTo>
                  <a:pt x="364870" y="930274"/>
                </a:moveTo>
                <a:lnTo>
                  <a:pt x="333120" y="930274"/>
                </a:lnTo>
                <a:lnTo>
                  <a:pt x="371220" y="1006474"/>
                </a:lnTo>
                <a:lnTo>
                  <a:pt x="402970" y="942974"/>
                </a:lnTo>
                <a:lnTo>
                  <a:pt x="364870" y="942974"/>
                </a:lnTo>
                <a:lnTo>
                  <a:pt x="364870" y="930274"/>
                </a:lnTo>
                <a:close/>
              </a:path>
              <a:path w="409575" h="1006475">
                <a:moveTo>
                  <a:pt x="364870" y="503300"/>
                </a:moveTo>
                <a:lnTo>
                  <a:pt x="364870" y="942974"/>
                </a:lnTo>
                <a:lnTo>
                  <a:pt x="377570" y="942974"/>
                </a:lnTo>
                <a:lnTo>
                  <a:pt x="377570" y="509650"/>
                </a:lnTo>
                <a:lnTo>
                  <a:pt x="371220" y="509650"/>
                </a:lnTo>
                <a:lnTo>
                  <a:pt x="364870" y="503300"/>
                </a:lnTo>
                <a:close/>
              </a:path>
              <a:path w="409575" h="1006475">
                <a:moveTo>
                  <a:pt x="409320" y="930274"/>
                </a:moveTo>
                <a:lnTo>
                  <a:pt x="377570" y="930274"/>
                </a:lnTo>
                <a:lnTo>
                  <a:pt x="377570" y="942974"/>
                </a:lnTo>
                <a:lnTo>
                  <a:pt x="402970" y="942974"/>
                </a:lnTo>
                <a:lnTo>
                  <a:pt x="409320" y="930274"/>
                </a:lnTo>
                <a:close/>
              </a:path>
              <a:path w="409575" h="1006475">
                <a:moveTo>
                  <a:pt x="12700" y="0"/>
                </a:moveTo>
                <a:lnTo>
                  <a:pt x="0" y="0"/>
                </a:lnTo>
                <a:lnTo>
                  <a:pt x="0" y="509650"/>
                </a:lnTo>
                <a:lnTo>
                  <a:pt x="364870" y="509650"/>
                </a:lnTo>
                <a:lnTo>
                  <a:pt x="364870" y="503300"/>
                </a:lnTo>
                <a:lnTo>
                  <a:pt x="12700" y="503300"/>
                </a:lnTo>
                <a:lnTo>
                  <a:pt x="6350" y="496950"/>
                </a:lnTo>
                <a:lnTo>
                  <a:pt x="12700" y="496950"/>
                </a:lnTo>
                <a:lnTo>
                  <a:pt x="12700" y="0"/>
                </a:lnTo>
                <a:close/>
              </a:path>
              <a:path w="409575" h="1006475">
                <a:moveTo>
                  <a:pt x="377570" y="496950"/>
                </a:moveTo>
                <a:lnTo>
                  <a:pt x="12700" y="496950"/>
                </a:lnTo>
                <a:lnTo>
                  <a:pt x="12700" y="503300"/>
                </a:lnTo>
                <a:lnTo>
                  <a:pt x="364870" y="503300"/>
                </a:lnTo>
                <a:lnTo>
                  <a:pt x="371220" y="509650"/>
                </a:lnTo>
                <a:lnTo>
                  <a:pt x="377570" y="509650"/>
                </a:lnTo>
                <a:lnTo>
                  <a:pt x="377570" y="496950"/>
                </a:lnTo>
                <a:close/>
              </a:path>
              <a:path w="409575" h="1006475">
                <a:moveTo>
                  <a:pt x="12700" y="496950"/>
                </a:moveTo>
                <a:lnTo>
                  <a:pt x="6350" y="496950"/>
                </a:lnTo>
                <a:lnTo>
                  <a:pt x="12700" y="503300"/>
                </a:lnTo>
                <a:lnTo>
                  <a:pt x="12700" y="49695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41747" y="3730497"/>
            <a:ext cx="1533525" cy="525780"/>
          </a:xfrm>
          <a:custGeom>
            <a:avLst/>
            <a:gdLst/>
            <a:ahLst/>
            <a:cxnLst/>
            <a:rect l="l" t="t" r="r" b="b"/>
            <a:pathLst>
              <a:path w="1533525" h="525779">
                <a:moveTo>
                  <a:pt x="1374393" y="449071"/>
                </a:moveTo>
                <a:lnTo>
                  <a:pt x="1298193" y="487171"/>
                </a:lnTo>
                <a:lnTo>
                  <a:pt x="1374393" y="525271"/>
                </a:lnTo>
                <a:lnTo>
                  <a:pt x="1374393" y="493521"/>
                </a:lnTo>
                <a:lnTo>
                  <a:pt x="1361693" y="493521"/>
                </a:lnTo>
                <a:lnTo>
                  <a:pt x="1361693" y="480821"/>
                </a:lnTo>
                <a:lnTo>
                  <a:pt x="1374393" y="480821"/>
                </a:lnTo>
                <a:lnTo>
                  <a:pt x="1374393" y="449071"/>
                </a:lnTo>
                <a:close/>
              </a:path>
              <a:path w="1533525" h="525779">
                <a:moveTo>
                  <a:pt x="1374393" y="480821"/>
                </a:moveTo>
                <a:lnTo>
                  <a:pt x="1361693" y="480821"/>
                </a:lnTo>
                <a:lnTo>
                  <a:pt x="1361693" y="493521"/>
                </a:lnTo>
                <a:lnTo>
                  <a:pt x="1374393" y="493521"/>
                </a:lnTo>
                <a:lnTo>
                  <a:pt x="1374393" y="480821"/>
                </a:lnTo>
                <a:close/>
              </a:path>
              <a:path w="1533525" h="525779">
                <a:moveTo>
                  <a:pt x="1520443" y="480821"/>
                </a:moveTo>
                <a:lnTo>
                  <a:pt x="1374393" y="480821"/>
                </a:lnTo>
                <a:lnTo>
                  <a:pt x="1374393" y="493521"/>
                </a:lnTo>
                <a:lnTo>
                  <a:pt x="1533143" y="493521"/>
                </a:lnTo>
                <a:lnTo>
                  <a:pt x="1533143" y="487171"/>
                </a:lnTo>
                <a:lnTo>
                  <a:pt x="1520443" y="487171"/>
                </a:lnTo>
                <a:lnTo>
                  <a:pt x="1520443" y="480821"/>
                </a:lnTo>
                <a:close/>
              </a:path>
              <a:path w="1533525" h="525779">
                <a:moveTo>
                  <a:pt x="1520443" y="6350"/>
                </a:moveTo>
                <a:lnTo>
                  <a:pt x="1520443" y="487171"/>
                </a:lnTo>
                <a:lnTo>
                  <a:pt x="1526793" y="480821"/>
                </a:lnTo>
                <a:lnTo>
                  <a:pt x="1533143" y="480821"/>
                </a:lnTo>
                <a:lnTo>
                  <a:pt x="1533143" y="12700"/>
                </a:lnTo>
                <a:lnTo>
                  <a:pt x="1526793" y="12700"/>
                </a:lnTo>
                <a:lnTo>
                  <a:pt x="1520443" y="6350"/>
                </a:lnTo>
                <a:close/>
              </a:path>
              <a:path w="1533525" h="525779">
                <a:moveTo>
                  <a:pt x="1533143" y="480821"/>
                </a:moveTo>
                <a:lnTo>
                  <a:pt x="1526793" y="480821"/>
                </a:lnTo>
                <a:lnTo>
                  <a:pt x="1520443" y="487171"/>
                </a:lnTo>
                <a:lnTo>
                  <a:pt x="1533143" y="487171"/>
                </a:lnTo>
                <a:lnTo>
                  <a:pt x="1533143" y="480821"/>
                </a:lnTo>
                <a:close/>
              </a:path>
              <a:path w="1533525" h="525779">
                <a:moveTo>
                  <a:pt x="1533143" y="0"/>
                </a:moveTo>
                <a:lnTo>
                  <a:pt x="0" y="0"/>
                </a:lnTo>
                <a:lnTo>
                  <a:pt x="0" y="12700"/>
                </a:lnTo>
                <a:lnTo>
                  <a:pt x="1520443" y="12700"/>
                </a:lnTo>
                <a:lnTo>
                  <a:pt x="1520443" y="6350"/>
                </a:lnTo>
                <a:lnTo>
                  <a:pt x="1533143" y="6350"/>
                </a:lnTo>
                <a:lnTo>
                  <a:pt x="1533143" y="0"/>
                </a:lnTo>
                <a:close/>
              </a:path>
              <a:path w="1533525" h="525779">
                <a:moveTo>
                  <a:pt x="1533143" y="6350"/>
                </a:moveTo>
                <a:lnTo>
                  <a:pt x="1520443" y="6350"/>
                </a:lnTo>
                <a:lnTo>
                  <a:pt x="1526793" y="12700"/>
                </a:lnTo>
                <a:lnTo>
                  <a:pt x="1533143" y="12700"/>
                </a:lnTo>
                <a:lnTo>
                  <a:pt x="1533143" y="635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24529" y="2353055"/>
            <a:ext cx="1319530" cy="692785"/>
          </a:xfrm>
          <a:custGeom>
            <a:avLst/>
            <a:gdLst/>
            <a:ahLst/>
            <a:cxnLst/>
            <a:rect l="l" t="t" r="r" b="b"/>
            <a:pathLst>
              <a:path w="1319529" h="692785">
                <a:moveTo>
                  <a:pt x="1275080" y="339725"/>
                </a:moveTo>
                <a:lnTo>
                  <a:pt x="0" y="339725"/>
                </a:lnTo>
                <a:lnTo>
                  <a:pt x="0" y="692277"/>
                </a:lnTo>
                <a:lnTo>
                  <a:pt x="12700" y="692277"/>
                </a:lnTo>
                <a:lnTo>
                  <a:pt x="12700" y="352425"/>
                </a:lnTo>
                <a:lnTo>
                  <a:pt x="6350" y="352425"/>
                </a:lnTo>
                <a:lnTo>
                  <a:pt x="12700" y="346075"/>
                </a:lnTo>
                <a:lnTo>
                  <a:pt x="1275080" y="346075"/>
                </a:lnTo>
                <a:lnTo>
                  <a:pt x="1275080" y="339725"/>
                </a:lnTo>
                <a:close/>
              </a:path>
              <a:path w="1319529" h="692785">
                <a:moveTo>
                  <a:pt x="12700" y="346075"/>
                </a:moveTo>
                <a:lnTo>
                  <a:pt x="6350" y="352425"/>
                </a:lnTo>
                <a:lnTo>
                  <a:pt x="12700" y="352425"/>
                </a:lnTo>
                <a:lnTo>
                  <a:pt x="12700" y="346075"/>
                </a:lnTo>
                <a:close/>
              </a:path>
              <a:path w="1319529" h="692785">
                <a:moveTo>
                  <a:pt x="1287780" y="339725"/>
                </a:moveTo>
                <a:lnTo>
                  <a:pt x="1281430" y="339725"/>
                </a:lnTo>
                <a:lnTo>
                  <a:pt x="1275080" y="346075"/>
                </a:lnTo>
                <a:lnTo>
                  <a:pt x="12700" y="346075"/>
                </a:lnTo>
                <a:lnTo>
                  <a:pt x="12700" y="352425"/>
                </a:lnTo>
                <a:lnTo>
                  <a:pt x="1287780" y="352425"/>
                </a:lnTo>
                <a:lnTo>
                  <a:pt x="1287780" y="339725"/>
                </a:lnTo>
                <a:close/>
              </a:path>
              <a:path w="1319529" h="692785">
                <a:moveTo>
                  <a:pt x="1287780" y="63500"/>
                </a:moveTo>
                <a:lnTo>
                  <a:pt x="1275080" y="63500"/>
                </a:lnTo>
                <a:lnTo>
                  <a:pt x="1275080" y="346075"/>
                </a:lnTo>
                <a:lnTo>
                  <a:pt x="1281430" y="339725"/>
                </a:lnTo>
                <a:lnTo>
                  <a:pt x="1287780" y="339725"/>
                </a:lnTo>
                <a:lnTo>
                  <a:pt x="1287780" y="63500"/>
                </a:lnTo>
                <a:close/>
              </a:path>
              <a:path w="1319529" h="692785">
                <a:moveTo>
                  <a:pt x="1281430" y="0"/>
                </a:moveTo>
                <a:lnTo>
                  <a:pt x="1243330" y="76200"/>
                </a:lnTo>
                <a:lnTo>
                  <a:pt x="1275080" y="76200"/>
                </a:lnTo>
                <a:lnTo>
                  <a:pt x="1275080" y="63500"/>
                </a:lnTo>
                <a:lnTo>
                  <a:pt x="1313180" y="63500"/>
                </a:lnTo>
                <a:lnTo>
                  <a:pt x="1281430" y="0"/>
                </a:lnTo>
                <a:close/>
              </a:path>
              <a:path w="1319529" h="692785">
                <a:moveTo>
                  <a:pt x="1313180" y="63500"/>
                </a:moveTo>
                <a:lnTo>
                  <a:pt x="1287780" y="63500"/>
                </a:lnTo>
                <a:lnTo>
                  <a:pt x="1287780" y="76200"/>
                </a:lnTo>
                <a:lnTo>
                  <a:pt x="1319530" y="76200"/>
                </a:lnTo>
                <a:lnTo>
                  <a:pt x="1313180" y="63500"/>
                </a:lnTo>
                <a:close/>
              </a:path>
            </a:pathLst>
          </a:custGeom>
          <a:solidFill>
            <a:srgbClr val="25919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55408" y="1534286"/>
          <a:ext cx="5021580" cy="4538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3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3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3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Fi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Arial"/>
                          <a:cs typeface="Arial"/>
                        </a:rPr>
                        <a:t>Communications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Arial"/>
                          <a:cs typeface="Arial"/>
                        </a:rPr>
                        <a:t>Bluetooth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10" dirty="0">
                          <a:latin typeface="Arial"/>
                          <a:cs typeface="Arial"/>
                        </a:rPr>
                        <a:t>Applications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Apps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Navigation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history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Data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Phone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contacts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5" dirty="0">
                          <a:latin typeface="Arial"/>
                          <a:cs typeface="Arial"/>
                        </a:rPr>
                        <a:t>USB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External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Ports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SD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Card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20" dirty="0">
                          <a:latin typeface="Arial"/>
                          <a:cs typeface="Arial"/>
                        </a:rPr>
                        <a:t>AS08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409575" y="2551113"/>
            <a:ext cx="3243263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u="none" spc="-75" dirty="0">
                <a:latin typeface="Arial"/>
                <a:cs typeface="Arial"/>
              </a:rPr>
              <a:t>TARA</a:t>
            </a:r>
            <a:r>
              <a:rPr sz="3600" b="0" u="none" spc="-180" dirty="0">
                <a:latin typeface="Arial"/>
                <a:cs typeface="Arial"/>
              </a:rPr>
              <a:t> </a:t>
            </a:r>
            <a:r>
              <a:rPr sz="3600" b="0" u="none" spc="-10" dirty="0">
                <a:latin typeface="Arial"/>
                <a:cs typeface="Arial"/>
              </a:rPr>
              <a:t>Process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800" b="0" u="none" dirty="0">
                <a:latin typeface="Arial"/>
                <a:cs typeface="Arial"/>
              </a:rPr>
              <a:t>Attack</a:t>
            </a:r>
            <a:r>
              <a:rPr sz="2800" b="0" u="none" spc="-90" dirty="0">
                <a:latin typeface="Arial"/>
                <a:cs typeface="Arial"/>
              </a:rPr>
              <a:t> </a:t>
            </a:r>
            <a:r>
              <a:rPr sz="2800" b="0" u="none" spc="-10" dirty="0">
                <a:latin typeface="Arial"/>
                <a:cs typeface="Arial"/>
              </a:rPr>
              <a:t>Path</a:t>
            </a:r>
            <a:r>
              <a:rPr sz="2800" b="0" u="none" spc="-185" dirty="0">
                <a:latin typeface="Arial"/>
                <a:cs typeface="Arial"/>
              </a:rPr>
              <a:t> </a:t>
            </a:r>
            <a:r>
              <a:rPr sz="2800" b="0" u="none" spc="-10" dirty="0">
                <a:latin typeface="Arial"/>
                <a:cs typeface="Arial"/>
              </a:rPr>
              <a:t>Analysis</a:t>
            </a:r>
            <a:endParaRPr sz="2800"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185163"/>
            <a:ext cx="972756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path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analysis,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explaining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practically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perform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device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07963"/>
            <a:ext cx="9821863" cy="58737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Attack</a:t>
            </a:r>
            <a:r>
              <a:rPr spc="-60" dirty="0"/>
              <a:t> </a:t>
            </a:r>
            <a:r>
              <a:rPr dirty="0"/>
              <a:t>Path</a:t>
            </a:r>
            <a:r>
              <a:rPr spc="-145" dirty="0"/>
              <a:t> </a:t>
            </a:r>
            <a:r>
              <a:rPr spc="-10" dirty="0"/>
              <a:t>Analysis</a:t>
            </a:r>
            <a:r>
              <a:rPr dirty="0"/>
              <a:t>	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185163"/>
            <a:ext cx="92170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507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r>
              <a:rPr kumimoji="0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application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tampering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Calibration</a:t>
            </a:r>
            <a:r>
              <a:rPr kumimoji="0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disclosure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Attack</a:t>
            </a:r>
            <a:r>
              <a:rPr spc="-75" dirty="0"/>
              <a:t> </a:t>
            </a:r>
            <a:r>
              <a:rPr dirty="0"/>
              <a:t>Path</a:t>
            </a:r>
            <a:r>
              <a:rPr spc="-160" dirty="0"/>
              <a:t> </a:t>
            </a:r>
            <a:r>
              <a:rPr dirty="0"/>
              <a:t>Analysis</a:t>
            </a:r>
            <a:r>
              <a:rPr spc="-55" dirty="0"/>
              <a:t> </a:t>
            </a:r>
            <a:r>
              <a:rPr spc="-10" dirty="0"/>
              <a:t>Examples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891" y="1643888"/>
            <a:ext cx="2781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354965" algn="l"/>
              </a:tabLst>
              <a:defRPr/>
            </a:pP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C51A52"/>
                </a:solidFill>
                <a:effectLst/>
                <a:uLnTx/>
                <a:uFillTx/>
                <a:latin typeface="Arial"/>
                <a:cs typeface="Arial"/>
              </a:rPr>
              <a:t>1.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C51A52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opens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vehicle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891" y="2009343"/>
            <a:ext cx="3559810" cy="1398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 startAt="2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his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equipment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56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5600" marR="219075" lvl="0" indent="-34290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 startAt="3"/>
              <a:tabLst>
                <a:tab pos="3556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performs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exploitation process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 startAt="3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gains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access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416" y="3649802"/>
            <a:ext cx="20764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bus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spoofing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416" y="3958818"/>
            <a:ext cx="3461385" cy="147193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opens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vehicle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5600" marR="5080" lvl="0" indent="-342900" defTabSz="914400" eaLnBrk="1" fontAlgn="auto" latinLnBrk="0" hangingPunct="1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56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his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equipment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OBD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port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5600" marR="487680" lvl="0" indent="-342900" defTabSz="914400" eaLnBrk="1" fontAlgn="auto" latinLnBrk="0" hangingPunct="1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5600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sends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fake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messages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7285" y="1494140"/>
            <a:ext cx="4397375" cy="227965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opens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vehicle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his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equipment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performs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exploitation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gains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access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disclosed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calibration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C51A52"/>
              </a:buClr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sells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calibration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hackers’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56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forums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220215"/>
            <a:ext cx="45262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paths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threats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52851" y="1948179"/>
          <a:ext cx="4779010" cy="342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26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3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Fi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disclosure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"/>
                          <a:cs typeface="Arial"/>
                        </a:rPr>
                        <a:t>Bluetooth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3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service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Privileges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8116" y="1086103"/>
          <a:ext cx="9617709" cy="267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7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3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93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413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6964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unencrypted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traffic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431165" indent="-342900">
                        <a:lnSpc>
                          <a:spcPct val="100000"/>
                        </a:lnSpc>
                        <a:spcBef>
                          <a:spcPts val="320"/>
                        </a:spcBef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joins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vehicle’s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network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laptop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 marR="236854" indent="-342900">
                        <a:lnSpc>
                          <a:spcPct val="100000"/>
                        </a:lnSpc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executes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Wireshark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sniff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vehicle’s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packets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8116" y="1086103"/>
          <a:ext cx="9719943" cy="2134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5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5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 marR="5803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6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vehicle’s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using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technique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617220" indent="-342900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scans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Bluetooth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devices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(with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laptop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vehicle)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 marR="662305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discovers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vehicle’s Bluetooth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 indent="-342900">
                        <a:lnSpc>
                          <a:spcPct val="100000"/>
                        </a:lnSpc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performing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DoS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8116" y="1086103"/>
          <a:ext cx="10750548" cy="2162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9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Privilege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escalation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 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well-known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(public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internet)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434975" indent="-342900">
                        <a:lnSpc>
                          <a:spcPct val="100000"/>
                        </a:lnSpc>
                        <a:spcBef>
                          <a:spcPts val="320"/>
                        </a:spcBef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gains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infotainment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access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 marR="434975" indent="-342900">
                        <a:lnSpc>
                          <a:spcPct val="100000"/>
                        </a:lnSpc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downloads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malicious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APK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internet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(through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infotainment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system)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 indent="-342900">
                        <a:lnSpc>
                          <a:spcPct val="100000"/>
                        </a:lnSpc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executes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APK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434975" marR="153035" indent="-342900">
                        <a:lnSpc>
                          <a:spcPct val="100000"/>
                        </a:lnSpc>
                        <a:buAutoNum type="arabicPeriod"/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gains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root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infotainment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system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160780"/>
            <a:ext cx="3596004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application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tampering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Safety: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S3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control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acceleration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spc="-55" dirty="0"/>
              <a:t>TARA</a:t>
            </a:r>
            <a:r>
              <a:rPr spc="-114" dirty="0"/>
              <a:t> </a:t>
            </a:r>
            <a:r>
              <a:rPr dirty="0"/>
              <a:t>Impact</a:t>
            </a:r>
            <a:r>
              <a:rPr spc="-55" dirty="0"/>
              <a:t> </a:t>
            </a:r>
            <a:r>
              <a:rPr dirty="0"/>
              <a:t>Rating</a:t>
            </a:r>
            <a:r>
              <a:rPr spc="-65" dirty="0"/>
              <a:t> </a:t>
            </a:r>
            <a:r>
              <a:rPr spc="-10" dirty="0"/>
              <a:t>Examples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891" y="1862160"/>
            <a:ext cx="3127375" cy="4279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Financial:</a:t>
            </a:r>
            <a:r>
              <a:rPr kumimoji="0" sz="1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F3 –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victim needs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 replace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891" y="2390902"/>
            <a:ext cx="3328035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Operational: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O1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control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vehicle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(when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victim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pushing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acceleration pedal)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891" y="3139185"/>
            <a:ext cx="6383020" cy="2588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Privacy: P0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privacy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21754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bus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spoofing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217545" marR="279400" lvl="0" indent="0" defTabSz="914400" eaLnBrk="1" fontAlgn="auto" latinLnBrk="0" hangingPunct="1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Safety: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S3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send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brake message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217545" marR="55244" lvl="0" indent="0" defTabSz="914400" eaLnBrk="1" fontAlgn="auto" latinLnBrk="0" hangingPunct="1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Financial: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F3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victim needs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 replace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inverter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217545" marR="5080" lvl="0" indent="0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Operational:</a:t>
            </a:r>
            <a:r>
              <a:rPr kumimoji="0" sz="1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O3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attacker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manipulates</a:t>
            </a:r>
            <a:r>
              <a:rPr kumimoji="0" sz="1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vehicle’s</a:t>
            </a:r>
            <a:r>
              <a:rPr kumimoji="0" sz="1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communication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217545" marR="0" lvl="0" indent="0" defTabSz="91440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Privacy: P0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privacy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7285" y="1186688"/>
            <a:ext cx="3559175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Calibration</a:t>
            </a:r>
            <a:r>
              <a:rPr kumimoji="0" sz="17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17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disclosure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Safety: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S0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safety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7285" y="1906015"/>
            <a:ext cx="3650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Financial: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F0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 no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(road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user)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financial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7285" y="2233929"/>
            <a:ext cx="3262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Operational: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O0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operational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7285" y="2543302"/>
            <a:ext cx="444119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Privacy: P3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huge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impact,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calibration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leak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hackers' forums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220215"/>
            <a:ext cx="4965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Calculate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impact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attacks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142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52851" y="1948179"/>
          <a:ext cx="4779010" cy="342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26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r>
                        <a:rPr sz="13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Fi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disclosure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spc="-10" dirty="0">
                          <a:latin typeface="Arial"/>
                          <a:cs typeface="Arial"/>
                        </a:rPr>
                        <a:t>Bluetooth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3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service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Privileges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pPr marL="381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5718" y="1888235"/>
          <a:ext cx="9919333" cy="3832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8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46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08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unencrypted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traffic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34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injuries</a:t>
                      </a:r>
                      <a:r>
                        <a:rPr sz="10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damage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marR="58737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Damage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leads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inconvenient</a:t>
                      </a:r>
                      <a:r>
                        <a:rPr sz="10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consequences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operational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damage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marR="142240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0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privacy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damage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leads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serious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impact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road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user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89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vehicle’s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known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technique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injuries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damage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marR="58737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Damage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leads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inconvenient</a:t>
                      </a:r>
                      <a:r>
                        <a:rPr sz="10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consequences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operational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damage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privacy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damage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Android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5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Elevation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49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Privilege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escalation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well-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(public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internet)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injuries</a:t>
                      </a:r>
                      <a:r>
                        <a:rPr sz="10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damage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marR="587375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Damage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leads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inconvenient</a:t>
                      </a:r>
                      <a:r>
                        <a:rPr sz="10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consequences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0: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operational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damage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378460" marR="142240" indent="-287020">
                        <a:lnSpc>
                          <a:spcPct val="100000"/>
                        </a:lnSpc>
                        <a:buChar char="•"/>
                        <a:tabLst>
                          <a:tab pos="378460" algn="l"/>
                        </a:tabLst>
                      </a:pPr>
                      <a:r>
                        <a:rPr sz="1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0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privacy</a:t>
                      </a:r>
                      <a:r>
                        <a:rPr sz="10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damage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leads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serious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impact</a:t>
                      </a:r>
                      <a:r>
                        <a:rPr sz="10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0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0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road</a:t>
                      </a:r>
                      <a:r>
                        <a:rPr sz="10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20" dirty="0">
                          <a:latin typeface="Arial"/>
                          <a:cs typeface="Arial"/>
                        </a:rPr>
                        <a:t>user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5131" y="810768"/>
            <a:ext cx="9422765" cy="0"/>
          </a:xfrm>
          <a:custGeom>
            <a:avLst/>
            <a:gdLst/>
            <a:ahLst/>
            <a:cxnLst/>
            <a:rect l="l" t="t" r="r" b="b"/>
            <a:pathLst>
              <a:path w="9422765">
                <a:moveTo>
                  <a:pt x="0" y="0"/>
                </a:moveTo>
                <a:lnTo>
                  <a:pt x="9422257" y="0"/>
                </a:lnTo>
              </a:path>
            </a:pathLst>
          </a:custGeom>
          <a:ln w="9525">
            <a:solidFill>
              <a:srgbClr val="E3175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u="none" dirty="0">
                <a:latin typeface="Arial"/>
                <a:cs typeface="Arial"/>
              </a:rPr>
              <a:t>Risk</a:t>
            </a:r>
            <a:r>
              <a:rPr sz="2800" b="0" u="none" spc="-50" dirty="0">
                <a:latin typeface="Arial"/>
                <a:cs typeface="Arial"/>
              </a:rPr>
              <a:t> </a:t>
            </a:r>
            <a:r>
              <a:rPr sz="2800" b="0" u="none" spc="-10" dirty="0">
                <a:latin typeface="Arial"/>
                <a:cs typeface="Arial"/>
              </a:rPr>
              <a:t>Calculation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6315" y="2948685"/>
            <a:ext cx="2385060" cy="1618615"/>
          </a:xfrm>
          <a:custGeom>
            <a:avLst/>
            <a:gdLst/>
            <a:ahLst/>
            <a:cxnLst/>
            <a:rect l="l" t="t" r="r" b="b"/>
            <a:pathLst>
              <a:path w="2385060" h="1618614">
                <a:moveTo>
                  <a:pt x="1192453" y="0"/>
                </a:moveTo>
                <a:lnTo>
                  <a:pt x="0" y="0"/>
                </a:lnTo>
                <a:lnTo>
                  <a:pt x="0" y="1618107"/>
                </a:lnTo>
                <a:lnTo>
                  <a:pt x="1192453" y="1618107"/>
                </a:lnTo>
                <a:lnTo>
                  <a:pt x="1192453" y="0"/>
                </a:lnTo>
                <a:close/>
              </a:path>
              <a:path w="2385060" h="1618614">
                <a:moveTo>
                  <a:pt x="2384983" y="1206487"/>
                </a:moveTo>
                <a:lnTo>
                  <a:pt x="1192530" y="1206487"/>
                </a:lnTo>
                <a:lnTo>
                  <a:pt x="1192530" y="1618107"/>
                </a:lnTo>
                <a:lnTo>
                  <a:pt x="2384983" y="1618107"/>
                </a:lnTo>
                <a:lnTo>
                  <a:pt x="2384983" y="1206487"/>
                </a:lnTo>
                <a:close/>
              </a:path>
            </a:pathLst>
          </a:custGeom>
          <a:solidFill>
            <a:srgbClr val="B6DDE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59964" y="2119122"/>
          <a:ext cx="7155177" cy="243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2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2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Impact</a:t>
                      </a:r>
                      <a:r>
                        <a:rPr sz="10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Level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B8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26C0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Negligible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4B8B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Moderate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4B8B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Major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B8B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Severe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0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feasibility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Medium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Medium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149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spc="-10" dirty="0">
                          <a:latin typeface="Arial"/>
                          <a:cs typeface="Arial"/>
                        </a:rPr>
                        <a:t>Medium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Medium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000" spc="-20" dirty="0">
                          <a:latin typeface="Arial"/>
                          <a:cs typeface="Arial"/>
                        </a:rPr>
                        <a:t>High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Low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Medium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Critical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562088" y="1627632"/>
            <a:ext cx="76200" cy="973455"/>
          </a:xfrm>
          <a:custGeom>
            <a:avLst/>
            <a:gdLst/>
            <a:ahLst/>
            <a:cxnLst/>
            <a:rect l="l" t="t" r="r" b="b"/>
            <a:pathLst>
              <a:path w="76200" h="973455">
                <a:moveTo>
                  <a:pt x="31750" y="896873"/>
                </a:moveTo>
                <a:lnTo>
                  <a:pt x="0" y="896873"/>
                </a:lnTo>
                <a:lnTo>
                  <a:pt x="38100" y="973073"/>
                </a:lnTo>
                <a:lnTo>
                  <a:pt x="69850" y="909573"/>
                </a:lnTo>
                <a:lnTo>
                  <a:pt x="31750" y="909573"/>
                </a:lnTo>
                <a:lnTo>
                  <a:pt x="31750" y="896873"/>
                </a:lnTo>
                <a:close/>
              </a:path>
              <a:path w="76200" h="973455">
                <a:moveTo>
                  <a:pt x="44450" y="0"/>
                </a:moveTo>
                <a:lnTo>
                  <a:pt x="31750" y="0"/>
                </a:lnTo>
                <a:lnTo>
                  <a:pt x="31750" y="909573"/>
                </a:lnTo>
                <a:lnTo>
                  <a:pt x="44450" y="909573"/>
                </a:lnTo>
                <a:lnTo>
                  <a:pt x="44450" y="0"/>
                </a:lnTo>
                <a:close/>
              </a:path>
              <a:path w="76200" h="973455">
                <a:moveTo>
                  <a:pt x="76200" y="896873"/>
                </a:moveTo>
                <a:lnTo>
                  <a:pt x="44450" y="896873"/>
                </a:lnTo>
                <a:lnTo>
                  <a:pt x="44450" y="909573"/>
                </a:lnTo>
                <a:lnTo>
                  <a:pt x="69850" y="909573"/>
                </a:lnTo>
                <a:lnTo>
                  <a:pt x="76200" y="8968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3827" y="4311396"/>
            <a:ext cx="1198245" cy="76200"/>
          </a:xfrm>
          <a:custGeom>
            <a:avLst/>
            <a:gdLst/>
            <a:ahLst/>
            <a:cxnLst/>
            <a:rect l="l" t="t" r="r" b="b"/>
            <a:pathLst>
              <a:path w="1198245" h="76200">
                <a:moveTo>
                  <a:pt x="1122045" y="0"/>
                </a:moveTo>
                <a:lnTo>
                  <a:pt x="1122045" y="76199"/>
                </a:lnTo>
                <a:lnTo>
                  <a:pt x="1185545" y="44449"/>
                </a:lnTo>
                <a:lnTo>
                  <a:pt x="1134745" y="44449"/>
                </a:lnTo>
                <a:lnTo>
                  <a:pt x="1134745" y="31749"/>
                </a:lnTo>
                <a:lnTo>
                  <a:pt x="1185545" y="31749"/>
                </a:lnTo>
                <a:lnTo>
                  <a:pt x="1122045" y="0"/>
                </a:lnTo>
                <a:close/>
              </a:path>
              <a:path w="1198245" h="76200">
                <a:moveTo>
                  <a:pt x="1122045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122045" y="44449"/>
                </a:lnTo>
                <a:lnTo>
                  <a:pt x="1122045" y="31749"/>
                </a:lnTo>
                <a:close/>
              </a:path>
              <a:path w="1198245" h="76200">
                <a:moveTo>
                  <a:pt x="1185545" y="31749"/>
                </a:moveTo>
                <a:lnTo>
                  <a:pt x="1134745" y="31749"/>
                </a:lnTo>
                <a:lnTo>
                  <a:pt x="1134745" y="44449"/>
                </a:lnTo>
                <a:lnTo>
                  <a:pt x="1185545" y="44449"/>
                </a:lnTo>
                <a:lnTo>
                  <a:pt x="1198245" y="38099"/>
                </a:lnTo>
                <a:lnTo>
                  <a:pt x="1185545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82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5718" y="1589405"/>
          <a:ext cx="10015219" cy="415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6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3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3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 marR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530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435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165">
                <a:tc>
                  <a:txBody>
                    <a:bodyPr/>
                    <a:lstStyle/>
                    <a:p>
                      <a:pPr marL="91440" marR="2438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Android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6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30935" y="1083055"/>
            <a:ext cx="2463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Calculate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matrix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83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5718" y="1224914"/>
          <a:ext cx="10014583" cy="4833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9455">
                <a:tc>
                  <a:txBody>
                    <a:bodyPr/>
                    <a:lstStyle/>
                    <a:p>
                      <a:pPr marL="91440" marR="1873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801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 Calculation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487680" indent="-172720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26352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Elapsed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time: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Week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 marR="895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just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sniff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communications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191770" indent="172720">
                        <a:lnSpc>
                          <a:spcPct val="100000"/>
                        </a:lnSpc>
                        <a:buChar char="•"/>
                        <a:tabLst>
                          <a:tab pos="264160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Expertise: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Proficient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proficient,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sophisticated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  <a:buFont typeface="Arial"/>
                        <a:buChar char="•"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201930" indent="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Knowledge: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Public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There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guides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sniff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communication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internet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Arial"/>
                        <a:buChar char="•"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229235" indent="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Opportunity: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Easy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drive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near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victim’s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vehicle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Arial"/>
                        <a:buChar char="•"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236854" indent="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Equipment: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Standard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laptop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Wireshark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≤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Proficient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Public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Easy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Standard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+ 0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High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Major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84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5718" y="1440052"/>
          <a:ext cx="10101580" cy="435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0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9455">
                <a:tc>
                  <a:txBody>
                    <a:bodyPr/>
                    <a:lstStyle/>
                    <a:p>
                      <a:pPr marL="91440" marR="5613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752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 Calculation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05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5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Elapsed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time: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Week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 marR="4273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scan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perform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flooding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Expertise: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Proficient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DoS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is not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sophisticated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attack,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just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execute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code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GitHub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Knowledge: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Restricted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 know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what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version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Opportunity: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Easy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drive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near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victim’s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vehicle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Equipment: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Standard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laptop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DoS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code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GitHub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≤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Proficient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Public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Easy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Standard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+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3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Moderate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High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Medium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85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5718" y="1440052"/>
          <a:ext cx="10522585" cy="435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5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5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9455">
                <a:tc>
                  <a:txBody>
                    <a:bodyPr/>
                    <a:lstStyle/>
                    <a:p>
                      <a:pPr marL="91440" marR="6096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49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 Calculation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76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85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Elevation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Elapsed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time: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Week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 marR="4279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just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download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2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APK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exploit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code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Expertise: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Layman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don’t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know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attack,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just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know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how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download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2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APK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Knowledge: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Restricted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know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what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Kernel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version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Opportunity: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Moderate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attacker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needs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direct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infotainment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2861945" indent="173355">
                        <a:lnSpc>
                          <a:spcPct val="100000"/>
                        </a:lnSpc>
                        <a:buChar char="•"/>
                        <a:tabLst>
                          <a:tab pos="264795" algn="l"/>
                        </a:tabLst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Equipment: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Standard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There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is no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equipment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≤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Layman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Restricted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Easy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Standard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1+0+3+1+0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971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Major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High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86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5718" y="1589405"/>
          <a:ext cx="10015219" cy="415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6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3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3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 marR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Feasibility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Impact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530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435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165">
                <a:tc>
                  <a:txBody>
                    <a:bodyPr/>
                    <a:lstStyle/>
                    <a:p>
                      <a:pPr marL="91440" marR="2438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Android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6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Major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94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Mitigations</a:t>
            </a:r>
            <a:r>
              <a:rPr spc="-55" dirty="0"/>
              <a:t> </a:t>
            </a:r>
            <a:r>
              <a:rPr dirty="0"/>
              <a:t>and</a:t>
            </a:r>
            <a:r>
              <a:rPr spc="-10" dirty="0"/>
              <a:t> Recommendations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891" y="1279016"/>
            <a:ext cx="987615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Calibration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permissions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prevent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tampering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low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privileges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Calibration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content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encryption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prevent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disclosure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content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220215"/>
            <a:ext cx="5912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mitigations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recommendations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TARA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95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2552" y="1706879"/>
          <a:ext cx="8888730" cy="415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4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Recommendation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327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06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unencrypted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traffic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23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2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vehicle’s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Bluetooth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technique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965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636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Privilege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escalation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well-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(public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internet)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96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22552" y="1706879"/>
          <a:ext cx="8888730" cy="415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4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Recommendation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327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06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unencrypted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traffic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12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Encrypt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Wi-Fi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communications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TLS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1.3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23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22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vehicle’s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Bluetooth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technique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16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Limit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Bluetooth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user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send,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example,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less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then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seconds,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attacker’s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965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Elevation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636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Privilege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escalation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well-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(public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the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internet)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743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Upgrade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Kernel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versions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latest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279016"/>
            <a:ext cx="10135235" cy="4325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four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categories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treatment: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253365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Avoiding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avoiding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removing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sources,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deciding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start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activity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gives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Reducing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reducing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implementing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security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mechanism recommended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TARA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auditor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4421505" lvl="0" indent="0" defTabSz="914400" eaLnBrk="1" fontAlgn="auto" latinLnBrk="0" hangingPunct="1">
              <a:lnSpc>
                <a:spcPts val="672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Sharing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sharing 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tier-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supplier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Retaining 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option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mitigate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risk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100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Risk</a:t>
            </a:r>
            <a:r>
              <a:rPr spc="-100" dirty="0"/>
              <a:t> </a:t>
            </a:r>
            <a:r>
              <a:rPr spc="-10" dirty="0"/>
              <a:t>Treatment</a:t>
            </a:r>
            <a:r>
              <a:rPr spc="-95" dirty="0"/>
              <a:t> </a:t>
            </a:r>
            <a:r>
              <a:rPr spc="-10" dirty="0"/>
              <a:t>Decision</a:t>
            </a:r>
            <a:r>
              <a:rPr dirty="0"/>
              <a:t>	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891" y="1220215"/>
            <a:ext cx="4655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risk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treatment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decision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TARA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101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2552" y="1706879"/>
          <a:ext cx="10093960" cy="415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Recommendation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43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7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unencrypted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traffic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603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Encrypt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communications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TLS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1.3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05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359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vehicle’s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known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technique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84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Limit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user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send,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example,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then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seconds,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attacker’s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165">
                <a:tc>
                  <a:txBody>
                    <a:bodyPr/>
                    <a:lstStyle/>
                    <a:p>
                      <a:pPr marL="91440" marR="2520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Android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49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Elevation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19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Privilege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escalation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well-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(public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internet)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073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Upgrade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Kernel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versions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latest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102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COMPANY</a:t>
            </a:r>
            <a:r>
              <a:rPr kumimoji="0" sz="800" b="0" i="0" u="none" strike="noStrike" kern="0" cap="none" spc="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 </a:t>
            </a:r>
            <a:r>
              <a:rPr kumimoji="0" sz="800" b="0" i="0" u="none" strike="noStrike" kern="0" cap="none" spc="4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</a:rPr>
              <a:t>CONFIDENTIAL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07963"/>
            <a:ext cx="9821863" cy="619125"/>
          </a:xfrm>
          <a:prstGeom prst="rect">
            <a:avLst/>
          </a:prstGeom>
        </p:spPr>
        <p:txBody>
          <a:bodyPr vert="horz" wrap="square" lIns="0" tIns="209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8210" algn="l"/>
              </a:tabLst>
            </a:pPr>
            <a:r>
              <a:rPr dirty="0"/>
              <a:t>Do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yourself!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22552" y="1240789"/>
          <a:ext cx="10093960" cy="415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L="91440" marR="381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Asset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Attack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Recommendation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1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43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Information 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7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Information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disclosure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unencrypted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traffic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603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Encrypt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Wi-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Fi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communications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TLS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1.3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Reducing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Bluetooth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Service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359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Denial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vehicle’s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known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technique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84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Limit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user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send,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example,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then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seconds,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attacker’s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Bluetooth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device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Reducing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65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Android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OS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49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Elevation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Privileges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19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Privilege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escalation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attack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well-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(public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exploit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internet)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Upgrade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Android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Kernel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versions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latest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Reducing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B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7407</Words>
  <Application>Microsoft Office PowerPoint</Application>
  <PresentationFormat>Widescreen</PresentationFormat>
  <Paragraphs>1381</Paragraphs>
  <Slides>155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6" baseType="lpstr">
      <vt:lpstr>Aptos</vt:lpstr>
      <vt:lpstr>Aptos Display</vt:lpstr>
      <vt:lpstr>Arial</vt:lpstr>
      <vt:lpstr>Arial Narrow</vt:lpstr>
      <vt:lpstr>Calibri</vt:lpstr>
      <vt:lpstr>Courier New</vt:lpstr>
      <vt:lpstr>Franklin Gothic Medium Cond</vt:lpstr>
      <vt:lpstr>Roboto</vt:lpstr>
      <vt:lpstr>Segoe UI</vt:lpstr>
      <vt:lpstr>Times New Roman</vt:lpstr>
      <vt:lpstr>Custom Design</vt:lpstr>
      <vt:lpstr>1. Getting Started</vt:lpstr>
      <vt:lpstr>2. Bluetooth Scanning</vt:lpstr>
      <vt:lpstr>2. Bluetooth Scanning</vt:lpstr>
      <vt:lpstr>2. Bluetooth Scanning</vt:lpstr>
      <vt:lpstr>A Note on BT Addresses and Scanning</vt:lpstr>
      <vt:lpstr>3. Enumerating Bluetooth Information</vt:lpstr>
      <vt:lpstr>3. Enumerating Bluetooth Information</vt:lpstr>
      <vt:lpstr>3. Enumerating Bluetooth Information</vt:lpstr>
      <vt:lpstr>4. Identifying BT Services</vt:lpstr>
      <vt:lpstr>4. Identifying BT Services</vt:lpstr>
      <vt:lpstr>5. Analyzing SDP Output</vt:lpstr>
      <vt:lpstr>5. Analyzing SDP Output</vt:lpstr>
      <vt:lpstr>6. Pairing Devices In Linux</vt:lpstr>
      <vt:lpstr>6. Pairing Devices In Linux</vt:lpstr>
      <vt:lpstr>6. Pairing Devices In Linux</vt:lpstr>
      <vt:lpstr>7. Sending Data Over Bluetooth</vt:lpstr>
      <vt:lpstr>7. Sending Data Over Bluetooth</vt:lpstr>
      <vt:lpstr>Frequencies</vt:lpstr>
      <vt:lpstr>Exercise - NFC Cabinet Lock UID Cloning   </vt:lpstr>
      <vt:lpstr>NFC Authentication Types</vt:lpstr>
      <vt:lpstr>Exercise - NFC Password Protection &amp; Brute Force</vt:lpstr>
      <vt:lpstr>Playing with NFC – Reading/Writing: (with ACR122U)</vt:lpstr>
      <vt:lpstr>PowerPoint Presentation</vt:lpstr>
      <vt:lpstr>PowerPoint Presentation</vt:lpstr>
      <vt:lpstr>FCCID Lookup – Exercise</vt:lpstr>
      <vt:lpstr>FCCID Lookup – Other Examples</vt:lpstr>
      <vt:lpstr>SDR Exercise #01</vt:lpstr>
      <vt:lpstr>SDR Exercise #01 – Step 1 Plugin and ensure HackRF is working</vt:lpstr>
      <vt:lpstr>SDR Exercise #01 – Step 2 Launch the GQRX application</vt:lpstr>
      <vt:lpstr>SDR Exercise #01 – Step 3 Conﬁgure I/O Devices (GQRX Settings)</vt:lpstr>
      <vt:lpstr>SDR Exercise #01 – Step 4 Find radio station / Key Fob Signal</vt:lpstr>
      <vt:lpstr>SDR Exercise #01 – Step 5 Tune your signal</vt:lpstr>
      <vt:lpstr>SDR Exercise #02</vt:lpstr>
      <vt:lpstr>SDR Exercise #02 – Step 1 Plugin and ensure HackRF is working</vt:lpstr>
      <vt:lpstr>SDR Exercise #02 – Step 2 Launch the GNU Radio Companion application</vt:lpstr>
      <vt:lpstr>PowerPoint Presentation</vt:lpstr>
      <vt:lpstr>SDR Exercise #02 – Step 4 Edit default values</vt:lpstr>
      <vt:lpstr>SDR Exercise #02 – Step 5 Create a new Variable</vt:lpstr>
      <vt:lpstr>SDR Exercise #02 – Step 6 Add a SDR as a source for receiving</vt:lpstr>
      <vt:lpstr>SDR Exercise #02 – Step 7 Continue adding blocks</vt:lpstr>
      <vt:lpstr>SDR Exercise #02 – Step 8 Duplicate Basic Capture Project</vt:lpstr>
      <vt:lpstr>SDR Exercise #02 – Step 8 Duplicate Basic Capture Project</vt:lpstr>
      <vt:lpstr>SDR Exercise #02 – Step 9 Execute Basic Capture Project</vt:lpstr>
      <vt:lpstr>SDR Exercise #02 – Step 9 Execute Basic Capture Project</vt:lpstr>
      <vt:lpstr>SDR Exercise #03</vt:lpstr>
      <vt:lpstr>SDR Exercise #03 – Step 1 Plugin and ensure HackRF is working</vt:lpstr>
      <vt:lpstr>SDR Exercise #03 – Step 2 Launch the GNU Radio Companion application</vt:lpstr>
      <vt:lpstr>PowerPoint Presentation</vt:lpstr>
      <vt:lpstr>SDR Exercise #03 – Step 4 Edit default values</vt:lpstr>
      <vt:lpstr>SDR Exercise #03 – Step 5 Duplicate Basic Replay Project</vt:lpstr>
      <vt:lpstr>SDR Exercise #03 – Step 5 Duplicate Basic Replay Project</vt:lpstr>
      <vt:lpstr>SDR Exercise #03 – Step 6 Execute Basic Replay Project</vt:lpstr>
      <vt:lpstr>PowerPoint Presentation</vt:lpstr>
      <vt:lpstr>SDR Exercise #04</vt:lpstr>
      <vt:lpstr>SDR Exercise #04 – Step 1 Duplicate Advanced Capture Project</vt:lpstr>
      <vt:lpstr>SDR Exercise #04 – Step 2 Execute Advanced Capture Project</vt:lpstr>
      <vt:lpstr>SDR Exercise #04 – Step 3 View Binary data feed from Advanced Capture</vt:lpstr>
      <vt:lpstr>Live Spooﬁng of GPS Satellites</vt:lpstr>
      <vt:lpstr>GPS Spooﬁng – Step 1 Plugin and ensure HackRF is working</vt:lpstr>
      <vt:lpstr>Backup - Install gps-sdr-sim</vt:lpstr>
      <vt:lpstr>GPS Spooﬁng – Step 2 Download latest GNSS archive</vt:lpstr>
      <vt:lpstr>GPS Spooﬁng – Step 3 Select a location to spoof</vt:lpstr>
      <vt:lpstr>GPS Spooﬁng – Step 5 Generate constellations</vt:lpstr>
      <vt:lpstr>GPS Spooﬁng – Step 6 Transmit Spoofed GPS Location</vt:lpstr>
      <vt:lpstr>SDR Demo</vt:lpstr>
      <vt:lpstr>SDR Exercise</vt:lpstr>
      <vt:lpstr>RDS Overview - What is the Radio Data System?</vt:lpstr>
      <vt:lpstr>PowerPoint Presentation</vt:lpstr>
      <vt:lpstr>RDS- Receiving and decoding RDS continued</vt:lpstr>
      <vt:lpstr>PowerPoint Presentation</vt:lpstr>
      <vt:lpstr>PowerPoint Presentation</vt:lpstr>
      <vt:lpstr>RDS – Transmitting RDS continued</vt:lpstr>
      <vt:lpstr>RDS – Transmitting RDS continued</vt:lpstr>
      <vt:lpstr>Walkthrough WPA2 Handshake Cracking</vt:lpstr>
      <vt:lpstr>Step 1 - Setup Monitor Mode WPA2 Handshake Cracking</vt:lpstr>
      <vt:lpstr>Step 2 - Analyze Available Wi-Fi Networks WPA2 Handshake Cracking</vt:lpstr>
      <vt:lpstr>Step 3 - Analyze Networks on a Speciﬁc Channel WPA2 Handshake Cracking</vt:lpstr>
      <vt:lpstr>Step 4 - Analyze Speciﬁc Access Point (BSSID) WPA2 Handshake Cracking</vt:lpstr>
      <vt:lpstr>Step 4 - Deauth Clients WPA2 Handshake Cracking</vt:lpstr>
      <vt:lpstr>Step 5 - Capture Handshake WPA2 Handshake Cracking</vt:lpstr>
      <vt:lpstr>Step 6 - Crack Handshake WPA2 Handshake Cracking</vt:lpstr>
      <vt:lpstr>Exercise #01</vt:lpstr>
      <vt:lpstr>Step 1 - Download Wi-Fi Analyzer App</vt:lpstr>
      <vt:lpstr>Step 2 - Check the Different Views Mobile App: Wi-Fi Analyzer</vt:lpstr>
      <vt:lpstr>Exercise #02</vt:lpstr>
      <vt:lpstr>Step 1 - Download Wordlist &amp; Identify Wireless Adapter</vt:lpstr>
      <vt:lpstr>Step 2 - Kill Interrupting Services &amp; Start Monitor Mode</vt:lpstr>
      <vt:lpstr>Step 2 - Kill Interrupting Services &amp; Start Monitor Mode</vt:lpstr>
      <vt:lpstr>Step 3 - Look for Targets</vt:lpstr>
      <vt:lpstr>Step 4 - Deauth Clients WPA2 Handshake Cracking</vt:lpstr>
      <vt:lpstr>Step 5 - Capture Network Handshake and Save to File</vt:lpstr>
      <vt:lpstr>Step 6 - Crack Password using Aircrack-ng &amp; Wordlist</vt:lpstr>
      <vt:lpstr>Exercise #03</vt:lpstr>
      <vt:lpstr>Exercise #04</vt:lpstr>
      <vt:lpstr>Wiﬁte2</vt:lpstr>
      <vt:lpstr>Wiﬁte2 - Steps</vt:lpstr>
      <vt:lpstr>Lab 1 – Understanding Your Environment</vt:lpstr>
      <vt:lpstr>Surveying Your Environment</vt:lpstr>
      <vt:lpstr>Surveying Your Environment</vt:lpstr>
      <vt:lpstr>Surveying Your Environment</vt:lpstr>
      <vt:lpstr>Surveying Your Environment</vt:lpstr>
      <vt:lpstr>Surveying Your Environment</vt:lpstr>
      <vt:lpstr>Lab 2 – Configuring srsRAN Components</vt:lpstr>
      <vt:lpstr>Configuring srsRAN</vt:lpstr>
      <vt:lpstr>Configuring srsRAN</vt:lpstr>
      <vt:lpstr>Configuring srsEPC</vt:lpstr>
      <vt:lpstr>Configuring srsEPC</vt:lpstr>
      <vt:lpstr>Configuring srsENb</vt:lpstr>
      <vt:lpstr>Configuring srsENb</vt:lpstr>
      <vt:lpstr>Configuring HSS</vt:lpstr>
      <vt:lpstr>Configuring HSS</vt:lpstr>
      <vt:lpstr>Lab 3 – Programming a SIM Card</vt:lpstr>
      <vt:lpstr>Programming SIM Cards</vt:lpstr>
      <vt:lpstr>Programming SIM Cards</vt:lpstr>
      <vt:lpstr>Programming SIM Cards</vt:lpstr>
      <vt:lpstr>Lab 4 – Connecting the TCU to Your Tower</vt:lpstr>
      <vt:lpstr>Starting srsRAN</vt:lpstr>
      <vt:lpstr>Starting srsRAN</vt:lpstr>
      <vt:lpstr>Starting srsRAN</vt:lpstr>
      <vt:lpstr>Starting srsRAN</vt:lpstr>
      <vt:lpstr>Lab 5 – Attacking the Headunit</vt:lpstr>
      <vt:lpstr>Lab 5 – Attacking the Headunit</vt:lpstr>
      <vt:lpstr>Lab 5 – Attacking the Headunit</vt:lpstr>
      <vt:lpstr>Lab 5 – Attacking the Headunit</vt:lpstr>
      <vt:lpstr>Lab 5 – Attacking the Headunit</vt:lpstr>
      <vt:lpstr>Lab 5 – Attacking the Headunit</vt:lpstr>
      <vt:lpstr>Lab 5 – Attacking the Headunit</vt:lpstr>
      <vt:lpstr>Karamba Security TARA Process – Asset Identification – ECU Level</vt:lpstr>
      <vt:lpstr>Do it yourself! </vt:lpstr>
      <vt:lpstr>Do it yourself! </vt:lpstr>
      <vt:lpstr>Do it yourself! </vt:lpstr>
      <vt:lpstr>Threat Identification – Data Attacks </vt:lpstr>
      <vt:lpstr>Do it yourself! </vt:lpstr>
      <vt:lpstr>TARA Process Attack Path Analysis</vt:lpstr>
      <vt:lpstr>Attack Path Analysis </vt:lpstr>
      <vt:lpstr>Attack Path Analysis Examples </vt:lpstr>
      <vt:lpstr>Do it yourself! </vt:lpstr>
      <vt:lpstr>Do it yourself! </vt:lpstr>
      <vt:lpstr>Do it yourself! </vt:lpstr>
      <vt:lpstr>Do it yourself! </vt:lpstr>
      <vt:lpstr>TARA Impact Rating Examples </vt:lpstr>
      <vt:lpstr>Do it yourself! </vt:lpstr>
      <vt:lpstr>Do it yourself! </vt:lpstr>
      <vt:lpstr>Risk Calculation</vt:lpstr>
      <vt:lpstr>Do it yourself! </vt:lpstr>
      <vt:lpstr>Do it yourself! </vt:lpstr>
      <vt:lpstr>Do it yourself! </vt:lpstr>
      <vt:lpstr>Do it yourself! </vt:lpstr>
      <vt:lpstr>Do it yourself! </vt:lpstr>
      <vt:lpstr>Mitigations and Recommendations </vt:lpstr>
      <vt:lpstr>Do it yourself! </vt:lpstr>
      <vt:lpstr>Do it yourself! </vt:lpstr>
      <vt:lpstr>Risk Treatment Decision </vt:lpstr>
      <vt:lpstr>Do it yourself! </vt:lpstr>
      <vt:lpstr>Do it yourself!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Carey Garback</cp:lastModifiedBy>
  <cp:revision>1</cp:revision>
  <dcterms:created xsi:type="dcterms:W3CDTF">2026-03-11T18:02:03Z</dcterms:created>
  <dcterms:modified xsi:type="dcterms:W3CDTF">2026-03-11T21:17:20Z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